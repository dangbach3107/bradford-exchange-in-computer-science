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handoutMasterIdLst>
    <p:handoutMasterId r:id="rId34"/>
  </p:handoutMasterIdLst>
  <p:sldIdLst>
    <p:sldId id="256" r:id="rId5"/>
    <p:sldId id="258" r:id="rId6"/>
    <p:sldId id="400" r:id="rId7"/>
    <p:sldId id="401" r:id="rId8"/>
    <p:sldId id="279" r:id="rId9"/>
    <p:sldId id="328" r:id="rId10"/>
    <p:sldId id="402" r:id="rId11"/>
    <p:sldId id="403" r:id="rId12"/>
    <p:sldId id="425" r:id="rId13"/>
    <p:sldId id="404" r:id="rId14"/>
    <p:sldId id="405" r:id="rId15"/>
    <p:sldId id="406" r:id="rId16"/>
    <p:sldId id="408" r:id="rId17"/>
    <p:sldId id="409" r:id="rId18"/>
    <p:sldId id="426" r:id="rId19"/>
    <p:sldId id="427" r:id="rId20"/>
    <p:sldId id="410" r:id="rId21"/>
    <p:sldId id="411" r:id="rId22"/>
    <p:sldId id="428" r:id="rId23"/>
    <p:sldId id="413" r:id="rId24"/>
    <p:sldId id="429" r:id="rId25"/>
    <p:sldId id="414" r:id="rId26"/>
    <p:sldId id="412" r:id="rId27"/>
    <p:sldId id="416" r:id="rId28"/>
    <p:sldId id="417" r:id="rId29"/>
    <p:sldId id="418" r:id="rId30"/>
    <p:sldId id="415" r:id="rId31"/>
    <p:sldId id="354" r:id="rId32"/>
  </p:sldIdLst>
  <p:sldSz cx="9906000" cy="6858000" type="A4"/>
  <p:notesSz cx="6858000" cy="9144000"/>
  <p:custDataLst>
    <p:tags r:id="rId35"/>
  </p:custDataLst>
  <p:defaultTextStyle>
    <a:defPPr>
      <a:defRPr lang="en-US"/>
    </a:defPPr>
    <a:lvl1pPr algn="l"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15:guide id="1" orient="horz">
          <p15:clr>
            <a:srgbClr val="A4A3A4"/>
          </p15:clr>
        </p15:guide>
        <p15:guide id="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03B"/>
    <a:srgbClr val="FFEFBD"/>
    <a:srgbClr val="FF0066"/>
    <a:srgbClr val="FF33CC"/>
    <a:srgbClr val="0000FF"/>
    <a:srgbClr val="D5C3D7"/>
    <a:srgbClr val="FFE79B"/>
    <a:srgbClr val="FFE181"/>
    <a:srgbClr val="FFDA65"/>
    <a:srgbClr val="96C5C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93AC02-3512-45CF-B266-1E1BF88FA869}" v="2" dt="2024-11-24T18:11:13.0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97" autoAdjust="0"/>
    <p:restoredTop sz="86251" autoAdjust="0"/>
  </p:normalViewPr>
  <p:slideViewPr>
    <p:cSldViewPr showGuides="1">
      <p:cViewPr varScale="1">
        <p:scale>
          <a:sx n="74" d="100"/>
          <a:sy n="74" d="100"/>
        </p:scale>
        <p:origin x="1546" y="67"/>
      </p:cViewPr>
      <p:guideLst>
        <p:guide orient="horz"/>
        <p:guide/>
      </p:guideLst>
    </p:cSldViewPr>
  </p:slideViewPr>
  <p:notesTextViewPr>
    <p:cViewPr>
      <p:scale>
        <a:sx n="3" d="2"/>
        <a:sy n="3" d="2"/>
      </p:scale>
      <p:origin x="0" y="0"/>
    </p:cViewPr>
  </p:notesTextViewPr>
  <p:notesViewPr>
    <p:cSldViewPr showGuides="1">
      <p:cViewPr varScale="1">
        <p:scale>
          <a:sx n="55" d="100"/>
          <a:sy n="55" d="100"/>
        </p:scale>
        <p:origin x="-250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gs" Target="tags/tag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hag Kabir" userId="e9b0da40-aef8-480a-bb63-d1daacecf555" providerId="ADAL" clId="{2E93AC02-3512-45CF-B266-1E1BF88FA869}"/>
    <pc:docChg chg="modSld sldOrd">
      <pc:chgData name="Sohag Kabir" userId="e9b0da40-aef8-480a-bb63-d1daacecf555" providerId="ADAL" clId="{2E93AC02-3512-45CF-B266-1E1BF88FA869}" dt="2024-11-24T18:12:37.271" v="17" actId="20577"/>
      <pc:docMkLst>
        <pc:docMk/>
      </pc:docMkLst>
      <pc:sldChg chg="ord">
        <pc:chgData name="Sohag Kabir" userId="e9b0da40-aef8-480a-bb63-d1daacecf555" providerId="ADAL" clId="{2E93AC02-3512-45CF-B266-1E1BF88FA869}" dt="2024-11-24T18:10:09.269" v="3"/>
        <pc:sldMkLst>
          <pc:docMk/>
          <pc:sldMk cId="3085130806" sldId="403"/>
        </pc:sldMkLst>
      </pc:sldChg>
      <pc:sldChg chg="modSp">
        <pc:chgData name="Sohag Kabir" userId="e9b0da40-aef8-480a-bb63-d1daacecf555" providerId="ADAL" clId="{2E93AC02-3512-45CF-B266-1E1BF88FA869}" dt="2024-11-24T18:11:13.059" v="5" actId="20577"/>
        <pc:sldMkLst>
          <pc:docMk/>
          <pc:sldMk cId="767801509" sldId="404"/>
        </pc:sldMkLst>
        <pc:spChg chg="mod">
          <ac:chgData name="Sohag Kabir" userId="e9b0da40-aef8-480a-bb63-d1daacecf555" providerId="ADAL" clId="{2E93AC02-3512-45CF-B266-1E1BF88FA869}" dt="2024-11-24T18:11:13.059" v="5" actId="20577"/>
          <ac:spMkLst>
            <pc:docMk/>
            <pc:sldMk cId="767801509" sldId="404"/>
            <ac:spMk id="8" creationId="{F568F6D7-C31A-D0A7-D33B-14AEE36948E2}"/>
          </ac:spMkLst>
        </pc:spChg>
      </pc:sldChg>
      <pc:sldChg chg="modSp mod">
        <pc:chgData name="Sohag Kabir" userId="e9b0da40-aef8-480a-bb63-d1daacecf555" providerId="ADAL" clId="{2E93AC02-3512-45CF-B266-1E1BF88FA869}" dt="2024-11-24T18:11:46.042" v="11" actId="20577"/>
        <pc:sldMkLst>
          <pc:docMk/>
          <pc:sldMk cId="2969403447" sldId="405"/>
        </pc:sldMkLst>
        <pc:spChg chg="mod">
          <ac:chgData name="Sohag Kabir" userId="e9b0da40-aef8-480a-bb63-d1daacecf555" providerId="ADAL" clId="{2E93AC02-3512-45CF-B266-1E1BF88FA869}" dt="2024-11-24T18:11:46.042" v="11" actId="20577"/>
          <ac:spMkLst>
            <pc:docMk/>
            <pc:sldMk cId="2969403447" sldId="405"/>
            <ac:spMk id="8" creationId="{F568F6D7-C31A-D0A7-D33B-14AEE36948E2}"/>
          </ac:spMkLst>
        </pc:spChg>
      </pc:sldChg>
      <pc:sldChg chg="modSp mod">
        <pc:chgData name="Sohag Kabir" userId="e9b0da40-aef8-480a-bb63-d1daacecf555" providerId="ADAL" clId="{2E93AC02-3512-45CF-B266-1E1BF88FA869}" dt="2024-11-24T18:12:37.271" v="17" actId="20577"/>
        <pc:sldMkLst>
          <pc:docMk/>
          <pc:sldMk cId="3495980901" sldId="408"/>
        </pc:sldMkLst>
        <pc:spChg chg="mod">
          <ac:chgData name="Sohag Kabir" userId="e9b0da40-aef8-480a-bb63-d1daacecf555" providerId="ADAL" clId="{2E93AC02-3512-45CF-B266-1E1BF88FA869}" dt="2024-11-24T18:12:37.271" v="17" actId="20577"/>
          <ac:spMkLst>
            <pc:docMk/>
            <pc:sldMk cId="3495980901" sldId="408"/>
            <ac:spMk id="8" creationId="{F568F6D7-C31A-D0A7-D33B-14AEE36948E2}"/>
          </ac:spMkLst>
        </pc:spChg>
      </pc:sldChg>
      <pc:sldChg chg="ord">
        <pc:chgData name="Sohag Kabir" userId="e9b0da40-aef8-480a-bb63-d1daacecf555" providerId="ADAL" clId="{2E93AC02-3512-45CF-B266-1E1BF88FA869}" dt="2024-11-24T18:09:38.424" v="1"/>
        <pc:sldMkLst>
          <pc:docMk/>
          <pc:sldMk cId="2863491572" sldId="42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GB"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7E6BECCB-7C71-7345-A5A2-F60CB0E20467}" type="datetimeFigureOut">
              <a:rPr lang="en-GB"/>
              <a:pPr>
                <a:defRPr/>
              </a:pPr>
              <a:t>24/11/2024</a:t>
            </a:fld>
            <a:endParaRPr lang="en-GB"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GB"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7BADAF51-FF12-CA43-900E-043F7389A440}" type="slidenum">
              <a:rPr lang="en-GB"/>
              <a:pPr>
                <a:defRPr/>
              </a:pPr>
              <a:t>‹#›</a:t>
            </a:fld>
            <a:endParaRPr lang="en-GB" dirty="0"/>
          </a:p>
        </p:txBody>
      </p:sp>
    </p:spTree>
    <p:extLst>
      <p:ext uri="{BB962C8B-B14F-4D97-AF65-F5344CB8AC3E}">
        <p14:creationId xmlns:p14="http://schemas.microsoft.com/office/powerpoint/2010/main" val="168025436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84DA0FA5-5D29-7B45-8F3A-96EA1D15B80A}" type="datetimeFigureOut">
              <a:rPr lang="en-GB"/>
              <a:pPr>
                <a:defRPr/>
              </a:pPr>
              <a:t>24/11/2024</a:t>
            </a:fld>
            <a:endParaRPr lang="en-GB" dirty="0"/>
          </a:p>
        </p:txBody>
      </p:sp>
      <p:sp>
        <p:nvSpPr>
          <p:cNvPr id="4" name="Slide Image Placeholder 3"/>
          <p:cNvSpPr>
            <a:spLocks noGrp="1" noRot="1" noChangeAspect="1"/>
          </p:cNvSpPr>
          <p:nvPr>
            <p:ph type="sldImg" idx="2"/>
          </p:nvPr>
        </p:nvSpPr>
        <p:spPr>
          <a:xfrm>
            <a:off x="952500" y="685800"/>
            <a:ext cx="4953000" cy="3429000"/>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5A687475-B03E-7245-9DAE-B0A12B4FC5E5}" type="slidenum">
              <a:rPr lang="en-GB"/>
              <a:pPr>
                <a:defRPr/>
              </a:pPr>
              <a:t>‹#›</a:t>
            </a:fld>
            <a:endParaRPr lang="en-GB" dirty="0"/>
          </a:p>
        </p:txBody>
      </p:sp>
    </p:spTree>
    <p:extLst>
      <p:ext uri="{BB962C8B-B14F-4D97-AF65-F5344CB8AC3E}">
        <p14:creationId xmlns:p14="http://schemas.microsoft.com/office/powerpoint/2010/main" val="374115642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HIPAA stands for the Health Insurance Portability and Accountability Act of 1996. HIPAA's purpose is to protect the privacy, security, and integrity of protected health information (PHI) in United States.</a:t>
            </a:r>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3</a:t>
            </a:fld>
            <a:endParaRPr lang="en-GB" dirty="0"/>
          </a:p>
        </p:txBody>
      </p:sp>
    </p:spTree>
    <p:extLst>
      <p:ext uri="{BB962C8B-B14F-4D97-AF65-F5344CB8AC3E}">
        <p14:creationId xmlns:p14="http://schemas.microsoft.com/office/powerpoint/2010/main" val="2392620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5</a:t>
            </a:fld>
            <a:endParaRPr lang="en-GB" dirty="0"/>
          </a:p>
        </p:txBody>
      </p:sp>
    </p:spTree>
    <p:extLst>
      <p:ext uri="{BB962C8B-B14F-4D97-AF65-F5344CB8AC3E}">
        <p14:creationId xmlns:p14="http://schemas.microsoft.com/office/powerpoint/2010/main" val="18720815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atype</a:t>
            </a:r>
            <a:r>
              <a:rPr lang="en-GB" dirty="0"/>
              <a:t>: The action type (e.g., authentication attempt).</a:t>
            </a:r>
            <a:r>
              <a:rPr lang="en-GB" dirty="0" err="1"/>
              <a:t>ts</a:t>
            </a:r>
            <a:r>
              <a:rPr lang="en-GB" dirty="0"/>
              <a:t>: Timestamp of the </a:t>
            </a:r>
            <a:r>
              <a:rPr lang="en-GB" dirty="0" err="1"/>
              <a:t>event.local</a:t>
            </a:r>
            <a:r>
              <a:rPr lang="en-GB" dirty="0"/>
              <a:t>: The server's IP and </a:t>
            </a:r>
            <a:r>
              <a:rPr lang="en-GB" dirty="0" err="1"/>
              <a:t>port.remote</a:t>
            </a:r>
            <a:r>
              <a:rPr lang="en-GB" dirty="0"/>
              <a:t>: The client’s IP and </a:t>
            </a:r>
            <a:r>
              <a:rPr lang="en-GB" dirty="0" err="1"/>
              <a:t>port.users</a:t>
            </a:r>
            <a:r>
              <a:rPr lang="en-GB" dirty="0"/>
              <a:t>: The user involved in the </a:t>
            </a:r>
            <a:r>
              <a:rPr lang="en-GB" dirty="0" err="1"/>
              <a:t>event.result</a:t>
            </a:r>
            <a:r>
              <a:rPr lang="en-GB" dirty="0"/>
              <a:t>: Authentication result (0 for success, non-zero for failure).</a:t>
            </a:r>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19</a:t>
            </a:fld>
            <a:endParaRPr lang="en-GB" dirty="0"/>
          </a:p>
        </p:txBody>
      </p:sp>
    </p:spTree>
    <p:extLst>
      <p:ext uri="{BB962C8B-B14F-4D97-AF65-F5344CB8AC3E}">
        <p14:creationId xmlns:p14="http://schemas.microsoft.com/office/powerpoint/2010/main" val="2753490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01D35"/>
                </a:solidFill>
                <a:effectLst/>
                <a:latin typeface="Google Sans"/>
              </a:rPr>
              <a:t>Payment Card Industry Data Security Standard (PCI-DSS)</a:t>
            </a:r>
            <a:endParaRPr lang="en-GB" dirty="0"/>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20</a:t>
            </a:fld>
            <a:endParaRPr lang="en-GB" dirty="0"/>
          </a:p>
        </p:txBody>
      </p:sp>
    </p:spTree>
    <p:extLst>
      <p:ext uri="{BB962C8B-B14F-4D97-AF65-F5344CB8AC3E}">
        <p14:creationId xmlns:p14="http://schemas.microsoft.com/office/powerpoint/2010/main" val="1023178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01D35"/>
                </a:solidFill>
                <a:effectLst/>
                <a:latin typeface="Google Sans"/>
              </a:rPr>
              <a:t>Payment Card Industry Data Security Standard (PCI-DSS)</a:t>
            </a:r>
            <a:endParaRPr lang="en-GB" dirty="0"/>
          </a:p>
        </p:txBody>
      </p:sp>
      <p:sp>
        <p:nvSpPr>
          <p:cNvPr id="4" name="Slide Number Placeholder 3"/>
          <p:cNvSpPr>
            <a:spLocks noGrp="1"/>
          </p:cNvSpPr>
          <p:nvPr>
            <p:ph type="sldNum" sz="quarter" idx="5"/>
          </p:nvPr>
        </p:nvSpPr>
        <p:spPr/>
        <p:txBody>
          <a:bodyPr/>
          <a:lstStyle/>
          <a:p>
            <a:pPr>
              <a:defRPr/>
            </a:pPr>
            <a:fld id="{5A687475-B03E-7245-9DAE-B0A12B4FC5E5}" type="slidenum">
              <a:rPr lang="en-GB" smtClean="0"/>
              <a:pPr>
                <a:defRPr/>
              </a:pPr>
              <a:t>21</a:t>
            </a:fld>
            <a:endParaRPr lang="en-GB" dirty="0"/>
          </a:p>
        </p:txBody>
      </p:sp>
    </p:spTree>
    <p:extLst>
      <p:ext uri="{BB962C8B-B14F-4D97-AF65-F5344CB8AC3E}">
        <p14:creationId xmlns:p14="http://schemas.microsoft.com/office/powerpoint/2010/main" val="31061781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742950" y="1916839"/>
            <a:ext cx="8420100" cy="1470025"/>
          </a:xfrm>
        </p:spPr>
        <p:txBody>
          <a:bodyPr/>
          <a:lstStyle>
            <a:lvl1pPr algn="ctr">
              <a:defRPr>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3672607"/>
            <a:ext cx="6934200" cy="1752600"/>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6" name="Date Placeholder 3"/>
          <p:cNvSpPr>
            <a:spLocks noGrp="1"/>
          </p:cNvSpPr>
          <p:nvPr>
            <p:ph type="dt" sz="half" idx="10"/>
          </p:nvPr>
        </p:nvSpPr>
        <p:spPr/>
        <p:txBody>
          <a:bodyPr/>
          <a:lstStyle>
            <a:lvl1pPr>
              <a:defRPr/>
            </a:lvl1pPr>
          </a:lstStyle>
          <a:p>
            <a:pPr>
              <a:defRPr/>
            </a:pPr>
            <a:fld id="{267FACD6-29D2-2848-BEDC-606464A5B308}" type="datetime3">
              <a:rPr lang="en-GB"/>
              <a:pPr>
                <a:defRPr/>
              </a:pPr>
              <a:t>24 November,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8" name="Slide Number Placeholder 5"/>
          <p:cNvSpPr>
            <a:spLocks noGrp="1"/>
          </p:cNvSpPr>
          <p:nvPr>
            <p:ph type="sldNum" sz="quarter" idx="12"/>
          </p:nvPr>
        </p:nvSpPr>
        <p:spPr/>
        <p:txBody>
          <a:bodyPr/>
          <a:lstStyle>
            <a:lvl1pPr>
              <a:defRPr/>
            </a:lvl1pPr>
          </a:lstStyle>
          <a:p>
            <a:pPr>
              <a:defRPr/>
            </a:pPr>
            <a:fld id="{5DF220EC-324F-0142-ADB7-E82420EFE078}" type="slidenum">
              <a:rPr lang="en-GB"/>
              <a:pPr>
                <a:defRPr/>
              </a:pPr>
              <a:t>‹#›</a:t>
            </a:fld>
            <a:endParaRPr lang="en-GB" dirty="0"/>
          </a:p>
        </p:txBody>
      </p:sp>
      <p:cxnSp>
        <p:nvCxnSpPr>
          <p:cNvPr id="9" name="Straight Connector 8"/>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40515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525" y="929928"/>
            <a:ext cx="8485605" cy="780762"/>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8485605" cy="4465662"/>
          </a:xfrm>
        </p:spPr>
        <p:txBody>
          <a:bodyPr>
            <a:normAutofit/>
          </a:bodyPr>
          <a:lstStyle>
            <a:lvl1pPr>
              <a:defRPr sz="24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25308693-8D1A-A44C-AE67-942CA08B9687}" type="datetime3">
              <a:rPr lang="en-GB"/>
              <a:pPr>
                <a:defRPr/>
              </a:pPr>
              <a:t>24 November,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8" name="Slide Number Placeholder 5"/>
          <p:cNvSpPr>
            <a:spLocks noGrp="1"/>
          </p:cNvSpPr>
          <p:nvPr>
            <p:ph type="sldNum" sz="quarter" idx="12"/>
          </p:nvPr>
        </p:nvSpPr>
        <p:spPr/>
        <p:txBody>
          <a:bodyPr/>
          <a:lstStyle>
            <a:lvl1pPr>
              <a:defRPr/>
            </a:lvl1pPr>
          </a:lstStyle>
          <a:p>
            <a:pPr>
              <a:defRPr/>
            </a:pPr>
            <a:fld id="{09B5ADBA-EE88-1840-8B71-40682D165005}"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08899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525" y="128162"/>
            <a:ext cx="8485605" cy="780558"/>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908720"/>
            <a:ext cx="8485605" cy="5328592"/>
          </a:xfrm>
        </p:spPr>
        <p:txBody>
          <a:bodyPr>
            <a:normAutofit/>
          </a:bodyPr>
          <a:lstStyle>
            <a:lvl1pPr>
              <a:defRPr sz="24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3"/>
          <p:cNvSpPr>
            <a:spLocks noGrp="1"/>
          </p:cNvSpPr>
          <p:nvPr>
            <p:ph type="dt" sz="half" idx="10"/>
          </p:nvPr>
        </p:nvSpPr>
        <p:spPr/>
        <p:txBody>
          <a:bodyPr/>
          <a:lstStyle>
            <a:lvl1pPr>
              <a:defRPr/>
            </a:lvl1pPr>
          </a:lstStyle>
          <a:p>
            <a:pPr>
              <a:defRPr/>
            </a:pPr>
            <a:fld id="{E2BECACE-57B6-4046-9252-D954F3001C09}" type="datetime3">
              <a:rPr lang="en-GB"/>
              <a:pPr>
                <a:defRPr/>
              </a:pPr>
              <a:t>24 November, 2024</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7" name="Slide Number Placeholder 5"/>
          <p:cNvSpPr>
            <a:spLocks noGrp="1"/>
          </p:cNvSpPr>
          <p:nvPr>
            <p:ph type="sldNum" sz="quarter" idx="12"/>
          </p:nvPr>
        </p:nvSpPr>
        <p:spPr/>
        <p:txBody>
          <a:bodyPr/>
          <a:lstStyle>
            <a:lvl1pPr>
              <a:defRPr/>
            </a:lvl1pPr>
          </a:lstStyle>
          <a:p>
            <a:pPr>
              <a:defRPr/>
            </a:pPr>
            <a:fld id="{B3C9BB69-B244-A945-B2FE-1757326D277F}"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5679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cxnSp>
        <p:nvCxnSpPr>
          <p:cNvPr id="4" name="Straight Connector 3"/>
          <p:cNvCxnSpPr/>
          <p:nvPr userDrawn="1"/>
        </p:nvCxnSpPr>
        <p:spPr>
          <a:xfrm flipV="1">
            <a:off x="4953000" y="4464050"/>
            <a:ext cx="0" cy="569913"/>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427722" y="1412776"/>
            <a:ext cx="3050556" cy="3050556"/>
          </a:xfrm>
          <a:ln w="12700" cap="rnd">
            <a:solidFill>
              <a:srgbClr val="87A529"/>
            </a:solidFill>
          </a:ln>
        </p:spPr>
        <p:txBody>
          <a:bodyPr lIns="108000" tIns="108000" rIns="108000" bIns="108000"/>
          <a:lstStyle>
            <a:lvl1pPr algn="ctr">
              <a:defRPr>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03319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97E11F15-D298-9040-B765-C154DF8EF6B8}" type="datetime3">
              <a:rPr lang="en-GB"/>
              <a:pPr>
                <a:defRPr/>
              </a:pPr>
              <a:t>24 November,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9" name="Slide Number Placeholder 5"/>
          <p:cNvSpPr>
            <a:spLocks noGrp="1"/>
          </p:cNvSpPr>
          <p:nvPr>
            <p:ph type="sldNum" sz="quarter" idx="12"/>
          </p:nvPr>
        </p:nvSpPr>
        <p:spPr/>
        <p:txBody>
          <a:bodyPr/>
          <a:lstStyle>
            <a:lvl1pPr>
              <a:defRPr/>
            </a:lvl1pPr>
          </a:lstStyle>
          <a:p>
            <a:pPr>
              <a:defRPr/>
            </a:pPr>
            <a:fld id="{D23D3873-FA79-C04C-A812-5E517E0A367F}" type="slidenum">
              <a:rPr lang="en-GB"/>
              <a:pPr>
                <a:defRPr/>
              </a:pPr>
              <a:t>‹#›</a:t>
            </a:fld>
            <a:endParaRPr lang="en-GB" dirty="0"/>
          </a:p>
        </p:txBody>
      </p:sp>
      <p:cxnSp>
        <p:nvCxnSpPr>
          <p:cNvPr id="10" name="Straight Connector 9"/>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03394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cxnSp>
        <p:nvCxnSpPr>
          <p:cNvPr id="4" name="Straight Connector 3"/>
          <p:cNvCxnSpPr/>
          <p:nvPr userDrawn="1"/>
        </p:nvCxnSpPr>
        <p:spPr>
          <a:xfrm flipV="1">
            <a:off x="4953000" y="4464050"/>
            <a:ext cx="0" cy="569913"/>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3427722" y="1412776"/>
            <a:ext cx="3050556" cy="3050556"/>
          </a:xfrm>
          <a:solidFill>
            <a:schemeClr val="accent1"/>
          </a:solidFill>
          <a:ln>
            <a:solidFill>
              <a:srgbClr val="87A529"/>
            </a:solidFill>
          </a:ln>
        </p:spPr>
        <p:txBody>
          <a:bodyPr lIns="108000" tIns="108000" rIns="108000" bIns="108000">
            <a:normAutofit/>
          </a:bodyPr>
          <a:lstStyle>
            <a:lvl1pPr algn="ctr">
              <a:defRPr>
                <a:solidFill>
                  <a:schemeClr val="bg1"/>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03319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5AF61B09-456C-8F49-B98C-600891BD3AA1}" type="datetime3">
              <a:rPr lang="en-GB"/>
              <a:pPr>
                <a:defRPr/>
              </a:pPr>
              <a:t>24 November,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9" name="Slide Number Placeholder 5"/>
          <p:cNvSpPr>
            <a:spLocks noGrp="1"/>
          </p:cNvSpPr>
          <p:nvPr>
            <p:ph type="sldNum" sz="quarter" idx="12"/>
          </p:nvPr>
        </p:nvSpPr>
        <p:spPr/>
        <p:txBody>
          <a:bodyPr/>
          <a:lstStyle>
            <a:lvl1pPr>
              <a:defRPr/>
            </a:lvl1pPr>
          </a:lstStyle>
          <a:p>
            <a:pPr>
              <a:defRPr/>
            </a:pPr>
            <a:fld id="{C78CB21A-4DBE-8640-A1B9-E10FD6211ABF}" type="slidenum">
              <a:rPr lang="en-GB"/>
              <a:pPr>
                <a:defRPr/>
              </a:pPr>
              <a:t>‹#›</a:t>
            </a:fld>
            <a:endParaRPr lang="en-GB" dirty="0"/>
          </a:p>
        </p:txBody>
      </p:sp>
      <p:cxnSp>
        <p:nvCxnSpPr>
          <p:cNvPr id="10" name="Straight Connector 9"/>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47593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742950" y="4521999"/>
            <a:ext cx="8420100" cy="864096"/>
          </a:xfrm>
        </p:spPr>
        <p:txBody>
          <a:bodyPr/>
          <a:lstStyle>
            <a:lvl1pPr algn="ctr">
              <a:defRPr sz="3600">
                <a:solidFill>
                  <a:srgbClr val="87A529"/>
                </a:solidFill>
              </a:defRPr>
            </a:lvl1pPr>
          </a:lstStyle>
          <a:p>
            <a:r>
              <a:rPr lang="en-US"/>
              <a:t>Click to edit Master title style</a:t>
            </a:r>
            <a:endParaRPr lang="en-GB" dirty="0"/>
          </a:p>
        </p:txBody>
      </p:sp>
      <p:sp>
        <p:nvSpPr>
          <p:cNvPr id="3" name="Subtitle 2"/>
          <p:cNvSpPr>
            <a:spLocks noGrp="1"/>
          </p:cNvSpPr>
          <p:nvPr>
            <p:ph type="subTitle" idx="1"/>
          </p:nvPr>
        </p:nvSpPr>
        <p:spPr>
          <a:xfrm>
            <a:off x="1485900" y="5393233"/>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8" name="Picture Placeholder 7"/>
          <p:cNvSpPr>
            <a:spLocks noGrp="1"/>
          </p:cNvSpPr>
          <p:nvPr>
            <p:ph type="pic" sz="quarter" idx="13"/>
          </p:nvPr>
        </p:nvSpPr>
        <p:spPr>
          <a:xfrm>
            <a:off x="2460636" y="1196400"/>
            <a:ext cx="4984728" cy="3240712"/>
          </a:xfrm>
        </p:spPr>
        <p:txBody>
          <a:bodyPr rtlCol="0">
            <a:normAutofit/>
          </a:bodyPr>
          <a:lstStyle/>
          <a:p>
            <a:pPr lvl="0"/>
            <a:r>
              <a:rPr lang="en-US" noProof="0" dirty="0"/>
              <a:t>Click icon to add picture</a:t>
            </a:r>
            <a:endParaRPr lang="en-GB" noProof="0" dirty="0"/>
          </a:p>
        </p:txBody>
      </p:sp>
      <p:sp>
        <p:nvSpPr>
          <p:cNvPr id="7" name="Date Placeholder 3"/>
          <p:cNvSpPr>
            <a:spLocks noGrp="1"/>
          </p:cNvSpPr>
          <p:nvPr>
            <p:ph type="dt" sz="half" idx="14"/>
          </p:nvPr>
        </p:nvSpPr>
        <p:spPr/>
        <p:txBody>
          <a:bodyPr/>
          <a:lstStyle>
            <a:lvl1pPr>
              <a:defRPr/>
            </a:lvl1pPr>
          </a:lstStyle>
          <a:p>
            <a:pPr>
              <a:defRPr/>
            </a:pPr>
            <a:fld id="{367115C0-7569-1944-9CC4-CD69F8B1B381}" type="datetime3">
              <a:rPr lang="en-GB"/>
              <a:pPr>
                <a:defRPr/>
              </a:pPr>
              <a:t>24 November, 2024</a:t>
            </a:fld>
            <a:endParaRPr lang="en-GB" dirty="0"/>
          </a:p>
        </p:txBody>
      </p:sp>
      <p:sp>
        <p:nvSpPr>
          <p:cNvPr id="9" name="Footer Placeholder 4"/>
          <p:cNvSpPr>
            <a:spLocks noGrp="1"/>
          </p:cNvSpPr>
          <p:nvPr>
            <p:ph type="ftr" sz="quarter" idx="15"/>
          </p:nvPr>
        </p:nvSpPr>
        <p:spPr/>
        <p:txBody>
          <a:bodyPr/>
          <a:lstStyle>
            <a:lvl1pPr>
              <a:defRPr/>
            </a:lvl1pPr>
          </a:lstStyle>
          <a:p>
            <a:pPr>
              <a:defRPr/>
            </a:pPr>
            <a:r>
              <a:rPr lang="en-GB" dirty="0"/>
              <a:t>COS7039-B: Internet of Things</a:t>
            </a:r>
          </a:p>
        </p:txBody>
      </p:sp>
      <p:sp>
        <p:nvSpPr>
          <p:cNvPr id="10" name="Slide Number Placeholder 5"/>
          <p:cNvSpPr>
            <a:spLocks noGrp="1"/>
          </p:cNvSpPr>
          <p:nvPr>
            <p:ph type="sldNum" sz="quarter" idx="16"/>
          </p:nvPr>
        </p:nvSpPr>
        <p:spPr/>
        <p:txBody>
          <a:bodyPr/>
          <a:lstStyle>
            <a:lvl1pPr>
              <a:defRPr/>
            </a:lvl1pPr>
          </a:lstStyle>
          <a:p>
            <a:pPr>
              <a:defRPr/>
            </a:pPr>
            <a:fld id="{D3C9A484-57CE-FE4F-B6B9-41CA4D3D1411}" type="slidenum">
              <a:rPr lang="en-GB"/>
              <a:pPr>
                <a:defRPr/>
              </a:pPr>
              <a:t>‹#›</a:t>
            </a:fld>
            <a:endParaRPr lang="en-GB" dirty="0"/>
          </a:p>
        </p:txBody>
      </p:sp>
      <p:cxnSp>
        <p:nvCxnSpPr>
          <p:cNvPr id="11" name="Straight Connector 10"/>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284825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cxnSp>
        <p:nvCxnSpPr>
          <p:cNvPr id="5" name="Straight Connector 4"/>
          <p:cNvCxnSpPr>
            <a:stCxn id="8" idx="3"/>
          </p:cNvCxnSpPr>
          <p:nvPr userDrawn="1"/>
        </p:nvCxnSpPr>
        <p:spPr>
          <a:xfrm>
            <a:off x="4627563" y="3176588"/>
            <a:ext cx="649287" cy="0"/>
          </a:xfrm>
          <a:prstGeom prst="line">
            <a:avLst/>
          </a:prstGeom>
          <a:ln w="12700">
            <a:solidFill>
              <a:srgbClr val="87A529"/>
            </a:solidFill>
            <a:prstDash val="sysDash"/>
          </a:ln>
        </p:spPr>
        <p:style>
          <a:lnRef idx="1">
            <a:schemeClr val="dk1"/>
          </a:lnRef>
          <a:fillRef idx="0">
            <a:schemeClr val="dk1"/>
          </a:fillRef>
          <a:effectRef idx="0">
            <a:schemeClr val="dk1"/>
          </a:effectRef>
          <a:fontRef idx="minor">
            <a:schemeClr val="tx1"/>
          </a:fontRef>
        </p:style>
      </p:cxnSp>
      <p:pic>
        <p:nvPicPr>
          <p:cNvPr id="7"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5276312" y="1917112"/>
            <a:ext cx="2520000" cy="2520000"/>
          </a:xfrm>
          <a:noFill/>
          <a:ln w="12700">
            <a:solidFill>
              <a:srgbClr val="87A529"/>
            </a:solidFill>
            <a:prstDash val="solid"/>
          </a:ln>
        </p:spPr>
        <p:txBody>
          <a:bodyPr lIns="108000" tIns="108000" rIns="108000" bIns="108000"/>
          <a:lstStyle>
            <a:lvl1pPr algn="ctr">
              <a:defRPr sz="3600">
                <a:solidFill>
                  <a:srgbClr val="87A529"/>
                </a:solidFill>
              </a:defRPr>
            </a:lvl1pPr>
          </a:lstStyle>
          <a:p>
            <a:r>
              <a:rPr lang="en-US"/>
              <a:t>Click to edit Master title style</a:t>
            </a:r>
            <a:endParaRPr lang="en-GB" dirty="0"/>
          </a:p>
        </p:txBody>
      </p:sp>
      <p:sp>
        <p:nvSpPr>
          <p:cNvPr id="8" name="Picture Placeholder 7"/>
          <p:cNvSpPr>
            <a:spLocks noGrp="1"/>
          </p:cNvSpPr>
          <p:nvPr>
            <p:ph type="pic" sz="quarter" idx="13"/>
          </p:nvPr>
        </p:nvSpPr>
        <p:spPr>
          <a:xfrm>
            <a:off x="2107960" y="1917112"/>
            <a:ext cx="2520000" cy="2520000"/>
          </a:xfrm>
        </p:spPr>
        <p:txBody>
          <a:bodyPr rtlCol="0">
            <a:normAutofit/>
          </a:bodyPr>
          <a:lstStyle/>
          <a:p>
            <a:pPr lvl="0"/>
            <a:r>
              <a:rPr lang="en-US" noProof="0" dirty="0"/>
              <a:t>Click icon to add picture</a:t>
            </a:r>
            <a:endParaRPr lang="en-GB" noProof="0" dirty="0"/>
          </a:p>
        </p:txBody>
      </p:sp>
      <p:sp>
        <p:nvSpPr>
          <p:cNvPr id="3" name="Subtitle 2"/>
          <p:cNvSpPr>
            <a:spLocks noGrp="1"/>
          </p:cNvSpPr>
          <p:nvPr>
            <p:ph type="subTitle" idx="1"/>
          </p:nvPr>
        </p:nvSpPr>
        <p:spPr>
          <a:xfrm>
            <a:off x="1485900" y="4869160"/>
            <a:ext cx="6934200" cy="628055"/>
          </a:xfrm>
        </p:spPr>
        <p:txBody>
          <a:bodyPr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9" name="Date Placeholder 3"/>
          <p:cNvSpPr>
            <a:spLocks noGrp="1"/>
          </p:cNvSpPr>
          <p:nvPr>
            <p:ph type="dt" sz="half" idx="14"/>
          </p:nvPr>
        </p:nvSpPr>
        <p:spPr/>
        <p:txBody>
          <a:bodyPr/>
          <a:lstStyle>
            <a:lvl1pPr>
              <a:defRPr/>
            </a:lvl1pPr>
          </a:lstStyle>
          <a:p>
            <a:pPr>
              <a:defRPr/>
            </a:pPr>
            <a:fld id="{FE4AC31E-B512-CA45-9F01-FED17CFC0DEF}" type="datetime3">
              <a:rPr lang="en-GB"/>
              <a:pPr>
                <a:defRPr/>
              </a:pPr>
              <a:t>24 November, 2024</a:t>
            </a:fld>
            <a:endParaRPr lang="en-GB" dirty="0"/>
          </a:p>
        </p:txBody>
      </p:sp>
      <p:sp>
        <p:nvSpPr>
          <p:cNvPr id="10" name="Footer Placeholder 4"/>
          <p:cNvSpPr>
            <a:spLocks noGrp="1"/>
          </p:cNvSpPr>
          <p:nvPr>
            <p:ph type="ftr" sz="quarter" idx="15"/>
          </p:nvPr>
        </p:nvSpPr>
        <p:spPr/>
        <p:txBody>
          <a:bodyPr/>
          <a:lstStyle>
            <a:lvl1pPr>
              <a:defRPr/>
            </a:lvl1pPr>
          </a:lstStyle>
          <a:p>
            <a:pPr>
              <a:defRPr/>
            </a:pPr>
            <a:r>
              <a:rPr lang="en-GB" dirty="0"/>
              <a:t>COS7039-B: Internet of Things</a:t>
            </a:r>
          </a:p>
        </p:txBody>
      </p:sp>
      <p:sp>
        <p:nvSpPr>
          <p:cNvPr id="11" name="Slide Number Placeholder 5"/>
          <p:cNvSpPr>
            <a:spLocks noGrp="1"/>
          </p:cNvSpPr>
          <p:nvPr>
            <p:ph type="sldNum" sz="quarter" idx="16"/>
          </p:nvPr>
        </p:nvSpPr>
        <p:spPr/>
        <p:txBody>
          <a:bodyPr/>
          <a:lstStyle>
            <a:lvl1pPr>
              <a:defRPr/>
            </a:lvl1pPr>
          </a:lstStyle>
          <a:p>
            <a:pPr>
              <a:defRPr/>
            </a:pPr>
            <a:fld id="{9E53BAAD-3567-5449-BA34-98DF5D76DACB}" type="slidenum">
              <a:rPr lang="en-GB"/>
              <a:pPr>
                <a:defRPr/>
              </a:pPr>
              <a:t>‹#›</a:t>
            </a:fld>
            <a:endParaRPr lang="en-GB" dirty="0"/>
          </a:p>
        </p:txBody>
      </p:sp>
      <p:cxnSp>
        <p:nvCxnSpPr>
          <p:cNvPr id="12" name="Straight Connector 11"/>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0689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5_Title Slide">
    <p:spTree>
      <p:nvGrpSpPr>
        <p:cNvPr id="1" name=""/>
        <p:cNvGrpSpPr/>
        <p:nvPr/>
      </p:nvGrpSpPr>
      <p:grpSpPr>
        <a:xfrm>
          <a:off x="0" y="0"/>
          <a:ext cx="0" cy="0"/>
          <a:chOff x="0" y="0"/>
          <a:chExt cx="0" cy="0"/>
        </a:xfrm>
      </p:grpSpPr>
      <p:cxnSp>
        <p:nvCxnSpPr>
          <p:cNvPr id="4" name="Straight Connector 3"/>
          <p:cNvCxnSpPr/>
          <p:nvPr userDrawn="1"/>
        </p:nvCxnSpPr>
        <p:spPr>
          <a:xfrm flipH="1">
            <a:off x="4632325" y="3425825"/>
            <a:ext cx="476250" cy="0"/>
          </a:xfrm>
          <a:prstGeom prst="line">
            <a:avLst/>
          </a:prstGeom>
          <a:ln w="12700" cmpd="sng">
            <a:solidFill>
              <a:srgbClr val="87A529"/>
            </a:solidFill>
            <a:prstDash val="sysDash"/>
          </a:ln>
        </p:spPr>
        <p:style>
          <a:lnRef idx="1">
            <a:schemeClr val="dk1"/>
          </a:lnRef>
          <a:fillRef idx="0">
            <a:schemeClr val="dk1"/>
          </a:fillRef>
          <a:effectRef idx="0">
            <a:schemeClr val="dk1"/>
          </a:effectRef>
          <a:fontRef idx="minor">
            <a:schemeClr val="tx1"/>
          </a:fontRef>
        </p:style>
      </p:cxnSp>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0363" y="152400"/>
            <a:ext cx="34163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2111789" y="2166556"/>
            <a:ext cx="2520000" cy="2520000"/>
          </a:xfrm>
          <a:solidFill>
            <a:schemeClr val="accent1"/>
          </a:solidFill>
          <a:ln>
            <a:solidFill>
              <a:srgbClr val="87A529"/>
            </a:solidFill>
          </a:ln>
        </p:spPr>
        <p:txBody>
          <a:bodyPr lIns="108000" tIns="108000" rIns="108000" bIns="108000">
            <a:normAutofit/>
          </a:bodyPr>
          <a:lstStyle>
            <a:lvl1pPr algn="ctr">
              <a:defRPr sz="2400">
                <a:solidFill>
                  <a:schemeClr val="bg1"/>
                </a:solidFill>
              </a:defRPr>
            </a:lvl1pPr>
          </a:lstStyle>
          <a:p>
            <a:r>
              <a:rPr lang="en-US"/>
              <a:t>Click to edit Master title style</a:t>
            </a:r>
            <a:endParaRPr lang="en-GB" dirty="0"/>
          </a:p>
        </p:txBody>
      </p:sp>
      <p:sp>
        <p:nvSpPr>
          <p:cNvPr id="3" name="Subtitle 2"/>
          <p:cNvSpPr>
            <a:spLocks noGrp="1"/>
          </p:cNvSpPr>
          <p:nvPr>
            <p:ph type="subTitle" idx="1"/>
          </p:nvPr>
        </p:nvSpPr>
        <p:spPr>
          <a:xfrm>
            <a:off x="5109056" y="2166556"/>
            <a:ext cx="2520000" cy="2520000"/>
          </a:xfrm>
          <a:ln w="12700">
            <a:solidFill>
              <a:srgbClr val="87A529"/>
            </a:solidFill>
          </a:ln>
        </p:spPr>
        <p:txBody>
          <a:bodyPr lIns="108000" tIns="108000" rIns="108000" bIns="108000" anchor="ctr">
            <a:norm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7" name="Date Placeholder 3"/>
          <p:cNvSpPr>
            <a:spLocks noGrp="1"/>
          </p:cNvSpPr>
          <p:nvPr>
            <p:ph type="dt" sz="half" idx="10"/>
          </p:nvPr>
        </p:nvSpPr>
        <p:spPr/>
        <p:txBody>
          <a:bodyPr/>
          <a:lstStyle>
            <a:lvl1pPr>
              <a:defRPr/>
            </a:lvl1pPr>
          </a:lstStyle>
          <a:p>
            <a:pPr>
              <a:defRPr/>
            </a:pPr>
            <a:fld id="{14354681-AB38-6444-98D5-BBD5BA84816D}" type="datetime3">
              <a:rPr lang="en-GB"/>
              <a:pPr>
                <a:defRPr/>
              </a:pPr>
              <a:t>24 November,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9" name="Slide Number Placeholder 5"/>
          <p:cNvSpPr>
            <a:spLocks noGrp="1"/>
          </p:cNvSpPr>
          <p:nvPr>
            <p:ph type="sldNum" sz="quarter" idx="12"/>
          </p:nvPr>
        </p:nvSpPr>
        <p:spPr/>
        <p:txBody>
          <a:bodyPr/>
          <a:lstStyle>
            <a:lvl1pPr>
              <a:defRPr/>
            </a:lvl1pPr>
          </a:lstStyle>
          <a:p>
            <a:pPr>
              <a:defRPr/>
            </a:pPr>
            <a:fld id="{A3D8D661-7855-F14B-8AA6-252FA0A881E6}" type="slidenum">
              <a:rPr lang="en-GB"/>
              <a:pPr>
                <a:defRPr/>
              </a:pPr>
              <a:t>‹#›</a:t>
            </a:fld>
            <a:endParaRPr lang="en-GB" dirty="0"/>
          </a:p>
        </p:txBody>
      </p:sp>
      <p:cxnSp>
        <p:nvCxnSpPr>
          <p:cNvPr id="10" name="Straight Connector 9"/>
          <p:cNvCxnSpPr/>
          <p:nvPr userDrawn="1"/>
        </p:nvCxnSpPr>
        <p:spPr>
          <a:xfrm flipV="1">
            <a:off x="381000" y="1049338"/>
            <a:ext cx="9148763" cy="3175"/>
          </a:xfrm>
          <a:prstGeom prst="line">
            <a:avLst/>
          </a:prstGeom>
          <a:ln w="9525" cmpd="sng">
            <a:solidFill>
              <a:schemeClr val="bg1">
                <a:lumMod val="50000"/>
              </a:schemeClr>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23508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742950" y="2852936"/>
            <a:ext cx="8420100" cy="1362075"/>
          </a:xfrm>
        </p:spPr>
        <p:txBody>
          <a:bodyPr/>
          <a:lstStyle>
            <a:lvl1pPr algn="l">
              <a:defRPr sz="4000" b="1" cap="none"/>
            </a:lvl1pPr>
          </a:lstStyle>
          <a:p>
            <a:r>
              <a:rPr lang="en-US"/>
              <a:t>Click to edit Master title style</a:t>
            </a:r>
            <a:endParaRPr lang="en-GB" dirty="0"/>
          </a:p>
        </p:txBody>
      </p:sp>
      <p:sp>
        <p:nvSpPr>
          <p:cNvPr id="3" name="Text Placeholder 2"/>
          <p:cNvSpPr>
            <a:spLocks noGrp="1"/>
          </p:cNvSpPr>
          <p:nvPr>
            <p:ph type="body" idx="1"/>
          </p:nvPr>
        </p:nvSpPr>
        <p:spPr>
          <a:xfrm>
            <a:off x="742950" y="4509120"/>
            <a:ext cx="8420100" cy="1080120"/>
          </a:xfrm>
        </p:spPr>
        <p:txBody>
          <a:bodyPr anchor="ct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5D4E611A-1751-7C46-931A-ECAE714F5E92}" type="datetime3">
              <a:rPr lang="en-GB"/>
              <a:pPr>
                <a:defRPr/>
              </a:pPr>
              <a:t>24 November,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8" name="Slide Number Placeholder 5"/>
          <p:cNvSpPr>
            <a:spLocks noGrp="1"/>
          </p:cNvSpPr>
          <p:nvPr>
            <p:ph type="sldNum" sz="quarter" idx="12"/>
          </p:nvPr>
        </p:nvSpPr>
        <p:spPr/>
        <p:txBody>
          <a:bodyPr/>
          <a:lstStyle>
            <a:lvl1pPr>
              <a:defRPr/>
            </a:lvl1pPr>
          </a:lstStyle>
          <a:p>
            <a:pPr>
              <a:defRPr/>
            </a:pPr>
            <a:fld id="{E399D912-52B9-434D-9B28-D10416F3580E}"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3485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pic>
        <p:nvPicPr>
          <p:cNvPr id="7"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5" y="934120"/>
            <a:ext cx="8485605" cy="755933"/>
          </a:xfrm>
        </p:spPr>
        <p:txBody>
          <a:bodyPr/>
          <a:lstStyle/>
          <a:p>
            <a:r>
              <a:rPr lang="en-US"/>
              <a:t>Click to edit Master title style</a:t>
            </a:r>
            <a:endParaRPr lang="en-GB" dirty="0"/>
          </a:p>
        </p:txBody>
      </p:sp>
      <p:sp>
        <p:nvSpPr>
          <p:cNvPr id="3" name="Content Placeholder 2"/>
          <p:cNvSpPr>
            <a:spLocks noGrp="1"/>
          </p:cNvSpPr>
          <p:nvPr>
            <p:ph idx="1"/>
          </p:nvPr>
        </p:nvSpPr>
        <p:spPr>
          <a:xfrm>
            <a:off x="1030724" y="1771650"/>
            <a:ext cx="5054084"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noFill/>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rgbClr val="87A529"/>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Date Placeholder 3"/>
          <p:cNvSpPr>
            <a:spLocks noGrp="1"/>
          </p:cNvSpPr>
          <p:nvPr>
            <p:ph type="dt" sz="half" idx="14"/>
          </p:nvPr>
        </p:nvSpPr>
        <p:spPr/>
        <p:txBody>
          <a:bodyPr/>
          <a:lstStyle>
            <a:lvl1pPr>
              <a:defRPr/>
            </a:lvl1pPr>
          </a:lstStyle>
          <a:p>
            <a:pPr>
              <a:defRPr/>
            </a:pPr>
            <a:fld id="{5BB38C7B-9D24-A64A-B21C-8A266EADA6F8}" type="datetime3">
              <a:rPr lang="en-GB"/>
              <a:pPr>
                <a:defRPr/>
              </a:pPr>
              <a:t>24 November, 2024</a:t>
            </a:fld>
            <a:endParaRPr lang="en-GB" dirty="0"/>
          </a:p>
        </p:txBody>
      </p:sp>
      <p:sp>
        <p:nvSpPr>
          <p:cNvPr id="9"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FF6AD0DC-C5F3-194F-9E56-4AE1F77D0414}" type="slidenum">
              <a:rPr lang="en-GB"/>
              <a:pPr>
                <a:defRPr/>
              </a:pPr>
              <a:t>‹#›</a:t>
            </a:fld>
            <a:endParaRPr lang="en-GB" dirty="0"/>
          </a:p>
        </p:txBody>
      </p:sp>
      <p:cxnSp>
        <p:nvCxnSpPr>
          <p:cNvPr id="12" name="Straight Connector 11"/>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98957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881" y="3645024"/>
            <a:ext cx="2407" cy="2664296"/>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25525" y="116632"/>
            <a:ext cx="8485605" cy="755933"/>
          </a:xfrm>
        </p:spPr>
        <p:txBody>
          <a:bodyPr/>
          <a:lstStyle/>
          <a:p>
            <a:r>
              <a:rPr lang="en-US"/>
              <a:t>Click to edit Master title style</a:t>
            </a:r>
            <a:endParaRPr lang="en-GB" dirty="0"/>
          </a:p>
        </p:txBody>
      </p:sp>
      <p:sp>
        <p:nvSpPr>
          <p:cNvPr id="3" name="Content Placeholder 2"/>
          <p:cNvSpPr>
            <a:spLocks noGrp="1"/>
          </p:cNvSpPr>
          <p:nvPr>
            <p:ph idx="1"/>
          </p:nvPr>
        </p:nvSpPr>
        <p:spPr>
          <a:xfrm>
            <a:off x="1030724" y="908720"/>
            <a:ext cx="5054084" cy="532859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1632074"/>
            <a:ext cx="2011362" cy="2012950"/>
          </a:xfrm>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rgbClr val="87A529"/>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Date Placeholder 3"/>
          <p:cNvSpPr>
            <a:spLocks noGrp="1"/>
          </p:cNvSpPr>
          <p:nvPr>
            <p:ph type="dt" sz="half" idx="14"/>
          </p:nvPr>
        </p:nvSpPr>
        <p:spPr/>
        <p:txBody>
          <a:bodyPr/>
          <a:lstStyle>
            <a:lvl1pPr>
              <a:defRPr/>
            </a:lvl1pPr>
          </a:lstStyle>
          <a:p>
            <a:pPr>
              <a:defRPr/>
            </a:pPr>
            <a:fld id="{D05BDD8D-5686-D04B-9A44-99E54E4E89FB}" type="datetime3">
              <a:rPr lang="en-GB"/>
              <a:pPr>
                <a:defRPr/>
              </a:pPr>
              <a:t>24 November, 2024</a:t>
            </a:fld>
            <a:endParaRPr lang="en-GB" dirty="0"/>
          </a:p>
        </p:txBody>
      </p:sp>
      <p:sp>
        <p:nvSpPr>
          <p:cNvPr id="8"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B6E623B7-B941-3444-8A02-04DF95FFF5B6}"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25144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pic>
        <p:nvPicPr>
          <p:cNvPr id="7"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5" y="940088"/>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5079603"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2060848"/>
            <a:ext cx="2011362" cy="2012950"/>
          </a:xfrm>
          <a:solidFill>
            <a:schemeClr val="accent1"/>
          </a:solidFill>
          <a:ln w="12700">
            <a:solidFill>
              <a:srgbClr val="87A529"/>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chemeClr val="bg1"/>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8" name="Date Placeholder 3"/>
          <p:cNvSpPr>
            <a:spLocks noGrp="1"/>
          </p:cNvSpPr>
          <p:nvPr>
            <p:ph type="dt" sz="half" idx="14"/>
          </p:nvPr>
        </p:nvSpPr>
        <p:spPr/>
        <p:txBody>
          <a:bodyPr/>
          <a:lstStyle>
            <a:lvl1pPr>
              <a:defRPr/>
            </a:lvl1pPr>
          </a:lstStyle>
          <a:p>
            <a:pPr>
              <a:defRPr/>
            </a:pPr>
            <a:fld id="{BC3222AF-7D3D-C74A-84D1-040B0E9C47C9}" type="datetime3">
              <a:rPr lang="en-GB"/>
              <a:pPr>
                <a:defRPr/>
              </a:pPr>
              <a:t>24 November, 2024</a:t>
            </a:fld>
            <a:endParaRPr lang="en-GB" dirty="0"/>
          </a:p>
        </p:txBody>
      </p:sp>
      <p:sp>
        <p:nvSpPr>
          <p:cNvPr id="9"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11" name="Slide Number Placeholder 5"/>
          <p:cNvSpPr>
            <a:spLocks noGrp="1"/>
          </p:cNvSpPr>
          <p:nvPr>
            <p:ph type="sldNum" sz="quarter" idx="16"/>
          </p:nvPr>
        </p:nvSpPr>
        <p:spPr/>
        <p:txBody>
          <a:bodyPr/>
          <a:lstStyle>
            <a:lvl1pPr>
              <a:defRPr/>
            </a:lvl1pPr>
          </a:lstStyle>
          <a:p>
            <a:pPr>
              <a:defRPr/>
            </a:pPr>
            <a:fld id="{96947520-5547-EB48-9E3D-CF85C605AB64}" type="slidenum">
              <a:rPr lang="en-GB"/>
              <a:pPr>
                <a:defRPr/>
              </a:pPr>
              <a:t>‹#›</a:t>
            </a:fld>
            <a:endParaRPr lang="en-GB" dirty="0"/>
          </a:p>
        </p:txBody>
      </p:sp>
      <p:cxnSp>
        <p:nvCxnSpPr>
          <p:cNvPr id="12" name="Straight Connector 11"/>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6424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cxnSp>
        <p:nvCxnSpPr>
          <p:cNvPr id="5" name="Straight Connector 4"/>
          <p:cNvCxnSpPr>
            <a:stCxn id="10" idx="2"/>
          </p:cNvCxnSpPr>
          <p:nvPr userDrawn="1"/>
        </p:nvCxnSpPr>
        <p:spPr>
          <a:xfrm>
            <a:off x="7758881" y="3501008"/>
            <a:ext cx="2407" cy="2808312"/>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25525" y="116632"/>
            <a:ext cx="8485605" cy="760125"/>
          </a:xfrm>
        </p:spPr>
        <p:txBody>
          <a:bodyPr/>
          <a:lstStyle>
            <a:lvl1pPr>
              <a:defRPr>
                <a:solidFill>
                  <a:srgbClr val="87A529"/>
                </a:solidFill>
              </a:defRPr>
            </a:lvl1pPr>
          </a:lstStyle>
          <a:p>
            <a:r>
              <a:rPr lang="en-US"/>
              <a:t>Click to edit Master title style</a:t>
            </a:r>
            <a:endParaRPr lang="en-GB" dirty="0"/>
          </a:p>
        </p:txBody>
      </p:sp>
      <p:sp>
        <p:nvSpPr>
          <p:cNvPr id="3" name="Content Placeholder 2"/>
          <p:cNvSpPr>
            <a:spLocks noGrp="1"/>
          </p:cNvSpPr>
          <p:nvPr>
            <p:ph idx="1"/>
          </p:nvPr>
        </p:nvSpPr>
        <p:spPr>
          <a:xfrm>
            <a:off x="1025525" y="908720"/>
            <a:ext cx="5079603" cy="532859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Text Placeholder 9"/>
          <p:cNvSpPr>
            <a:spLocks noGrp="1"/>
          </p:cNvSpPr>
          <p:nvPr>
            <p:ph type="body" sz="quarter" idx="13"/>
          </p:nvPr>
        </p:nvSpPr>
        <p:spPr>
          <a:xfrm>
            <a:off x="6753200" y="1488058"/>
            <a:ext cx="2011362" cy="2012950"/>
          </a:xfrm>
          <a:solidFill>
            <a:schemeClr val="accent1"/>
          </a:solidFill>
          <a:ln w="12700">
            <a:solidFill>
              <a:schemeClr val="accent1"/>
            </a:solidFill>
            <a:prstDash val="solid"/>
          </a:ln>
        </p:spPr>
        <p:style>
          <a:lnRef idx="1">
            <a:schemeClr val="accent1"/>
          </a:lnRef>
          <a:fillRef idx="0">
            <a:schemeClr val="accent1"/>
          </a:fillRef>
          <a:effectRef idx="0">
            <a:schemeClr val="accent1"/>
          </a:effectRef>
          <a:fontRef idx="minor">
            <a:schemeClr val="tx1"/>
          </a:fontRef>
        </p:style>
        <p:txBody>
          <a:bodyPr lIns="108000" tIns="108000" rIns="108000" bIns="108000" anchor="ctr"/>
          <a:lstStyle>
            <a:lvl1pPr marL="0" indent="0" algn="ctr">
              <a:buNone/>
              <a:defRPr sz="2400" b="1">
                <a:solidFill>
                  <a:schemeClr val="bg1"/>
                </a:solidFill>
                <a:latin typeface="Georgia"/>
                <a:cs typeface="Georgia"/>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Date Placeholder 3"/>
          <p:cNvSpPr>
            <a:spLocks noGrp="1"/>
          </p:cNvSpPr>
          <p:nvPr>
            <p:ph type="dt" sz="half" idx="14"/>
          </p:nvPr>
        </p:nvSpPr>
        <p:spPr/>
        <p:txBody>
          <a:bodyPr/>
          <a:lstStyle>
            <a:lvl1pPr>
              <a:defRPr/>
            </a:lvl1pPr>
          </a:lstStyle>
          <a:p>
            <a:pPr>
              <a:defRPr/>
            </a:pPr>
            <a:fld id="{6BA65434-6B3F-194B-9261-F2C835AEE536}" type="datetime3">
              <a:rPr lang="en-GB"/>
              <a:pPr>
                <a:defRPr/>
              </a:pPr>
              <a:t>24 November, 2024</a:t>
            </a:fld>
            <a:endParaRPr lang="en-GB" dirty="0"/>
          </a:p>
        </p:txBody>
      </p:sp>
      <p:sp>
        <p:nvSpPr>
          <p:cNvPr id="8"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1F0152CE-70D9-BC47-8F81-41904687DE4B}"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162446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cxnSp>
        <p:nvCxnSpPr>
          <p:cNvPr id="5" name="Straight Connector 4"/>
          <p:cNvCxnSpPr/>
          <p:nvPr userDrawn="1"/>
        </p:nvCxnSpPr>
        <p:spPr>
          <a:xfrm>
            <a:off x="7758113" y="4073525"/>
            <a:ext cx="3175" cy="2268538"/>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pic>
        <p:nvPicPr>
          <p:cNvPr id="7"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Picture Placeholder 13"/>
          <p:cNvSpPr>
            <a:spLocks noGrp="1"/>
          </p:cNvSpPr>
          <p:nvPr>
            <p:ph type="pic" sz="quarter" idx="17"/>
          </p:nvPr>
        </p:nvSpPr>
        <p:spPr>
          <a:xfrm>
            <a:off x="6753225" y="2060575"/>
            <a:ext cx="2016125" cy="2016125"/>
          </a:xfrm>
        </p:spPr>
        <p:txBody>
          <a:bodyPr/>
          <a:lstStyle>
            <a:lvl1pPr marL="0" indent="0">
              <a:buNone/>
              <a:defRPr/>
            </a:lvl1pPr>
          </a:lstStyle>
          <a:p>
            <a:pPr lvl="0"/>
            <a:r>
              <a:rPr lang="en-US" noProof="0" dirty="0"/>
              <a:t>Click icon to add picture</a:t>
            </a:r>
            <a:endParaRPr lang="en-GB" noProof="0" dirty="0"/>
          </a:p>
        </p:txBody>
      </p:sp>
      <p:sp>
        <p:nvSpPr>
          <p:cNvPr id="2" name="Title 1"/>
          <p:cNvSpPr>
            <a:spLocks noGrp="1"/>
          </p:cNvSpPr>
          <p:nvPr>
            <p:ph type="title"/>
          </p:nvPr>
        </p:nvSpPr>
        <p:spPr>
          <a:xfrm>
            <a:off x="1025525" y="940088"/>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1771650"/>
            <a:ext cx="5079603" cy="446566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Date Placeholder 3"/>
          <p:cNvSpPr>
            <a:spLocks noGrp="1"/>
          </p:cNvSpPr>
          <p:nvPr>
            <p:ph type="dt" sz="half" idx="18"/>
          </p:nvPr>
        </p:nvSpPr>
        <p:spPr/>
        <p:txBody>
          <a:bodyPr/>
          <a:lstStyle>
            <a:lvl1pPr>
              <a:defRPr/>
            </a:lvl1pPr>
          </a:lstStyle>
          <a:p>
            <a:pPr>
              <a:defRPr/>
            </a:pPr>
            <a:fld id="{8901AA5D-4117-DC42-8767-9087B666EFBF}" type="datetime3">
              <a:rPr lang="en-GB"/>
              <a:pPr>
                <a:defRPr/>
              </a:pPr>
              <a:t>24 November, 2024</a:t>
            </a:fld>
            <a:endParaRPr lang="en-GB" dirty="0"/>
          </a:p>
        </p:txBody>
      </p:sp>
      <p:sp>
        <p:nvSpPr>
          <p:cNvPr id="9" name="Footer Placeholder 4"/>
          <p:cNvSpPr>
            <a:spLocks noGrp="1"/>
          </p:cNvSpPr>
          <p:nvPr>
            <p:ph type="ftr" sz="quarter" idx="19"/>
          </p:nvPr>
        </p:nvSpPr>
        <p:spPr/>
        <p:txBody>
          <a:bodyPr/>
          <a:lstStyle>
            <a:lvl1pPr>
              <a:defRPr/>
            </a:lvl1pPr>
          </a:lstStyle>
          <a:p>
            <a:pPr>
              <a:defRPr/>
            </a:pPr>
            <a:r>
              <a:rPr lang="en-GB" dirty="0"/>
              <a:t>POWERPOINT PRESENTATION TEMPLATE GREEN</a:t>
            </a:r>
          </a:p>
        </p:txBody>
      </p:sp>
      <p:sp>
        <p:nvSpPr>
          <p:cNvPr id="10" name="Slide Number Placeholder 5"/>
          <p:cNvSpPr>
            <a:spLocks noGrp="1"/>
          </p:cNvSpPr>
          <p:nvPr>
            <p:ph type="sldNum" sz="quarter" idx="20"/>
          </p:nvPr>
        </p:nvSpPr>
        <p:spPr/>
        <p:txBody>
          <a:bodyPr/>
          <a:lstStyle>
            <a:lvl1pPr>
              <a:defRPr/>
            </a:lvl1pPr>
          </a:lstStyle>
          <a:p>
            <a:pPr>
              <a:defRPr/>
            </a:pPr>
            <a:fld id="{D15EF3D2-1C91-1E4C-9342-2EE3F832DBD2}"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956297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cxnSp>
        <p:nvCxnSpPr>
          <p:cNvPr id="5" name="Straight Connector 4"/>
          <p:cNvCxnSpPr>
            <a:stCxn id="12" idx="2"/>
          </p:cNvCxnSpPr>
          <p:nvPr userDrawn="1"/>
        </p:nvCxnSpPr>
        <p:spPr>
          <a:xfrm>
            <a:off x="7761288" y="3501008"/>
            <a:ext cx="0" cy="2841055"/>
          </a:xfrm>
          <a:prstGeom prst="line">
            <a:avLst/>
          </a:prstGeom>
          <a:ln w="12700">
            <a:solidFill>
              <a:srgbClr val="87A529"/>
            </a:solidFill>
            <a:prstDash val="sysDash"/>
          </a:ln>
        </p:spPr>
        <p:style>
          <a:lnRef idx="1">
            <a:schemeClr val="accent1"/>
          </a:lnRef>
          <a:fillRef idx="0">
            <a:schemeClr val="accent1"/>
          </a:fillRef>
          <a:effectRef idx="0">
            <a:schemeClr val="accent1"/>
          </a:effectRef>
          <a:fontRef idx="minor">
            <a:schemeClr val="tx1"/>
          </a:fontRef>
        </p:style>
      </p:cxnSp>
      <p:sp>
        <p:nvSpPr>
          <p:cNvPr id="12" name="Picture Placeholder 13"/>
          <p:cNvSpPr>
            <a:spLocks noGrp="1"/>
          </p:cNvSpPr>
          <p:nvPr>
            <p:ph type="pic" sz="quarter" idx="17"/>
          </p:nvPr>
        </p:nvSpPr>
        <p:spPr>
          <a:xfrm>
            <a:off x="6753225" y="1484883"/>
            <a:ext cx="2016125" cy="2016125"/>
          </a:xfrm>
        </p:spPr>
        <p:txBody>
          <a:bodyPr/>
          <a:lstStyle>
            <a:lvl1pPr marL="0" indent="0">
              <a:buNone/>
              <a:defRPr/>
            </a:lvl1pPr>
          </a:lstStyle>
          <a:p>
            <a:pPr lvl="0"/>
            <a:r>
              <a:rPr lang="en-US" noProof="0" dirty="0"/>
              <a:t>Click icon to add picture</a:t>
            </a:r>
            <a:endParaRPr lang="en-GB" noProof="0" dirty="0"/>
          </a:p>
        </p:txBody>
      </p:sp>
      <p:sp>
        <p:nvSpPr>
          <p:cNvPr id="2" name="Title 1"/>
          <p:cNvSpPr>
            <a:spLocks noGrp="1"/>
          </p:cNvSpPr>
          <p:nvPr>
            <p:ph type="title"/>
          </p:nvPr>
        </p:nvSpPr>
        <p:spPr>
          <a:xfrm>
            <a:off x="1025525" y="116632"/>
            <a:ext cx="8485605" cy="760125"/>
          </a:xfrm>
        </p:spPr>
        <p:txBody>
          <a:bodyPr/>
          <a:lstStyle/>
          <a:p>
            <a:r>
              <a:rPr lang="en-US"/>
              <a:t>Click to edit Master title style</a:t>
            </a:r>
            <a:endParaRPr lang="en-GB" dirty="0"/>
          </a:p>
        </p:txBody>
      </p:sp>
      <p:sp>
        <p:nvSpPr>
          <p:cNvPr id="3" name="Content Placeholder 2"/>
          <p:cNvSpPr>
            <a:spLocks noGrp="1"/>
          </p:cNvSpPr>
          <p:nvPr>
            <p:ph idx="1"/>
          </p:nvPr>
        </p:nvSpPr>
        <p:spPr>
          <a:xfrm>
            <a:off x="1025525" y="908720"/>
            <a:ext cx="5079603" cy="5328591"/>
          </a:xfrm>
        </p:spPr>
        <p:txBody>
          <a:bodyPr>
            <a:no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3"/>
          <p:cNvSpPr>
            <a:spLocks noGrp="1"/>
          </p:cNvSpPr>
          <p:nvPr>
            <p:ph type="dt" sz="half" idx="18"/>
          </p:nvPr>
        </p:nvSpPr>
        <p:spPr/>
        <p:txBody>
          <a:bodyPr/>
          <a:lstStyle>
            <a:lvl1pPr>
              <a:defRPr/>
            </a:lvl1pPr>
          </a:lstStyle>
          <a:p>
            <a:pPr>
              <a:defRPr/>
            </a:pPr>
            <a:fld id="{768B0775-884F-014D-97CD-CFAC1EB97F57}" type="datetime3">
              <a:rPr lang="en-GB"/>
              <a:pPr>
                <a:defRPr/>
              </a:pPr>
              <a:t>24 November, 2024</a:t>
            </a:fld>
            <a:endParaRPr lang="en-GB" dirty="0"/>
          </a:p>
        </p:txBody>
      </p:sp>
      <p:sp>
        <p:nvSpPr>
          <p:cNvPr id="8" name="Footer Placeholder 4"/>
          <p:cNvSpPr>
            <a:spLocks noGrp="1"/>
          </p:cNvSpPr>
          <p:nvPr>
            <p:ph type="ftr" sz="quarter" idx="19"/>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20"/>
          </p:nvPr>
        </p:nvSpPr>
        <p:spPr/>
        <p:txBody>
          <a:bodyPr/>
          <a:lstStyle>
            <a:lvl1pPr>
              <a:defRPr/>
            </a:lvl1pPr>
          </a:lstStyle>
          <a:p>
            <a:pPr>
              <a:defRPr/>
            </a:pPr>
            <a:fld id="{5B9B0EC1-6015-9E4C-92A4-40AB233061DD}"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777075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2163" y="933343"/>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1771650"/>
            <a:ext cx="4062928"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5457056" y="1771650"/>
            <a:ext cx="4048894"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Date Placeholder 3"/>
          <p:cNvSpPr>
            <a:spLocks noGrp="1"/>
          </p:cNvSpPr>
          <p:nvPr>
            <p:ph type="dt" sz="half" idx="10"/>
          </p:nvPr>
        </p:nvSpPr>
        <p:spPr/>
        <p:txBody>
          <a:bodyPr/>
          <a:lstStyle>
            <a:lvl1pPr>
              <a:defRPr/>
            </a:lvl1pPr>
          </a:lstStyle>
          <a:p>
            <a:pPr>
              <a:defRPr/>
            </a:pPr>
            <a:fld id="{09FF82E0-DCC6-3B4D-916D-E7EAED9E6A79}" type="datetime3">
              <a:rPr lang="en-GB"/>
              <a:pPr>
                <a:defRPr/>
              </a:pPr>
              <a:t>24 November,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3E7D37F0-DF90-F846-ABA0-1302F2399DB8}"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029556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32163" y="116632"/>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908720"/>
            <a:ext cx="4062928" cy="521744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5457056" y="908720"/>
            <a:ext cx="4048894" cy="521744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F3200D4E-A622-FB43-952A-26ECAC58E771}" type="datetime3">
              <a:rPr lang="en-GB"/>
              <a:pPr>
                <a:defRPr/>
              </a:pPr>
              <a:t>24 November,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6F91E6BE-8E52-F942-8389-771123B341CD}"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012774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32163" y="933343"/>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1771650"/>
            <a:ext cx="4062928" cy="435451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0" name="Picture Placeholder 10"/>
          <p:cNvSpPr>
            <a:spLocks noGrp="1"/>
          </p:cNvSpPr>
          <p:nvPr>
            <p:ph type="pic" sz="quarter" idx="13"/>
          </p:nvPr>
        </p:nvSpPr>
        <p:spPr>
          <a:xfrm>
            <a:off x="5457825" y="1773238"/>
            <a:ext cx="4049713" cy="4351337"/>
          </a:xfrm>
        </p:spPr>
        <p:txBody>
          <a:bodyPr/>
          <a:lstStyle>
            <a:lvl1pPr marL="0" indent="0">
              <a:buNone/>
              <a:defRPr/>
            </a:lvl1pPr>
          </a:lstStyle>
          <a:p>
            <a:pPr lvl="0"/>
            <a:r>
              <a:rPr lang="en-US" noProof="0" dirty="0"/>
              <a:t>Click icon to add picture</a:t>
            </a:r>
            <a:endParaRPr lang="en-GB" noProof="0" dirty="0"/>
          </a:p>
        </p:txBody>
      </p:sp>
      <p:sp>
        <p:nvSpPr>
          <p:cNvPr id="7" name="Date Placeholder 3"/>
          <p:cNvSpPr>
            <a:spLocks noGrp="1"/>
          </p:cNvSpPr>
          <p:nvPr>
            <p:ph type="dt" sz="half" idx="14"/>
          </p:nvPr>
        </p:nvSpPr>
        <p:spPr/>
        <p:txBody>
          <a:bodyPr/>
          <a:lstStyle>
            <a:lvl1pPr>
              <a:defRPr/>
            </a:lvl1pPr>
          </a:lstStyle>
          <a:p>
            <a:pPr>
              <a:defRPr/>
            </a:pPr>
            <a:fld id="{88CC629B-A50C-0445-8E68-BBB0859FBECE}" type="datetime3">
              <a:rPr lang="en-GB"/>
              <a:pPr>
                <a:defRPr/>
              </a:pPr>
              <a:t>24 November, 2024</a:t>
            </a:fld>
            <a:endParaRPr lang="en-GB" dirty="0"/>
          </a:p>
        </p:txBody>
      </p:sp>
      <p:sp>
        <p:nvSpPr>
          <p:cNvPr id="8"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6"/>
          </p:nvPr>
        </p:nvSpPr>
        <p:spPr/>
        <p:txBody>
          <a:bodyPr/>
          <a:lstStyle>
            <a:lvl1pPr>
              <a:defRPr/>
            </a:lvl1pPr>
          </a:lstStyle>
          <a:p>
            <a:pPr>
              <a:defRPr/>
            </a:pPr>
            <a:fld id="{F6FDD14F-4A84-994F-A228-E50DC0AAE8D5}"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900635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32163" y="116632"/>
            <a:ext cx="8473787" cy="767465"/>
          </a:xfrm>
        </p:spPr>
        <p:txBody>
          <a:bodyPr/>
          <a:lstStyle/>
          <a:p>
            <a:r>
              <a:rPr lang="en-US"/>
              <a:t>Click to edit Master title style</a:t>
            </a:r>
            <a:endParaRPr lang="en-GB" dirty="0"/>
          </a:p>
        </p:txBody>
      </p:sp>
      <p:sp>
        <p:nvSpPr>
          <p:cNvPr id="3" name="Content Placeholder 2"/>
          <p:cNvSpPr>
            <a:spLocks noGrp="1"/>
          </p:cNvSpPr>
          <p:nvPr>
            <p:ph sz="half" idx="1"/>
          </p:nvPr>
        </p:nvSpPr>
        <p:spPr>
          <a:xfrm>
            <a:off x="1034088" y="906500"/>
            <a:ext cx="4062928" cy="5219669"/>
          </a:xfrm>
        </p:spPr>
        <p:txBody>
          <a:bodyPr>
            <a:no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Picture Placeholder 10"/>
          <p:cNvSpPr>
            <a:spLocks noGrp="1"/>
          </p:cNvSpPr>
          <p:nvPr>
            <p:ph type="pic" sz="quarter" idx="13"/>
          </p:nvPr>
        </p:nvSpPr>
        <p:spPr>
          <a:xfrm>
            <a:off x="5457825" y="908720"/>
            <a:ext cx="4049713" cy="5215855"/>
          </a:xfrm>
        </p:spPr>
        <p:txBody>
          <a:bodyPr/>
          <a:lstStyle>
            <a:lvl1pPr marL="0" indent="0">
              <a:buNone/>
              <a:defRPr/>
            </a:lvl1pPr>
          </a:lstStyle>
          <a:p>
            <a:pPr lvl="0"/>
            <a:r>
              <a:rPr lang="en-US" noProof="0" dirty="0"/>
              <a:t>Click icon to add picture</a:t>
            </a:r>
            <a:endParaRPr lang="en-GB" noProof="0" dirty="0"/>
          </a:p>
        </p:txBody>
      </p:sp>
      <p:sp>
        <p:nvSpPr>
          <p:cNvPr id="6" name="Date Placeholder 3"/>
          <p:cNvSpPr>
            <a:spLocks noGrp="1"/>
          </p:cNvSpPr>
          <p:nvPr>
            <p:ph type="dt" sz="half" idx="14"/>
          </p:nvPr>
        </p:nvSpPr>
        <p:spPr/>
        <p:txBody>
          <a:bodyPr/>
          <a:lstStyle>
            <a:lvl1pPr>
              <a:defRPr/>
            </a:lvl1pPr>
          </a:lstStyle>
          <a:p>
            <a:pPr>
              <a:defRPr/>
            </a:pPr>
            <a:fld id="{68BDDE37-ACB5-264B-A188-F2EB6964BDAC}" type="datetime3">
              <a:rPr lang="en-GB"/>
              <a:pPr>
                <a:defRPr/>
              </a:pPr>
              <a:t>24 November, 2024</a:t>
            </a:fld>
            <a:endParaRPr lang="en-GB" dirty="0"/>
          </a:p>
        </p:txBody>
      </p:sp>
      <p:sp>
        <p:nvSpPr>
          <p:cNvPr id="7" name="Footer Placeholder 4"/>
          <p:cNvSpPr>
            <a:spLocks noGrp="1"/>
          </p:cNvSpPr>
          <p:nvPr>
            <p:ph type="ftr" sz="quarter" idx="15"/>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6"/>
          </p:nvPr>
        </p:nvSpPr>
        <p:spPr/>
        <p:txBody>
          <a:bodyPr/>
          <a:lstStyle>
            <a:lvl1pPr>
              <a:defRPr/>
            </a:lvl1pPr>
          </a:lstStyle>
          <a:p>
            <a:pPr>
              <a:defRPr/>
            </a:pPr>
            <a:fld id="{31A35E10-CC8D-DC4B-A7C1-FEE34BC3F389}"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5004046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8"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vl1pPr>
          </a:lstStyle>
          <a:p>
            <a:r>
              <a:rPr lang="en-US"/>
              <a:t>Click to edit Master title style</a:t>
            </a:r>
            <a:endParaRPr lang="en-GB" dirty="0"/>
          </a:p>
        </p:txBody>
      </p:sp>
      <p:sp>
        <p:nvSpPr>
          <p:cNvPr id="3" name="Text Placeholder 2"/>
          <p:cNvSpPr>
            <a:spLocks noGrp="1"/>
          </p:cNvSpPr>
          <p:nvPr>
            <p:ph type="body" idx="1"/>
          </p:nvPr>
        </p:nvSpPr>
        <p:spPr>
          <a:xfrm>
            <a:off x="1034088" y="1772816"/>
            <a:ext cx="4068137"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34088" y="2492896"/>
            <a:ext cx="4068137" cy="3744416"/>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5448300" y="1772816"/>
            <a:ext cx="4071620"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48300" y="2492896"/>
            <a:ext cx="4071620" cy="3744416"/>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Date Placeholder 3"/>
          <p:cNvSpPr>
            <a:spLocks noGrp="1"/>
          </p:cNvSpPr>
          <p:nvPr>
            <p:ph type="dt" sz="half" idx="10"/>
          </p:nvPr>
        </p:nvSpPr>
        <p:spPr/>
        <p:txBody>
          <a:bodyPr/>
          <a:lstStyle>
            <a:lvl1pPr>
              <a:defRPr/>
            </a:lvl1pPr>
          </a:lstStyle>
          <a:p>
            <a:pPr>
              <a:defRPr/>
            </a:pPr>
            <a:fld id="{FFA7C654-22A4-454E-BBEB-982D2A07AAE4}" type="datetime3">
              <a:rPr lang="en-GB"/>
              <a:pPr>
                <a:defRPr/>
              </a:pPr>
              <a:t>24 November, 2024</a:t>
            </a:fld>
            <a:endParaRPr lang="en-GB" dirty="0"/>
          </a:p>
        </p:txBody>
      </p:sp>
      <p:sp>
        <p:nvSpPr>
          <p:cNvPr id="10"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11" name="Slide Number Placeholder 5"/>
          <p:cNvSpPr>
            <a:spLocks noGrp="1"/>
          </p:cNvSpPr>
          <p:nvPr>
            <p:ph type="sldNum" sz="quarter" idx="12"/>
          </p:nvPr>
        </p:nvSpPr>
        <p:spPr/>
        <p:txBody>
          <a:bodyPr/>
          <a:lstStyle>
            <a:lvl1pPr>
              <a:defRPr/>
            </a:lvl1pPr>
          </a:lstStyle>
          <a:p>
            <a:pPr>
              <a:defRPr/>
            </a:pPr>
            <a:fld id="{9DB72E79-2DCC-0D4E-B1D4-E609E386D39A}" type="slidenum">
              <a:rPr lang="en-GB"/>
              <a:pPr>
                <a:defRPr/>
              </a:pPr>
              <a:t>‹#›</a:t>
            </a:fld>
            <a:endParaRPr lang="en-GB" dirty="0"/>
          </a:p>
        </p:txBody>
      </p:sp>
      <p:cxnSp>
        <p:nvCxnSpPr>
          <p:cNvPr id="12" name="Straight Connector 11"/>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16644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31875" y="116632"/>
            <a:ext cx="8485188" cy="766763"/>
          </a:xfrm>
        </p:spPr>
        <p:txBody>
          <a:bodyPr/>
          <a:lstStyle>
            <a:lvl1pPr>
              <a:defRPr/>
            </a:lvl1pPr>
          </a:lstStyle>
          <a:p>
            <a:r>
              <a:rPr lang="en-US"/>
              <a:t>Click to edit Master title style</a:t>
            </a:r>
            <a:endParaRPr lang="en-GB" dirty="0"/>
          </a:p>
        </p:txBody>
      </p:sp>
      <p:sp>
        <p:nvSpPr>
          <p:cNvPr id="3" name="Text Placeholder 2"/>
          <p:cNvSpPr>
            <a:spLocks noGrp="1"/>
          </p:cNvSpPr>
          <p:nvPr>
            <p:ph type="body" idx="1"/>
          </p:nvPr>
        </p:nvSpPr>
        <p:spPr>
          <a:xfrm>
            <a:off x="1034088" y="908720"/>
            <a:ext cx="4068137"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34088" y="1556792"/>
            <a:ext cx="4068137" cy="4680520"/>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5448300" y="908720"/>
            <a:ext cx="4071620" cy="639762"/>
          </a:xfrm>
        </p:spPr>
        <p:txBody>
          <a:bodyPr anchor="ctr">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48300" y="1556792"/>
            <a:ext cx="4071620" cy="4680520"/>
          </a:xfrm>
        </p:spPr>
        <p:txBody>
          <a:bodyPr>
            <a:no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Date Placeholder 3"/>
          <p:cNvSpPr>
            <a:spLocks noGrp="1"/>
          </p:cNvSpPr>
          <p:nvPr>
            <p:ph type="dt" sz="half" idx="10"/>
          </p:nvPr>
        </p:nvSpPr>
        <p:spPr/>
        <p:txBody>
          <a:bodyPr/>
          <a:lstStyle>
            <a:lvl1pPr>
              <a:defRPr/>
            </a:lvl1pPr>
          </a:lstStyle>
          <a:p>
            <a:pPr>
              <a:defRPr/>
            </a:pPr>
            <a:fld id="{0FF7C771-7AA4-7249-BE21-F659D49D5547}" type="datetime3">
              <a:rPr lang="en-GB"/>
              <a:pPr>
                <a:defRPr/>
              </a:pPr>
              <a:t>24 November, 2024</a:t>
            </a:fld>
            <a:endParaRPr lang="en-GB" dirty="0"/>
          </a:p>
        </p:txBody>
      </p:sp>
      <p:sp>
        <p:nvSpPr>
          <p:cNvPr id="9"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10" name="Slide Number Placeholder 5"/>
          <p:cNvSpPr>
            <a:spLocks noGrp="1"/>
          </p:cNvSpPr>
          <p:nvPr>
            <p:ph type="sldNum" sz="quarter" idx="12"/>
          </p:nvPr>
        </p:nvSpPr>
        <p:spPr/>
        <p:txBody>
          <a:bodyPr/>
          <a:lstStyle>
            <a:lvl1pPr>
              <a:defRPr/>
            </a:lvl1pPr>
          </a:lstStyle>
          <a:p>
            <a:pPr>
              <a:defRPr/>
            </a:pPr>
            <a:fld id="{CC000ACD-C46A-6247-B9ED-0226EB75D5E9}"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891643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4"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GB"/>
          </a:p>
        </p:txBody>
      </p:sp>
      <p:sp>
        <p:nvSpPr>
          <p:cNvPr id="5" name="Date Placeholder 3"/>
          <p:cNvSpPr>
            <a:spLocks noGrp="1"/>
          </p:cNvSpPr>
          <p:nvPr>
            <p:ph type="dt" sz="half" idx="10"/>
          </p:nvPr>
        </p:nvSpPr>
        <p:spPr/>
        <p:txBody>
          <a:bodyPr/>
          <a:lstStyle>
            <a:lvl1pPr>
              <a:defRPr/>
            </a:lvl1pPr>
          </a:lstStyle>
          <a:p>
            <a:pPr>
              <a:defRPr/>
            </a:pPr>
            <a:fld id="{F63E51F6-1146-2643-8637-F0364099E70E}" type="datetime3">
              <a:rPr lang="en-GB"/>
              <a:pPr>
                <a:defRPr/>
              </a:pPr>
              <a:t>24 November, 2024</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7" name="Slide Number Placeholder 5"/>
          <p:cNvSpPr>
            <a:spLocks noGrp="1"/>
          </p:cNvSpPr>
          <p:nvPr>
            <p:ph type="sldNum" sz="quarter" idx="12"/>
          </p:nvPr>
        </p:nvSpPr>
        <p:spPr/>
        <p:txBody>
          <a:bodyPr/>
          <a:lstStyle>
            <a:lvl1pPr>
              <a:defRPr/>
            </a:lvl1pPr>
          </a:lstStyle>
          <a:p>
            <a:pPr>
              <a:defRPr/>
            </a:pPr>
            <a:fld id="{2BFC2E58-1523-3A4B-9193-0DF71EE8C9A1}" type="slidenum">
              <a:rPr lang="en-GB"/>
              <a:pPr>
                <a:defRPr/>
              </a:pPr>
              <a:t>‹#›</a:t>
            </a:fld>
            <a:endParaRPr lang="en-GB" dirty="0"/>
          </a:p>
        </p:txBody>
      </p:sp>
      <p:cxnSp>
        <p:nvCxnSpPr>
          <p:cNvPr id="8" name="Straight Connector 7"/>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610220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31875" y="116632"/>
            <a:ext cx="8485188" cy="766763"/>
          </a:xfrm>
        </p:spPr>
        <p:txBody>
          <a:bodyPr/>
          <a:lstStyle/>
          <a:p>
            <a:r>
              <a:rPr lang="en-US"/>
              <a:t>Click to edit Master title style</a:t>
            </a:r>
            <a:endParaRPr lang="en-GB"/>
          </a:p>
        </p:txBody>
      </p:sp>
      <p:sp>
        <p:nvSpPr>
          <p:cNvPr id="4" name="Date Placeholder 3"/>
          <p:cNvSpPr>
            <a:spLocks noGrp="1"/>
          </p:cNvSpPr>
          <p:nvPr>
            <p:ph type="dt" sz="half" idx="10"/>
          </p:nvPr>
        </p:nvSpPr>
        <p:spPr/>
        <p:txBody>
          <a:bodyPr/>
          <a:lstStyle>
            <a:lvl1pPr>
              <a:defRPr/>
            </a:lvl1pPr>
          </a:lstStyle>
          <a:p>
            <a:pPr>
              <a:defRPr/>
            </a:pPr>
            <a:fld id="{8230D911-13CE-8A4E-9B37-78B9A3F143CE}" type="datetime3">
              <a:rPr lang="en-GB"/>
              <a:pPr>
                <a:defRPr/>
              </a:pPr>
              <a:t>24 November, 2024</a:t>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6" name="Slide Number Placeholder 5"/>
          <p:cNvSpPr>
            <a:spLocks noGrp="1"/>
          </p:cNvSpPr>
          <p:nvPr>
            <p:ph type="sldNum" sz="quarter" idx="12"/>
          </p:nvPr>
        </p:nvSpPr>
        <p:spPr/>
        <p:txBody>
          <a:bodyPr/>
          <a:lstStyle>
            <a:lvl1pPr>
              <a:defRPr/>
            </a:lvl1pPr>
          </a:lstStyle>
          <a:p>
            <a:pPr>
              <a:defRPr/>
            </a:pPr>
            <a:fld id="{28EA1744-0495-9844-9FE7-EF4F3CF89F62}" type="slidenum">
              <a:rPr lang="en-GB"/>
              <a:pPr>
                <a:defRPr/>
              </a:pPr>
              <a:t>‹#›</a:t>
            </a:fld>
            <a:endParaRPr lang="en-GB" dirty="0"/>
          </a:p>
        </p:txBody>
      </p:sp>
      <p:cxnSp>
        <p:nvCxnSpPr>
          <p:cNvPr id="7" name="Straight Connector 6"/>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480416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3"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p:cNvSpPr>
            <a:spLocks noGrp="1"/>
          </p:cNvSpPr>
          <p:nvPr>
            <p:ph type="dt" sz="half" idx="10"/>
          </p:nvPr>
        </p:nvSpPr>
        <p:spPr/>
        <p:txBody>
          <a:bodyPr/>
          <a:lstStyle>
            <a:lvl1pPr>
              <a:defRPr/>
            </a:lvl1pPr>
          </a:lstStyle>
          <a:p>
            <a:pPr>
              <a:defRPr/>
            </a:pPr>
            <a:fld id="{486B0A47-A6D7-F048-BBE1-76A29F845552}" type="datetime3">
              <a:rPr lang="en-GB"/>
              <a:pPr>
                <a:defRPr/>
              </a:pPr>
              <a:t>24 November, 2024</a:t>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6" name="Slide Number Placeholder 5"/>
          <p:cNvSpPr>
            <a:spLocks noGrp="1"/>
          </p:cNvSpPr>
          <p:nvPr>
            <p:ph type="sldNum" sz="quarter" idx="12"/>
          </p:nvPr>
        </p:nvSpPr>
        <p:spPr/>
        <p:txBody>
          <a:bodyPr/>
          <a:lstStyle>
            <a:lvl1pPr>
              <a:defRPr/>
            </a:lvl1pPr>
          </a:lstStyle>
          <a:p>
            <a:pPr>
              <a:defRPr/>
            </a:pPr>
            <a:fld id="{89329CAE-05A9-A044-A232-BEF85D6E0CA0}" type="slidenum">
              <a:rPr lang="en-GB"/>
              <a:pPr>
                <a:defRPr/>
              </a:pPr>
              <a:t>‹#›</a:t>
            </a:fld>
            <a:endParaRPr lang="en-GB" dirty="0"/>
          </a:p>
        </p:txBody>
      </p:sp>
      <p:cxnSp>
        <p:nvCxnSpPr>
          <p:cNvPr id="7" name="Straight Connector 6"/>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781971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fld id="{1A0285F4-DE21-D544-A997-1A21370EF487}" type="datetime3">
              <a:rPr lang="en-GB"/>
              <a:pPr>
                <a:defRPr/>
              </a:pPr>
              <a:t>24 November, 2024</a:t>
            </a:fld>
            <a:endParaRPr lang="en-GB" dirty="0"/>
          </a:p>
        </p:txBody>
      </p:sp>
      <p:sp>
        <p:nvSpPr>
          <p:cNvPr id="4" name="Footer Placeholder 4"/>
          <p:cNvSpPr>
            <a:spLocks noGrp="1"/>
          </p:cNvSpPr>
          <p:nvPr>
            <p:ph type="ftr" sz="quarter" idx="11"/>
          </p:nvPr>
        </p:nvSpPr>
        <p:spPr/>
        <p:txBody>
          <a:bodyPr/>
          <a:lstStyle>
            <a:lvl1pPr>
              <a:defRPr/>
            </a:lvl1pPr>
          </a:lstStyle>
          <a:p>
            <a:pPr>
              <a:defRPr/>
            </a:pPr>
            <a:r>
              <a:rPr lang="en-GB" dirty="0"/>
              <a:t>COS7039-B: Internet of Things</a:t>
            </a:r>
          </a:p>
        </p:txBody>
      </p:sp>
      <p:sp>
        <p:nvSpPr>
          <p:cNvPr id="5" name="Slide Number Placeholder 5"/>
          <p:cNvSpPr>
            <a:spLocks noGrp="1"/>
          </p:cNvSpPr>
          <p:nvPr>
            <p:ph type="sldNum" sz="quarter" idx="12"/>
          </p:nvPr>
        </p:nvSpPr>
        <p:spPr/>
        <p:txBody>
          <a:bodyPr/>
          <a:lstStyle>
            <a:lvl1pPr>
              <a:defRPr/>
            </a:lvl1pPr>
          </a:lstStyle>
          <a:p>
            <a:pPr>
              <a:defRPr/>
            </a:pPr>
            <a:fld id="{D7B5FA83-759A-E348-80E3-349341B9784D}" type="slidenum">
              <a:rPr lang="en-GB"/>
              <a:pPr>
                <a:defRPr/>
              </a:pPr>
              <a:t>‹#›</a:t>
            </a:fld>
            <a:endParaRPr lang="en-GB" dirty="0"/>
          </a:p>
        </p:txBody>
      </p:sp>
      <p:cxnSp>
        <p:nvCxnSpPr>
          <p:cNvPr id="6" name="Straight Connector 5"/>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070865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025524" y="949359"/>
            <a:ext cx="2824473" cy="689733"/>
          </a:xfrm>
        </p:spPr>
        <p:txBody>
          <a:bodyPr/>
          <a:lstStyle>
            <a:lvl1pPr algn="l">
              <a:defRPr sz="2000" b="1"/>
            </a:lvl1pPr>
          </a:lstStyle>
          <a:p>
            <a:r>
              <a:rPr lang="en-US"/>
              <a:t>Click to edit Master title style</a:t>
            </a:r>
            <a:endParaRPr lang="en-GB" dirty="0"/>
          </a:p>
        </p:txBody>
      </p:sp>
      <p:sp>
        <p:nvSpPr>
          <p:cNvPr id="3" name="Content Placeholder 2"/>
          <p:cNvSpPr>
            <a:spLocks noGrp="1"/>
          </p:cNvSpPr>
          <p:nvPr>
            <p:ph idx="1"/>
          </p:nvPr>
        </p:nvSpPr>
        <p:spPr>
          <a:xfrm>
            <a:off x="3968664" y="949360"/>
            <a:ext cx="5537729" cy="5287952"/>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1025524" y="1669440"/>
            <a:ext cx="2824473" cy="45678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515AB53B-45ED-0145-B634-24D485CAACE7}" type="datetime3">
              <a:rPr lang="en-GB"/>
              <a:pPr>
                <a:defRPr/>
              </a:pPr>
              <a:t>24 November,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6084D758-78BF-D04C-BDFD-E5D3C88FFDC0}"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938657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25524" y="949359"/>
            <a:ext cx="2824473" cy="689733"/>
          </a:xfrm>
        </p:spPr>
        <p:txBody>
          <a:bodyPr/>
          <a:lstStyle>
            <a:lvl1pPr algn="l">
              <a:defRPr sz="2000" b="1"/>
            </a:lvl1pPr>
          </a:lstStyle>
          <a:p>
            <a:r>
              <a:rPr lang="en-US"/>
              <a:t>Click to edit Master title style</a:t>
            </a:r>
            <a:endParaRPr lang="en-GB" dirty="0"/>
          </a:p>
        </p:txBody>
      </p:sp>
      <p:sp>
        <p:nvSpPr>
          <p:cNvPr id="3" name="Content Placeholder 2"/>
          <p:cNvSpPr>
            <a:spLocks noGrp="1"/>
          </p:cNvSpPr>
          <p:nvPr>
            <p:ph idx="1"/>
          </p:nvPr>
        </p:nvSpPr>
        <p:spPr>
          <a:xfrm>
            <a:off x="3968664" y="949360"/>
            <a:ext cx="5537729" cy="5287952"/>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 Placeholder 3"/>
          <p:cNvSpPr>
            <a:spLocks noGrp="1"/>
          </p:cNvSpPr>
          <p:nvPr>
            <p:ph type="body" sz="half" idx="2"/>
          </p:nvPr>
        </p:nvSpPr>
        <p:spPr>
          <a:xfrm>
            <a:off x="1025524" y="1669440"/>
            <a:ext cx="2824473" cy="456787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601F75FD-D4AF-6445-ACEA-8336DA6D0CF5}" type="datetime3">
              <a:rPr lang="en-GB"/>
              <a:pPr>
                <a:defRPr/>
              </a:pPr>
              <a:t>24 November,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33E1F40C-CBC7-5D4A-A593-3BD62A44736A}"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88304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6"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941645" y="4800600"/>
            <a:ext cx="59436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936625"/>
            <a:ext cx="5943600" cy="379094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GB" noProof="0" dirty="0"/>
          </a:p>
        </p:txBody>
      </p:sp>
      <p:sp>
        <p:nvSpPr>
          <p:cNvPr id="4" name="Text Placeholder 3"/>
          <p:cNvSpPr>
            <a:spLocks noGrp="1"/>
          </p:cNvSpPr>
          <p:nvPr>
            <p:ph type="body" sz="half" idx="2"/>
          </p:nvPr>
        </p:nvSpPr>
        <p:spPr>
          <a:xfrm>
            <a:off x="1941645" y="5367338"/>
            <a:ext cx="5943600" cy="804862"/>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C38236A3-D940-2C4B-AFE7-807CF8BA8BEE}" type="datetime3">
              <a:rPr lang="en-GB"/>
              <a:pPr>
                <a:defRPr/>
              </a:pPr>
              <a:t>24 November, 2024</a:t>
            </a:fld>
            <a:endParaRPr lang="en-GB" dirty="0"/>
          </a:p>
        </p:txBody>
      </p:sp>
      <p:sp>
        <p:nvSpPr>
          <p:cNvPr id="8"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9" name="Slide Number Placeholder 5"/>
          <p:cNvSpPr>
            <a:spLocks noGrp="1"/>
          </p:cNvSpPr>
          <p:nvPr>
            <p:ph type="sldNum" sz="quarter" idx="12"/>
          </p:nvPr>
        </p:nvSpPr>
        <p:spPr/>
        <p:txBody>
          <a:bodyPr/>
          <a:lstStyle>
            <a:lvl1pPr>
              <a:defRPr/>
            </a:lvl1pPr>
          </a:lstStyle>
          <a:p>
            <a:pPr>
              <a:defRPr/>
            </a:pPr>
            <a:fld id="{CC56EF15-4B8E-7547-B7CE-9D6FB34334C0}" type="slidenum">
              <a:rPr lang="en-GB"/>
              <a:pPr>
                <a:defRPr/>
              </a:pPr>
              <a:t>‹#›</a:t>
            </a:fld>
            <a:endParaRPr lang="en-GB" dirty="0"/>
          </a:p>
        </p:txBody>
      </p:sp>
      <p:cxnSp>
        <p:nvCxnSpPr>
          <p:cNvPr id="10" name="Straight Connector 9"/>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7964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941645" y="936625"/>
            <a:ext cx="5943600" cy="3790949"/>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lang="en-GB" noProof="0" dirty="0"/>
          </a:p>
        </p:txBody>
      </p:sp>
      <p:sp>
        <p:nvSpPr>
          <p:cNvPr id="4" name="Text Placeholder 3"/>
          <p:cNvSpPr>
            <a:spLocks noGrp="1"/>
          </p:cNvSpPr>
          <p:nvPr>
            <p:ph type="body" sz="half" idx="2"/>
          </p:nvPr>
        </p:nvSpPr>
        <p:spPr>
          <a:xfrm>
            <a:off x="1941645" y="5367338"/>
            <a:ext cx="5943600" cy="804862"/>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77FF755A-FDCA-3844-BE8E-8CAB7C08EFED}" type="datetime3">
              <a:rPr lang="en-GB"/>
              <a:pPr>
                <a:defRPr/>
              </a:pPr>
              <a:t>24 November,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404AD4AB-3AC8-B247-9C7B-63DF4AE6D3CA}"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903949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Date Placeholder 3"/>
          <p:cNvSpPr>
            <a:spLocks noGrp="1"/>
          </p:cNvSpPr>
          <p:nvPr>
            <p:ph type="dt" sz="half" idx="10"/>
          </p:nvPr>
        </p:nvSpPr>
        <p:spPr/>
        <p:txBody>
          <a:bodyPr/>
          <a:lstStyle>
            <a:lvl1pPr>
              <a:defRPr/>
            </a:lvl1pPr>
          </a:lstStyle>
          <a:p>
            <a:pPr>
              <a:defRPr/>
            </a:pPr>
            <a:fld id="{9DAE49EC-F0C7-1F46-A221-26A63CC849FC}" type="datetime3">
              <a:rPr lang="en-GB"/>
              <a:pPr>
                <a:defRPr/>
              </a:pPr>
              <a:t>24 November,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767F552B-A5B4-6548-94A2-F6D4B627905B}"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796601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1_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031875" y="141957"/>
            <a:ext cx="8485188" cy="766763"/>
          </a:xfrm>
        </p:spPr>
        <p:txBody>
          <a:bodyPr/>
          <a:lstStyle/>
          <a:p>
            <a:r>
              <a:rPr lang="en-US"/>
              <a:t>Click to edit Master title style</a:t>
            </a:r>
            <a:endParaRPr lang="en-GB"/>
          </a:p>
        </p:txBody>
      </p:sp>
      <p:sp>
        <p:nvSpPr>
          <p:cNvPr id="3" name="Vertical Text Placeholder 2"/>
          <p:cNvSpPr>
            <a:spLocks noGrp="1"/>
          </p:cNvSpPr>
          <p:nvPr>
            <p:ph type="body" orient="vert" idx="1"/>
          </p:nvPr>
        </p:nvSpPr>
        <p:spPr>
          <a:xfrm>
            <a:off x="1031875" y="908720"/>
            <a:ext cx="8485188" cy="532856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975ACA5E-C129-E442-B6E9-3376EC454D86}" type="datetime3">
              <a:rPr lang="en-GB"/>
              <a:pPr>
                <a:defRPr/>
              </a:pPr>
              <a:t>24 November, 2024</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7" name="Slide Number Placeholder 5"/>
          <p:cNvSpPr>
            <a:spLocks noGrp="1"/>
          </p:cNvSpPr>
          <p:nvPr>
            <p:ph type="sldNum" sz="quarter" idx="12"/>
          </p:nvPr>
        </p:nvSpPr>
        <p:spPr/>
        <p:txBody>
          <a:bodyPr/>
          <a:lstStyle>
            <a:lvl1pPr>
              <a:defRPr/>
            </a:lvl1pPr>
          </a:lstStyle>
          <a:p>
            <a:pPr>
              <a:defRPr/>
            </a:pPr>
            <a:fld id="{40FC993A-0960-8E40-BC9F-05F4340AAE6B}" type="slidenum">
              <a:rPr lang="en-GB"/>
              <a:pPr>
                <a:defRPr/>
              </a:pPr>
              <a:t>‹#›</a:t>
            </a:fld>
            <a:endParaRPr lang="en-GB" dirty="0"/>
          </a:p>
        </p:txBody>
      </p:sp>
      <p:cxnSp>
        <p:nvCxnSpPr>
          <p:cNvPr id="8" name="Straight Connector 7"/>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189847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9888" y="152400"/>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Vertical Title 1"/>
          <p:cNvSpPr>
            <a:spLocks noGrp="1"/>
          </p:cNvSpPr>
          <p:nvPr>
            <p:ph type="title" orient="vert"/>
          </p:nvPr>
        </p:nvSpPr>
        <p:spPr>
          <a:xfrm>
            <a:off x="7181850" y="1196752"/>
            <a:ext cx="2228850" cy="492941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25524" y="1196752"/>
            <a:ext cx="5991225" cy="4929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Date Placeholder 3"/>
          <p:cNvSpPr>
            <a:spLocks noGrp="1"/>
          </p:cNvSpPr>
          <p:nvPr>
            <p:ph type="dt" sz="half" idx="10"/>
          </p:nvPr>
        </p:nvSpPr>
        <p:spPr/>
        <p:txBody>
          <a:bodyPr/>
          <a:lstStyle>
            <a:lvl1pPr>
              <a:defRPr/>
            </a:lvl1pPr>
          </a:lstStyle>
          <a:p>
            <a:pPr>
              <a:defRPr/>
            </a:pPr>
            <a:fld id="{DF3EB9A7-46BC-384A-982D-247DA68BE2B0}" type="datetime3">
              <a:rPr lang="en-GB"/>
              <a:pPr>
                <a:defRPr/>
              </a:pPr>
              <a:t>24 November, 2024</a:t>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8" name="Slide Number Placeholder 5"/>
          <p:cNvSpPr>
            <a:spLocks noGrp="1"/>
          </p:cNvSpPr>
          <p:nvPr>
            <p:ph type="sldNum" sz="quarter" idx="12"/>
          </p:nvPr>
        </p:nvSpPr>
        <p:spPr/>
        <p:txBody>
          <a:bodyPr/>
          <a:lstStyle>
            <a:lvl1pPr>
              <a:defRPr/>
            </a:lvl1pPr>
          </a:lstStyle>
          <a:p>
            <a:pPr>
              <a:defRPr/>
            </a:pPr>
            <a:fld id="{CB1E092F-0198-C34E-A916-A08E4979440E}" type="slidenum">
              <a:rPr lang="en-GB"/>
              <a:pPr>
                <a:defRPr/>
              </a:pPr>
              <a:t>‹#›</a:t>
            </a:fld>
            <a:endParaRPr lang="en-GB" dirty="0"/>
          </a:p>
        </p:txBody>
      </p:sp>
      <p:cxnSp>
        <p:nvCxnSpPr>
          <p:cNvPr id="9" name="Straight Connector 8"/>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566982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1_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81850" y="1196752"/>
            <a:ext cx="2228850" cy="492941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025524" y="1196752"/>
            <a:ext cx="5991225" cy="4929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Date Placeholder 3"/>
          <p:cNvSpPr>
            <a:spLocks noGrp="1"/>
          </p:cNvSpPr>
          <p:nvPr>
            <p:ph type="dt" sz="half" idx="10"/>
          </p:nvPr>
        </p:nvSpPr>
        <p:spPr/>
        <p:txBody>
          <a:bodyPr/>
          <a:lstStyle>
            <a:lvl1pPr>
              <a:defRPr/>
            </a:lvl1pPr>
          </a:lstStyle>
          <a:p>
            <a:pPr>
              <a:defRPr/>
            </a:pPr>
            <a:fld id="{99FE08B1-7053-494B-9C2C-D1FDCF6FB947}" type="datetime3">
              <a:rPr lang="en-GB"/>
              <a:pPr>
                <a:defRPr/>
              </a:pPr>
              <a:t>24 November, 2024</a:t>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GB" dirty="0"/>
              <a:t>POWERPOINT PRESENTATION TEMPLATE GREEN</a:t>
            </a:r>
          </a:p>
        </p:txBody>
      </p:sp>
      <p:sp>
        <p:nvSpPr>
          <p:cNvPr id="7" name="Slide Number Placeholder 5"/>
          <p:cNvSpPr>
            <a:spLocks noGrp="1"/>
          </p:cNvSpPr>
          <p:nvPr>
            <p:ph type="sldNum" sz="quarter" idx="12"/>
          </p:nvPr>
        </p:nvSpPr>
        <p:spPr/>
        <p:txBody>
          <a:bodyPr/>
          <a:lstStyle>
            <a:lvl1pPr>
              <a:defRPr/>
            </a:lvl1pPr>
          </a:lstStyle>
          <a:p>
            <a:pPr>
              <a:defRPr/>
            </a:pPr>
            <a:fld id="{13A71B31-AFE1-394E-9AC0-851A462B721C}" type="slidenum">
              <a:rPr lang="en-GB"/>
              <a:pPr>
                <a:defRPr/>
              </a:pPr>
              <a:t>‹#›</a:t>
            </a:fld>
            <a:endParaRPr lang="en-GB" dirty="0"/>
          </a:p>
        </p:txBody>
      </p:sp>
      <p:cxnSp>
        <p:nvCxnSpPr>
          <p:cNvPr id="8" name="Straight Connector 7"/>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258335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pic>
        <p:nvPicPr>
          <p:cNvPr id="5" name="Picture 13" descr="UoB_MASTER_Primary-Logo_800x160px_15k_Screen@72dpi_RGB.png"/>
          <p:cNvPicPr>
            <a:picLocks noChangeAspect="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3633788" y="2492375"/>
            <a:ext cx="2638425"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7"/>
          <p:cNvSpPr>
            <a:spLocks noGrp="1"/>
          </p:cNvSpPr>
          <p:nvPr>
            <p:ph sz="quarter" idx="13"/>
          </p:nvPr>
        </p:nvSpPr>
        <p:spPr>
          <a:xfrm>
            <a:off x="1025951" y="5013176"/>
            <a:ext cx="7709488" cy="576263"/>
          </a:xfrm>
        </p:spPr>
        <p:txBody>
          <a:bodyPr/>
          <a:lstStyle>
            <a:lvl1pPr marL="0" indent="0">
              <a:buNone/>
              <a:defRPr sz="1000"/>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a:t>Click to edit Master text styles</a:t>
            </a:r>
          </a:p>
        </p:txBody>
      </p:sp>
      <p:sp>
        <p:nvSpPr>
          <p:cNvPr id="8" name="Text Placeholder 11"/>
          <p:cNvSpPr>
            <a:spLocks noGrp="1"/>
          </p:cNvSpPr>
          <p:nvPr>
            <p:ph type="body" sz="quarter" idx="14"/>
          </p:nvPr>
        </p:nvSpPr>
        <p:spPr>
          <a:xfrm>
            <a:off x="4305300" y="3429000"/>
            <a:ext cx="1943100" cy="504825"/>
          </a:xfrm>
        </p:spPr>
        <p:txBody>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6" name="Date Placeholder 3"/>
          <p:cNvSpPr>
            <a:spLocks noGrp="1"/>
          </p:cNvSpPr>
          <p:nvPr>
            <p:ph type="dt" sz="half" idx="15"/>
          </p:nvPr>
        </p:nvSpPr>
        <p:spPr/>
        <p:txBody>
          <a:bodyPr/>
          <a:lstStyle>
            <a:lvl1pPr>
              <a:defRPr/>
            </a:lvl1pPr>
          </a:lstStyle>
          <a:p>
            <a:pPr>
              <a:defRPr/>
            </a:pPr>
            <a:fld id="{8F883713-ED5A-B046-A406-EF29CD277822}" type="datetime3">
              <a:rPr lang="en-GB"/>
              <a:pPr>
                <a:defRPr/>
              </a:pPr>
              <a:t>24 November, 2024</a:t>
            </a:fld>
            <a:endParaRPr lang="en-GB" dirty="0"/>
          </a:p>
        </p:txBody>
      </p:sp>
      <p:sp>
        <p:nvSpPr>
          <p:cNvPr id="9" name="Footer Placeholder 4"/>
          <p:cNvSpPr>
            <a:spLocks noGrp="1"/>
          </p:cNvSpPr>
          <p:nvPr>
            <p:ph type="ftr" sz="quarter" idx="16"/>
          </p:nvPr>
        </p:nvSpPr>
        <p:spPr/>
        <p:txBody>
          <a:bodyPr/>
          <a:lstStyle>
            <a:lvl1pPr>
              <a:defRPr/>
            </a:lvl1pPr>
          </a:lstStyle>
          <a:p>
            <a:pPr>
              <a:defRPr/>
            </a:pPr>
            <a:r>
              <a:rPr lang="en-GB" dirty="0"/>
              <a:t>POWERPOINT PRESENTATION TEMPLATE GREEN</a:t>
            </a:r>
          </a:p>
        </p:txBody>
      </p:sp>
      <p:sp>
        <p:nvSpPr>
          <p:cNvPr id="10" name="Slide Number Placeholder 5"/>
          <p:cNvSpPr>
            <a:spLocks noGrp="1"/>
          </p:cNvSpPr>
          <p:nvPr>
            <p:ph type="sldNum" sz="quarter" idx="17"/>
          </p:nvPr>
        </p:nvSpPr>
        <p:spPr/>
        <p:txBody>
          <a:bodyPr/>
          <a:lstStyle>
            <a:lvl1pPr>
              <a:defRPr/>
            </a:lvl1pPr>
          </a:lstStyle>
          <a:p>
            <a:pPr>
              <a:defRPr/>
            </a:pPr>
            <a:fld id="{03DA79B0-DC01-8341-A6E5-FE1D9E2297F6}" type="slidenum">
              <a:rPr lang="en-GB"/>
              <a:pPr>
                <a:defRPr/>
              </a:pPr>
              <a:t>‹#›</a:t>
            </a:fld>
            <a:endParaRPr lang="en-GB" dirty="0"/>
          </a:p>
        </p:txBody>
      </p:sp>
      <p:cxnSp>
        <p:nvCxnSpPr>
          <p:cNvPr id="11" name="Straight Connector 10"/>
          <p:cNvCxnSpPr/>
          <p:nvPr userDrawn="1"/>
        </p:nvCxnSpPr>
        <p:spPr>
          <a:xfrm flipV="1">
            <a:off x="381000" y="820738"/>
            <a:ext cx="9148763" cy="3175"/>
          </a:xfrm>
          <a:prstGeom prst="line">
            <a:avLst/>
          </a:prstGeom>
          <a:ln>
            <a:solidFill>
              <a:srgbClr val="7F7F7F"/>
            </a:solidFill>
            <a:prstDash val="sys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5371665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031875" y="933450"/>
            <a:ext cx="8485188" cy="76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ctr" anchorCtr="0" compatLnSpc="1">
            <a:prstTxWarp prst="textNoShape">
              <a:avLst/>
            </a:prstTxWarp>
          </a:bodyPr>
          <a:lstStyle/>
          <a:p>
            <a:pPr lvl="0"/>
            <a:r>
              <a:rPr lang="en-US"/>
              <a:t>Click to edit Master title style</a:t>
            </a:r>
            <a:endParaRPr lang="en-GB"/>
          </a:p>
        </p:txBody>
      </p:sp>
      <p:sp>
        <p:nvSpPr>
          <p:cNvPr id="1027" name="Text Placeholder 2"/>
          <p:cNvSpPr>
            <a:spLocks noGrp="1"/>
          </p:cNvSpPr>
          <p:nvPr>
            <p:ph type="body" idx="1"/>
          </p:nvPr>
        </p:nvSpPr>
        <p:spPr bwMode="auto">
          <a:xfrm>
            <a:off x="1031875" y="1773238"/>
            <a:ext cx="8485188"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Rectangle 9"/>
          <p:cNvSpPr/>
          <p:nvPr/>
        </p:nvSpPr>
        <p:spPr bwMode="auto">
          <a:xfrm>
            <a:off x="387350" y="6340475"/>
            <a:ext cx="496888" cy="358775"/>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p>
            <a:pPr algn="ctr" fontAlgn="auto">
              <a:spcBef>
                <a:spcPts val="0"/>
              </a:spcBef>
              <a:spcAft>
                <a:spcPts val="0"/>
              </a:spcAft>
              <a:defRPr/>
            </a:pPr>
            <a:endParaRPr lang="en-GB" sz="1050" b="1" dirty="0">
              <a:solidFill>
                <a:schemeClr val="bg1"/>
              </a:solidFill>
              <a:latin typeface="Lucida Sans" panose="020B0602030504020204" pitchFamily="34" charset="0"/>
              <a:cs typeface="Lucida Sans"/>
            </a:endParaRPr>
          </a:p>
        </p:txBody>
      </p:sp>
      <p:sp>
        <p:nvSpPr>
          <p:cNvPr id="8" name="Rectangle 7"/>
          <p:cNvSpPr/>
          <p:nvPr/>
        </p:nvSpPr>
        <p:spPr bwMode="auto">
          <a:xfrm>
            <a:off x="2864768" y="6340475"/>
            <a:ext cx="6652294" cy="358775"/>
          </a:xfrm>
          <a:prstGeom prst="rect">
            <a:avLst/>
          </a:prstGeom>
          <a:solidFill>
            <a:schemeClr val="bg1">
              <a:lumMod val="7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050" dirty="0">
              <a:latin typeface="Lucida Sans" panose="020B0602030504020204" pitchFamily="34" charset="0"/>
              <a:cs typeface="Lucida Sans"/>
            </a:endParaRPr>
          </a:p>
        </p:txBody>
      </p:sp>
      <p:sp>
        <p:nvSpPr>
          <p:cNvPr id="9" name="Rectangle 8"/>
          <p:cNvSpPr/>
          <p:nvPr/>
        </p:nvSpPr>
        <p:spPr bwMode="auto">
          <a:xfrm>
            <a:off x="904874" y="6340475"/>
            <a:ext cx="1959893" cy="35877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anchor="ctr">
            <a:normAutofit/>
          </a:bodyPr>
          <a:lstStyle/>
          <a:p>
            <a:pPr algn="ctr" fontAlgn="auto">
              <a:spcBef>
                <a:spcPts val="0"/>
              </a:spcBef>
              <a:spcAft>
                <a:spcPts val="0"/>
              </a:spcAft>
              <a:defRPr/>
            </a:pPr>
            <a:endParaRPr lang="en-GB" sz="1050" b="1" dirty="0">
              <a:latin typeface="Lucida Sans" panose="020B0602030504020204" pitchFamily="34" charset="0"/>
              <a:cs typeface="Lucida Sans"/>
            </a:endParaRPr>
          </a:p>
        </p:txBody>
      </p:sp>
      <p:sp>
        <p:nvSpPr>
          <p:cNvPr id="4" name="Date Placeholder 3"/>
          <p:cNvSpPr>
            <a:spLocks noGrp="1"/>
          </p:cNvSpPr>
          <p:nvPr>
            <p:ph type="dt" sz="half" idx="2"/>
          </p:nvPr>
        </p:nvSpPr>
        <p:spPr>
          <a:xfrm>
            <a:off x="904874" y="6337300"/>
            <a:ext cx="1959893" cy="365125"/>
          </a:xfrm>
          <a:prstGeom prst="rect">
            <a:avLst/>
          </a:prstGeom>
        </p:spPr>
        <p:txBody>
          <a:bodyPr vert="horz" lIns="0" tIns="0" rIns="91440" bIns="0" rtlCol="0" anchor="ctr"/>
          <a:lstStyle>
            <a:lvl1pPr algn="ctr" fontAlgn="auto">
              <a:spcBef>
                <a:spcPts val="0"/>
              </a:spcBef>
              <a:spcAft>
                <a:spcPts val="0"/>
              </a:spcAft>
              <a:defRPr sz="1200">
                <a:solidFill>
                  <a:schemeClr val="bg1"/>
                </a:solidFill>
                <a:latin typeface="Lucida Sans Unicode" panose="020B0602030504020204" pitchFamily="34" charset="0"/>
                <a:ea typeface="+mn-ea"/>
                <a:cs typeface="Lucida Sans Unicode" panose="020B0602030504020204" pitchFamily="34" charset="0"/>
              </a:defRPr>
            </a:lvl1pPr>
          </a:lstStyle>
          <a:p>
            <a:pPr>
              <a:defRPr/>
            </a:pPr>
            <a:fld id="{4F1F1A1D-5A50-6948-991C-837CA57582C3}" type="datetime3">
              <a:rPr lang="en-GB" smtClean="0"/>
              <a:pPr>
                <a:defRPr/>
              </a:pPr>
              <a:t>24 November, 2024</a:t>
            </a:fld>
            <a:endParaRPr lang="en-GB" dirty="0"/>
          </a:p>
        </p:txBody>
      </p:sp>
      <p:sp>
        <p:nvSpPr>
          <p:cNvPr id="5" name="Footer Placeholder 4"/>
          <p:cNvSpPr>
            <a:spLocks noGrp="1"/>
          </p:cNvSpPr>
          <p:nvPr>
            <p:ph type="ftr" sz="quarter" idx="3"/>
          </p:nvPr>
        </p:nvSpPr>
        <p:spPr>
          <a:xfrm>
            <a:off x="2864768" y="6337300"/>
            <a:ext cx="6645945" cy="365125"/>
          </a:xfrm>
          <a:prstGeom prst="rect">
            <a:avLst/>
          </a:prstGeom>
        </p:spPr>
        <p:txBody>
          <a:bodyPr vert="horz" lIns="108000" tIns="0" rIns="108000" bIns="0" rtlCol="0" anchor="ctr"/>
          <a:lstStyle>
            <a:lvl1pPr algn="ctr" fontAlgn="auto">
              <a:spcBef>
                <a:spcPts val="0"/>
              </a:spcBef>
              <a:spcAft>
                <a:spcPts val="0"/>
              </a:spcAft>
              <a:defRPr sz="1200">
                <a:solidFill>
                  <a:schemeClr val="tx1"/>
                </a:solidFill>
                <a:latin typeface="Georgia" panose="02040502050405020303" pitchFamily="18" charset="0"/>
                <a:ea typeface="+mn-ea"/>
                <a:cs typeface="+mn-cs"/>
              </a:defRPr>
            </a:lvl1pPr>
          </a:lstStyle>
          <a:p>
            <a:pPr>
              <a:defRPr/>
            </a:pPr>
            <a:r>
              <a:rPr lang="en-GB" dirty="0"/>
              <a:t>COS7039-B: Internet of Things</a:t>
            </a:r>
          </a:p>
        </p:txBody>
      </p:sp>
      <p:sp>
        <p:nvSpPr>
          <p:cNvPr id="6" name="Slide Number Placeholder 5"/>
          <p:cNvSpPr>
            <a:spLocks noGrp="1"/>
          </p:cNvSpPr>
          <p:nvPr>
            <p:ph type="sldNum" sz="quarter" idx="4"/>
          </p:nvPr>
        </p:nvSpPr>
        <p:spPr>
          <a:xfrm>
            <a:off x="377825" y="6337300"/>
            <a:ext cx="514350" cy="365125"/>
          </a:xfrm>
          <a:prstGeom prst="rect">
            <a:avLst/>
          </a:prstGeom>
        </p:spPr>
        <p:txBody>
          <a:bodyPr vert="horz" lIns="0" tIns="0" rIns="0" bIns="0" rtlCol="0" anchor="ctr"/>
          <a:lstStyle>
            <a:lvl1pPr algn="ctr" fontAlgn="auto">
              <a:spcBef>
                <a:spcPts val="0"/>
              </a:spcBef>
              <a:spcAft>
                <a:spcPts val="0"/>
              </a:spcAft>
              <a:defRPr sz="1200">
                <a:solidFill>
                  <a:schemeClr val="bg1"/>
                </a:solidFill>
                <a:latin typeface="Lucida Sans Unicode" panose="020B0602030504020204" pitchFamily="34" charset="0"/>
                <a:ea typeface="+mn-ea"/>
                <a:cs typeface="Lucida Sans Unicode" panose="020B0602030504020204" pitchFamily="34" charset="0"/>
              </a:defRPr>
            </a:lvl1pPr>
          </a:lstStyle>
          <a:p>
            <a:pPr>
              <a:defRPr/>
            </a:pPr>
            <a:fld id="{4C5149AA-8A9E-5444-AB41-F9FF35F082ED}" type="slidenum">
              <a:rPr lang="en-GB"/>
              <a:pPr>
                <a:defRPr/>
              </a:pPr>
              <a:t>‹#›</a:t>
            </a:fld>
            <a:endParaRPr lang="en-GB" dirty="0"/>
          </a:p>
        </p:txBody>
      </p:sp>
    </p:spTree>
  </p:cSld>
  <p:clrMap bg1="lt1" tx1="dk1" bg2="lt2" tx2="dk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 id="2147484200" r:id="rId12"/>
    <p:sldLayoutId id="2147484201" r:id="rId13"/>
    <p:sldLayoutId id="2147484202" r:id="rId14"/>
    <p:sldLayoutId id="2147484203" r:id="rId15"/>
    <p:sldLayoutId id="2147484204" r:id="rId16"/>
    <p:sldLayoutId id="2147484205" r:id="rId17"/>
    <p:sldLayoutId id="2147484206" r:id="rId18"/>
    <p:sldLayoutId id="2147484207" r:id="rId19"/>
    <p:sldLayoutId id="2147484208" r:id="rId20"/>
    <p:sldLayoutId id="2147484209" r:id="rId21"/>
    <p:sldLayoutId id="2147484210" r:id="rId22"/>
    <p:sldLayoutId id="2147484211" r:id="rId23"/>
    <p:sldLayoutId id="2147484212" r:id="rId24"/>
    <p:sldLayoutId id="2147484213" r:id="rId25"/>
    <p:sldLayoutId id="2147484214" r:id="rId26"/>
    <p:sldLayoutId id="2147484215" r:id="rId27"/>
    <p:sldLayoutId id="2147484216" r:id="rId28"/>
    <p:sldLayoutId id="2147484217" r:id="rId29"/>
    <p:sldLayoutId id="2147484218" r:id="rId30"/>
    <p:sldLayoutId id="2147484219" r:id="rId31"/>
    <p:sldLayoutId id="2147484220" r:id="rId32"/>
    <p:sldLayoutId id="2147484221" r:id="rId33"/>
    <p:sldLayoutId id="2147484222" r:id="rId34"/>
  </p:sldLayoutIdLst>
  <p:hf hdr="0"/>
  <p:txStyles>
    <p:titleStyle>
      <a:lvl1pPr algn="l" rtl="0" eaLnBrk="1" fontAlgn="base" hangingPunct="1">
        <a:spcBef>
          <a:spcPct val="0"/>
        </a:spcBef>
        <a:spcAft>
          <a:spcPct val="0"/>
        </a:spcAft>
        <a:defRPr sz="3600" b="1" kern="1200">
          <a:solidFill>
            <a:srgbClr val="87A529"/>
          </a:solidFill>
          <a:latin typeface="Georgia" panose="02040502050405020303" pitchFamily="18" charset="0"/>
          <a:ea typeface="ＭＳ Ｐゴシック" charset="0"/>
          <a:cs typeface="ＭＳ Ｐゴシック" charset="0"/>
        </a:defRPr>
      </a:lvl1pPr>
      <a:lvl2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2pPr>
      <a:lvl3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3pPr>
      <a:lvl4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4pPr>
      <a:lvl5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5pPr>
      <a:lvl6pPr marL="4572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6pPr>
      <a:lvl7pPr marL="9144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7pPr>
      <a:lvl8pPr marL="13716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8pPr>
      <a:lvl9pPr marL="18288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9pPr>
    </p:titleStyle>
    <p:bodyStyle>
      <a:lvl1pPr marL="342900" indent="-34290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1pPr>
      <a:lvl2pPr marL="742950" indent="-285750" algn="l" rtl="0" eaLnBrk="1" fontAlgn="base" hangingPunct="1">
        <a:spcBef>
          <a:spcPct val="20000"/>
        </a:spcBef>
        <a:spcAft>
          <a:spcPct val="0"/>
        </a:spcAft>
        <a:buFont typeface="Arial" charset="0"/>
        <a:buChar char="–"/>
        <a:defRPr sz="2000" kern="1200">
          <a:solidFill>
            <a:schemeClr val="tx1"/>
          </a:solidFill>
          <a:latin typeface="Lucida Sans Unicode" panose="020B0602030504020204" pitchFamily="34" charset="0"/>
          <a:ea typeface="ＭＳ Ｐゴシック" charset="0"/>
          <a:cs typeface="Lucida Sans Unicode" panose="020B0602030504020204" pitchFamily="34" charset="0"/>
        </a:defRPr>
      </a:lvl2pPr>
      <a:lvl3pPr marL="1143000" indent="-228600" algn="l" rtl="0" eaLnBrk="1" fontAlgn="base" hangingPunct="1">
        <a:spcBef>
          <a:spcPct val="20000"/>
        </a:spcBef>
        <a:spcAft>
          <a:spcPct val="0"/>
        </a:spcAft>
        <a:buFont typeface="Arial" charset="0"/>
        <a:buChar char="•"/>
        <a:defRPr kern="1200">
          <a:solidFill>
            <a:schemeClr val="tx1"/>
          </a:solidFill>
          <a:latin typeface="Lucida Sans Unicode" panose="020B0602030504020204" pitchFamily="34" charset="0"/>
          <a:ea typeface="ＭＳ Ｐゴシック" charset="0"/>
          <a:cs typeface="Lucida Sans Unicode" panose="020B0602030504020204" pitchFamily="34" charset="0"/>
        </a:defRPr>
      </a:lvl3pPr>
      <a:lvl4pPr marL="16002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4pPr>
      <a:lvl5pPr marL="2057400" indent="-228600" algn="l" rtl="0" eaLnBrk="1" fontAlgn="base" hangingPunct="1">
        <a:spcBef>
          <a:spcPct val="20000"/>
        </a:spcBef>
        <a:spcAft>
          <a:spcPct val="0"/>
        </a:spcAft>
        <a:buFont typeface="Arial" charset="0"/>
        <a:buChar char="»"/>
        <a:defRPr sz="1600" kern="1200">
          <a:solidFill>
            <a:schemeClr val="tx1"/>
          </a:solidFill>
          <a:latin typeface="Lucida Sans Unicode" panose="020B0602030504020204" pitchFamily="34" charset="0"/>
          <a:ea typeface="ＭＳ Ｐゴシック" charset="0"/>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docs.mongodb.com/manual/reference/method/js-user-management/"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auto">
          <a:xfrm>
            <a:off x="5276312" y="1917112"/>
            <a:ext cx="3143788" cy="2520000"/>
          </a:xfrm>
          <a:prstGeom prst="rect">
            <a:avLst/>
          </a:prstGeom>
          <a:noFill/>
          <a:ln w="12700">
            <a:solidFill>
              <a:srgbClr val="87A529"/>
            </a:solidFill>
            <a:prstDash val="soli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txBody>
          <a:bodyPr wrap="square" anchor="ctr">
            <a:normAutofit/>
          </a:bodyPr>
          <a:lstStyle/>
          <a:p>
            <a:r>
              <a:rPr lang="en-GB" sz="2500" dirty="0">
                <a:latin typeface="Helvetica" panose="020B0604020202020204" pitchFamily="34" charset="0"/>
                <a:ea typeface="Verdana" panose="020B0604030504040204" pitchFamily="34" charset="0"/>
                <a:cs typeface="Helvetica" panose="020B0604020202020204" pitchFamily="34" charset="0"/>
              </a:rPr>
              <a:t>Large Scale Data Driven Applications</a:t>
            </a:r>
          </a:p>
        </p:txBody>
      </p:sp>
      <p:pic>
        <p:nvPicPr>
          <p:cNvPr id="8" name="Picture Placeholder 7" descr="A picture containing sitting, large, ride, white&#10;&#10;Description automatically generated">
            <a:extLst>
              <a:ext uri="{FF2B5EF4-FFF2-40B4-BE49-F238E27FC236}">
                <a16:creationId xmlns:a16="http://schemas.microsoft.com/office/drawing/2014/main" id="{87EED139-1016-44E1-8501-F6FBB1F75440}"/>
              </a:ext>
            </a:extLst>
          </p:cNvP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6676" r="16676"/>
          <a:stretch>
            <a:fillRect/>
          </a:stretch>
        </p:blipFill>
        <p:spPr>
          <a:xfrm>
            <a:off x="2108200" y="1917700"/>
            <a:ext cx="2519363" cy="2519363"/>
          </a:xfrm>
        </p:spPr>
      </p:pic>
      <p:sp>
        <p:nvSpPr>
          <p:cNvPr id="7" name="Subtitle 6">
            <a:extLst>
              <a:ext uri="{FF2B5EF4-FFF2-40B4-BE49-F238E27FC236}">
                <a16:creationId xmlns:a16="http://schemas.microsoft.com/office/drawing/2014/main" id="{2A7F24C1-BF6E-43D8-A57F-60FFBF172E51}"/>
              </a:ext>
            </a:extLst>
          </p:cNvPr>
          <p:cNvSpPr>
            <a:spLocks noGrp="1"/>
          </p:cNvSpPr>
          <p:nvPr>
            <p:ph type="subTitle" idx="1"/>
          </p:nvPr>
        </p:nvSpPr>
        <p:spPr bwMode="auto">
          <a:xfrm>
            <a:off x="1485900" y="4869160"/>
            <a:ext cx="6934200" cy="628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wrap="square" anchor="ctr">
            <a:normAutofit/>
          </a:bodyPr>
          <a:lstStyle/>
          <a:p>
            <a:r>
              <a:rPr lang="en-GB" sz="3200" dirty="0">
                <a:latin typeface="Helvetica" panose="020B0604020202020204" pitchFamily="34" charset="0"/>
                <a:ea typeface="Verdana" panose="020B0604030504040204" pitchFamily="34" charset="0"/>
                <a:cs typeface="Helvetica" panose="020B0604020202020204" pitchFamily="34" charset="0"/>
              </a:rPr>
              <a:t>Introduction to MongoDB security</a:t>
            </a:r>
          </a:p>
        </p:txBody>
      </p:sp>
      <p:sp>
        <p:nvSpPr>
          <p:cNvPr id="5" name="Footer Placeholder 4"/>
          <p:cNvSpPr>
            <a:spLocks noGrp="1"/>
          </p:cNvSpPr>
          <p:nvPr>
            <p:ph type="ftr" sz="quarter" idx="15"/>
          </p:nvPr>
        </p:nvSpPr>
        <p:spPr>
          <a:xfrm>
            <a:off x="2864768" y="6337300"/>
            <a:ext cx="6645945" cy="365125"/>
          </a:xfrm>
          <a:prstGeom prst="rect">
            <a:avLst/>
          </a:prstGeom>
        </p:spPr>
        <p:txBody>
          <a:bodyPr anchor="ctr">
            <a:normAutofit/>
          </a:bodyPr>
          <a:lstStyle/>
          <a:p>
            <a:pPr>
              <a:spcAft>
                <a:spcPts val="600"/>
              </a:spcAft>
              <a:defRPr/>
            </a:pPr>
            <a:r>
              <a:rPr lang="en-GB" dirty="0"/>
              <a:t>COS6009-B: Large Scale Data Driven Applications</a:t>
            </a:r>
          </a:p>
        </p:txBody>
      </p:sp>
      <p:sp>
        <p:nvSpPr>
          <p:cNvPr id="6" name="Slide Number Placeholder 5"/>
          <p:cNvSpPr>
            <a:spLocks noGrp="1"/>
          </p:cNvSpPr>
          <p:nvPr>
            <p:ph type="sldNum" sz="quarter" idx="16"/>
          </p:nvPr>
        </p:nvSpPr>
        <p:spPr>
          <a:xfrm>
            <a:off x="377825" y="6337300"/>
            <a:ext cx="514350" cy="365125"/>
          </a:xfrm>
          <a:prstGeom prst="rect">
            <a:avLst/>
          </a:prstGeom>
        </p:spPr>
        <p:txBody>
          <a:bodyPr anchor="ctr">
            <a:normAutofit/>
          </a:bodyPr>
          <a:lstStyle/>
          <a:p>
            <a:pPr>
              <a:spcAft>
                <a:spcPts val="600"/>
              </a:spcAft>
              <a:defRPr/>
            </a:pPr>
            <a:fld id="{5DF220EC-324F-0142-ADB7-E82420EFE078}" type="slidenum">
              <a:rPr lang="en-GB" smtClean="0"/>
              <a:pPr>
                <a:spcAft>
                  <a:spcPts val="600"/>
                </a:spcAft>
                <a:defRPr/>
              </a:pPr>
              <a:t>1</a:t>
            </a:fld>
            <a:endParaRPr lang="en-GB" dirty="0"/>
          </a:p>
        </p:txBody>
      </p:sp>
    </p:spTree>
    <p:extLst>
      <p:ext uri="{BB962C8B-B14F-4D97-AF65-F5344CB8AC3E}">
        <p14:creationId xmlns:p14="http://schemas.microsoft.com/office/powerpoint/2010/main" val="2795566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88504" y="44624"/>
            <a:ext cx="5602259" cy="780762"/>
          </a:xfrm>
        </p:spPr>
        <p:txBody>
          <a:bodyPr/>
          <a:lstStyle/>
          <a:p>
            <a:r>
              <a:rPr lang="en-GB" sz="3200" dirty="0"/>
              <a:t>Outlines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a:t>
            </a:fld>
            <a:endParaRPr lang="en-GB" dirty="0"/>
          </a:p>
        </p:txBody>
      </p:sp>
      <p:sp>
        <p:nvSpPr>
          <p:cNvPr id="8" name="Content Placeholder 2">
            <a:extLst>
              <a:ext uri="{FF2B5EF4-FFF2-40B4-BE49-F238E27FC236}">
                <a16:creationId xmlns:a16="http://schemas.microsoft.com/office/drawing/2014/main" id="{6EDEE5A8-4100-3011-D9EC-9F66AE6FE78C}"/>
              </a:ext>
            </a:extLst>
          </p:cNvPr>
          <p:cNvSpPr>
            <a:spLocks noGrp="1"/>
          </p:cNvSpPr>
          <p:nvPr>
            <p:ph idx="1"/>
          </p:nvPr>
        </p:nvSpPr>
        <p:spPr>
          <a:xfrm>
            <a:off x="560512" y="1052736"/>
            <a:ext cx="8784976" cy="2628292"/>
          </a:xfrm>
        </p:spPr>
        <p:txBody>
          <a:bodyPr rtlCol="0">
            <a:normAutofit lnSpcReduction="10000"/>
          </a:bodyPr>
          <a:lstStyle/>
          <a:p>
            <a:pPr marL="0" indent="0">
              <a:buNone/>
              <a:defRPr/>
            </a:pPr>
            <a:r>
              <a:rPr lang="en-GB" sz="2200" dirty="0">
                <a:latin typeface="Helvetica" panose="020B0604020202020204" pitchFamily="34" charset="0"/>
                <a:cs typeface="Helvetica" panose="020B0604020202020204" pitchFamily="34" charset="0"/>
              </a:rPr>
              <a:t>By the end of this lecture, students should be able to:</a:t>
            </a:r>
          </a:p>
          <a:p>
            <a:pPr marL="0" indent="0">
              <a:buNone/>
              <a:defRPr/>
            </a:pPr>
            <a:endParaRPr lang="en-GB" sz="2200" dirty="0">
              <a:latin typeface="Helvetica" panose="020B0604020202020204" pitchFamily="34" charset="0"/>
              <a:cs typeface="Helvetica" panose="020B0604020202020204" pitchFamily="34" charset="0"/>
            </a:endParaRPr>
          </a:p>
          <a:p>
            <a:pPr>
              <a:buFont typeface="Arial" panose="020B0604020202020204" pitchFamily="34" charset="0"/>
              <a:buChar char="•"/>
              <a:defRPr/>
            </a:pPr>
            <a:r>
              <a:rPr lang="en-GB" sz="2200" dirty="0">
                <a:latin typeface="Helvetica" panose="020B0604020202020204" pitchFamily="34" charset="0"/>
                <a:cs typeface="Helvetica" panose="020B0604020202020204" pitchFamily="34" charset="0"/>
              </a:rPr>
              <a:t>Understand the key security challenges in MongoDB.</a:t>
            </a:r>
          </a:p>
          <a:p>
            <a:pPr>
              <a:buFont typeface="Arial" panose="020B0604020202020204" pitchFamily="34" charset="0"/>
              <a:buChar char="•"/>
              <a:defRPr/>
            </a:pPr>
            <a:r>
              <a:rPr lang="en-GB" sz="2200" dirty="0">
                <a:latin typeface="Helvetica" panose="020B0604020202020204" pitchFamily="34" charset="0"/>
                <a:cs typeface="Helvetica" panose="020B0604020202020204" pitchFamily="34" charset="0"/>
              </a:rPr>
              <a:t>Learn the built-in security features of MongoDB.</a:t>
            </a:r>
          </a:p>
          <a:p>
            <a:pPr>
              <a:buFont typeface="Arial" panose="020B0604020202020204" pitchFamily="34" charset="0"/>
              <a:buChar char="•"/>
              <a:defRPr/>
            </a:pPr>
            <a:r>
              <a:rPr lang="en-GB" sz="2200" dirty="0">
                <a:latin typeface="Helvetica" panose="020B0604020202020204" pitchFamily="34" charset="0"/>
                <a:cs typeface="Helvetica" panose="020B0604020202020204" pitchFamily="34" charset="0"/>
              </a:rPr>
              <a:t>Explore best practices for securing MongoDB deployments.</a:t>
            </a:r>
          </a:p>
          <a:p>
            <a:pPr>
              <a:buFont typeface="Arial" panose="020B0604020202020204" pitchFamily="34" charset="0"/>
              <a:buChar char="•"/>
              <a:defRPr/>
            </a:pPr>
            <a:r>
              <a:rPr lang="en-GB" sz="2200" dirty="0">
                <a:latin typeface="Helvetica" panose="020B0604020202020204" pitchFamily="34" charset="0"/>
                <a:cs typeface="Helvetica" panose="020B0604020202020204" pitchFamily="34" charset="0"/>
              </a:rPr>
              <a:t>Recognize the importance of compliance and auditing in database security.</a:t>
            </a:r>
            <a:endParaRPr lang="en-US" sz="22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234101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77825" y="128405"/>
            <a:ext cx="8473787" cy="767465"/>
          </a:xfrm>
        </p:spPr>
        <p:txBody>
          <a:bodyPr wrap="square" anchor="ctr">
            <a:normAutofit/>
          </a:bodyPr>
          <a:lstStyle/>
          <a:p>
            <a:pPr>
              <a:lnSpc>
                <a:spcPct val="90000"/>
              </a:lnSpc>
            </a:pPr>
            <a:r>
              <a:rPr lang="en-GB" sz="3200" dirty="0"/>
              <a:t>Why Database Security Matters</a:t>
            </a:r>
          </a:p>
        </p:txBody>
      </p:sp>
      <p:sp>
        <p:nvSpPr>
          <p:cNvPr id="8" name="Content Placeholder 2">
            <a:extLst>
              <a:ext uri="{FF2B5EF4-FFF2-40B4-BE49-F238E27FC236}">
                <a16:creationId xmlns:a16="http://schemas.microsoft.com/office/drawing/2014/main" id="{6EDEE5A8-4100-3011-D9EC-9F66AE6FE78C}"/>
              </a:ext>
            </a:extLst>
          </p:cNvPr>
          <p:cNvSpPr>
            <a:spLocks noGrp="1"/>
          </p:cNvSpPr>
          <p:nvPr>
            <p:ph sz="half" idx="1"/>
          </p:nvPr>
        </p:nvSpPr>
        <p:spPr>
          <a:xfrm>
            <a:off x="488504" y="917474"/>
            <a:ext cx="9160407" cy="4968552"/>
          </a:xfrm>
        </p:spPr>
        <p:txBody>
          <a:bodyPr wrap="square" rtlCol="0" anchor="t">
            <a:normAutofit/>
          </a:bodyPr>
          <a:lstStyle/>
          <a:p>
            <a:pPr>
              <a:lnSpc>
                <a:spcPct val="90000"/>
              </a:lnSpc>
              <a:buFont typeface="Arial" panose="020B0604020202020204" pitchFamily="34" charset="0"/>
              <a:buChar char="•"/>
              <a:defRPr/>
            </a:pPr>
            <a:r>
              <a:rPr lang="en-GB" sz="2200" dirty="0">
                <a:latin typeface="Helvetica" panose="020B0604020202020204" pitchFamily="34" charset="0"/>
                <a:cs typeface="Helvetica" panose="020B0604020202020204" pitchFamily="34" charset="0"/>
              </a:rPr>
              <a:t>Modern applications generate and store vast amounts of sensitive data, including personal, financial, and business-critical information.</a:t>
            </a:r>
          </a:p>
          <a:p>
            <a:pPr>
              <a:lnSpc>
                <a:spcPct val="90000"/>
              </a:lnSpc>
              <a:buFont typeface="Arial" panose="020B0604020202020204" pitchFamily="34" charset="0"/>
              <a:buChar char="•"/>
              <a:defRPr/>
            </a:pPr>
            <a:endParaRPr lang="en-GB" sz="2200" dirty="0">
              <a:latin typeface="Helvetica" panose="020B0604020202020204" pitchFamily="34" charset="0"/>
              <a:cs typeface="Helvetica" panose="020B0604020202020204" pitchFamily="34" charset="0"/>
            </a:endParaRPr>
          </a:p>
          <a:p>
            <a:pPr>
              <a:lnSpc>
                <a:spcPct val="90000"/>
              </a:lnSpc>
              <a:buFont typeface="Arial" panose="020B0604020202020204" pitchFamily="34" charset="0"/>
              <a:buChar char="•"/>
              <a:defRPr/>
            </a:pPr>
            <a:r>
              <a:rPr lang="en-GB" sz="2200" dirty="0">
                <a:latin typeface="Helvetica" panose="020B0604020202020204" pitchFamily="34" charset="0"/>
                <a:cs typeface="Helvetica" panose="020B0604020202020204" pitchFamily="34" charset="0"/>
              </a:rPr>
              <a:t>Databases are often targeted by attackers seeking to exploit vulnerabilities for data theft, corruption, or ransom.</a:t>
            </a:r>
          </a:p>
          <a:p>
            <a:pPr>
              <a:lnSpc>
                <a:spcPct val="90000"/>
              </a:lnSpc>
              <a:buFont typeface="Arial" panose="020B0604020202020204" pitchFamily="34" charset="0"/>
              <a:buChar char="•"/>
              <a:defRPr/>
            </a:pPr>
            <a:endParaRPr lang="en-GB" sz="2200" dirty="0">
              <a:latin typeface="Helvetica" panose="020B0604020202020204" pitchFamily="34" charset="0"/>
              <a:cs typeface="Helvetica" panose="020B0604020202020204" pitchFamily="34" charset="0"/>
            </a:endParaRPr>
          </a:p>
          <a:p>
            <a:pPr>
              <a:lnSpc>
                <a:spcPct val="90000"/>
              </a:lnSpc>
              <a:buFont typeface="Arial" panose="020B0604020202020204" pitchFamily="34" charset="0"/>
              <a:buChar char="•"/>
              <a:defRPr/>
            </a:pPr>
            <a:r>
              <a:rPr lang="en-GB" sz="2200" dirty="0">
                <a:latin typeface="Helvetica" panose="020B0604020202020204" pitchFamily="34" charset="0"/>
                <a:cs typeface="Helvetica" panose="020B0604020202020204" pitchFamily="34" charset="0"/>
              </a:rPr>
              <a:t>Data breaches can result in:</a:t>
            </a:r>
          </a:p>
          <a:p>
            <a:pPr lvl="1">
              <a:lnSpc>
                <a:spcPct val="90000"/>
              </a:lnSpc>
              <a:buFont typeface="Helvetica" panose="020B0604020202020204" pitchFamily="34" charset="0"/>
              <a:buChar char="‒"/>
              <a:defRPr/>
            </a:pPr>
            <a:r>
              <a:rPr lang="en-GB" dirty="0">
                <a:latin typeface="Helvetica" panose="020B0604020202020204" pitchFamily="34" charset="0"/>
                <a:cs typeface="Helvetica" panose="020B0604020202020204" pitchFamily="34" charset="0"/>
              </a:rPr>
              <a:t>Financial losses.</a:t>
            </a:r>
          </a:p>
          <a:p>
            <a:pPr lvl="1">
              <a:lnSpc>
                <a:spcPct val="90000"/>
              </a:lnSpc>
              <a:buFont typeface="Helvetica" panose="020B0604020202020204" pitchFamily="34" charset="0"/>
              <a:buChar char="‒"/>
              <a:defRPr/>
            </a:pPr>
            <a:r>
              <a:rPr lang="en-GB" dirty="0">
                <a:latin typeface="Helvetica" panose="020B0604020202020204" pitchFamily="34" charset="0"/>
                <a:cs typeface="Helvetica" panose="020B0604020202020204" pitchFamily="34" charset="0"/>
              </a:rPr>
              <a:t>Reputational damage.</a:t>
            </a:r>
          </a:p>
          <a:p>
            <a:pPr lvl="1">
              <a:lnSpc>
                <a:spcPct val="90000"/>
              </a:lnSpc>
              <a:buFont typeface="Helvetica" panose="020B0604020202020204" pitchFamily="34" charset="0"/>
              <a:buChar char="‒"/>
              <a:defRPr/>
            </a:pPr>
            <a:r>
              <a:rPr lang="en-GB" dirty="0">
                <a:latin typeface="Helvetica" panose="020B0604020202020204" pitchFamily="34" charset="0"/>
                <a:cs typeface="Helvetica" panose="020B0604020202020204" pitchFamily="34" charset="0"/>
              </a:rPr>
              <a:t>Legal penalties due to non-compliance (e.g., GDPR, HIPAA).</a:t>
            </a:r>
          </a:p>
          <a:p>
            <a:pPr lvl="1">
              <a:lnSpc>
                <a:spcPct val="90000"/>
              </a:lnSpc>
              <a:buFont typeface="Arial" panose="020B0604020202020204" pitchFamily="34" charset="0"/>
              <a:buChar char="•"/>
              <a:defRPr/>
            </a:pPr>
            <a:endParaRPr lang="en-GB" dirty="0">
              <a:latin typeface="Helvetica" panose="020B0604020202020204" pitchFamily="34" charset="0"/>
              <a:cs typeface="Helvetica" panose="020B0604020202020204" pitchFamily="34" charset="0"/>
            </a:endParaRPr>
          </a:p>
          <a:p>
            <a:pPr>
              <a:lnSpc>
                <a:spcPct val="90000"/>
              </a:lnSpc>
              <a:buFont typeface="Arial" panose="020B0604020202020204" pitchFamily="34" charset="0"/>
              <a:buChar char="•"/>
              <a:defRPr/>
            </a:pPr>
            <a:r>
              <a:rPr lang="en-GB" sz="2200" dirty="0">
                <a:latin typeface="Helvetica" panose="020B0604020202020204" pitchFamily="34" charset="0"/>
                <a:cs typeface="Helvetica" panose="020B0604020202020204" pitchFamily="34" charset="0"/>
              </a:rPr>
              <a:t>According to IBM</a:t>
            </a:r>
            <a:r>
              <a:rPr lang="en-GB" sz="2200" baseline="30000" dirty="0">
                <a:latin typeface="Helvetica" panose="020B0604020202020204" pitchFamily="34" charset="0"/>
                <a:cs typeface="Helvetica" panose="020B0604020202020204" pitchFamily="34" charset="0"/>
              </a:rPr>
              <a:t>1</a:t>
            </a:r>
            <a:r>
              <a:rPr lang="en-GB" sz="2200" dirty="0">
                <a:latin typeface="Helvetica" panose="020B0604020202020204" pitchFamily="34" charset="0"/>
                <a:cs typeface="Helvetica" panose="020B0604020202020204" pitchFamily="34" charset="0"/>
              </a:rPr>
              <a:t>, in 2024, the average cost of a data breach is $4.48 million globally.</a:t>
            </a:r>
          </a:p>
          <a:p>
            <a:pPr lvl="1">
              <a:lnSpc>
                <a:spcPct val="90000"/>
              </a:lnSpc>
              <a:buFont typeface="Helvetica" panose="020B0604020202020204" pitchFamily="34" charset="0"/>
              <a:buChar char="‒"/>
              <a:defRPr/>
            </a:pPr>
            <a:r>
              <a:rPr lang="en-GB" dirty="0">
                <a:latin typeface="Helvetica" panose="020B0604020202020204" pitchFamily="34" charset="0"/>
                <a:cs typeface="Helvetica" panose="020B0604020202020204" pitchFamily="34" charset="0"/>
              </a:rPr>
              <a:t>a 10% increase over last year and the highest total ever.</a:t>
            </a:r>
          </a:p>
          <a:p>
            <a:pPr>
              <a:lnSpc>
                <a:spcPct val="90000"/>
              </a:lnSpc>
              <a:buFont typeface="Arial" panose="020B0604020202020204" pitchFamily="34" charset="0"/>
              <a:buChar char="•"/>
              <a:defRPr/>
            </a:pPr>
            <a:endParaRPr lang="en-GB" dirty="0">
              <a:latin typeface="Helvetica" panose="020B0604020202020204" pitchFamily="34" charset="0"/>
              <a:cs typeface="Helvetica" panose="020B0604020202020204" pitchFamily="34" charset="0"/>
            </a:endParaRPr>
          </a:p>
          <a:p>
            <a:pPr>
              <a:lnSpc>
                <a:spcPct val="90000"/>
              </a:lnSpc>
              <a:buFont typeface="Arial" panose="020B0604020202020204" pitchFamily="34" charset="0"/>
              <a:buChar char="•"/>
              <a:defRPr/>
            </a:pPr>
            <a:endParaRPr lang="en-US" sz="2000" dirty="0"/>
          </a:p>
        </p:txBody>
      </p:sp>
      <p:sp>
        <p:nvSpPr>
          <p:cNvPr id="13" name="Date Placeholder 4">
            <a:extLst>
              <a:ext uri="{FF2B5EF4-FFF2-40B4-BE49-F238E27FC236}">
                <a16:creationId xmlns:a16="http://schemas.microsoft.com/office/drawing/2014/main" id="{03502C58-DBEC-301A-A46A-F5525C72861D}"/>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24 November, 2024</a:t>
            </a:fld>
            <a:endParaRPr lang="en-GB"/>
          </a:p>
        </p:txBody>
      </p:sp>
      <p:sp>
        <p:nvSpPr>
          <p:cNvPr id="7" name="Footer Placeholder 4"/>
          <p:cNvSpPr>
            <a:spLocks noGrp="1"/>
          </p:cNvSpPr>
          <p:nvPr>
            <p:ph type="ftr" sz="quarter" idx="11"/>
          </p:nvPr>
        </p:nvSpPr>
        <p:spPr>
          <a:xfrm>
            <a:off x="2864768" y="6337300"/>
            <a:ext cx="6645945" cy="365125"/>
          </a:xfrm>
        </p:spPr>
        <p:txBody>
          <a:bodyPr anchor="ctr">
            <a:normAutofit/>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anchor="ctr">
            <a:normAutofit/>
          </a:bodyPr>
          <a:lstStyle/>
          <a:p>
            <a:pPr>
              <a:spcAft>
                <a:spcPts val="600"/>
              </a:spcAft>
              <a:defRPr/>
            </a:pPr>
            <a:fld id="{09B5ADBA-EE88-1840-8B71-40682D165005}" type="slidenum">
              <a:rPr lang="en-GB" smtClean="0"/>
              <a:pPr>
                <a:spcAft>
                  <a:spcPts val="600"/>
                </a:spcAft>
                <a:defRPr/>
              </a:pPr>
              <a:t>3</a:t>
            </a:fld>
            <a:endParaRPr lang="en-GB"/>
          </a:p>
        </p:txBody>
      </p:sp>
      <p:sp>
        <p:nvSpPr>
          <p:cNvPr id="5" name="TextBox 4">
            <a:extLst>
              <a:ext uri="{FF2B5EF4-FFF2-40B4-BE49-F238E27FC236}">
                <a16:creationId xmlns:a16="http://schemas.microsoft.com/office/drawing/2014/main" id="{A9528A64-2B19-EB10-7E3F-34E145BFF894}"/>
              </a:ext>
            </a:extLst>
          </p:cNvPr>
          <p:cNvSpPr txBox="1"/>
          <p:nvPr/>
        </p:nvSpPr>
        <p:spPr>
          <a:xfrm>
            <a:off x="635000" y="5877272"/>
            <a:ext cx="4951378" cy="276999"/>
          </a:xfrm>
          <a:prstGeom prst="rect">
            <a:avLst/>
          </a:prstGeom>
          <a:noFill/>
        </p:spPr>
        <p:txBody>
          <a:bodyPr wrap="square">
            <a:spAutoFit/>
          </a:bodyPr>
          <a:lstStyle/>
          <a:p>
            <a:r>
              <a:rPr lang="en-GB" sz="1200" baseline="30000" dirty="0"/>
              <a:t>1</a:t>
            </a:r>
            <a:r>
              <a:rPr lang="en-GB" sz="1200" dirty="0"/>
              <a:t> https://www.ibm.com/reports/data-breach</a:t>
            </a:r>
          </a:p>
        </p:txBody>
      </p:sp>
    </p:spTree>
    <p:extLst>
      <p:ext uri="{BB962C8B-B14F-4D97-AF65-F5344CB8AC3E}">
        <p14:creationId xmlns:p14="http://schemas.microsoft.com/office/powerpoint/2010/main" val="1093870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fade">
                                      <p:cBhvr>
                                        <p:cTn id="7" dur="500"/>
                                        <p:tgtEl>
                                          <p:spTgt spid="8">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5" end="5"/>
                                            </p:txEl>
                                          </p:spTgt>
                                        </p:tgtEl>
                                        <p:attrNameLst>
                                          <p:attrName>style.visibility</p:attrName>
                                        </p:attrNameLst>
                                      </p:cBhvr>
                                      <p:to>
                                        <p:strVal val="visible"/>
                                      </p:to>
                                    </p:set>
                                    <p:animEffect transition="in" filter="fade">
                                      <p:cBhvr>
                                        <p:cTn id="10" dur="500"/>
                                        <p:tgtEl>
                                          <p:spTgt spid="8">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animEffect transition="in" filter="fade">
                                      <p:cBhvr>
                                        <p:cTn id="13" dur="500"/>
                                        <p:tgtEl>
                                          <p:spTgt spid="8">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8">
                                            <p:txEl>
                                              <p:pRg st="7" end="7"/>
                                            </p:txEl>
                                          </p:spTgt>
                                        </p:tgtEl>
                                        <p:attrNameLst>
                                          <p:attrName>style.visibility</p:attrName>
                                        </p:attrNameLst>
                                      </p:cBhvr>
                                      <p:to>
                                        <p:strVal val="visible"/>
                                      </p:to>
                                    </p:set>
                                    <p:animEffect transition="in" filter="fade">
                                      <p:cBhvr>
                                        <p:cTn id="16" dur="500"/>
                                        <p:tgtEl>
                                          <p:spTgt spid="8">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
                                            <p:txEl>
                                              <p:pRg st="9" end="9"/>
                                            </p:txEl>
                                          </p:spTgt>
                                        </p:tgtEl>
                                        <p:attrNameLst>
                                          <p:attrName>style.visibility</p:attrName>
                                        </p:attrNameLst>
                                      </p:cBhvr>
                                      <p:to>
                                        <p:strVal val="visible"/>
                                      </p:to>
                                    </p:set>
                                    <p:animEffect transition="in" filter="fade">
                                      <p:cBhvr>
                                        <p:cTn id="21" dur="500"/>
                                        <p:tgtEl>
                                          <p:spTgt spid="8">
                                            <p:txEl>
                                              <p:pRg st="9" end="9"/>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8">
                                            <p:txEl>
                                              <p:pRg st="10" end="10"/>
                                            </p:txEl>
                                          </p:spTgt>
                                        </p:tgtEl>
                                        <p:attrNameLst>
                                          <p:attrName>style.visibility</p:attrName>
                                        </p:attrNameLst>
                                      </p:cBhvr>
                                      <p:to>
                                        <p:strVal val="visible"/>
                                      </p:to>
                                    </p:set>
                                    <p:animEffect transition="in" filter="fade">
                                      <p:cBhvr>
                                        <p:cTn id="24" dur="500"/>
                                        <p:tgtEl>
                                          <p:spTgt spid="8">
                                            <p:txEl>
                                              <p:pRg st="10" end="10"/>
                                            </p:txEl>
                                          </p:spTgt>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89860" y="33711"/>
            <a:ext cx="9361040" cy="780762"/>
          </a:xfrm>
        </p:spPr>
        <p:txBody>
          <a:bodyPr/>
          <a:lstStyle/>
          <a:p>
            <a:r>
              <a:rPr lang="en-GB" sz="3200" dirty="0"/>
              <a:t>Examples of Database Security Incidents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4</a:t>
            </a:fld>
            <a:endParaRPr lang="en-GB" dirty="0"/>
          </a:p>
        </p:txBody>
      </p:sp>
      <p:sp>
        <p:nvSpPr>
          <p:cNvPr id="8" name="Content Placeholder 2">
            <a:extLst>
              <a:ext uri="{FF2B5EF4-FFF2-40B4-BE49-F238E27FC236}">
                <a16:creationId xmlns:a16="http://schemas.microsoft.com/office/drawing/2014/main" id="{6EDEE5A8-4100-3011-D9EC-9F66AE6FE78C}"/>
              </a:ext>
            </a:extLst>
          </p:cNvPr>
          <p:cNvSpPr>
            <a:spLocks noGrp="1"/>
          </p:cNvSpPr>
          <p:nvPr>
            <p:ph idx="1"/>
          </p:nvPr>
        </p:nvSpPr>
        <p:spPr>
          <a:xfrm>
            <a:off x="418730" y="980728"/>
            <a:ext cx="8913441" cy="2243574"/>
          </a:xfrm>
        </p:spPr>
        <p:txBody>
          <a:bodyPr rtlCol="0">
            <a:noAutofit/>
          </a:bodyPr>
          <a:lstStyle/>
          <a:p>
            <a:pPr>
              <a:defRPr/>
            </a:pPr>
            <a:r>
              <a:rPr lang="en-GB" sz="2000" b="1" dirty="0">
                <a:latin typeface="Helvetica" panose="020B0604020202020204" pitchFamily="34" charset="0"/>
                <a:cs typeface="Helvetica" panose="020B0604020202020204" pitchFamily="34" charset="0"/>
              </a:rPr>
              <a:t>MongoDB Ransomware Attacks: </a:t>
            </a:r>
            <a:r>
              <a:rPr lang="en-GB" sz="2000" dirty="0">
                <a:latin typeface="Helvetica" panose="020B0604020202020204" pitchFamily="34" charset="0"/>
                <a:cs typeface="Helvetica" panose="020B0604020202020204" pitchFamily="34" charset="0"/>
              </a:rPr>
              <a:t>Open, unsecured MongoDB instances exposed to the internet have been targeted by attackers demanding ransom for data.</a:t>
            </a:r>
          </a:p>
          <a:p>
            <a:pPr>
              <a:defRPr/>
            </a:pPr>
            <a:endParaRPr lang="en-GB" sz="2000" dirty="0">
              <a:latin typeface="Helvetica" panose="020B0604020202020204" pitchFamily="34" charset="0"/>
              <a:cs typeface="Helvetica" panose="020B0604020202020204" pitchFamily="34" charset="0"/>
            </a:endParaRPr>
          </a:p>
          <a:p>
            <a:pPr>
              <a:defRPr/>
            </a:pPr>
            <a:r>
              <a:rPr lang="en-GB" sz="2000" b="1" dirty="0">
                <a:latin typeface="Helvetica" panose="020B0604020202020204" pitchFamily="34" charset="0"/>
                <a:cs typeface="Helvetica" panose="020B0604020202020204" pitchFamily="34" charset="0"/>
              </a:rPr>
              <a:t>Notable Cases: </a:t>
            </a:r>
          </a:p>
          <a:p>
            <a:pPr lvl="1">
              <a:defRPr/>
            </a:pPr>
            <a:r>
              <a:rPr lang="en-GB" sz="2000" dirty="0">
                <a:latin typeface="Helvetica" panose="020B0604020202020204" pitchFamily="34" charset="0"/>
                <a:cs typeface="Helvetica" panose="020B0604020202020204" pitchFamily="34" charset="0"/>
              </a:rPr>
              <a:t>In 2017, over </a:t>
            </a:r>
            <a:r>
              <a:rPr lang="en-GB" sz="2000" b="1" dirty="0">
                <a:latin typeface="Helvetica" panose="020B0604020202020204" pitchFamily="34" charset="0"/>
                <a:cs typeface="Helvetica" panose="020B0604020202020204" pitchFamily="34" charset="0"/>
              </a:rPr>
              <a:t>27,000 MongoDB databases </a:t>
            </a:r>
            <a:r>
              <a:rPr lang="en-GB" sz="2000" dirty="0">
                <a:latin typeface="Helvetica" panose="020B0604020202020204" pitchFamily="34" charset="0"/>
                <a:cs typeface="Helvetica" panose="020B0604020202020204" pitchFamily="34" charset="0"/>
              </a:rPr>
              <a:t>were wiped in a ransomware campaign.</a:t>
            </a:r>
          </a:p>
          <a:p>
            <a:pPr lvl="1">
              <a:defRPr/>
            </a:pPr>
            <a:r>
              <a:rPr lang="en-GB" sz="2000" dirty="0">
                <a:latin typeface="Helvetica" panose="020B0604020202020204" pitchFamily="34" charset="0"/>
                <a:cs typeface="Helvetica" panose="020B0604020202020204" pitchFamily="34" charset="0"/>
              </a:rPr>
              <a:t>Companies faced permanent data loss and paid ransoms due to insufficient backups.</a:t>
            </a:r>
          </a:p>
          <a:p>
            <a:pPr lvl="1">
              <a:defRPr/>
            </a:pPr>
            <a:endParaRPr lang="en-GB" sz="2000" dirty="0">
              <a:latin typeface="Helvetica" panose="020B0604020202020204" pitchFamily="34" charset="0"/>
              <a:cs typeface="Helvetica" panose="020B0604020202020204" pitchFamily="34" charset="0"/>
            </a:endParaRPr>
          </a:p>
          <a:p>
            <a:pPr>
              <a:defRPr/>
            </a:pPr>
            <a:r>
              <a:rPr lang="en-GB" sz="2000" b="1" dirty="0">
                <a:latin typeface="Helvetica" panose="020B0604020202020204" pitchFamily="34" charset="0"/>
                <a:cs typeface="Helvetica" panose="020B0604020202020204" pitchFamily="34" charset="0"/>
              </a:rPr>
              <a:t>Broader Implications: </a:t>
            </a:r>
            <a:r>
              <a:rPr lang="en-GB" sz="2000" dirty="0">
                <a:latin typeface="Helvetica" panose="020B0604020202020204" pitchFamily="34" charset="0"/>
                <a:cs typeface="Helvetica" panose="020B0604020202020204" pitchFamily="34" charset="0"/>
              </a:rPr>
              <a:t>Insecure configurations or poor security measures can lead to devastating consequences.</a:t>
            </a:r>
          </a:p>
        </p:txBody>
      </p:sp>
    </p:spTree>
    <p:extLst>
      <p:ext uri="{BB962C8B-B14F-4D97-AF65-F5344CB8AC3E}">
        <p14:creationId xmlns:p14="http://schemas.microsoft.com/office/powerpoint/2010/main" val="2841706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377825" y="76443"/>
            <a:ext cx="8473787" cy="767465"/>
          </a:xfrm>
        </p:spPr>
        <p:txBody>
          <a:bodyPr vert="horz" wrap="square" lIns="0" tIns="0" rIns="0" bIns="0" numCol="1" anchor="ctr" anchorCtr="0" compatLnSpc="1">
            <a:prstTxWarp prst="textNoShape">
              <a:avLst/>
            </a:prstTxWarp>
            <a:normAutofit/>
          </a:bodyPr>
          <a:lstStyle/>
          <a:p>
            <a:pPr>
              <a:lnSpc>
                <a:spcPct val="90000"/>
              </a:lnSpc>
            </a:pPr>
            <a:r>
              <a:rPr lang="en-GB" sz="3100" dirty="0"/>
              <a:t>Security Challenges in Modern Databases</a:t>
            </a:r>
          </a:p>
        </p:txBody>
      </p:sp>
      <p:sp>
        <p:nvSpPr>
          <p:cNvPr id="4" name="TextBox 3">
            <a:extLst>
              <a:ext uri="{FF2B5EF4-FFF2-40B4-BE49-F238E27FC236}">
                <a16:creationId xmlns:a16="http://schemas.microsoft.com/office/drawing/2014/main" id="{DA18133F-B1B9-780E-4BEC-4D0626A2AF33}"/>
              </a:ext>
            </a:extLst>
          </p:cNvPr>
          <p:cNvSpPr txBox="1"/>
          <p:nvPr/>
        </p:nvSpPr>
        <p:spPr bwMode="auto">
          <a:xfrm>
            <a:off x="377825" y="908720"/>
            <a:ext cx="5007223" cy="5217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normAutofit lnSpcReduction="10000"/>
          </a:bodyPr>
          <a:lstStyle/>
          <a:p>
            <a:pPr marL="342900" marR="0" lvl="0" indent="-342900" defTabSz="914400" latinLnBrk="0">
              <a:lnSpc>
                <a:spcPct val="90000"/>
              </a:lnSpc>
              <a:spcBef>
                <a:spcPct val="20000"/>
              </a:spcBef>
              <a:buClrTx/>
              <a:buSzTx/>
              <a:buFont typeface="Arial" charset="0"/>
              <a:buChar char="•"/>
              <a:tabLst/>
            </a:pPr>
            <a:endParaRPr kumimoji="0" lang="en-US" altLang="en-US" sz="1700" b="0" i="0" u="none" strike="noStrike" cap="none" normalizeH="0" baseline="0" dirty="0">
              <a:ln>
                <a:noFill/>
              </a:ln>
              <a:effectLst/>
              <a:latin typeface="Lucida Sans Unicode" panose="020B0602030504020204" pitchFamily="34" charset="0"/>
              <a:cs typeface="Lucida Sans Unicode" panose="020B0602030504020204" pitchFamily="34" charset="0"/>
            </a:endParaRPr>
          </a:p>
          <a:p>
            <a:pPr marL="342900" lvl="0" indent="-342900">
              <a:lnSpc>
                <a:spcPct val="90000"/>
              </a:lnSpc>
              <a:spcBef>
                <a:spcPct val="20000"/>
              </a:spcBef>
              <a:buFont typeface="Arial" charset="0"/>
              <a:buChar char="•"/>
            </a:pPr>
            <a:r>
              <a:rPr lang="en-US" altLang="en-US" sz="2000" b="1" dirty="0">
                <a:latin typeface="Helvetica" panose="020B0604020202020204" pitchFamily="34" charset="0"/>
                <a:cs typeface="Helvetica" panose="020B0604020202020204" pitchFamily="34" charset="0"/>
              </a:rPr>
              <a:t>Default Configurations: </a:t>
            </a:r>
            <a:r>
              <a:rPr lang="en-US" altLang="en-US" sz="2000" dirty="0">
                <a:latin typeface="Helvetica" panose="020B0604020202020204" pitchFamily="34" charset="0"/>
                <a:cs typeface="Helvetica" panose="020B0604020202020204" pitchFamily="34" charset="0"/>
              </a:rPr>
              <a:t>Many database systems, including MongoDB, historically ship with permissive default settings.</a:t>
            </a:r>
          </a:p>
          <a:p>
            <a:pPr marL="342900" lvl="0" indent="-342900">
              <a:lnSpc>
                <a:spcPct val="90000"/>
              </a:lnSpc>
              <a:spcBef>
                <a:spcPct val="20000"/>
              </a:spcBef>
              <a:buFont typeface="Arial" charset="0"/>
              <a:buChar char="•"/>
            </a:pPr>
            <a:endParaRPr kumimoji="0" lang="en-US" altLang="en-US" sz="2000" b="0" i="0" u="none" strike="noStrike" cap="none" normalizeH="0" baseline="0" dirty="0">
              <a:ln>
                <a:noFill/>
              </a:ln>
              <a:effectLst/>
              <a:latin typeface="Helvetica" panose="020B0604020202020204" pitchFamily="34" charset="0"/>
              <a:cs typeface="Helvetica" panose="020B0604020202020204" pitchFamily="34" charset="0"/>
            </a:endParaRPr>
          </a:p>
          <a:p>
            <a:pPr marL="342900" lvl="0" indent="-342900">
              <a:lnSpc>
                <a:spcPct val="90000"/>
              </a:lnSpc>
              <a:spcBef>
                <a:spcPct val="20000"/>
              </a:spcBef>
              <a:buFont typeface="Arial" charset="0"/>
              <a:buChar char="•"/>
            </a:pPr>
            <a:r>
              <a:rPr lang="en-US" altLang="en-US" sz="2000" b="1" dirty="0">
                <a:latin typeface="Helvetica" panose="020B0604020202020204" pitchFamily="34" charset="0"/>
                <a:cs typeface="Helvetica" panose="020B0604020202020204" pitchFamily="34" charset="0"/>
              </a:rPr>
              <a:t>Open Database Ports: </a:t>
            </a:r>
            <a:r>
              <a:rPr lang="en-US" altLang="en-US" sz="2000" dirty="0">
                <a:latin typeface="Helvetica" panose="020B0604020202020204" pitchFamily="34" charset="0"/>
                <a:cs typeface="Helvetica" panose="020B0604020202020204" pitchFamily="34" charset="0"/>
              </a:rPr>
              <a:t>Exposing database ports (e.g., 27017 for MongoDB) to the internet without securing them invites attackers.</a:t>
            </a:r>
          </a:p>
          <a:p>
            <a:pPr marL="342900" lvl="0" indent="-342900">
              <a:lnSpc>
                <a:spcPct val="90000"/>
              </a:lnSpc>
              <a:spcBef>
                <a:spcPct val="20000"/>
              </a:spcBef>
              <a:buFont typeface="Arial" charset="0"/>
              <a:buChar char="•"/>
            </a:pPr>
            <a:endParaRPr lang="en-US" altLang="en-US" sz="2000" dirty="0">
              <a:latin typeface="Helvetica" panose="020B0604020202020204" pitchFamily="34" charset="0"/>
              <a:cs typeface="Helvetica" panose="020B0604020202020204" pitchFamily="34" charset="0"/>
            </a:endParaRPr>
          </a:p>
          <a:p>
            <a:pPr marL="342900" lvl="0" indent="-342900">
              <a:lnSpc>
                <a:spcPct val="90000"/>
              </a:lnSpc>
              <a:spcBef>
                <a:spcPct val="20000"/>
              </a:spcBef>
              <a:buFont typeface="Arial" charset="0"/>
              <a:buChar char="•"/>
            </a:pPr>
            <a:r>
              <a:rPr lang="en-US" altLang="en-US" sz="2000" b="1" dirty="0">
                <a:latin typeface="Helvetica" panose="020B0604020202020204" pitchFamily="34" charset="0"/>
                <a:cs typeface="Helvetica" panose="020B0604020202020204" pitchFamily="34" charset="0"/>
              </a:rPr>
              <a:t>Weak Authentication: </a:t>
            </a:r>
            <a:r>
              <a:rPr lang="en-US" altLang="en-US" sz="2000" dirty="0">
                <a:latin typeface="Helvetica" panose="020B0604020202020204" pitchFamily="34" charset="0"/>
                <a:cs typeface="Helvetica" panose="020B0604020202020204" pitchFamily="34" charset="0"/>
              </a:rPr>
              <a:t>Databases running without authentication or using default passwords are easy targets.</a:t>
            </a:r>
          </a:p>
          <a:p>
            <a:pPr marL="342900" lvl="0" indent="-342900">
              <a:lnSpc>
                <a:spcPct val="90000"/>
              </a:lnSpc>
              <a:spcBef>
                <a:spcPct val="20000"/>
              </a:spcBef>
              <a:buFont typeface="Arial" charset="0"/>
              <a:buChar char="•"/>
            </a:pPr>
            <a:endParaRPr lang="en-US" altLang="en-US" sz="2000" dirty="0">
              <a:latin typeface="Helvetica" panose="020B0604020202020204" pitchFamily="34" charset="0"/>
              <a:cs typeface="Helvetica" panose="020B0604020202020204" pitchFamily="34" charset="0"/>
            </a:endParaRPr>
          </a:p>
          <a:p>
            <a:pPr marL="342900" lvl="0" indent="-342900">
              <a:lnSpc>
                <a:spcPct val="90000"/>
              </a:lnSpc>
              <a:spcBef>
                <a:spcPct val="20000"/>
              </a:spcBef>
              <a:buFont typeface="Arial" charset="0"/>
              <a:buChar char="•"/>
            </a:pPr>
            <a:r>
              <a:rPr lang="en-US" altLang="en-US" sz="2000" b="1" dirty="0">
                <a:latin typeface="Helvetica" panose="020B0604020202020204" pitchFamily="34" charset="0"/>
                <a:cs typeface="Helvetica" panose="020B0604020202020204" pitchFamily="34" charset="0"/>
              </a:rPr>
              <a:t>Lack of Encryption: </a:t>
            </a:r>
            <a:r>
              <a:rPr lang="en-US" altLang="en-US" sz="2000" dirty="0">
                <a:latin typeface="Helvetica" panose="020B0604020202020204" pitchFamily="34" charset="0"/>
                <a:cs typeface="Helvetica" panose="020B0604020202020204" pitchFamily="34" charset="0"/>
              </a:rPr>
              <a:t>Data transmitted over networks or stored on disks without encryption can be intercepted or accessed.</a:t>
            </a:r>
          </a:p>
          <a:p>
            <a:pPr marL="342900" marR="0" lvl="0" indent="-342900" defTabSz="914400" latinLnBrk="0">
              <a:lnSpc>
                <a:spcPct val="90000"/>
              </a:lnSpc>
              <a:spcBef>
                <a:spcPct val="20000"/>
              </a:spcBef>
              <a:buClrTx/>
              <a:buSzTx/>
              <a:buFont typeface="Arial" charset="0"/>
              <a:buChar char="•"/>
              <a:tabLst/>
            </a:pPr>
            <a:endParaRPr lang="en-US" altLang="en-US" sz="1700" dirty="0">
              <a:latin typeface="Lucida Sans Unicode" panose="020B0602030504020204" pitchFamily="34" charset="0"/>
              <a:cs typeface="Lucida Sans Unicode" panose="020B0602030504020204" pitchFamily="34" charset="0"/>
            </a:endParaRPr>
          </a:p>
          <a:p>
            <a:pPr marL="342900" marR="0" lvl="0" indent="-342900" defTabSz="914400" latinLnBrk="0">
              <a:lnSpc>
                <a:spcPct val="90000"/>
              </a:lnSpc>
              <a:spcBef>
                <a:spcPct val="20000"/>
              </a:spcBef>
              <a:buClrTx/>
              <a:buSzTx/>
              <a:buFont typeface="Arial" charset="0"/>
              <a:buChar char="•"/>
              <a:tabLst/>
            </a:pPr>
            <a:endParaRPr kumimoji="0" lang="en-US" altLang="en-US" sz="1700" b="0" i="0" u="none" strike="noStrike" cap="none" normalizeH="0" baseline="0" dirty="0">
              <a:ln>
                <a:noFill/>
              </a:ln>
              <a:effectLst/>
              <a:latin typeface="Lucida Sans Unicode" panose="020B0602030504020204" pitchFamily="34" charset="0"/>
              <a:cs typeface="Lucida Sans Unicode" panose="020B0602030504020204" pitchFamily="34" charset="0"/>
            </a:endParaRPr>
          </a:p>
          <a:p>
            <a:pPr marL="342900" marR="0" lvl="0" indent="-342900" defTabSz="914400" latinLnBrk="0">
              <a:lnSpc>
                <a:spcPct val="90000"/>
              </a:lnSpc>
              <a:spcBef>
                <a:spcPct val="20000"/>
              </a:spcBef>
              <a:buClrTx/>
              <a:buSzTx/>
              <a:buFont typeface="Arial" charset="0"/>
              <a:buChar char="•"/>
              <a:tabLst/>
            </a:pPr>
            <a:endParaRPr lang="en-US" altLang="en-US" sz="1700" dirty="0">
              <a:latin typeface="Lucida Sans Unicode" panose="020B0602030504020204" pitchFamily="34" charset="0"/>
              <a:cs typeface="Lucida Sans Unicode" panose="020B0602030504020204" pitchFamily="34" charset="0"/>
            </a:endParaRPr>
          </a:p>
        </p:txBody>
      </p:sp>
      <p:pic>
        <p:nvPicPr>
          <p:cNvPr id="5" name="Picture 4" descr="A close-up of a logo&#10;&#10;Description automatically generated">
            <a:extLst>
              <a:ext uri="{FF2B5EF4-FFF2-40B4-BE49-F238E27FC236}">
                <a16:creationId xmlns:a16="http://schemas.microsoft.com/office/drawing/2014/main" id="{5C5869EC-A8CF-BE9B-7486-20E5A68B1468}"/>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313040" y="1805809"/>
            <a:ext cx="4402500" cy="2058168"/>
          </a:xfrm>
          <a:prstGeom prst="rect">
            <a:avLst/>
          </a:prstGeom>
          <a:noFill/>
        </p:spPr>
      </p:pic>
      <p:sp>
        <p:nvSpPr>
          <p:cNvPr id="14" name="Date Placeholder 4">
            <a:extLst>
              <a:ext uri="{FF2B5EF4-FFF2-40B4-BE49-F238E27FC236}">
                <a16:creationId xmlns:a16="http://schemas.microsoft.com/office/drawing/2014/main" id="{E4E715F7-F7AF-FC16-0D13-5444E79935DF}"/>
              </a:ext>
            </a:extLst>
          </p:cNvPr>
          <p:cNvSpPr>
            <a:spLocks noGrp="1"/>
          </p:cNvSpPr>
          <p:nvPr>
            <p:ph type="dt" sz="half" idx="10"/>
          </p:nvPr>
        </p:nvSpPr>
        <p:spPr>
          <a:xfrm>
            <a:off x="904874" y="6337300"/>
            <a:ext cx="1959893" cy="365125"/>
          </a:xfrm>
        </p:spPr>
        <p:txBody>
          <a:bodyPr/>
          <a:lstStyle/>
          <a:p>
            <a:pPr>
              <a:spcAft>
                <a:spcPts val="600"/>
              </a:spcAft>
              <a:defRPr/>
            </a:pPr>
            <a:fld id="{F3200D4E-A622-FB43-952A-26ECAC58E771}" type="datetime3">
              <a:rPr lang="en-GB"/>
              <a:pPr>
                <a:spcAft>
                  <a:spcPts val="600"/>
                </a:spcAft>
                <a:defRPr/>
              </a:pPr>
              <a:t>24 November, 2024</a:t>
            </a:fld>
            <a:endParaRPr lang="en-GB"/>
          </a:p>
        </p:txBody>
      </p:sp>
      <p:sp>
        <p:nvSpPr>
          <p:cNvPr id="7" name="Footer Placeholder 4"/>
          <p:cNvSpPr>
            <a:spLocks noGrp="1"/>
          </p:cNvSpPr>
          <p:nvPr>
            <p:ph type="ftr" sz="quarter" idx="11"/>
          </p:nvPr>
        </p:nvSpPr>
        <p:spPr>
          <a:xfrm>
            <a:off x="2864768" y="6337300"/>
            <a:ext cx="6645945" cy="365125"/>
          </a:xfrm>
        </p:spPr>
        <p:txBody>
          <a:bodyPr vert="horz" lIns="108000" tIns="0" rIns="108000" bIns="0" rtlCol="0" anchor="ctr">
            <a:normAutofit/>
          </a:bodyPr>
          <a:lstStyle/>
          <a:p>
            <a:pPr>
              <a:spcAft>
                <a:spcPts val="600"/>
              </a:spcAft>
              <a:defRPr/>
            </a:pPr>
            <a:r>
              <a:rPr lang="en-GB" kern="1200">
                <a:latin typeface="Georgia" panose="02040502050405020303" pitchFamily="18" charset="0"/>
                <a:ea typeface="+mn-ea"/>
                <a:cs typeface="+mn-cs"/>
              </a:rPr>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a:xfrm>
            <a:off x="377825" y="6337300"/>
            <a:ext cx="514350" cy="365125"/>
          </a:xfrm>
        </p:spPr>
        <p:txBody>
          <a:bodyPr vert="horz" lIns="0" tIns="0" rIns="0" bIns="0" rtlCol="0" anchor="ctr">
            <a:normAutofit/>
          </a:bodyPr>
          <a:lstStyle/>
          <a:p>
            <a:pPr>
              <a:spcAft>
                <a:spcPts val="600"/>
              </a:spcAft>
              <a:defRPr/>
            </a:pPr>
            <a:fld id="{09B5ADBA-EE88-1840-8B71-40682D165005}" type="slidenum">
              <a:rPr lang="en-GB" kern="1200">
                <a:latin typeface="Lucida Sans Unicode" panose="020B0602030504020204" pitchFamily="34" charset="0"/>
                <a:ea typeface="+mn-ea"/>
                <a:cs typeface="Lucida Sans Unicode" panose="020B0602030504020204" pitchFamily="34" charset="0"/>
              </a:rPr>
              <a:pPr>
                <a:spcAft>
                  <a:spcPts val="600"/>
                </a:spcAft>
                <a:defRPr/>
              </a:pPr>
              <a:t>5</a:t>
            </a:fld>
            <a:endParaRPr lang="en-GB" kern="1200">
              <a:latin typeface="Lucida Sans Unicode" panose="020B0602030504020204" pitchFamily="34" charset="0"/>
              <a:ea typeface="+mn-ea"/>
              <a:cs typeface="Lucida Sans Unicode" panose="020B0602030504020204" pitchFamily="34" charset="0"/>
            </a:endParaRPr>
          </a:p>
        </p:txBody>
      </p:sp>
      <p:sp>
        <p:nvSpPr>
          <p:cNvPr id="9" name="TextBox 8">
            <a:extLst>
              <a:ext uri="{FF2B5EF4-FFF2-40B4-BE49-F238E27FC236}">
                <a16:creationId xmlns:a16="http://schemas.microsoft.com/office/drawing/2014/main" id="{12C74B06-F3AD-55D0-8360-7FF143D1DE96}"/>
              </a:ext>
            </a:extLst>
          </p:cNvPr>
          <p:cNvSpPr txBox="1"/>
          <p:nvPr/>
        </p:nvSpPr>
        <p:spPr>
          <a:xfrm>
            <a:off x="6393160" y="3859782"/>
            <a:ext cx="2708280" cy="215326"/>
          </a:xfrm>
          <a:prstGeom prst="rect">
            <a:avLst/>
          </a:prstGeom>
          <a:noFill/>
        </p:spPr>
        <p:txBody>
          <a:bodyPr wrap="square">
            <a:spAutoFit/>
          </a:bodyPr>
          <a:lstStyle/>
          <a:p>
            <a:r>
              <a:rPr lang="en-GB" sz="800" dirty="0"/>
              <a:t>https://vertabelo.com/blog/database-design-for-security/</a:t>
            </a:r>
          </a:p>
        </p:txBody>
      </p:sp>
    </p:spTree>
    <p:extLst>
      <p:ext uri="{BB962C8B-B14F-4D97-AF65-F5344CB8AC3E}">
        <p14:creationId xmlns:p14="http://schemas.microsoft.com/office/powerpoint/2010/main" val="616367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88504" y="0"/>
            <a:ext cx="9937104" cy="780762"/>
          </a:xfrm>
        </p:spPr>
        <p:txBody>
          <a:bodyPr/>
          <a:lstStyle/>
          <a:p>
            <a:r>
              <a:rPr lang="en-GB" sz="3200" dirty="0"/>
              <a:t>Goals of Database Security</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6</a:t>
            </a:fld>
            <a:endParaRPr lang="en-GB" dirty="0"/>
          </a:p>
        </p:txBody>
      </p:sp>
      <p:sp>
        <p:nvSpPr>
          <p:cNvPr id="3" name="Content Placeholder 2">
            <a:extLst>
              <a:ext uri="{FF2B5EF4-FFF2-40B4-BE49-F238E27FC236}">
                <a16:creationId xmlns:a16="http://schemas.microsoft.com/office/drawing/2014/main" id="{C5753561-433C-6ED5-A65F-D25F9210DBE7}"/>
              </a:ext>
            </a:extLst>
          </p:cNvPr>
          <p:cNvSpPr>
            <a:spLocks noGrp="1"/>
          </p:cNvSpPr>
          <p:nvPr>
            <p:ph idx="1"/>
          </p:nvPr>
        </p:nvSpPr>
        <p:spPr>
          <a:xfrm>
            <a:off x="503520" y="1052736"/>
            <a:ext cx="4935236" cy="2766566"/>
          </a:xfrm>
        </p:spPr>
        <p:txBody>
          <a:bodyPr rtlCol="0">
            <a:noAutofit/>
          </a:bodyPr>
          <a:lstStyle/>
          <a:p>
            <a:pPr fontAlgn="auto">
              <a:spcAft>
                <a:spcPts val="0"/>
              </a:spcAft>
              <a:buFont typeface="Arial" panose="020B0604020202020204" pitchFamily="34" charset="0"/>
              <a:buChar char="•"/>
              <a:defRPr/>
            </a:pPr>
            <a:r>
              <a:rPr lang="en-GB" sz="2000" b="1" dirty="0">
                <a:latin typeface="Helvetica" panose="020B0604020202020204" pitchFamily="34" charset="0"/>
                <a:cs typeface="Helvetica" panose="020B0604020202020204" pitchFamily="34" charset="0"/>
              </a:rPr>
              <a:t>Confidentiality: </a:t>
            </a:r>
            <a:r>
              <a:rPr lang="en-GB" sz="2000" dirty="0">
                <a:latin typeface="Helvetica" panose="020B0604020202020204" pitchFamily="34" charset="0"/>
                <a:cs typeface="Helvetica" panose="020B0604020202020204" pitchFamily="34" charset="0"/>
              </a:rPr>
              <a:t>Ensure only authorized users can access sensitive data.</a:t>
            </a:r>
          </a:p>
          <a:p>
            <a:pPr fontAlgn="auto">
              <a:spcAft>
                <a:spcPts val="0"/>
              </a:spcAft>
              <a:buFont typeface="Arial" panose="020B0604020202020204" pitchFamily="34" charset="0"/>
              <a:buChar char="•"/>
              <a:defRPr/>
            </a:pPr>
            <a:endParaRPr lang="en-GB" sz="2000" dirty="0">
              <a:latin typeface="Helvetica" panose="020B0604020202020204" pitchFamily="34" charset="0"/>
              <a:cs typeface="Helvetica" panose="020B0604020202020204" pitchFamily="34" charset="0"/>
            </a:endParaRPr>
          </a:p>
          <a:p>
            <a:pPr fontAlgn="auto">
              <a:spcAft>
                <a:spcPts val="0"/>
              </a:spcAft>
              <a:buFont typeface="Arial" panose="020B0604020202020204" pitchFamily="34" charset="0"/>
              <a:buChar char="•"/>
              <a:defRPr/>
            </a:pPr>
            <a:r>
              <a:rPr lang="en-GB" sz="2000" b="1" dirty="0">
                <a:latin typeface="Helvetica" panose="020B0604020202020204" pitchFamily="34" charset="0"/>
                <a:cs typeface="Helvetica" panose="020B0604020202020204" pitchFamily="34" charset="0"/>
              </a:rPr>
              <a:t>Integrity: </a:t>
            </a:r>
            <a:r>
              <a:rPr lang="en-GB" sz="2000" dirty="0">
                <a:latin typeface="Helvetica" panose="020B0604020202020204" pitchFamily="34" charset="0"/>
                <a:cs typeface="Helvetica" panose="020B0604020202020204" pitchFamily="34" charset="0"/>
              </a:rPr>
              <a:t>Prevent unauthorized modification of data.</a:t>
            </a:r>
          </a:p>
          <a:p>
            <a:pPr fontAlgn="auto">
              <a:spcAft>
                <a:spcPts val="0"/>
              </a:spcAft>
              <a:buFont typeface="Arial" panose="020B0604020202020204" pitchFamily="34" charset="0"/>
              <a:buChar char="•"/>
              <a:defRPr/>
            </a:pPr>
            <a:endParaRPr lang="en-GB" sz="2000" dirty="0">
              <a:latin typeface="Helvetica" panose="020B0604020202020204" pitchFamily="34" charset="0"/>
              <a:cs typeface="Helvetica" panose="020B0604020202020204" pitchFamily="34" charset="0"/>
            </a:endParaRPr>
          </a:p>
          <a:p>
            <a:pPr fontAlgn="auto">
              <a:spcAft>
                <a:spcPts val="0"/>
              </a:spcAft>
              <a:buFont typeface="Arial" panose="020B0604020202020204" pitchFamily="34" charset="0"/>
              <a:buChar char="•"/>
              <a:defRPr/>
            </a:pPr>
            <a:r>
              <a:rPr lang="en-GB" sz="2000" b="1" dirty="0">
                <a:latin typeface="Helvetica" panose="020B0604020202020204" pitchFamily="34" charset="0"/>
                <a:cs typeface="Helvetica" panose="020B0604020202020204" pitchFamily="34" charset="0"/>
              </a:rPr>
              <a:t>Availability: </a:t>
            </a:r>
            <a:r>
              <a:rPr lang="en-GB" sz="2000" dirty="0">
                <a:latin typeface="Helvetica" panose="020B0604020202020204" pitchFamily="34" charset="0"/>
                <a:cs typeface="Helvetica" panose="020B0604020202020204" pitchFamily="34" charset="0"/>
              </a:rPr>
              <a:t>Protect data and ensure it is accessible when needed.</a:t>
            </a:r>
          </a:p>
          <a:p>
            <a:pPr fontAlgn="auto">
              <a:spcAft>
                <a:spcPts val="0"/>
              </a:spcAft>
              <a:buFont typeface="Arial" panose="020B0604020202020204" pitchFamily="34" charset="0"/>
              <a:buChar char="•"/>
              <a:defRPr/>
            </a:pPr>
            <a:endParaRPr lang="en-GB" sz="2000" dirty="0">
              <a:latin typeface="Helvetica" panose="020B0604020202020204" pitchFamily="34" charset="0"/>
              <a:cs typeface="Helvetica" panose="020B0604020202020204" pitchFamily="34" charset="0"/>
            </a:endParaRPr>
          </a:p>
          <a:p>
            <a:pPr fontAlgn="auto">
              <a:spcAft>
                <a:spcPts val="0"/>
              </a:spcAft>
              <a:buFont typeface="Arial" panose="020B0604020202020204" pitchFamily="34" charset="0"/>
              <a:buChar char="•"/>
              <a:defRPr/>
            </a:pPr>
            <a:r>
              <a:rPr lang="en-GB" sz="2000" b="1" dirty="0">
                <a:latin typeface="Helvetica" panose="020B0604020202020204" pitchFamily="34" charset="0"/>
                <a:cs typeface="Helvetica" panose="020B0604020202020204" pitchFamily="34" charset="0"/>
              </a:rPr>
              <a:t>Compliance: </a:t>
            </a:r>
            <a:r>
              <a:rPr lang="en-GB" sz="2000" dirty="0">
                <a:latin typeface="Helvetica" panose="020B0604020202020204" pitchFamily="34" charset="0"/>
                <a:cs typeface="Helvetica" panose="020B0604020202020204" pitchFamily="34" charset="0"/>
              </a:rPr>
              <a:t>Meet legal and regulatory requirements (e.g., GDPR).</a:t>
            </a:r>
            <a:endParaRPr lang="en-US" sz="2000" dirty="0">
              <a:latin typeface="Helvetica" panose="020B0604020202020204" pitchFamily="34" charset="0"/>
              <a:cs typeface="Helvetica" panose="020B0604020202020204" pitchFamily="34" charset="0"/>
            </a:endParaRPr>
          </a:p>
        </p:txBody>
      </p:sp>
      <p:pic>
        <p:nvPicPr>
          <p:cNvPr id="4" name="Picture 3">
            <a:extLst>
              <a:ext uri="{FF2B5EF4-FFF2-40B4-BE49-F238E27FC236}">
                <a16:creationId xmlns:a16="http://schemas.microsoft.com/office/drawing/2014/main" id="{171B8A42-B2BF-C612-3157-0220BE1A5217}"/>
              </a:ext>
            </a:extLst>
          </p:cNvPr>
          <p:cNvPicPr>
            <a:picLocks noChangeAspect="1"/>
          </p:cNvPicPr>
          <p:nvPr/>
        </p:nvPicPr>
        <p:blipFill rotWithShape="1">
          <a:blip r:embed="rId2"/>
          <a:srcRect l="10012" t="15350" r="11064" b="15350"/>
          <a:stretch/>
        </p:blipFill>
        <p:spPr>
          <a:xfrm>
            <a:off x="5889104" y="1268760"/>
            <a:ext cx="3764055" cy="3312368"/>
          </a:xfrm>
          <a:prstGeom prst="rect">
            <a:avLst/>
          </a:prstGeom>
        </p:spPr>
      </p:pic>
      <p:sp>
        <p:nvSpPr>
          <p:cNvPr id="8" name="TextBox 7">
            <a:extLst>
              <a:ext uri="{FF2B5EF4-FFF2-40B4-BE49-F238E27FC236}">
                <a16:creationId xmlns:a16="http://schemas.microsoft.com/office/drawing/2014/main" id="{81247A43-66A2-6C19-451A-CCAD4E351872}"/>
              </a:ext>
            </a:extLst>
          </p:cNvPr>
          <p:cNvSpPr txBox="1"/>
          <p:nvPr/>
        </p:nvSpPr>
        <p:spPr>
          <a:xfrm>
            <a:off x="6619003" y="4581128"/>
            <a:ext cx="2304256" cy="215444"/>
          </a:xfrm>
          <a:prstGeom prst="rect">
            <a:avLst/>
          </a:prstGeom>
          <a:noFill/>
        </p:spPr>
        <p:txBody>
          <a:bodyPr wrap="square">
            <a:spAutoFit/>
          </a:bodyPr>
          <a:lstStyle/>
          <a:p>
            <a:r>
              <a:rPr lang="en-GB" sz="800" dirty="0"/>
              <a:t>https://www.stationx.net/what-is-the-cia-triad/</a:t>
            </a:r>
          </a:p>
        </p:txBody>
      </p:sp>
    </p:spTree>
    <p:extLst>
      <p:ext uri="{BB962C8B-B14F-4D97-AF65-F5344CB8AC3E}">
        <p14:creationId xmlns:p14="http://schemas.microsoft.com/office/powerpoint/2010/main" val="40808670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88504" y="0"/>
            <a:ext cx="9145016" cy="780762"/>
          </a:xfrm>
        </p:spPr>
        <p:txBody>
          <a:bodyPr/>
          <a:lstStyle/>
          <a:p>
            <a:r>
              <a:rPr lang="en-GB" sz="3200" dirty="0"/>
              <a:t>Introduction to MongoDB Security Layers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7</a:t>
            </a:fld>
            <a:endParaRPr lang="en-GB" dirty="0"/>
          </a:p>
        </p:txBody>
      </p:sp>
      <p:pic>
        <p:nvPicPr>
          <p:cNvPr id="4" name="Picture 3">
            <a:extLst>
              <a:ext uri="{FF2B5EF4-FFF2-40B4-BE49-F238E27FC236}">
                <a16:creationId xmlns:a16="http://schemas.microsoft.com/office/drawing/2014/main" id="{236ABD87-B0CE-FCF7-9DDC-D9BE6B7B81C0}"/>
              </a:ext>
            </a:extLst>
          </p:cNvPr>
          <p:cNvPicPr>
            <a:picLocks noChangeAspect="1"/>
          </p:cNvPicPr>
          <p:nvPr/>
        </p:nvPicPr>
        <p:blipFill>
          <a:blip r:embed="rId2"/>
          <a:stretch>
            <a:fillRect/>
          </a:stretch>
        </p:blipFill>
        <p:spPr>
          <a:xfrm>
            <a:off x="1928664" y="876357"/>
            <a:ext cx="5364945" cy="2877561"/>
          </a:xfrm>
          <a:prstGeom prst="rect">
            <a:avLst/>
          </a:prstGeom>
        </p:spPr>
      </p:pic>
      <p:sp>
        <p:nvSpPr>
          <p:cNvPr id="10" name="TextBox 9">
            <a:extLst>
              <a:ext uri="{FF2B5EF4-FFF2-40B4-BE49-F238E27FC236}">
                <a16:creationId xmlns:a16="http://schemas.microsoft.com/office/drawing/2014/main" id="{34CA717D-E380-4A3C-4AF3-7A3F84210675}"/>
              </a:ext>
            </a:extLst>
          </p:cNvPr>
          <p:cNvSpPr txBox="1"/>
          <p:nvPr/>
        </p:nvSpPr>
        <p:spPr>
          <a:xfrm>
            <a:off x="488504" y="3782755"/>
            <a:ext cx="8499045" cy="2554545"/>
          </a:xfrm>
          <a:prstGeom prst="rect">
            <a:avLst/>
          </a:prstGeom>
          <a:noFill/>
        </p:spPr>
        <p:txBody>
          <a:bodyPr wrap="square">
            <a:spAutoFit/>
          </a:bodyPr>
          <a:lstStyle/>
          <a:p>
            <a:r>
              <a:rPr lang="en-GB" sz="2000" dirty="0">
                <a:latin typeface="Helvetica" panose="020B0604020202020204" pitchFamily="34" charset="0"/>
                <a:cs typeface="Helvetica" panose="020B0604020202020204" pitchFamily="34" charset="0"/>
              </a:rPr>
              <a:t>MongoDB’s security is built on four critical layers:</a:t>
            </a:r>
          </a:p>
          <a:p>
            <a:endParaRPr lang="en-GB" sz="20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Authentication: </a:t>
            </a:r>
            <a:r>
              <a:rPr lang="en-GB" sz="2000" dirty="0">
                <a:latin typeface="Helvetica" panose="020B0604020202020204" pitchFamily="34" charset="0"/>
                <a:cs typeface="Helvetica" panose="020B0604020202020204" pitchFamily="34" charset="0"/>
              </a:rPr>
              <a:t>Verifies user identities.</a:t>
            </a:r>
          </a:p>
          <a:p>
            <a:pPr marL="342900" indent="-34290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Authorisation: </a:t>
            </a:r>
            <a:r>
              <a:rPr lang="en-GB" sz="2000" dirty="0">
                <a:latin typeface="Helvetica" panose="020B0604020202020204" pitchFamily="34" charset="0"/>
                <a:cs typeface="Helvetica" panose="020B0604020202020204" pitchFamily="34" charset="0"/>
              </a:rPr>
              <a:t>Controls access to data and operations.</a:t>
            </a:r>
          </a:p>
          <a:p>
            <a:pPr marL="342900" indent="-34290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Auditing: </a:t>
            </a:r>
            <a:r>
              <a:rPr lang="en-GB" sz="2000" dirty="0">
                <a:latin typeface="Helvetica" panose="020B0604020202020204" pitchFamily="34" charset="0"/>
                <a:cs typeface="Helvetica" panose="020B0604020202020204" pitchFamily="34" charset="0"/>
              </a:rPr>
              <a:t>Tracks and logs database activity.</a:t>
            </a:r>
          </a:p>
          <a:p>
            <a:pPr marL="342900" indent="-34290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Encryption: </a:t>
            </a:r>
            <a:r>
              <a:rPr lang="en-GB" sz="2000" dirty="0">
                <a:latin typeface="Helvetica" panose="020B0604020202020204" pitchFamily="34" charset="0"/>
                <a:cs typeface="Helvetica" panose="020B0604020202020204" pitchFamily="34" charset="0"/>
              </a:rPr>
              <a:t>Protects data at rest and in transit.</a:t>
            </a:r>
          </a:p>
          <a:p>
            <a:endParaRPr lang="en-GB" sz="2000" dirty="0">
              <a:latin typeface="Helvetica" panose="020B0604020202020204" pitchFamily="34" charset="0"/>
              <a:cs typeface="Helvetica" panose="020B0604020202020204" pitchFamily="34" charset="0"/>
            </a:endParaRPr>
          </a:p>
          <a:p>
            <a:r>
              <a:rPr lang="en-GB" sz="2000" dirty="0">
                <a:latin typeface="Helvetica" panose="020B0604020202020204" pitchFamily="34" charset="0"/>
                <a:cs typeface="Helvetica" panose="020B0604020202020204" pitchFamily="34" charset="0"/>
              </a:rPr>
              <a:t>Each layer ensures confidentiality, integrity, and accountability</a:t>
            </a:r>
          </a:p>
        </p:txBody>
      </p:sp>
    </p:spTree>
    <p:extLst>
      <p:ext uri="{BB962C8B-B14F-4D97-AF65-F5344CB8AC3E}">
        <p14:creationId xmlns:p14="http://schemas.microsoft.com/office/powerpoint/2010/main" val="876973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7" end="7"/>
                                            </p:txEl>
                                          </p:spTgt>
                                        </p:tgtEl>
                                        <p:attrNameLst>
                                          <p:attrName>style.visibility</p:attrName>
                                        </p:attrNameLst>
                                      </p:cBhvr>
                                      <p:to>
                                        <p:strVal val="visible"/>
                                      </p:to>
                                    </p:set>
                                    <p:animEffect transition="in" filter="fade">
                                      <p:cBhvr>
                                        <p:cTn id="7" dur="500"/>
                                        <p:tgtEl>
                                          <p:spTgt spid="1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88504" y="0"/>
            <a:ext cx="9937104" cy="780762"/>
          </a:xfrm>
        </p:spPr>
        <p:txBody>
          <a:bodyPr/>
          <a:lstStyle/>
          <a:p>
            <a:r>
              <a:rPr lang="en-GB" sz="3200" dirty="0"/>
              <a:t>MongoDB: Authentication</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8</a:t>
            </a:fld>
            <a:endParaRPr lang="en-GB" dirty="0"/>
          </a:p>
        </p:txBody>
      </p:sp>
      <p:sp>
        <p:nvSpPr>
          <p:cNvPr id="8" name="TextBox 7">
            <a:extLst>
              <a:ext uri="{FF2B5EF4-FFF2-40B4-BE49-F238E27FC236}">
                <a16:creationId xmlns:a16="http://schemas.microsoft.com/office/drawing/2014/main" id="{D0D956B7-E774-A7D0-A5D6-B918D95AA2FF}"/>
              </a:ext>
            </a:extLst>
          </p:cNvPr>
          <p:cNvSpPr txBox="1"/>
          <p:nvPr/>
        </p:nvSpPr>
        <p:spPr>
          <a:xfrm>
            <a:off x="359553" y="908720"/>
            <a:ext cx="8741344" cy="4401205"/>
          </a:xfrm>
          <a:prstGeom prst="rect">
            <a:avLst/>
          </a:prstGeom>
          <a:noFill/>
        </p:spPr>
        <p:txBody>
          <a:bodyPr wrap="square">
            <a:spAutoFit/>
          </a:bodyPr>
          <a:lstStyle/>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Authentication is the process of verifying the identity of users or systems attempting to access the MongoDB database.</a:t>
            </a:r>
          </a:p>
          <a:p>
            <a:pPr marL="342900" indent="-342900">
              <a:buFont typeface="Arial" panose="020B0604020202020204" pitchFamily="34" charset="0"/>
              <a:buChar char="•"/>
            </a:pPr>
            <a:endParaRPr lang="en-GB" sz="22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200" dirty="0">
                <a:latin typeface="Helvetica" panose="020B0604020202020204" pitchFamily="34" charset="0"/>
                <a:cs typeface="Helvetica" panose="020B0604020202020204" pitchFamily="34" charset="0"/>
              </a:rPr>
              <a:t>It ensures that only authorised individuals or applications can interact with the database.</a:t>
            </a:r>
          </a:p>
          <a:p>
            <a:pPr marL="342900" indent="-342900">
              <a:buFont typeface="Arial" panose="020B0604020202020204" pitchFamily="34" charset="0"/>
              <a:buChar char="•"/>
            </a:pPr>
            <a:endParaRPr lang="en-GB" sz="22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200" b="1" dirty="0">
                <a:latin typeface="Helvetica" panose="020B0604020202020204" pitchFamily="34" charset="0"/>
                <a:cs typeface="Helvetica" panose="020B0604020202020204" pitchFamily="34" charset="0"/>
              </a:rPr>
              <a:t>Authentication Mechanisms in MongoDB: </a:t>
            </a:r>
            <a:r>
              <a:rPr lang="en-GB" sz="2200" dirty="0">
                <a:latin typeface="Helvetica" panose="020B0604020202020204" pitchFamily="34" charset="0"/>
                <a:cs typeface="Helvetica" panose="020B0604020202020204" pitchFamily="34" charset="0"/>
              </a:rPr>
              <a:t>MongoDB supports several authentication mechanisms depending on the deployment and security requirements</a:t>
            </a:r>
          </a:p>
          <a:p>
            <a:pPr marL="342900" indent="-342900">
              <a:buFont typeface="Arial" panose="020B0604020202020204" pitchFamily="34" charset="0"/>
              <a:buChar char="•"/>
            </a:pPr>
            <a:endParaRPr lang="en-GB" sz="2200" dirty="0">
              <a:latin typeface="Helvetica" panose="020B0604020202020204" pitchFamily="34" charset="0"/>
              <a:cs typeface="Helvetica" panose="020B0604020202020204" pitchFamily="34" charset="0"/>
            </a:endParaRPr>
          </a:p>
          <a:p>
            <a:pPr marL="800100" lvl="1" indent="-342900">
              <a:buFont typeface="Helvetica" panose="020B0604020202020204" pitchFamily="34" charset="0"/>
              <a:buChar char="‒"/>
            </a:pPr>
            <a:r>
              <a:rPr lang="en-GB" sz="2000" b="1" dirty="0">
                <a:latin typeface="Helvetica" panose="020B0604020202020204" pitchFamily="34" charset="0"/>
                <a:cs typeface="Helvetica" panose="020B0604020202020204" pitchFamily="34" charset="0"/>
              </a:rPr>
              <a:t>SCRAM (Salted Challenge Response Authentication Mechanism)</a:t>
            </a:r>
          </a:p>
          <a:p>
            <a:pPr marL="800100" lvl="1" indent="-342900">
              <a:buFont typeface="Helvetica" panose="020B0604020202020204" pitchFamily="34" charset="0"/>
              <a:buChar char="‒"/>
            </a:pPr>
            <a:r>
              <a:rPr lang="en-GB" sz="2000" b="1" dirty="0">
                <a:latin typeface="Helvetica" panose="020B0604020202020204" pitchFamily="34" charset="0"/>
                <a:cs typeface="Helvetica" panose="020B0604020202020204" pitchFamily="34" charset="0"/>
              </a:rPr>
              <a:t>MongoDB-CR (Challenge-Response)</a:t>
            </a:r>
          </a:p>
        </p:txBody>
      </p:sp>
    </p:spTree>
    <p:extLst>
      <p:ext uri="{BB962C8B-B14F-4D97-AF65-F5344CB8AC3E}">
        <p14:creationId xmlns:p14="http://schemas.microsoft.com/office/powerpoint/2010/main" val="3085130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fade">
                                      <p:cBhvr>
                                        <p:cTn id="7" dur="500"/>
                                        <p:tgtEl>
                                          <p:spTgt spid="8">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6" end="6"/>
                                            </p:txEl>
                                          </p:spTgt>
                                        </p:tgtEl>
                                        <p:attrNameLst>
                                          <p:attrName>style.visibility</p:attrName>
                                        </p:attrNameLst>
                                      </p:cBhvr>
                                      <p:to>
                                        <p:strVal val="visible"/>
                                      </p:to>
                                    </p:set>
                                    <p:animEffect transition="in" filter="fade">
                                      <p:cBhvr>
                                        <p:cTn id="12" dur="500"/>
                                        <p:tgtEl>
                                          <p:spTgt spid="8">
                                            <p:txEl>
                                              <p:pRg st="6" end="6"/>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xEl>
                                              <p:pRg st="7" end="7"/>
                                            </p:txEl>
                                          </p:spTgt>
                                        </p:tgtEl>
                                        <p:attrNameLst>
                                          <p:attrName>style.visibility</p:attrName>
                                        </p:attrNameLst>
                                      </p:cBhvr>
                                      <p:to>
                                        <p:strVal val="visible"/>
                                      </p:to>
                                    </p:set>
                                    <p:animEffect transition="in" filter="fade">
                                      <p:cBhvr>
                                        <p:cTn id="15"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88504" y="0"/>
            <a:ext cx="9937104" cy="780762"/>
          </a:xfrm>
        </p:spPr>
        <p:txBody>
          <a:bodyPr/>
          <a:lstStyle/>
          <a:p>
            <a:r>
              <a:rPr lang="en-GB" sz="3200" dirty="0"/>
              <a:t>Authentication: SCRAM</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9</a:t>
            </a:fld>
            <a:endParaRPr lang="en-GB" dirty="0"/>
          </a:p>
        </p:txBody>
      </p:sp>
      <p:sp>
        <p:nvSpPr>
          <p:cNvPr id="8" name="TextBox 7">
            <a:extLst>
              <a:ext uri="{FF2B5EF4-FFF2-40B4-BE49-F238E27FC236}">
                <a16:creationId xmlns:a16="http://schemas.microsoft.com/office/drawing/2014/main" id="{F568F6D7-C31A-D0A7-D33B-14AEE36948E2}"/>
              </a:ext>
            </a:extLst>
          </p:cNvPr>
          <p:cNvSpPr txBox="1"/>
          <p:nvPr/>
        </p:nvSpPr>
        <p:spPr>
          <a:xfrm>
            <a:off x="253144" y="816258"/>
            <a:ext cx="9399711" cy="5632311"/>
          </a:xfrm>
          <a:prstGeom prst="rect">
            <a:avLst/>
          </a:prstGeom>
          <a:noFill/>
        </p:spPr>
        <p:txBody>
          <a:bodyPr wrap="square">
            <a:spAutoFit/>
          </a:bodyPr>
          <a:lstStyle/>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SCRAM is MongoDB’s default authentication mechanism (starting with version 3.0).</a:t>
            </a: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Available as </a:t>
            </a:r>
            <a:r>
              <a:rPr lang="en-GB" sz="2000" b="1" dirty="0">
                <a:latin typeface="Helvetica" panose="020B0604020202020204" pitchFamily="34" charset="0"/>
                <a:cs typeface="Helvetica" panose="020B0604020202020204" pitchFamily="34" charset="0"/>
              </a:rPr>
              <a:t>SCRAM-SHA-1</a:t>
            </a:r>
            <a:r>
              <a:rPr lang="en-GB" sz="2000" dirty="0">
                <a:latin typeface="Helvetica" panose="020B0604020202020204" pitchFamily="34" charset="0"/>
                <a:cs typeface="Helvetica" panose="020B0604020202020204" pitchFamily="34" charset="0"/>
              </a:rPr>
              <a:t> and the more secure </a:t>
            </a:r>
            <a:r>
              <a:rPr lang="en-GB" sz="2000" b="1" dirty="0">
                <a:latin typeface="Helvetica" panose="020B0604020202020204" pitchFamily="34" charset="0"/>
                <a:cs typeface="Helvetica" panose="020B0604020202020204" pitchFamily="34" charset="0"/>
              </a:rPr>
              <a:t>SCRAM-SHA-256</a:t>
            </a:r>
            <a:r>
              <a:rPr lang="en-GB" sz="2000" dirty="0">
                <a:latin typeface="Helvetica" panose="020B0604020202020204" pitchFamily="34" charset="0"/>
                <a:cs typeface="Helvetica" panose="020B0604020202020204" pitchFamily="34" charset="0"/>
              </a:rPr>
              <a:t> (introduced in MongoDB 4.0).</a:t>
            </a: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Relies on password hashing and a challenge-response protocol to authenticate users.</a:t>
            </a:r>
          </a:p>
          <a:p>
            <a:pPr marL="285750" indent="-285750">
              <a:buFont typeface="Arial" panose="020B0604020202020204" pitchFamily="34" charset="0"/>
              <a:buChar char="•"/>
            </a:pPr>
            <a:endParaRPr lang="en-GB" sz="2000" b="1"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How It Works:</a:t>
            </a:r>
          </a:p>
          <a:p>
            <a:pPr marL="742950" lvl="1"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User passwords are never stored in plaintext; instead, hashed values are stored.</a:t>
            </a:r>
          </a:p>
          <a:p>
            <a:pPr marL="742950" lvl="1"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During authentication:</a:t>
            </a:r>
          </a:p>
          <a:p>
            <a:pPr marL="1200150" lvl="2"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The client sends a username and a hashed password.</a:t>
            </a:r>
          </a:p>
          <a:p>
            <a:pPr marL="1200150" lvl="2"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The server verifies the hash using a stored hash and a salt.</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Why Use SCRAM?</a:t>
            </a:r>
          </a:p>
          <a:p>
            <a:pPr marL="742950" lvl="1"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Provides a secure and robust password-based authentication mechanism.</a:t>
            </a:r>
          </a:p>
          <a:p>
            <a:pPr marL="742950" lvl="1"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Supports role-based access control (RBAC) and integrates well with MongoDB's architecture.</a:t>
            </a:r>
          </a:p>
        </p:txBody>
      </p:sp>
    </p:spTree>
    <p:extLst>
      <p:ext uri="{BB962C8B-B14F-4D97-AF65-F5344CB8AC3E}">
        <p14:creationId xmlns:p14="http://schemas.microsoft.com/office/powerpoint/2010/main" val="2863491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fade">
                                      <p:cBhvr>
                                        <p:cTn id="7" dur="500"/>
                                        <p:tgtEl>
                                          <p:spTgt spid="8">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5" end="5"/>
                                            </p:txEl>
                                          </p:spTgt>
                                        </p:tgtEl>
                                        <p:attrNameLst>
                                          <p:attrName>style.visibility</p:attrName>
                                        </p:attrNameLst>
                                      </p:cBhvr>
                                      <p:to>
                                        <p:strVal val="visible"/>
                                      </p:to>
                                    </p:set>
                                    <p:animEffect transition="in" filter="fade">
                                      <p:cBhvr>
                                        <p:cTn id="10" dur="500"/>
                                        <p:tgtEl>
                                          <p:spTgt spid="8">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animEffect transition="in" filter="fade">
                                      <p:cBhvr>
                                        <p:cTn id="13" dur="500"/>
                                        <p:tgtEl>
                                          <p:spTgt spid="8">
                                            <p:txEl>
                                              <p:pRg st="6" end="6"/>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8">
                                            <p:txEl>
                                              <p:pRg st="7" end="7"/>
                                            </p:txEl>
                                          </p:spTgt>
                                        </p:tgtEl>
                                        <p:attrNameLst>
                                          <p:attrName>style.visibility</p:attrName>
                                        </p:attrNameLst>
                                      </p:cBhvr>
                                      <p:to>
                                        <p:strVal val="visible"/>
                                      </p:to>
                                    </p:set>
                                    <p:animEffect transition="in" filter="fade">
                                      <p:cBhvr>
                                        <p:cTn id="16" dur="500"/>
                                        <p:tgtEl>
                                          <p:spTgt spid="8">
                                            <p:txEl>
                                              <p:pRg st="7" end="7"/>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animEffect transition="in" filter="fade">
                                      <p:cBhvr>
                                        <p:cTn id="19" dur="500"/>
                                        <p:tgtEl>
                                          <p:spTgt spid="8">
                                            <p:txEl>
                                              <p:pRg st="8" end="8"/>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xEl>
                                              <p:pRg st="10" end="10"/>
                                            </p:txEl>
                                          </p:spTgt>
                                        </p:tgtEl>
                                        <p:attrNameLst>
                                          <p:attrName>style.visibility</p:attrName>
                                        </p:attrNameLst>
                                      </p:cBhvr>
                                      <p:to>
                                        <p:strVal val="visible"/>
                                      </p:to>
                                    </p:set>
                                    <p:animEffect transition="in" filter="fade">
                                      <p:cBhvr>
                                        <p:cTn id="24" dur="500"/>
                                        <p:tgtEl>
                                          <p:spTgt spid="8">
                                            <p:txEl>
                                              <p:pRg st="10" end="10"/>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8">
                                            <p:txEl>
                                              <p:pRg st="11" end="11"/>
                                            </p:txEl>
                                          </p:spTgt>
                                        </p:tgtEl>
                                        <p:attrNameLst>
                                          <p:attrName>style.visibility</p:attrName>
                                        </p:attrNameLst>
                                      </p:cBhvr>
                                      <p:to>
                                        <p:strVal val="visible"/>
                                      </p:to>
                                    </p:set>
                                    <p:animEffect transition="in" filter="fade">
                                      <p:cBhvr>
                                        <p:cTn id="27" dur="500"/>
                                        <p:tgtEl>
                                          <p:spTgt spid="8">
                                            <p:txEl>
                                              <p:pRg st="11" end="11"/>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8">
                                            <p:txEl>
                                              <p:pRg st="12" end="12"/>
                                            </p:txEl>
                                          </p:spTgt>
                                        </p:tgtEl>
                                        <p:attrNameLst>
                                          <p:attrName>style.visibility</p:attrName>
                                        </p:attrNameLst>
                                      </p:cBhvr>
                                      <p:to>
                                        <p:strVal val="visible"/>
                                      </p:to>
                                    </p:set>
                                    <p:animEffect transition="in" filter="fade">
                                      <p:cBhvr>
                                        <p:cTn id="30" dur="500"/>
                                        <p:tgtEl>
                                          <p:spTgt spid="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88504" y="0"/>
            <a:ext cx="9937104" cy="780762"/>
          </a:xfrm>
        </p:spPr>
        <p:txBody>
          <a:bodyPr/>
          <a:lstStyle/>
          <a:p>
            <a:r>
              <a:rPr lang="en-GB" sz="3200" dirty="0"/>
              <a:t>Authentication: MongoDB-CR</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10</a:t>
            </a:fld>
            <a:endParaRPr lang="en-GB" dirty="0"/>
          </a:p>
        </p:txBody>
      </p:sp>
      <p:sp>
        <p:nvSpPr>
          <p:cNvPr id="8" name="TextBox 7">
            <a:extLst>
              <a:ext uri="{FF2B5EF4-FFF2-40B4-BE49-F238E27FC236}">
                <a16:creationId xmlns:a16="http://schemas.microsoft.com/office/drawing/2014/main" id="{F568F6D7-C31A-D0A7-D33B-14AEE36948E2}"/>
              </a:ext>
            </a:extLst>
          </p:cNvPr>
          <p:cNvSpPr txBox="1"/>
          <p:nvPr/>
        </p:nvSpPr>
        <p:spPr>
          <a:xfrm>
            <a:off x="253145" y="816258"/>
            <a:ext cx="8660296" cy="3416320"/>
          </a:xfrm>
          <a:prstGeom prst="rect">
            <a:avLst/>
          </a:prstGeom>
          <a:noFill/>
        </p:spPr>
        <p:txBody>
          <a:bodyPr wrap="square">
            <a:spAutoFit/>
          </a:bodyPr>
          <a:lstStyle/>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An older mechanism used in pre-3.0 versions of MongoDB.</a:t>
            </a: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Replaced by SCRAM due to security vulnerabilities.</a:t>
            </a:r>
          </a:p>
          <a:p>
            <a:pPr marL="285750" indent="-285750">
              <a:buFont typeface="Arial" panose="020B0604020202020204" pitchFamily="34" charset="0"/>
              <a:buChar char="•"/>
            </a:pPr>
            <a:endParaRPr lang="en-GB" sz="2000" b="1"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How It Works:</a:t>
            </a:r>
          </a:p>
          <a:p>
            <a:pPr marL="742950" lvl="1"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Involves a simple challenge-response protocol where the server sends a challenge string, and the client responds with a hashed password.</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Why Use Avoid MongoDB-CR?</a:t>
            </a:r>
          </a:p>
          <a:p>
            <a:pPr marL="742950" lvl="1"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Considered less secure compared to SCRAM.</a:t>
            </a:r>
          </a:p>
          <a:p>
            <a:pPr marL="742950" lvl="1"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Deprecated and not recommended for modern deployments.</a:t>
            </a:r>
          </a:p>
        </p:txBody>
      </p:sp>
    </p:spTree>
    <p:extLst>
      <p:ext uri="{BB962C8B-B14F-4D97-AF65-F5344CB8AC3E}">
        <p14:creationId xmlns:p14="http://schemas.microsoft.com/office/powerpoint/2010/main" val="767801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animEffect transition="in" filter="fade">
                                      <p:cBhvr>
                                        <p:cTn id="7" dur="500"/>
                                        <p:tgtEl>
                                          <p:spTgt spid="8">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xEl>
                                              <p:pRg st="4" end="4"/>
                                            </p:txEl>
                                          </p:spTgt>
                                        </p:tgtEl>
                                        <p:attrNameLst>
                                          <p:attrName>style.visibility</p:attrName>
                                        </p:attrNameLst>
                                      </p:cBhvr>
                                      <p:to>
                                        <p:strVal val="visible"/>
                                      </p:to>
                                    </p:set>
                                    <p:animEffect transition="in" filter="fade">
                                      <p:cBhvr>
                                        <p:cTn id="10" dur="500"/>
                                        <p:tgtEl>
                                          <p:spTgt spid="8">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xEl>
                                              <p:pRg st="6" end="6"/>
                                            </p:txEl>
                                          </p:spTgt>
                                        </p:tgtEl>
                                        <p:attrNameLst>
                                          <p:attrName>style.visibility</p:attrName>
                                        </p:attrNameLst>
                                      </p:cBhvr>
                                      <p:to>
                                        <p:strVal val="visible"/>
                                      </p:to>
                                    </p:set>
                                    <p:animEffect transition="in" filter="fade">
                                      <p:cBhvr>
                                        <p:cTn id="15" dur="500"/>
                                        <p:tgtEl>
                                          <p:spTgt spid="8">
                                            <p:txEl>
                                              <p:pRg st="6" end="6"/>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8">
                                            <p:txEl>
                                              <p:pRg st="7" end="7"/>
                                            </p:txEl>
                                          </p:spTgt>
                                        </p:tgtEl>
                                        <p:attrNameLst>
                                          <p:attrName>style.visibility</p:attrName>
                                        </p:attrNameLst>
                                      </p:cBhvr>
                                      <p:to>
                                        <p:strVal val="visible"/>
                                      </p:to>
                                    </p:set>
                                    <p:animEffect transition="in" filter="fade">
                                      <p:cBhvr>
                                        <p:cTn id="18" dur="500"/>
                                        <p:tgtEl>
                                          <p:spTgt spid="8">
                                            <p:txEl>
                                              <p:pRg st="7" end="7"/>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8">
                                            <p:txEl>
                                              <p:pRg st="8" end="8"/>
                                            </p:txEl>
                                          </p:spTgt>
                                        </p:tgtEl>
                                        <p:attrNameLst>
                                          <p:attrName>style.visibility</p:attrName>
                                        </p:attrNameLst>
                                      </p:cBhvr>
                                      <p:to>
                                        <p:strVal val="visible"/>
                                      </p:to>
                                    </p:set>
                                    <p:animEffect transition="in" filter="fade">
                                      <p:cBhvr>
                                        <p:cTn id="21"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88504" y="0"/>
            <a:ext cx="9937104" cy="780762"/>
          </a:xfrm>
        </p:spPr>
        <p:txBody>
          <a:bodyPr/>
          <a:lstStyle/>
          <a:p>
            <a:r>
              <a:rPr lang="en-GB" sz="3000" dirty="0"/>
              <a:t>MongoDB: External Authentication Methods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11</a:t>
            </a:fld>
            <a:endParaRPr lang="en-GB" dirty="0"/>
          </a:p>
        </p:txBody>
      </p:sp>
      <p:sp>
        <p:nvSpPr>
          <p:cNvPr id="8" name="TextBox 7">
            <a:extLst>
              <a:ext uri="{FF2B5EF4-FFF2-40B4-BE49-F238E27FC236}">
                <a16:creationId xmlns:a16="http://schemas.microsoft.com/office/drawing/2014/main" id="{F568F6D7-C31A-D0A7-D33B-14AEE36948E2}"/>
              </a:ext>
            </a:extLst>
          </p:cNvPr>
          <p:cNvSpPr txBox="1"/>
          <p:nvPr/>
        </p:nvSpPr>
        <p:spPr>
          <a:xfrm>
            <a:off x="272480" y="780762"/>
            <a:ext cx="8901513" cy="3477875"/>
          </a:xfrm>
          <a:prstGeom prst="rect">
            <a:avLst/>
          </a:prstGeom>
          <a:noFill/>
        </p:spPr>
        <p:txBody>
          <a:bodyPr wrap="square">
            <a:spAutoFit/>
          </a:bodyPr>
          <a:lstStyle/>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MongoDB integrates with external systems for centralised authentication:</a:t>
            </a:r>
          </a:p>
          <a:p>
            <a:pPr marL="285750" indent="-28575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LDAP (Lightweight Directory Access Protocol):</a:t>
            </a:r>
          </a:p>
          <a:p>
            <a:pPr marL="800100" lvl="1" indent="-342900">
              <a:buFont typeface="Helvetica" panose="020B0604020202020204" pitchFamily="34" charset="0"/>
              <a:buChar char="‒"/>
            </a:pPr>
            <a:r>
              <a:rPr lang="en-GB" sz="2000" dirty="0">
                <a:latin typeface="Helvetica" panose="020B0604020202020204" pitchFamily="34" charset="0"/>
                <a:cs typeface="Helvetica" panose="020B0604020202020204" pitchFamily="34" charset="0"/>
              </a:rPr>
              <a:t>Enables organisations to authenticate users via an existing LDAP server.</a:t>
            </a:r>
          </a:p>
          <a:p>
            <a:pPr marL="800100" lvl="1" indent="-342900">
              <a:buFont typeface="Helvetica" panose="020B0604020202020204" pitchFamily="34" charset="0"/>
              <a:buChar char="‒"/>
            </a:pPr>
            <a:r>
              <a:rPr lang="en-GB" sz="2000" dirty="0">
                <a:latin typeface="Helvetica" panose="020B0604020202020204" pitchFamily="34" charset="0"/>
                <a:cs typeface="Helvetica" panose="020B0604020202020204" pitchFamily="34" charset="0"/>
              </a:rPr>
              <a:t>Useful for large organisations where user credentials are managed centrally.</a:t>
            </a:r>
          </a:p>
          <a:p>
            <a:pPr marL="800100" lvl="1" indent="-342900">
              <a:buFont typeface="Helvetica" panose="020B0604020202020204" pitchFamily="34" charset="0"/>
              <a:buChar char="‒"/>
            </a:pPr>
            <a:r>
              <a:rPr lang="en-GB" sz="2000" dirty="0">
                <a:latin typeface="Helvetica" panose="020B0604020202020204" pitchFamily="34" charset="0"/>
                <a:cs typeface="Helvetica" panose="020B0604020202020204" pitchFamily="34" charset="0"/>
              </a:rPr>
              <a:t>Example: Authenticating corporate users against an Active Directory (AD).</a:t>
            </a:r>
          </a:p>
          <a:p>
            <a:pPr marL="285750" indent="-28575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Kerberos: </a:t>
            </a:r>
          </a:p>
          <a:p>
            <a:pPr marL="800100" lvl="1" indent="-342900">
              <a:buFont typeface="Helvetica" panose="020B0604020202020204" pitchFamily="34" charset="0"/>
              <a:buChar char="‒"/>
            </a:pPr>
            <a:r>
              <a:rPr lang="en-GB" sz="2000" dirty="0">
                <a:latin typeface="Helvetica" panose="020B0604020202020204" pitchFamily="34" charset="0"/>
                <a:cs typeface="Helvetica" panose="020B0604020202020204" pitchFamily="34" charset="0"/>
              </a:rPr>
              <a:t>A secure authentication protocol using tickets.</a:t>
            </a:r>
          </a:p>
          <a:p>
            <a:pPr marL="800100" lvl="1" indent="-342900">
              <a:buFont typeface="Helvetica" panose="020B0604020202020204" pitchFamily="34" charset="0"/>
              <a:buChar char="‒"/>
            </a:pPr>
            <a:r>
              <a:rPr lang="en-GB" sz="2000" dirty="0">
                <a:latin typeface="Helvetica" panose="020B0604020202020204" pitchFamily="34" charset="0"/>
                <a:cs typeface="Helvetica" panose="020B0604020202020204" pitchFamily="34" charset="0"/>
              </a:rPr>
              <a:t>Ideal for enterprise environments requiring strong security measures.</a:t>
            </a:r>
          </a:p>
        </p:txBody>
      </p:sp>
      <p:pic>
        <p:nvPicPr>
          <p:cNvPr id="3" name="Picture 2">
            <a:extLst>
              <a:ext uri="{FF2B5EF4-FFF2-40B4-BE49-F238E27FC236}">
                <a16:creationId xmlns:a16="http://schemas.microsoft.com/office/drawing/2014/main" id="{29B181E5-FC81-8A55-9DFF-BE37B0FB95F5}"/>
              </a:ext>
            </a:extLst>
          </p:cNvPr>
          <p:cNvPicPr>
            <a:picLocks noChangeAspect="1"/>
          </p:cNvPicPr>
          <p:nvPr/>
        </p:nvPicPr>
        <p:blipFill>
          <a:blip r:embed="rId2"/>
          <a:stretch>
            <a:fillRect/>
          </a:stretch>
        </p:blipFill>
        <p:spPr>
          <a:xfrm>
            <a:off x="2425849" y="4226324"/>
            <a:ext cx="4594774" cy="2110976"/>
          </a:xfrm>
          <a:prstGeom prst="rect">
            <a:avLst/>
          </a:prstGeom>
        </p:spPr>
      </p:pic>
    </p:spTree>
    <p:extLst>
      <p:ext uri="{BB962C8B-B14F-4D97-AF65-F5344CB8AC3E}">
        <p14:creationId xmlns:p14="http://schemas.microsoft.com/office/powerpoint/2010/main" val="2969403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43147" y="0"/>
            <a:ext cx="9662853" cy="780762"/>
          </a:xfrm>
        </p:spPr>
        <p:txBody>
          <a:bodyPr/>
          <a:lstStyle/>
          <a:p>
            <a:r>
              <a:rPr lang="en-GB" sz="3000" dirty="0"/>
              <a:t>How to Enable Authentication in MongoDB</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12</a:t>
            </a:fld>
            <a:endParaRPr lang="en-GB" dirty="0"/>
          </a:p>
        </p:txBody>
      </p:sp>
      <p:sp>
        <p:nvSpPr>
          <p:cNvPr id="8" name="TextBox 7">
            <a:extLst>
              <a:ext uri="{FF2B5EF4-FFF2-40B4-BE49-F238E27FC236}">
                <a16:creationId xmlns:a16="http://schemas.microsoft.com/office/drawing/2014/main" id="{F568F6D7-C31A-D0A7-D33B-14AEE36948E2}"/>
              </a:ext>
            </a:extLst>
          </p:cNvPr>
          <p:cNvSpPr txBox="1"/>
          <p:nvPr/>
        </p:nvSpPr>
        <p:spPr>
          <a:xfrm>
            <a:off x="156446" y="1124744"/>
            <a:ext cx="9662852" cy="707886"/>
          </a:xfrm>
          <a:prstGeom prst="rect">
            <a:avLst/>
          </a:prstGeom>
          <a:noFill/>
        </p:spPr>
        <p:txBody>
          <a:bodyPr wrap="square">
            <a:spAutoFit/>
          </a:bodyPr>
          <a:lstStyle/>
          <a:p>
            <a:pPr marL="285750" indent="-28575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Enable Authentication: </a:t>
            </a:r>
            <a:r>
              <a:rPr lang="en-GB" sz="2000" dirty="0">
                <a:latin typeface="Helvetica" panose="020B0604020202020204" pitchFamily="34" charset="0"/>
                <a:cs typeface="Helvetica" panose="020B0604020202020204" pitchFamily="34" charset="0"/>
              </a:rPr>
              <a:t>Add the </a:t>
            </a:r>
            <a:r>
              <a:rPr lang="en-GB" sz="2000" b="1" dirty="0">
                <a:latin typeface="Trebuchet MS" panose="020B0603020202020204" pitchFamily="34" charset="0"/>
                <a:cs typeface="Helvetica" panose="020B0604020202020204" pitchFamily="34" charset="0"/>
              </a:rPr>
              <a:t>--auth </a:t>
            </a:r>
            <a:r>
              <a:rPr lang="en-GB" sz="2000" dirty="0">
                <a:latin typeface="Helvetica" panose="020B0604020202020204" pitchFamily="34" charset="0"/>
                <a:cs typeface="Helvetica" panose="020B0604020202020204" pitchFamily="34" charset="0"/>
              </a:rPr>
              <a:t>flag when starting the MongoDB server.</a:t>
            </a:r>
          </a:p>
          <a:p>
            <a:endParaRPr lang="en-GB" sz="2000" dirty="0">
              <a:latin typeface="Helvetica" panose="020B060402020202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35AC9863-7C7F-131A-564D-38289E92666F}"/>
              </a:ext>
            </a:extLst>
          </p:cNvPr>
          <p:cNvSpPr txBox="1"/>
          <p:nvPr/>
        </p:nvSpPr>
        <p:spPr>
          <a:xfrm>
            <a:off x="2477311" y="1647964"/>
            <a:ext cx="4951378" cy="369332"/>
          </a:xfrm>
          <a:prstGeom prst="rect">
            <a:avLst/>
          </a:prstGeom>
          <a:noFill/>
        </p:spPr>
        <p:txBody>
          <a:bodyPr wrap="square">
            <a:spAutoFit/>
          </a:bodyPr>
          <a:lstStyle/>
          <a:p>
            <a:r>
              <a:rPr lang="en-GB" b="1" dirty="0" err="1">
                <a:latin typeface="Trebuchet MS" panose="020B0603020202020204" pitchFamily="34" charset="0"/>
              </a:rPr>
              <a:t>mongod</a:t>
            </a:r>
            <a:r>
              <a:rPr lang="en-GB" b="1" dirty="0">
                <a:latin typeface="Trebuchet MS" panose="020B0603020202020204" pitchFamily="34" charset="0"/>
              </a:rPr>
              <a:t> --auth --</a:t>
            </a:r>
            <a:r>
              <a:rPr lang="en-GB" b="1" dirty="0" err="1">
                <a:latin typeface="Trebuchet MS" panose="020B0603020202020204" pitchFamily="34" charset="0"/>
              </a:rPr>
              <a:t>dbpath</a:t>
            </a:r>
            <a:r>
              <a:rPr lang="en-GB" b="1" dirty="0">
                <a:latin typeface="Trebuchet MS" panose="020B0603020202020204" pitchFamily="34" charset="0"/>
              </a:rPr>
              <a:t> /data/</a:t>
            </a:r>
            <a:r>
              <a:rPr lang="en-GB" b="1" dirty="0" err="1">
                <a:latin typeface="Trebuchet MS" panose="020B0603020202020204" pitchFamily="34" charset="0"/>
              </a:rPr>
              <a:t>db</a:t>
            </a:r>
            <a:endParaRPr lang="en-GB" b="1" dirty="0">
              <a:latin typeface="Trebuchet MS" panose="020B0603020202020204" pitchFamily="34" charset="0"/>
            </a:endParaRPr>
          </a:p>
        </p:txBody>
      </p:sp>
      <p:sp>
        <p:nvSpPr>
          <p:cNvPr id="10" name="TextBox 9">
            <a:extLst>
              <a:ext uri="{FF2B5EF4-FFF2-40B4-BE49-F238E27FC236}">
                <a16:creationId xmlns:a16="http://schemas.microsoft.com/office/drawing/2014/main" id="{8171D8D0-04EE-EEA0-7490-783CED211FC4}"/>
              </a:ext>
            </a:extLst>
          </p:cNvPr>
          <p:cNvSpPr txBox="1"/>
          <p:nvPr/>
        </p:nvSpPr>
        <p:spPr>
          <a:xfrm>
            <a:off x="377825" y="2173447"/>
            <a:ext cx="8640960" cy="1200329"/>
          </a:xfrm>
          <a:prstGeom prst="rect">
            <a:avLst/>
          </a:prstGeom>
          <a:noFill/>
        </p:spPr>
        <p:txBody>
          <a:bodyPr wrap="square">
            <a:spAutoFit/>
          </a:bodyPr>
          <a:lstStyle/>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The </a:t>
            </a:r>
            <a:r>
              <a:rPr lang="en-GB" b="1" dirty="0" err="1">
                <a:latin typeface="Trebuchet MS" panose="020B0603020202020204" pitchFamily="34" charset="0"/>
                <a:cs typeface="Helvetica" panose="020B0604020202020204" pitchFamily="34" charset="0"/>
              </a:rPr>
              <a:t>db.auth</a:t>
            </a:r>
            <a:r>
              <a:rPr lang="en-GB" b="1" dirty="0">
                <a:latin typeface="Trebuchet MS" panose="020B0603020202020204" pitchFamily="34" charset="0"/>
                <a:cs typeface="Helvetica" panose="020B0604020202020204" pitchFamily="34" charset="0"/>
              </a:rPr>
              <a:t>() </a:t>
            </a:r>
            <a:r>
              <a:rPr lang="en-GB" dirty="0">
                <a:latin typeface="Helvetica" panose="020B0604020202020204" pitchFamily="34" charset="0"/>
                <a:cs typeface="Helvetica" panose="020B0604020202020204" pitchFamily="34" charset="0"/>
              </a:rPr>
              <a:t>method in MongoDB is used to authenticate a user against the database.</a:t>
            </a: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It ensures that only authorized users can access or perform operations on the database.</a:t>
            </a:r>
          </a:p>
        </p:txBody>
      </p:sp>
      <p:sp>
        <p:nvSpPr>
          <p:cNvPr id="12" name="TextBox 11">
            <a:extLst>
              <a:ext uri="{FF2B5EF4-FFF2-40B4-BE49-F238E27FC236}">
                <a16:creationId xmlns:a16="http://schemas.microsoft.com/office/drawing/2014/main" id="{C623BAB2-1D29-8679-8E17-55AA579D8B9D}"/>
              </a:ext>
            </a:extLst>
          </p:cNvPr>
          <p:cNvSpPr txBox="1"/>
          <p:nvPr/>
        </p:nvSpPr>
        <p:spPr>
          <a:xfrm>
            <a:off x="525060" y="3548043"/>
            <a:ext cx="9099026" cy="1661993"/>
          </a:xfrm>
          <a:prstGeom prst="rect">
            <a:avLst/>
          </a:prstGeom>
          <a:noFill/>
          <a:ln>
            <a:solidFill>
              <a:schemeClr val="accent2"/>
            </a:solidFill>
          </a:ln>
        </p:spPr>
        <p:txBody>
          <a:bodyPr wrap="square">
            <a:spAutoFit/>
          </a:bodyPr>
          <a:lstStyle/>
          <a:p>
            <a:r>
              <a:rPr lang="en-GB" sz="1700" dirty="0" err="1">
                <a:latin typeface="Trebuchet MS" panose="020B0603020202020204" pitchFamily="34" charset="0"/>
              </a:rPr>
              <a:t>db.auth</a:t>
            </a:r>
            <a:r>
              <a:rPr lang="en-GB" sz="1700" dirty="0">
                <a:latin typeface="Trebuchet MS" panose="020B0603020202020204" pitchFamily="34" charset="0"/>
              </a:rPr>
              <a:t>({</a:t>
            </a:r>
          </a:p>
          <a:p>
            <a:r>
              <a:rPr lang="en-GB" sz="1700" dirty="0">
                <a:latin typeface="Trebuchet MS" panose="020B0603020202020204" pitchFamily="34" charset="0"/>
              </a:rPr>
              <a:t>   user: &lt;name&gt;,                     // Required: The username to authenticate.</a:t>
            </a:r>
          </a:p>
          <a:p>
            <a:r>
              <a:rPr lang="en-GB" sz="1700" dirty="0">
                <a:latin typeface="Trebuchet MS" panose="020B0603020202020204" pitchFamily="34" charset="0"/>
              </a:rPr>
              <a:t>   </a:t>
            </a:r>
            <a:r>
              <a:rPr lang="en-GB" sz="1700" dirty="0" err="1">
                <a:latin typeface="Trebuchet MS" panose="020B0603020202020204" pitchFamily="34" charset="0"/>
              </a:rPr>
              <a:t>pwd</a:t>
            </a:r>
            <a:r>
              <a:rPr lang="en-GB" sz="1700" dirty="0">
                <a:latin typeface="Trebuchet MS" panose="020B0603020202020204" pitchFamily="34" charset="0"/>
              </a:rPr>
              <a:t>: "&lt;cleartext password&gt;",      // Required: The user's password in plaintext.</a:t>
            </a:r>
          </a:p>
          <a:p>
            <a:r>
              <a:rPr lang="en-GB" sz="1700" dirty="0">
                <a:latin typeface="Trebuchet MS" panose="020B0603020202020204" pitchFamily="34" charset="0"/>
              </a:rPr>
              <a:t>   mechanism: &lt;auth. mechanism&gt;,     // Optional: The authentication mechanism to use.</a:t>
            </a:r>
          </a:p>
          <a:p>
            <a:r>
              <a:rPr lang="en-GB" sz="1700" dirty="0">
                <a:latin typeface="Trebuchet MS" panose="020B0603020202020204" pitchFamily="34" charset="0"/>
              </a:rPr>
              <a:t>   </a:t>
            </a:r>
            <a:r>
              <a:rPr lang="en-GB" sz="1700" dirty="0" err="1">
                <a:latin typeface="Trebuchet MS" panose="020B0603020202020204" pitchFamily="34" charset="0"/>
              </a:rPr>
              <a:t>digestPassword</a:t>
            </a:r>
            <a:r>
              <a:rPr lang="en-GB" sz="1700" dirty="0">
                <a:latin typeface="Trebuchet MS" panose="020B0603020202020204" pitchFamily="34" charset="0"/>
              </a:rPr>
              <a:t>: &lt;</a:t>
            </a:r>
            <a:r>
              <a:rPr lang="en-GB" sz="1700" dirty="0" err="1">
                <a:latin typeface="Trebuchet MS" panose="020B0603020202020204" pitchFamily="34" charset="0"/>
              </a:rPr>
              <a:t>boolean</a:t>
            </a:r>
            <a:r>
              <a:rPr lang="en-GB" sz="1700" dirty="0">
                <a:latin typeface="Trebuchet MS" panose="020B0603020202020204" pitchFamily="34" charset="0"/>
              </a:rPr>
              <a:t>&gt;         // Optional: Indicates whether the password is hashed.</a:t>
            </a:r>
          </a:p>
          <a:p>
            <a:r>
              <a:rPr lang="en-GB" sz="1700" dirty="0">
                <a:latin typeface="Trebuchet MS" panose="020B0603020202020204" pitchFamily="34" charset="0"/>
              </a:rPr>
              <a:t>});</a:t>
            </a:r>
          </a:p>
        </p:txBody>
      </p:sp>
      <p:sp>
        <p:nvSpPr>
          <p:cNvPr id="13" name="TextBox 12">
            <a:extLst>
              <a:ext uri="{FF2B5EF4-FFF2-40B4-BE49-F238E27FC236}">
                <a16:creationId xmlns:a16="http://schemas.microsoft.com/office/drawing/2014/main" id="{2112F7F0-96DD-781C-61B6-5B937C85290E}"/>
              </a:ext>
            </a:extLst>
          </p:cNvPr>
          <p:cNvSpPr txBox="1"/>
          <p:nvPr/>
        </p:nvSpPr>
        <p:spPr>
          <a:xfrm>
            <a:off x="722240" y="5573613"/>
            <a:ext cx="8704666" cy="400110"/>
          </a:xfrm>
          <a:prstGeom prst="rect">
            <a:avLst/>
          </a:prstGeom>
          <a:noFill/>
        </p:spPr>
        <p:txBody>
          <a:bodyPr wrap="square" rtlCol="0">
            <a:spAutoFit/>
          </a:bodyPr>
          <a:lstStyle/>
          <a:p>
            <a:r>
              <a:rPr lang="en-GB" sz="2000" dirty="0">
                <a:hlinkClick r:id="rId2"/>
              </a:rPr>
              <a:t>https://docs.mongodb.com/manual/reference/method/js-user-management/</a:t>
            </a:r>
            <a:endParaRPr lang="en-GB" sz="2000" dirty="0"/>
          </a:p>
        </p:txBody>
      </p:sp>
    </p:spTree>
    <p:extLst>
      <p:ext uri="{BB962C8B-B14F-4D97-AF65-F5344CB8AC3E}">
        <p14:creationId xmlns:p14="http://schemas.microsoft.com/office/powerpoint/2010/main" val="139225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43147" y="0"/>
            <a:ext cx="9662853" cy="780762"/>
          </a:xfrm>
        </p:spPr>
        <p:txBody>
          <a:bodyPr/>
          <a:lstStyle/>
          <a:p>
            <a:r>
              <a:rPr lang="en-GB" sz="3200" dirty="0"/>
              <a:t>MongoDB authentication best practices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13</a:t>
            </a:fld>
            <a:endParaRPr lang="en-GB" dirty="0"/>
          </a:p>
        </p:txBody>
      </p:sp>
      <p:sp>
        <p:nvSpPr>
          <p:cNvPr id="8" name="TextBox 7">
            <a:extLst>
              <a:ext uri="{FF2B5EF4-FFF2-40B4-BE49-F238E27FC236}">
                <a16:creationId xmlns:a16="http://schemas.microsoft.com/office/drawing/2014/main" id="{F568F6D7-C31A-D0A7-D33B-14AEE36948E2}"/>
              </a:ext>
            </a:extLst>
          </p:cNvPr>
          <p:cNvSpPr txBox="1"/>
          <p:nvPr/>
        </p:nvSpPr>
        <p:spPr>
          <a:xfrm>
            <a:off x="402583" y="980728"/>
            <a:ext cx="8756994" cy="4093428"/>
          </a:xfrm>
          <a:prstGeom prst="rect">
            <a:avLst/>
          </a:prstGeom>
          <a:noFill/>
        </p:spPr>
        <p:txBody>
          <a:bodyPr wrap="square">
            <a:spAutoFit/>
          </a:bodyPr>
          <a:lstStyle/>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Enable access control and use one of MongoDB's authentication methods </a:t>
            </a:r>
            <a:r>
              <a:rPr lang="en-GB" sz="2000">
                <a:latin typeface="Helvetica" panose="020B0604020202020204" pitchFamily="34" charset="0"/>
                <a:cs typeface="Helvetica" panose="020B0604020202020204" pitchFamily="34" charset="0"/>
              </a:rPr>
              <a:t>mentioned before. </a:t>
            </a:r>
            <a:endParaRPr lang="en-GB" sz="2000" dirty="0">
              <a:latin typeface="Helvetica" panose="020B0604020202020204" pitchFamily="34" charset="0"/>
              <a:cs typeface="Helvetica" panose="020B0604020202020204" pitchFamily="34" charset="0"/>
            </a:endParaRPr>
          </a:p>
          <a:p>
            <a:pPr marL="800100" lvl="1" indent="-342900">
              <a:buFont typeface="Helvetica" panose="020B0604020202020204" pitchFamily="34" charset="0"/>
              <a:buChar char="‒"/>
            </a:pPr>
            <a:r>
              <a:rPr lang="en-GB" dirty="0">
                <a:latin typeface="Helvetica" panose="020B0604020202020204" pitchFamily="34" charset="0"/>
                <a:cs typeface="Helvetica" panose="020B0604020202020204" pitchFamily="34" charset="0"/>
              </a:rPr>
              <a:t>Always use SCRAM-SHA-256 for stronger password protection.</a:t>
            </a: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Start by creating an administrator user. Then add additional users as needed.</a:t>
            </a: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Encrypt all communications between </a:t>
            </a:r>
            <a:r>
              <a:rPr lang="en-GB" sz="2000" dirty="0" err="1">
                <a:latin typeface="Helvetica" panose="020B0604020202020204" pitchFamily="34" charset="0"/>
                <a:cs typeface="Helvetica" panose="020B0604020202020204" pitchFamily="34" charset="0"/>
              </a:rPr>
              <a:t>mongod</a:t>
            </a:r>
            <a:r>
              <a:rPr lang="en-GB" sz="2000" dirty="0">
                <a:latin typeface="Helvetica" panose="020B0604020202020204" pitchFamily="34" charset="0"/>
                <a:cs typeface="Helvetica" panose="020B0604020202020204" pitchFamily="34" charset="0"/>
              </a:rPr>
              <a:t> and mongos instances as well as internal and external communications using TLS/SSL.</a:t>
            </a: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Encrypt data on each MongoDB host using filesystem, device, or physical encryption.</a:t>
            </a: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Run MongoDB on a trusted network only. Do not allow your database to be run to the public internet. </a:t>
            </a: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Regularly audit user accounts and update passwords.</a:t>
            </a:r>
          </a:p>
          <a:p>
            <a:pPr marL="285750" indent="-2857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495980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43147" y="0"/>
            <a:ext cx="9662853" cy="780762"/>
          </a:xfrm>
        </p:spPr>
        <p:txBody>
          <a:bodyPr/>
          <a:lstStyle/>
          <a:p>
            <a:r>
              <a:rPr lang="en-GB" sz="2600" dirty="0"/>
              <a:t>MongoDB: Authorisation(Role-Based Access Control) </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14</a:t>
            </a:fld>
            <a:endParaRPr lang="en-GB" dirty="0"/>
          </a:p>
        </p:txBody>
      </p:sp>
      <p:pic>
        <p:nvPicPr>
          <p:cNvPr id="3" name="Picture 2">
            <a:extLst>
              <a:ext uri="{FF2B5EF4-FFF2-40B4-BE49-F238E27FC236}">
                <a16:creationId xmlns:a16="http://schemas.microsoft.com/office/drawing/2014/main" id="{D3F73312-1F19-BA8F-2211-CD8CBFB2E6E9}"/>
              </a:ext>
            </a:extLst>
          </p:cNvPr>
          <p:cNvPicPr>
            <a:picLocks noChangeAspect="1"/>
          </p:cNvPicPr>
          <p:nvPr/>
        </p:nvPicPr>
        <p:blipFill>
          <a:blip r:embed="rId2"/>
          <a:stretch>
            <a:fillRect/>
          </a:stretch>
        </p:blipFill>
        <p:spPr>
          <a:xfrm>
            <a:off x="1280592" y="2232834"/>
            <a:ext cx="7126842" cy="3712786"/>
          </a:xfrm>
          <a:prstGeom prst="rect">
            <a:avLst/>
          </a:prstGeom>
        </p:spPr>
      </p:pic>
      <p:sp>
        <p:nvSpPr>
          <p:cNvPr id="12" name="TextBox 11">
            <a:extLst>
              <a:ext uri="{FF2B5EF4-FFF2-40B4-BE49-F238E27FC236}">
                <a16:creationId xmlns:a16="http://schemas.microsoft.com/office/drawing/2014/main" id="{1A90CAC8-2C13-1E0A-1756-4F8B783B3BDF}"/>
              </a:ext>
            </a:extLst>
          </p:cNvPr>
          <p:cNvSpPr txBox="1"/>
          <p:nvPr/>
        </p:nvSpPr>
        <p:spPr>
          <a:xfrm>
            <a:off x="408746" y="912380"/>
            <a:ext cx="9008750" cy="923330"/>
          </a:xfrm>
          <a:prstGeom prst="rect">
            <a:avLst/>
          </a:prstGeom>
          <a:noFill/>
        </p:spPr>
        <p:txBody>
          <a:bodyPr wrap="square">
            <a:spAutoFit/>
          </a:bodyPr>
          <a:lstStyle/>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Once MongoDB has established “who” you are, authorisation is about determining “what” you are allowed to do.</a:t>
            </a: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The purpose is to limit what authenticated users can do within the database.</a:t>
            </a:r>
          </a:p>
        </p:txBody>
      </p:sp>
    </p:spTree>
    <p:extLst>
      <p:ext uri="{BB962C8B-B14F-4D97-AF65-F5344CB8AC3E}">
        <p14:creationId xmlns:p14="http://schemas.microsoft.com/office/powerpoint/2010/main" val="3688252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43147" y="0"/>
            <a:ext cx="9662853" cy="780762"/>
          </a:xfrm>
        </p:spPr>
        <p:txBody>
          <a:bodyPr/>
          <a:lstStyle/>
          <a:p>
            <a:r>
              <a:rPr lang="en-GB" sz="2600" dirty="0"/>
              <a:t>MongoDB: Authorisation(Role-Based Access Control) </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15</a:t>
            </a:fld>
            <a:endParaRPr lang="en-GB" dirty="0"/>
          </a:p>
        </p:txBody>
      </p:sp>
      <p:sp>
        <p:nvSpPr>
          <p:cNvPr id="12" name="TextBox 11">
            <a:extLst>
              <a:ext uri="{FF2B5EF4-FFF2-40B4-BE49-F238E27FC236}">
                <a16:creationId xmlns:a16="http://schemas.microsoft.com/office/drawing/2014/main" id="{1A90CAC8-2C13-1E0A-1756-4F8B783B3BDF}"/>
              </a:ext>
            </a:extLst>
          </p:cNvPr>
          <p:cNvSpPr txBox="1"/>
          <p:nvPr/>
        </p:nvSpPr>
        <p:spPr>
          <a:xfrm>
            <a:off x="408746" y="912380"/>
            <a:ext cx="9008750" cy="369332"/>
          </a:xfrm>
          <a:prstGeom prst="rect">
            <a:avLst/>
          </a:prstGeom>
          <a:noFill/>
        </p:spPr>
        <p:txBody>
          <a:bodyPr wrap="square">
            <a:spAutoFit/>
          </a:bodyPr>
          <a:lstStyle/>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MongoDB uses RBAC to assign specific roles to users.</a:t>
            </a:r>
          </a:p>
        </p:txBody>
      </p:sp>
      <p:sp>
        <p:nvSpPr>
          <p:cNvPr id="5" name="TextBox 4">
            <a:extLst>
              <a:ext uri="{FF2B5EF4-FFF2-40B4-BE49-F238E27FC236}">
                <a16:creationId xmlns:a16="http://schemas.microsoft.com/office/drawing/2014/main" id="{8BE7F9D1-2321-ADC6-B0A8-1580B4FE32ED}"/>
              </a:ext>
            </a:extLst>
          </p:cNvPr>
          <p:cNvSpPr txBox="1"/>
          <p:nvPr/>
        </p:nvSpPr>
        <p:spPr>
          <a:xfrm>
            <a:off x="408746" y="1490007"/>
            <a:ext cx="8388424" cy="3877985"/>
          </a:xfrm>
          <a:prstGeom prst="rect">
            <a:avLst/>
          </a:prstGeom>
          <a:noFill/>
        </p:spPr>
        <p:txBody>
          <a:bodyPr wrap="square" rtlCol="0">
            <a:spAutoFit/>
          </a:bodyPr>
          <a:lstStyle/>
          <a:p>
            <a:r>
              <a:rPr lang="en-US" sz="2400" b="1" dirty="0">
                <a:latin typeface="Helvetica" panose="020B0604020202020204" pitchFamily="34" charset="0"/>
                <a:cs typeface="Helvetica" panose="020B0604020202020204" pitchFamily="34" charset="0"/>
              </a:rPr>
              <a:t>Database Level Access Control</a:t>
            </a:r>
          </a:p>
          <a:p>
            <a:pPr lvl="1"/>
            <a:r>
              <a:rPr lang="en-US" sz="2000" dirty="0">
                <a:latin typeface="Helvetica" panose="020B0604020202020204" pitchFamily="34" charset="0"/>
                <a:cs typeface="Helvetica" panose="020B0604020202020204" pitchFamily="34" charset="0"/>
              </a:rPr>
              <a:t>Admin roles – DB,  user,  cluster</a:t>
            </a:r>
          </a:p>
          <a:p>
            <a:pPr lvl="1"/>
            <a:r>
              <a:rPr lang="en-US" sz="2000" dirty="0">
                <a:latin typeface="Helvetica" panose="020B0604020202020204" pitchFamily="34" charset="0"/>
                <a:cs typeface="Helvetica" panose="020B0604020202020204" pitchFamily="34" charset="0"/>
              </a:rPr>
              <a:t>Application roles – reader,  reader/writer</a:t>
            </a:r>
          </a:p>
          <a:p>
            <a:endParaRPr lang="en-US" dirty="0">
              <a:latin typeface="Helvetica" panose="020B0604020202020204" pitchFamily="34" charset="0"/>
              <a:cs typeface="Helvetica" panose="020B0604020202020204" pitchFamily="34" charset="0"/>
            </a:endParaRPr>
          </a:p>
          <a:p>
            <a:r>
              <a:rPr lang="en-US" sz="2400" b="1" dirty="0">
                <a:latin typeface="Helvetica" panose="020B0604020202020204" pitchFamily="34" charset="0"/>
                <a:cs typeface="Helvetica" panose="020B0604020202020204" pitchFamily="34" charset="0"/>
              </a:rPr>
              <a:t>Collection Level Access Control</a:t>
            </a:r>
          </a:p>
          <a:p>
            <a:pPr lvl="1"/>
            <a:r>
              <a:rPr lang="en-US" sz="2000" dirty="0">
                <a:latin typeface="Helvetica" panose="020B0604020202020204" pitchFamily="34" charset="0"/>
                <a:cs typeface="Helvetica" panose="020B0604020202020204" pitchFamily="34" charset="0"/>
              </a:rPr>
              <a:t>User defined roles</a:t>
            </a:r>
          </a:p>
          <a:p>
            <a:pPr lvl="1"/>
            <a:r>
              <a:rPr lang="en-US" sz="2000" b="1" dirty="0">
                <a:latin typeface="Helvetica" panose="020B0604020202020204" pitchFamily="34" charset="0"/>
                <a:cs typeface="Helvetica" panose="020B0604020202020204" pitchFamily="34" charset="0"/>
              </a:rPr>
              <a:t>Privileges</a:t>
            </a:r>
            <a:r>
              <a:rPr lang="en-US" sz="2000" dirty="0">
                <a:latin typeface="Helvetica" panose="020B0604020202020204" pitchFamily="34" charset="0"/>
                <a:cs typeface="Helvetica" panose="020B0604020202020204" pitchFamily="34" charset="0"/>
              </a:rPr>
              <a:t> granted to roles for </a:t>
            </a:r>
            <a:r>
              <a:rPr lang="en-US" sz="2000" b="1" dirty="0">
                <a:latin typeface="Helvetica" panose="020B0604020202020204" pitchFamily="34" charset="0"/>
                <a:cs typeface="Helvetica" panose="020B0604020202020204" pitchFamily="34" charset="0"/>
              </a:rPr>
              <a:t>actions</a:t>
            </a:r>
            <a:r>
              <a:rPr lang="en-US" sz="2000" dirty="0">
                <a:latin typeface="Helvetica" panose="020B0604020202020204" pitchFamily="34" charset="0"/>
                <a:cs typeface="Helvetica" panose="020B0604020202020204" pitchFamily="34" charset="0"/>
              </a:rPr>
              <a:t> on </a:t>
            </a:r>
            <a:r>
              <a:rPr lang="en-US" sz="2000" b="1" dirty="0">
                <a:latin typeface="Helvetica" panose="020B0604020202020204" pitchFamily="34" charset="0"/>
                <a:cs typeface="Helvetica" panose="020B0604020202020204" pitchFamily="34" charset="0"/>
              </a:rPr>
              <a:t>resources</a:t>
            </a:r>
          </a:p>
          <a:p>
            <a:pPr lvl="1"/>
            <a:r>
              <a:rPr lang="en-US" sz="2000" dirty="0">
                <a:latin typeface="Helvetica" panose="020B0604020202020204" pitchFamily="34" charset="0"/>
                <a:cs typeface="Helvetica" panose="020B0604020202020204" pitchFamily="34" charset="0"/>
              </a:rPr>
              <a:t>Database, collection and system resource types</a:t>
            </a:r>
          </a:p>
          <a:p>
            <a:endParaRPr lang="en-US" dirty="0">
              <a:latin typeface="Helvetica" panose="020B0604020202020204" pitchFamily="34" charset="0"/>
              <a:cs typeface="Helvetica" panose="020B0604020202020204" pitchFamily="34" charset="0"/>
            </a:endParaRPr>
          </a:p>
          <a:p>
            <a:r>
              <a:rPr lang="en-US" sz="2400" b="1" dirty="0">
                <a:latin typeface="Helvetica" panose="020B0604020202020204" pitchFamily="34" charset="0"/>
                <a:cs typeface="Helvetica" panose="020B0604020202020204" pitchFamily="34" charset="0"/>
              </a:rPr>
              <a:t>Field Level Access Control</a:t>
            </a:r>
          </a:p>
          <a:p>
            <a:pPr lvl="1"/>
            <a:r>
              <a:rPr lang="en-US" sz="2000" dirty="0">
                <a:latin typeface="Helvetica" panose="020B0604020202020204" pitchFamily="34" charset="0"/>
                <a:cs typeface="Helvetica" panose="020B0604020202020204" pitchFamily="34" charset="0"/>
              </a:rPr>
              <a:t>Redact documents and/or fields based on security labels</a:t>
            </a:r>
          </a:p>
          <a:p>
            <a:endParaRPr lang="en-GB" dirty="0"/>
          </a:p>
        </p:txBody>
      </p:sp>
    </p:spTree>
    <p:extLst>
      <p:ext uri="{BB962C8B-B14F-4D97-AF65-F5344CB8AC3E}">
        <p14:creationId xmlns:p14="http://schemas.microsoft.com/office/powerpoint/2010/main" val="3387509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43147" y="0"/>
            <a:ext cx="9662853" cy="780762"/>
          </a:xfrm>
        </p:spPr>
        <p:txBody>
          <a:bodyPr/>
          <a:lstStyle/>
          <a:p>
            <a:r>
              <a:rPr lang="en-GB" sz="2600" dirty="0"/>
              <a:t>MongoDB: Authorisation(Role-Based Access Control) </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16</a:t>
            </a:fld>
            <a:endParaRPr lang="en-GB" dirty="0"/>
          </a:p>
        </p:txBody>
      </p:sp>
      <p:sp>
        <p:nvSpPr>
          <p:cNvPr id="12" name="TextBox 11">
            <a:extLst>
              <a:ext uri="{FF2B5EF4-FFF2-40B4-BE49-F238E27FC236}">
                <a16:creationId xmlns:a16="http://schemas.microsoft.com/office/drawing/2014/main" id="{1A90CAC8-2C13-1E0A-1756-4F8B783B3BDF}"/>
              </a:ext>
            </a:extLst>
          </p:cNvPr>
          <p:cNvSpPr txBox="1"/>
          <p:nvPr/>
        </p:nvSpPr>
        <p:spPr>
          <a:xfrm>
            <a:off x="408746" y="912380"/>
            <a:ext cx="9008750" cy="369332"/>
          </a:xfrm>
          <a:prstGeom prst="rect">
            <a:avLst/>
          </a:prstGeom>
          <a:noFill/>
        </p:spPr>
        <p:txBody>
          <a:bodyPr wrap="square">
            <a:spAutoFit/>
          </a:bodyPr>
          <a:lstStyle/>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MongoDB uses </a:t>
            </a:r>
            <a:r>
              <a:rPr lang="en-GB" b="1" dirty="0">
                <a:latin typeface="Helvetica" panose="020B0604020202020204" pitchFamily="34" charset="0"/>
                <a:cs typeface="Helvetica" panose="020B0604020202020204" pitchFamily="34" charset="0"/>
              </a:rPr>
              <a:t>RBAC</a:t>
            </a:r>
            <a:r>
              <a:rPr lang="en-GB" dirty="0">
                <a:latin typeface="Helvetica" panose="020B0604020202020204" pitchFamily="34" charset="0"/>
                <a:cs typeface="Helvetica" panose="020B0604020202020204" pitchFamily="34" charset="0"/>
              </a:rPr>
              <a:t> to assign specific roles to users.</a:t>
            </a:r>
          </a:p>
        </p:txBody>
      </p:sp>
      <p:sp>
        <p:nvSpPr>
          <p:cNvPr id="5" name="TextBox 4">
            <a:extLst>
              <a:ext uri="{FF2B5EF4-FFF2-40B4-BE49-F238E27FC236}">
                <a16:creationId xmlns:a16="http://schemas.microsoft.com/office/drawing/2014/main" id="{8BE7F9D1-2321-ADC6-B0A8-1580B4FE32ED}"/>
              </a:ext>
            </a:extLst>
          </p:cNvPr>
          <p:cNvSpPr txBox="1"/>
          <p:nvPr/>
        </p:nvSpPr>
        <p:spPr>
          <a:xfrm>
            <a:off x="269187" y="1499909"/>
            <a:ext cx="8388424" cy="3231654"/>
          </a:xfrm>
          <a:prstGeom prst="rect">
            <a:avLst/>
          </a:prstGeom>
          <a:noFill/>
        </p:spPr>
        <p:txBody>
          <a:bodyPr wrap="square" rtlCol="0">
            <a:spAutoFit/>
          </a:bodyPr>
          <a:lstStyle/>
          <a:p>
            <a:r>
              <a:rPr lang="en-US" sz="2400" b="1" dirty="0">
                <a:latin typeface="Helvetica" panose="020B0604020202020204" pitchFamily="34" charset="0"/>
                <a:cs typeface="Helvetica" panose="020B0604020202020204" pitchFamily="34" charset="0"/>
              </a:rPr>
              <a:t>Common Predefined Roles</a:t>
            </a:r>
          </a:p>
          <a:p>
            <a:pPr lvl="1"/>
            <a:r>
              <a:rPr lang="en-US" sz="2000" dirty="0">
                <a:latin typeface="Helvetica" panose="020B0604020202020204" pitchFamily="34" charset="0"/>
                <a:cs typeface="Helvetica" panose="020B0604020202020204" pitchFamily="34" charset="0"/>
              </a:rPr>
              <a:t>read</a:t>
            </a:r>
          </a:p>
          <a:p>
            <a:pPr lvl="1"/>
            <a:r>
              <a:rPr lang="en-US" sz="2000" dirty="0" err="1">
                <a:latin typeface="Helvetica" panose="020B0604020202020204" pitchFamily="34" charset="0"/>
                <a:cs typeface="Helvetica" panose="020B0604020202020204" pitchFamily="34" charset="0"/>
              </a:rPr>
              <a:t>readWrite</a:t>
            </a:r>
            <a:endParaRPr lang="en-US" sz="2000" dirty="0">
              <a:latin typeface="Helvetica" panose="020B0604020202020204" pitchFamily="34" charset="0"/>
              <a:cs typeface="Helvetica" panose="020B0604020202020204" pitchFamily="34" charset="0"/>
            </a:endParaRPr>
          </a:p>
          <a:p>
            <a:pPr lvl="1"/>
            <a:r>
              <a:rPr lang="en-US" sz="2000" dirty="0" err="1">
                <a:latin typeface="Helvetica" panose="020B0604020202020204" pitchFamily="34" charset="0"/>
                <a:cs typeface="Helvetica" panose="020B0604020202020204" pitchFamily="34" charset="0"/>
              </a:rPr>
              <a:t>dbAdmin</a:t>
            </a:r>
            <a:endParaRPr lang="en-US" sz="2000" dirty="0">
              <a:latin typeface="Helvetica" panose="020B0604020202020204" pitchFamily="34" charset="0"/>
              <a:cs typeface="Helvetica" panose="020B0604020202020204" pitchFamily="34" charset="0"/>
            </a:endParaRPr>
          </a:p>
          <a:p>
            <a:pPr lvl="1"/>
            <a:r>
              <a:rPr lang="en-US" sz="2000" dirty="0" err="1">
                <a:latin typeface="Helvetica" panose="020B0604020202020204" pitchFamily="34" charset="0"/>
                <a:cs typeface="Helvetica" panose="020B0604020202020204" pitchFamily="34" charset="0"/>
              </a:rPr>
              <a:t>userAdmin</a:t>
            </a:r>
            <a:endParaRPr lang="en-US" sz="2000" dirty="0">
              <a:latin typeface="Helvetica" panose="020B0604020202020204" pitchFamily="34" charset="0"/>
              <a:cs typeface="Helvetica" panose="020B0604020202020204" pitchFamily="34" charset="0"/>
            </a:endParaRPr>
          </a:p>
          <a:p>
            <a:pPr lvl="1"/>
            <a:r>
              <a:rPr lang="en-US" sz="2000" b="1" dirty="0" err="1">
                <a:latin typeface="Helvetica" panose="020B0604020202020204" pitchFamily="34" charset="0"/>
                <a:cs typeface="Helvetica" panose="020B0604020202020204" pitchFamily="34" charset="0"/>
              </a:rPr>
              <a:t>readAnyDatabase</a:t>
            </a:r>
            <a:endParaRPr lang="en-US" sz="2000" b="1" dirty="0">
              <a:latin typeface="Helvetica" panose="020B0604020202020204" pitchFamily="34" charset="0"/>
              <a:cs typeface="Helvetica" panose="020B0604020202020204" pitchFamily="34" charset="0"/>
            </a:endParaRPr>
          </a:p>
          <a:p>
            <a:pPr lvl="1"/>
            <a:r>
              <a:rPr lang="en-US" sz="2000" b="1" dirty="0" err="1">
                <a:latin typeface="Helvetica" panose="020B0604020202020204" pitchFamily="34" charset="0"/>
                <a:cs typeface="Helvetica" panose="020B0604020202020204" pitchFamily="34" charset="0"/>
              </a:rPr>
              <a:t>readWriteAnyDatabase</a:t>
            </a:r>
            <a:endParaRPr lang="en-US" sz="2000" b="1" dirty="0">
              <a:latin typeface="Helvetica" panose="020B0604020202020204" pitchFamily="34" charset="0"/>
              <a:cs typeface="Helvetica" panose="020B0604020202020204" pitchFamily="34" charset="0"/>
            </a:endParaRPr>
          </a:p>
          <a:p>
            <a:pPr lvl="1"/>
            <a:r>
              <a:rPr lang="en-US" sz="2000" b="1" dirty="0" err="1">
                <a:latin typeface="Helvetica" panose="020B0604020202020204" pitchFamily="34" charset="0"/>
                <a:cs typeface="Helvetica" panose="020B0604020202020204" pitchFamily="34" charset="0"/>
              </a:rPr>
              <a:t>dbAdminAnyDatabase</a:t>
            </a:r>
            <a:endParaRPr lang="en-US" sz="2000" b="1" dirty="0">
              <a:latin typeface="Helvetica" panose="020B0604020202020204" pitchFamily="34" charset="0"/>
              <a:cs typeface="Helvetica" panose="020B0604020202020204" pitchFamily="34" charset="0"/>
            </a:endParaRPr>
          </a:p>
          <a:p>
            <a:pPr lvl="1"/>
            <a:r>
              <a:rPr lang="en-US" sz="2000" b="1" dirty="0" err="1">
                <a:latin typeface="Helvetica" panose="020B0604020202020204" pitchFamily="34" charset="0"/>
                <a:cs typeface="Helvetica" panose="020B0604020202020204" pitchFamily="34" charset="0"/>
              </a:rPr>
              <a:t>userAdminAnyDatabase</a:t>
            </a:r>
            <a:endParaRPr lang="en-US" sz="2000" b="1" dirty="0">
              <a:latin typeface="Helvetica" panose="020B0604020202020204" pitchFamily="34" charset="0"/>
              <a:cs typeface="Helvetica" panose="020B0604020202020204" pitchFamily="34" charset="0"/>
            </a:endParaRPr>
          </a:p>
          <a:p>
            <a:pPr lvl="1"/>
            <a:r>
              <a:rPr lang="en-US" sz="2000" b="1" dirty="0" err="1">
                <a:latin typeface="Helvetica" panose="020B0604020202020204" pitchFamily="34" charset="0"/>
                <a:cs typeface="Helvetica" panose="020B0604020202020204" pitchFamily="34" charset="0"/>
              </a:rPr>
              <a:t>clusterAdmin</a:t>
            </a:r>
            <a:endParaRPr lang="en-US" sz="2000" b="1" dirty="0">
              <a:latin typeface="Helvetica" panose="020B060402020202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6F5BB3B3-8222-5970-54FF-3CA16BB03F19}"/>
              </a:ext>
            </a:extLst>
          </p:cNvPr>
          <p:cNvSpPr txBox="1"/>
          <p:nvPr/>
        </p:nvSpPr>
        <p:spPr>
          <a:xfrm>
            <a:off x="408746" y="5050050"/>
            <a:ext cx="7496582" cy="369332"/>
          </a:xfrm>
          <a:prstGeom prst="rect">
            <a:avLst/>
          </a:prstGeom>
          <a:noFill/>
        </p:spPr>
        <p:txBody>
          <a:bodyPr wrap="square">
            <a:spAutoFit/>
          </a:bodyPr>
          <a:lstStyle/>
          <a:p>
            <a:r>
              <a:rPr lang="en-GB" dirty="0">
                <a:latin typeface="Helvetica" panose="020B0604020202020204" pitchFamily="34" charset="0"/>
                <a:cs typeface="Helvetica" panose="020B0604020202020204" pitchFamily="34" charset="0"/>
              </a:rPr>
              <a:t>The roles that are </a:t>
            </a:r>
            <a:r>
              <a:rPr lang="en-GB" b="1" dirty="0">
                <a:latin typeface="Helvetica" panose="020B0604020202020204" pitchFamily="34" charset="0"/>
                <a:cs typeface="Helvetica" panose="020B0604020202020204" pitchFamily="34" charset="0"/>
              </a:rPr>
              <a:t>bold</a:t>
            </a:r>
            <a:r>
              <a:rPr lang="en-GB" dirty="0">
                <a:latin typeface="Helvetica" panose="020B0604020202020204" pitchFamily="34" charset="0"/>
                <a:cs typeface="Helvetica" panose="020B0604020202020204" pitchFamily="34" charset="0"/>
              </a:rPr>
              <a:t> can only be granted in the admin database.</a:t>
            </a:r>
          </a:p>
        </p:txBody>
      </p:sp>
      <p:sp>
        <p:nvSpPr>
          <p:cNvPr id="9" name="TextBox 8">
            <a:extLst>
              <a:ext uri="{FF2B5EF4-FFF2-40B4-BE49-F238E27FC236}">
                <a16:creationId xmlns:a16="http://schemas.microsoft.com/office/drawing/2014/main" id="{F14E8F21-9A57-BC5A-722B-CE3EC19794D8}"/>
              </a:ext>
            </a:extLst>
          </p:cNvPr>
          <p:cNvSpPr txBox="1"/>
          <p:nvPr/>
        </p:nvSpPr>
        <p:spPr>
          <a:xfrm>
            <a:off x="4715413" y="2654804"/>
            <a:ext cx="4914460" cy="1477328"/>
          </a:xfrm>
          <a:prstGeom prst="rect">
            <a:avLst/>
          </a:prstGeom>
          <a:solidFill>
            <a:schemeClr val="tx2">
              <a:lumMod val="75000"/>
              <a:lumOff val="25000"/>
            </a:schemeClr>
          </a:solidFill>
        </p:spPr>
        <p:txBody>
          <a:bodyPr wrap="square">
            <a:spAutoFit/>
          </a:bodyPr>
          <a:lstStyle/>
          <a:p>
            <a:r>
              <a:rPr lang="en-GB" dirty="0" err="1">
                <a:latin typeface="Trebuchet MS" panose="020B0603020202020204" pitchFamily="34" charset="0"/>
              </a:rPr>
              <a:t>db.createUser</a:t>
            </a:r>
            <a:r>
              <a:rPr lang="en-GB" dirty="0">
                <a:latin typeface="Trebuchet MS" panose="020B0603020202020204" pitchFamily="34" charset="0"/>
              </a:rPr>
              <a:t>({</a:t>
            </a:r>
          </a:p>
          <a:p>
            <a:r>
              <a:rPr lang="en-GB" dirty="0">
                <a:latin typeface="Trebuchet MS" panose="020B0603020202020204" pitchFamily="34" charset="0"/>
              </a:rPr>
              <a:t>  user: "developer",</a:t>
            </a:r>
          </a:p>
          <a:p>
            <a:r>
              <a:rPr lang="en-GB" dirty="0">
                <a:latin typeface="Trebuchet MS" panose="020B0603020202020204" pitchFamily="34" charset="0"/>
              </a:rPr>
              <a:t>  </a:t>
            </a:r>
            <a:r>
              <a:rPr lang="en-GB" dirty="0" err="1">
                <a:latin typeface="Trebuchet MS" panose="020B0603020202020204" pitchFamily="34" charset="0"/>
              </a:rPr>
              <a:t>pwd</a:t>
            </a:r>
            <a:r>
              <a:rPr lang="en-GB" dirty="0">
                <a:latin typeface="Trebuchet MS" panose="020B0603020202020204" pitchFamily="34" charset="0"/>
              </a:rPr>
              <a:t>: "</a:t>
            </a:r>
            <a:r>
              <a:rPr lang="en-GB" dirty="0" err="1">
                <a:latin typeface="Trebuchet MS" panose="020B0603020202020204" pitchFamily="34" charset="0"/>
              </a:rPr>
              <a:t>devpass</a:t>
            </a:r>
            <a:r>
              <a:rPr lang="en-GB" dirty="0">
                <a:latin typeface="Trebuchet MS" panose="020B0603020202020204" pitchFamily="34" charset="0"/>
              </a:rPr>
              <a:t>",</a:t>
            </a:r>
          </a:p>
          <a:p>
            <a:r>
              <a:rPr lang="en-GB" dirty="0">
                <a:latin typeface="Trebuchet MS" panose="020B0603020202020204" pitchFamily="34" charset="0"/>
              </a:rPr>
              <a:t>  roles: [{ role: "</a:t>
            </a:r>
            <a:r>
              <a:rPr lang="en-GB" dirty="0" err="1">
                <a:latin typeface="Trebuchet MS" panose="020B0603020202020204" pitchFamily="34" charset="0"/>
              </a:rPr>
              <a:t>readWrite</a:t>
            </a:r>
            <a:r>
              <a:rPr lang="en-GB" dirty="0">
                <a:latin typeface="Trebuchet MS" panose="020B0603020202020204" pitchFamily="34" charset="0"/>
              </a:rPr>
              <a:t>", </a:t>
            </a:r>
            <a:r>
              <a:rPr lang="en-GB" dirty="0" err="1">
                <a:latin typeface="Trebuchet MS" panose="020B0603020202020204" pitchFamily="34" charset="0"/>
              </a:rPr>
              <a:t>db</a:t>
            </a:r>
            <a:r>
              <a:rPr lang="en-GB" dirty="0">
                <a:latin typeface="Trebuchet MS" panose="020B0603020202020204" pitchFamily="34" charset="0"/>
              </a:rPr>
              <a:t>: "</a:t>
            </a:r>
            <a:r>
              <a:rPr lang="en-GB" dirty="0" err="1">
                <a:latin typeface="Trebuchet MS" panose="020B0603020202020204" pitchFamily="34" charset="0"/>
              </a:rPr>
              <a:t>projectDB</a:t>
            </a:r>
            <a:r>
              <a:rPr lang="en-GB" dirty="0">
                <a:latin typeface="Trebuchet MS" panose="020B0603020202020204" pitchFamily="34" charset="0"/>
              </a:rPr>
              <a:t>" }]</a:t>
            </a:r>
          </a:p>
          <a:p>
            <a:r>
              <a:rPr lang="en-GB" dirty="0">
                <a:latin typeface="Trebuchet MS" panose="020B0603020202020204" pitchFamily="34" charset="0"/>
              </a:rPr>
              <a:t>});</a:t>
            </a:r>
          </a:p>
        </p:txBody>
      </p:sp>
    </p:spTree>
    <p:extLst>
      <p:ext uri="{BB962C8B-B14F-4D97-AF65-F5344CB8AC3E}">
        <p14:creationId xmlns:p14="http://schemas.microsoft.com/office/powerpoint/2010/main" val="422630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43147" y="0"/>
            <a:ext cx="9662853" cy="780762"/>
          </a:xfrm>
        </p:spPr>
        <p:txBody>
          <a:bodyPr/>
          <a:lstStyle/>
          <a:p>
            <a:r>
              <a:rPr lang="en-GB" sz="3000" dirty="0"/>
              <a:t>Guideline for Authorisation/role-based security</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17</a:t>
            </a:fld>
            <a:endParaRPr lang="en-GB" dirty="0"/>
          </a:p>
        </p:txBody>
      </p:sp>
      <p:sp>
        <p:nvSpPr>
          <p:cNvPr id="3" name="TextBox 2">
            <a:extLst>
              <a:ext uri="{FF2B5EF4-FFF2-40B4-BE49-F238E27FC236}">
                <a16:creationId xmlns:a16="http://schemas.microsoft.com/office/drawing/2014/main" id="{C3DADCBE-C559-B40D-8243-707A6030A740}"/>
              </a:ext>
            </a:extLst>
          </p:cNvPr>
          <p:cNvSpPr txBox="1"/>
          <p:nvPr/>
        </p:nvSpPr>
        <p:spPr>
          <a:xfrm>
            <a:off x="251520" y="1052736"/>
            <a:ext cx="9309992" cy="1107996"/>
          </a:xfrm>
          <a:prstGeom prst="rect">
            <a:avLst/>
          </a:prstGeom>
          <a:noFill/>
        </p:spPr>
        <p:txBody>
          <a:bodyPr wrap="square" rtlCol="0">
            <a:spAutoFit/>
          </a:bodyPr>
          <a:lstStyle/>
          <a:p>
            <a:r>
              <a:rPr lang="en-GB" sz="2400" dirty="0">
                <a:latin typeface="Helvetica" panose="020B0604020202020204" pitchFamily="34" charset="0"/>
                <a:cs typeface="Helvetica" panose="020B0604020202020204" pitchFamily="34" charset="0"/>
              </a:rPr>
              <a:t>To ensure privileges are never misused, consider following these guidelines:</a:t>
            </a:r>
          </a:p>
          <a:p>
            <a:endParaRPr lang="en-GB" dirty="0"/>
          </a:p>
        </p:txBody>
      </p:sp>
      <p:sp>
        <p:nvSpPr>
          <p:cNvPr id="4" name="TextBox 3">
            <a:extLst>
              <a:ext uri="{FF2B5EF4-FFF2-40B4-BE49-F238E27FC236}">
                <a16:creationId xmlns:a16="http://schemas.microsoft.com/office/drawing/2014/main" id="{B0F97D0F-650D-12AF-321A-CC8FEF580DA2}"/>
              </a:ext>
            </a:extLst>
          </p:cNvPr>
          <p:cNvSpPr txBox="1"/>
          <p:nvPr/>
        </p:nvSpPr>
        <p:spPr>
          <a:xfrm>
            <a:off x="200472" y="1988840"/>
            <a:ext cx="9454008" cy="3939540"/>
          </a:xfrm>
          <a:prstGeom prst="rect">
            <a:avLst/>
          </a:prstGeom>
          <a:noFill/>
        </p:spPr>
        <p:txBody>
          <a:bodyPr wrap="square" rtlCol="0">
            <a:spAutoFit/>
          </a:bodyPr>
          <a:lstStyle/>
          <a:p>
            <a:endParaRPr lang="en-GB" sz="1000" dirty="0"/>
          </a:p>
          <a:p>
            <a:pPr marL="342900" indent="-342900">
              <a:buFont typeface="Arial" panose="020B0604020202020204" pitchFamily="34" charset="0"/>
              <a:buChar char="•"/>
            </a:pPr>
            <a:r>
              <a:rPr lang="en-GB" sz="2000" dirty="0">
                <a:latin typeface="Helvetica" panose="020B0604020202020204" pitchFamily="34" charset="0"/>
                <a:cs typeface="Helvetica" panose="020B0604020202020204" pitchFamily="34" charset="0"/>
              </a:rPr>
              <a:t>Understand each role right down to its most minute detail. The better roles are understood, the more accurately privileges can be assigned to them.</a:t>
            </a:r>
          </a:p>
          <a:p>
            <a:pPr marL="171450" indent="-1714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000" dirty="0">
                <a:latin typeface="Helvetica" panose="020B0604020202020204" pitchFamily="34" charset="0"/>
                <a:cs typeface="Helvetica" panose="020B0604020202020204" pitchFamily="34" charset="0"/>
              </a:rPr>
              <a:t>It's best to follow a principle of least privilege. Assign to users only those roles they need to get the job done. More privileges can be assigned if needed.</a:t>
            </a:r>
          </a:p>
          <a:p>
            <a:pPr marL="171450" indent="-1714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000" dirty="0">
                <a:latin typeface="Helvetica" panose="020B0604020202020204" pitchFamily="34" charset="0"/>
                <a:cs typeface="Helvetica" panose="020B0604020202020204" pitchFamily="34" charset="0"/>
              </a:rPr>
              <a:t>Create a resource to help users understand basic information security. To let staff understand the security requirements and are clear on what consequences they can face should the requirements not be met.</a:t>
            </a:r>
          </a:p>
          <a:p>
            <a:pPr marL="171450" indent="-17145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000" dirty="0">
                <a:latin typeface="Helvetica" panose="020B0604020202020204" pitchFamily="34" charset="0"/>
                <a:cs typeface="Helvetica" panose="020B0604020202020204" pitchFamily="34" charset="0"/>
              </a:rPr>
              <a:t>Revoke access of users no longer with your organisation as soon as they leave.</a:t>
            </a:r>
          </a:p>
        </p:txBody>
      </p:sp>
    </p:spTree>
    <p:extLst>
      <p:ext uri="{BB962C8B-B14F-4D97-AF65-F5344CB8AC3E}">
        <p14:creationId xmlns:p14="http://schemas.microsoft.com/office/powerpoint/2010/main" val="1009180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43147" y="0"/>
            <a:ext cx="9662853" cy="780762"/>
          </a:xfrm>
        </p:spPr>
        <p:txBody>
          <a:bodyPr/>
          <a:lstStyle/>
          <a:p>
            <a:r>
              <a:rPr lang="en-GB" sz="3000" dirty="0"/>
              <a:t>MongoDB: Auditing</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18</a:t>
            </a:fld>
            <a:endParaRPr lang="en-GB" dirty="0"/>
          </a:p>
        </p:txBody>
      </p:sp>
      <p:pic>
        <p:nvPicPr>
          <p:cNvPr id="3" name="Picture 2">
            <a:extLst>
              <a:ext uri="{FF2B5EF4-FFF2-40B4-BE49-F238E27FC236}">
                <a16:creationId xmlns:a16="http://schemas.microsoft.com/office/drawing/2014/main" id="{C5938A24-C660-E55D-1674-9066A4D98531}"/>
              </a:ext>
            </a:extLst>
          </p:cNvPr>
          <p:cNvPicPr>
            <a:picLocks noChangeAspect="1"/>
          </p:cNvPicPr>
          <p:nvPr/>
        </p:nvPicPr>
        <p:blipFill>
          <a:blip r:embed="rId2"/>
          <a:stretch>
            <a:fillRect/>
          </a:stretch>
        </p:blipFill>
        <p:spPr>
          <a:xfrm>
            <a:off x="1424608" y="2276872"/>
            <a:ext cx="6678488" cy="3934539"/>
          </a:xfrm>
          <a:prstGeom prst="rect">
            <a:avLst/>
          </a:prstGeom>
        </p:spPr>
      </p:pic>
      <p:sp>
        <p:nvSpPr>
          <p:cNvPr id="8" name="TextBox 7">
            <a:extLst>
              <a:ext uri="{FF2B5EF4-FFF2-40B4-BE49-F238E27FC236}">
                <a16:creationId xmlns:a16="http://schemas.microsoft.com/office/drawing/2014/main" id="{263F5018-FCA4-1906-27ED-3DA6B72C1487}"/>
              </a:ext>
            </a:extLst>
          </p:cNvPr>
          <p:cNvSpPr txBox="1"/>
          <p:nvPr/>
        </p:nvSpPr>
        <p:spPr>
          <a:xfrm>
            <a:off x="243147" y="890488"/>
            <a:ext cx="9267566" cy="1323439"/>
          </a:xfrm>
          <a:prstGeom prst="rect">
            <a:avLst/>
          </a:prstGeom>
          <a:noFill/>
        </p:spPr>
        <p:txBody>
          <a:bodyPr wrap="square" rtlCol="0">
            <a:spAutoFit/>
          </a:bodyPr>
          <a:lstStyle/>
          <a:p>
            <a:pPr marL="342900" indent="-342900">
              <a:buFont typeface="Arial" panose="020B0604020202020204" pitchFamily="34" charset="0"/>
              <a:buChar char="•"/>
            </a:pPr>
            <a:r>
              <a:rPr lang="en-GB" sz="2000" dirty="0">
                <a:latin typeface="Helvetica" panose="020B0604020202020204" pitchFamily="34" charset="0"/>
                <a:cs typeface="Helvetica" panose="020B0604020202020204" pitchFamily="34" charset="0"/>
              </a:rPr>
              <a:t>The auditing facility allows administrators and users to track system activity for deployments with multiple users and applications.</a:t>
            </a:r>
          </a:p>
          <a:p>
            <a:pPr marL="342900" indent="-342900">
              <a:buFont typeface="Arial" panose="020B0604020202020204" pitchFamily="34" charset="0"/>
              <a:buChar char="•"/>
            </a:pPr>
            <a:r>
              <a:rPr lang="en-GB" sz="2000" dirty="0">
                <a:latin typeface="Helvetica" panose="020B0604020202020204" pitchFamily="34" charset="0"/>
                <a:cs typeface="Helvetica" panose="020B0604020202020204" pitchFamily="34" charset="0"/>
              </a:rPr>
              <a:t>The purpose is to track and log database operations for accountability and compliance.</a:t>
            </a:r>
          </a:p>
        </p:txBody>
      </p:sp>
    </p:spTree>
    <p:extLst>
      <p:ext uri="{BB962C8B-B14F-4D97-AF65-F5344CB8AC3E}">
        <p14:creationId xmlns:p14="http://schemas.microsoft.com/office/powerpoint/2010/main" val="1305565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43147" y="0"/>
            <a:ext cx="9662853" cy="780762"/>
          </a:xfrm>
        </p:spPr>
        <p:txBody>
          <a:bodyPr/>
          <a:lstStyle/>
          <a:p>
            <a:r>
              <a:rPr lang="en-GB" sz="3000" dirty="0"/>
              <a:t>Enable and Configure Audit Output</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19</a:t>
            </a:fld>
            <a:endParaRPr lang="en-GB" dirty="0"/>
          </a:p>
        </p:txBody>
      </p:sp>
      <p:sp>
        <p:nvSpPr>
          <p:cNvPr id="8" name="TextBox 7">
            <a:extLst>
              <a:ext uri="{FF2B5EF4-FFF2-40B4-BE49-F238E27FC236}">
                <a16:creationId xmlns:a16="http://schemas.microsoft.com/office/drawing/2014/main" id="{263F5018-FCA4-1906-27ED-3DA6B72C1487}"/>
              </a:ext>
            </a:extLst>
          </p:cNvPr>
          <p:cNvSpPr txBox="1"/>
          <p:nvPr/>
        </p:nvSpPr>
        <p:spPr>
          <a:xfrm>
            <a:off x="243147" y="890488"/>
            <a:ext cx="9267566" cy="707886"/>
          </a:xfrm>
          <a:prstGeom prst="rect">
            <a:avLst/>
          </a:prstGeom>
          <a:noFill/>
        </p:spPr>
        <p:txBody>
          <a:bodyPr wrap="square" rtlCol="0">
            <a:spAutoFit/>
          </a:bodyPr>
          <a:lstStyle/>
          <a:p>
            <a:pPr marL="342900" indent="-342900">
              <a:buFont typeface="Arial" panose="020B0604020202020204" pitchFamily="34" charset="0"/>
              <a:buChar char="•"/>
            </a:pPr>
            <a:r>
              <a:rPr lang="en-GB" sz="2000" dirty="0">
                <a:latin typeface="Helvetica" panose="020B0604020202020204" pitchFamily="34" charset="0"/>
                <a:cs typeface="Helvetica" panose="020B0604020202020204" pitchFamily="34" charset="0"/>
              </a:rPr>
              <a:t>The auditing facility can write audit events to the console, the syslog, a JSON file, or a BSON file.</a:t>
            </a:r>
          </a:p>
        </p:txBody>
      </p:sp>
      <p:sp>
        <p:nvSpPr>
          <p:cNvPr id="5" name="TextBox 4">
            <a:extLst>
              <a:ext uri="{FF2B5EF4-FFF2-40B4-BE49-F238E27FC236}">
                <a16:creationId xmlns:a16="http://schemas.microsoft.com/office/drawing/2014/main" id="{0134AEB4-949D-9A77-89E7-69B8C0099B85}"/>
              </a:ext>
            </a:extLst>
          </p:cNvPr>
          <p:cNvSpPr txBox="1"/>
          <p:nvPr/>
        </p:nvSpPr>
        <p:spPr>
          <a:xfrm>
            <a:off x="217017" y="1598374"/>
            <a:ext cx="9293695" cy="646331"/>
          </a:xfrm>
          <a:prstGeom prst="rect">
            <a:avLst/>
          </a:prstGeom>
          <a:noFill/>
        </p:spPr>
        <p:txBody>
          <a:bodyPr wrap="square">
            <a:spAutoFit/>
          </a:bodyPr>
          <a:lstStyle/>
          <a:p>
            <a:r>
              <a:rPr lang="en-GB" dirty="0">
                <a:latin typeface="Helvetica" panose="020B0604020202020204" pitchFamily="34" charset="0"/>
                <a:cs typeface="Helvetica" panose="020B0604020202020204" pitchFamily="34" charset="0"/>
              </a:rPr>
              <a:t>Modify the Configuration File (</a:t>
            </a:r>
            <a:r>
              <a:rPr lang="en-GB" dirty="0" err="1">
                <a:latin typeface="Helvetica" panose="020B0604020202020204" pitchFamily="34" charset="0"/>
                <a:cs typeface="Helvetica" panose="020B0604020202020204" pitchFamily="34" charset="0"/>
              </a:rPr>
              <a:t>mongod.conf</a:t>
            </a:r>
            <a:r>
              <a:rPr lang="en-GB" dirty="0">
                <a:latin typeface="Helvetica" panose="020B0604020202020204" pitchFamily="34" charset="0"/>
                <a:cs typeface="Helvetica" panose="020B0604020202020204" pitchFamily="34" charset="0"/>
              </a:rPr>
              <a:t>): Audit logging is configured in the </a:t>
            </a:r>
            <a:r>
              <a:rPr lang="en-GB" b="1" dirty="0" err="1">
                <a:latin typeface="Trebuchet MS" panose="020B0603020202020204" pitchFamily="34" charset="0"/>
                <a:cs typeface="Helvetica" panose="020B0604020202020204" pitchFamily="34" charset="0"/>
              </a:rPr>
              <a:t>mongod.conf</a:t>
            </a:r>
            <a:r>
              <a:rPr lang="en-GB" b="1" dirty="0">
                <a:latin typeface="Trebuchet MS" panose="020B0603020202020204" pitchFamily="34" charset="0"/>
                <a:cs typeface="Helvetica" panose="020B0604020202020204" pitchFamily="34" charset="0"/>
              </a:rPr>
              <a:t> </a:t>
            </a:r>
            <a:r>
              <a:rPr lang="en-GB" dirty="0">
                <a:latin typeface="Helvetica" panose="020B0604020202020204" pitchFamily="34" charset="0"/>
                <a:cs typeface="Helvetica" panose="020B0604020202020204" pitchFamily="34" charset="0"/>
              </a:rPr>
              <a:t>file. Below is an example configuration:</a:t>
            </a:r>
          </a:p>
        </p:txBody>
      </p:sp>
      <p:sp>
        <p:nvSpPr>
          <p:cNvPr id="10" name="TextBox 9">
            <a:extLst>
              <a:ext uri="{FF2B5EF4-FFF2-40B4-BE49-F238E27FC236}">
                <a16:creationId xmlns:a16="http://schemas.microsoft.com/office/drawing/2014/main" id="{5546A7E9-32F1-D63D-1E60-5144BB643E72}"/>
              </a:ext>
            </a:extLst>
          </p:cNvPr>
          <p:cNvSpPr txBox="1"/>
          <p:nvPr/>
        </p:nvSpPr>
        <p:spPr>
          <a:xfrm>
            <a:off x="152395" y="2412215"/>
            <a:ext cx="9449070" cy="1323439"/>
          </a:xfrm>
          <a:prstGeom prst="rect">
            <a:avLst/>
          </a:prstGeom>
          <a:solidFill>
            <a:schemeClr val="bg2">
              <a:lumMod val="75000"/>
            </a:schemeClr>
          </a:solidFill>
        </p:spPr>
        <p:txBody>
          <a:bodyPr wrap="square">
            <a:spAutoFit/>
          </a:bodyPr>
          <a:lstStyle/>
          <a:p>
            <a:r>
              <a:rPr lang="en-GB" sz="1600" dirty="0" err="1">
                <a:latin typeface="Trebuchet MS" panose="020B0603020202020204" pitchFamily="34" charset="0"/>
              </a:rPr>
              <a:t>auditLog</a:t>
            </a:r>
            <a:r>
              <a:rPr lang="en-GB" sz="1600" dirty="0">
                <a:latin typeface="Trebuchet MS" panose="020B0603020202020204" pitchFamily="34" charset="0"/>
              </a:rPr>
              <a:t>:</a:t>
            </a:r>
          </a:p>
          <a:p>
            <a:r>
              <a:rPr lang="en-GB" sz="1600" dirty="0">
                <a:latin typeface="Trebuchet MS" panose="020B0603020202020204" pitchFamily="34" charset="0"/>
              </a:rPr>
              <a:t>  destination: "file"               # Output destination for audit logs (options: file, console, or syslog).</a:t>
            </a:r>
          </a:p>
          <a:p>
            <a:r>
              <a:rPr lang="en-GB" sz="1600" dirty="0">
                <a:latin typeface="Trebuchet MS" panose="020B0603020202020204" pitchFamily="34" charset="0"/>
              </a:rPr>
              <a:t>  format: "JSON"                    # Format of the audit log (options: JSON or BSON).</a:t>
            </a:r>
          </a:p>
          <a:p>
            <a:r>
              <a:rPr lang="en-GB" sz="1600" dirty="0">
                <a:latin typeface="Trebuchet MS" panose="020B0603020202020204" pitchFamily="34" charset="0"/>
              </a:rPr>
              <a:t>  path: "/var/log/</a:t>
            </a:r>
            <a:r>
              <a:rPr lang="en-GB" sz="1600" dirty="0" err="1">
                <a:latin typeface="Trebuchet MS" panose="020B0603020202020204" pitchFamily="34" charset="0"/>
              </a:rPr>
              <a:t>mongodb</a:t>
            </a:r>
            <a:r>
              <a:rPr lang="en-GB" sz="1600" dirty="0">
                <a:latin typeface="Trebuchet MS" panose="020B0603020202020204" pitchFamily="34" charset="0"/>
              </a:rPr>
              <a:t>/audit.log"  # File path for audit log storage (used if destination is "file").</a:t>
            </a:r>
          </a:p>
          <a:p>
            <a:r>
              <a:rPr lang="en-GB" sz="1600" dirty="0">
                <a:latin typeface="Trebuchet MS" panose="020B0603020202020204" pitchFamily="34" charset="0"/>
              </a:rPr>
              <a:t>  filter: '{ </a:t>
            </a:r>
            <a:r>
              <a:rPr lang="en-GB" sz="1600" dirty="0" err="1">
                <a:latin typeface="Trebuchet MS" panose="020B0603020202020204" pitchFamily="34" charset="0"/>
              </a:rPr>
              <a:t>atype</a:t>
            </a:r>
            <a:r>
              <a:rPr lang="en-GB" sz="1600" dirty="0">
                <a:latin typeface="Trebuchet MS" panose="020B0603020202020204" pitchFamily="34" charset="0"/>
              </a:rPr>
              <a:t>: { $in: ["authenticate", "update", "delete"] } }' # Filter for events to log.</a:t>
            </a:r>
          </a:p>
        </p:txBody>
      </p:sp>
      <p:sp>
        <p:nvSpPr>
          <p:cNvPr id="12" name="TextBox 11">
            <a:extLst>
              <a:ext uri="{FF2B5EF4-FFF2-40B4-BE49-F238E27FC236}">
                <a16:creationId xmlns:a16="http://schemas.microsoft.com/office/drawing/2014/main" id="{EFA38FFB-6C80-5D54-05C3-0720BB6ADDED}"/>
              </a:ext>
            </a:extLst>
          </p:cNvPr>
          <p:cNvSpPr txBox="1"/>
          <p:nvPr/>
        </p:nvSpPr>
        <p:spPr>
          <a:xfrm>
            <a:off x="3944888" y="3919888"/>
            <a:ext cx="5565824" cy="2308324"/>
          </a:xfrm>
          <a:prstGeom prst="rect">
            <a:avLst/>
          </a:prstGeom>
          <a:solidFill>
            <a:schemeClr val="accent1">
              <a:lumMod val="20000"/>
              <a:lumOff val="80000"/>
            </a:schemeClr>
          </a:solidFill>
        </p:spPr>
        <p:txBody>
          <a:bodyPr wrap="square">
            <a:spAutoFit/>
          </a:bodyPr>
          <a:lstStyle/>
          <a:p>
            <a:r>
              <a:rPr lang="en-GB" dirty="0">
                <a:latin typeface="Trebuchet MS" panose="020B0603020202020204" pitchFamily="34" charset="0"/>
              </a:rPr>
              <a:t>{</a:t>
            </a:r>
          </a:p>
          <a:p>
            <a:r>
              <a:rPr lang="en-GB" dirty="0">
                <a:latin typeface="Trebuchet MS" panose="020B0603020202020204" pitchFamily="34" charset="0"/>
              </a:rPr>
              <a:t>  "</a:t>
            </a:r>
            <a:r>
              <a:rPr lang="en-GB" dirty="0" err="1">
                <a:latin typeface="Trebuchet MS" panose="020B0603020202020204" pitchFamily="34" charset="0"/>
              </a:rPr>
              <a:t>atype</a:t>
            </a:r>
            <a:r>
              <a:rPr lang="en-GB" dirty="0">
                <a:latin typeface="Trebuchet MS" panose="020B0603020202020204" pitchFamily="34" charset="0"/>
              </a:rPr>
              <a:t>": "authenticate",</a:t>
            </a:r>
          </a:p>
          <a:p>
            <a:r>
              <a:rPr lang="en-GB" dirty="0">
                <a:latin typeface="Trebuchet MS" panose="020B0603020202020204" pitchFamily="34" charset="0"/>
              </a:rPr>
              <a:t>  "</a:t>
            </a:r>
            <a:r>
              <a:rPr lang="en-GB" dirty="0" err="1">
                <a:latin typeface="Trebuchet MS" panose="020B0603020202020204" pitchFamily="34" charset="0"/>
              </a:rPr>
              <a:t>ts</a:t>
            </a:r>
            <a:r>
              <a:rPr lang="en-GB" dirty="0">
                <a:latin typeface="Trebuchet MS" panose="020B0603020202020204" pitchFamily="34" charset="0"/>
              </a:rPr>
              <a:t>": {"$date": "2024-11-11T12:00:00Z"},</a:t>
            </a:r>
          </a:p>
          <a:p>
            <a:r>
              <a:rPr lang="en-GB" dirty="0">
                <a:latin typeface="Trebuchet MS" panose="020B0603020202020204" pitchFamily="34" charset="0"/>
              </a:rPr>
              <a:t>  "local": {"</a:t>
            </a:r>
            <a:r>
              <a:rPr lang="en-GB" dirty="0" err="1">
                <a:latin typeface="Trebuchet MS" panose="020B0603020202020204" pitchFamily="34" charset="0"/>
              </a:rPr>
              <a:t>ip</a:t>
            </a:r>
            <a:r>
              <a:rPr lang="en-GB" dirty="0">
                <a:latin typeface="Trebuchet MS" panose="020B0603020202020204" pitchFamily="34" charset="0"/>
              </a:rPr>
              <a:t>": "127.0.0.1", "port": 27017},</a:t>
            </a:r>
          </a:p>
          <a:p>
            <a:r>
              <a:rPr lang="en-GB" dirty="0">
                <a:latin typeface="Trebuchet MS" panose="020B0603020202020204" pitchFamily="34" charset="0"/>
              </a:rPr>
              <a:t>  "remote": {"</a:t>
            </a:r>
            <a:r>
              <a:rPr lang="en-GB" dirty="0" err="1">
                <a:latin typeface="Trebuchet MS" panose="020B0603020202020204" pitchFamily="34" charset="0"/>
              </a:rPr>
              <a:t>ip</a:t>
            </a:r>
            <a:r>
              <a:rPr lang="en-GB" dirty="0">
                <a:latin typeface="Trebuchet MS" panose="020B0603020202020204" pitchFamily="34" charset="0"/>
              </a:rPr>
              <a:t>": "192.168.1.100", "port": 61000},</a:t>
            </a:r>
          </a:p>
          <a:p>
            <a:r>
              <a:rPr lang="en-GB" dirty="0">
                <a:latin typeface="Trebuchet MS" panose="020B0603020202020204" pitchFamily="34" charset="0"/>
              </a:rPr>
              <a:t>  "users": [{"user": "admin", "</a:t>
            </a:r>
            <a:r>
              <a:rPr lang="en-GB" dirty="0" err="1">
                <a:latin typeface="Trebuchet MS" panose="020B0603020202020204" pitchFamily="34" charset="0"/>
              </a:rPr>
              <a:t>db</a:t>
            </a:r>
            <a:r>
              <a:rPr lang="en-GB" dirty="0">
                <a:latin typeface="Trebuchet MS" panose="020B0603020202020204" pitchFamily="34" charset="0"/>
              </a:rPr>
              <a:t>": "admin"}],</a:t>
            </a:r>
          </a:p>
          <a:p>
            <a:r>
              <a:rPr lang="en-GB" dirty="0">
                <a:latin typeface="Trebuchet MS" panose="020B0603020202020204" pitchFamily="34" charset="0"/>
              </a:rPr>
              <a:t>  "result": 0</a:t>
            </a:r>
          </a:p>
          <a:p>
            <a:r>
              <a:rPr lang="en-GB" dirty="0">
                <a:latin typeface="Trebuchet MS" panose="020B0603020202020204" pitchFamily="34" charset="0"/>
              </a:rPr>
              <a:t>}</a:t>
            </a:r>
          </a:p>
        </p:txBody>
      </p:sp>
      <p:sp>
        <p:nvSpPr>
          <p:cNvPr id="14" name="TextBox 13">
            <a:extLst>
              <a:ext uri="{FF2B5EF4-FFF2-40B4-BE49-F238E27FC236}">
                <a16:creationId xmlns:a16="http://schemas.microsoft.com/office/drawing/2014/main" id="{60C0312E-94AA-2E97-8A41-C1FE02E84590}"/>
              </a:ext>
            </a:extLst>
          </p:cNvPr>
          <p:cNvSpPr txBox="1"/>
          <p:nvPr/>
        </p:nvSpPr>
        <p:spPr>
          <a:xfrm>
            <a:off x="395288" y="4750884"/>
            <a:ext cx="3923745" cy="646331"/>
          </a:xfrm>
          <a:prstGeom prst="rect">
            <a:avLst/>
          </a:prstGeom>
          <a:noFill/>
        </p:spPr>
        <p:txBody>
          <a:bodyPr wrap="square">
            <a:spAutoFit/>
          </a:bodyPr>
          <a:lstStyle/>
          <a:p>
            <a:r>
              <a:rPr lang="en-GB" dirty="0">
                <a:latin typeface="Helvetica" panose="020B0604020202020204" pitchFamily="34" charset="0"/>
                <a:cs typeface="Helvetica" panose="020B0604020202020204" pitchFamily="34" charset="0"/>
              </a:rPr>
              <a:t>Sample JSON Output for Authentication</a:t>
            </a:r>
          </a:p>
        </p:txBody>
      </p:sp>
    </p:spTree>
    <p:extLst>
      <p:ext uri="{BB962C8B-B14F-4D97-AF65-F5344CB8AC3E}">
        <p14:creationId xmlns:p14="http://schemas.microsoft.com/office/powerpoint/2010/main" val="3468817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20</a:t>
            </a:fld>
            <a:endParaRPr lang="en-GB" dirty="0"/>
          </a:p>
        </p:txBody>
      </p:sp>
      <p:sp>
        <p:nvSpPr>
          <p:cNvPr id="3" name="Title 1">
            <a:extLst>
              <a:ext uri="{FF2B5EF4-FFF2-40B4-BE49-F238E27FC236}">
                <a16:creationId xmlns:a16="http://schemas.microsoft.com/office/drawing/2014/main" id="{0CE9C34E-E5F5-DA6B-2C71-6799E5AAC912}"/>
              </a:ext>
            </a:extLst>
          </p:cNvPr>
          <p:cNvSpPr txBox="1">
            <a:spLocks/>
          </p:cNvSpPr>
          <p:nvPr/>
        </p:nvSpPr>
        <p:spPr bwMode="auto">
          <a:xfrm>
            <a:off x="436900" y="56230"/>
            <a:ext cx="9662853" cy="78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ctr" anchorCtr="0" compatLnSpc="1">
            <a:prstTxWarp prst="textNoShape">
              <a:avLst/>
            </a:prstTxWarp>
          </a:bodyPr>
          <a:lstStyle>
            <a:lvl1pPr algn="l" rtl="0" eaLnBrk="1" fontAlgn="base" hangingPunct="1">
              <a:spcBef>
                <a:spcPct val="0"/>
              </a:spcBef>
              <a:spcAft>
                <a:spcPct val="0"/>
              </a:spcAft>
              <a:defRPr sz="3600" b="1" kern="1200">
                <a:solidFill>
                  <a:srgbClr val="87A529"/>
                </a:solidFill>
                <a:latin typeface="Georgia" panose="02040502050405020303" pitchFamily="18" charset="0"/>
                <a:ea typeface="ＭＳ Ｐゴシック" charset="0"/>
                <a:cs typeface="ＭＳ Ｐゴシック" charset="0"/>
              </a:defRPr>
            </a:lvl1pPr>
            <a:lvl2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2pPr>
            <a:lvl3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3pPr>
            <a:lvl4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4pPr>
            <a:lvl5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5pPr>
            <a:lvl6pPr marL="4572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6pPr>
            <a:lvl7pPr marL="9144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7pPr>
            <a:lvl8pPr marL="13716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8pPr>
            <a:lvl9pPr marL="18288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9pPr>
          </a:lstStyle>
          <a:p>
            <a:r>
              <a:rPr lang="en-GB" sz="3000" dirty="0"/>
              <a:t>MongoDB: Encryption</a:t>
            </a:r>
          </a:p>
        </p:txBody>
      </p:sp>
      <p:pic>
        <p:nvPicPr>
          <p:cNvPr id="10" name="Picture 9">
            <a:extLst>
              <a:ext uri="{FF2B5EF4-FFF2-40B4-BE49-F238E27FC236}">
                <a16:creationId xmlns:a16="http://schemas.microsoft.com/office/drawing/2014/main" id="{06F51A27-62E1-29CF-F021-15D6478FF2D9}"/>
              </a:ext>
            </a:extLst>
          </p:cNvPr>
          <p:cNvPicPr>
            <a:picLocks noChangeAspect="1"/>
          </p:cNvPicPr>
          <p:nvPr/>
        </p:nvPicPr>
        <p:blipFill>
          <a:blip r:embed="rId3"/>
          <a:stretch>
            <a:fillRect/>
          </a:stretch>
        </p:blipFill>
        <p:spPr>
          <a:xfrm>
            <a:off x="1191442" y="3539832"/>
            <a:ext cx="7073926" cy="2797468"/>
          </a:xfrm>
          <a:prstGeom prst="rect">
            <a:avLst/>
          </a:prstGeom>
        </p:spPr>
      </p:pic>
      <p:sp>
        <p:nvSpPr>
          <p:cNvPr id="13" name="TextBox 12">
            <a:extLst>
              <a:ext uri="{FF2B5EF4-FFF2-40B4-BE49-F238E27FC236}">
                <a16:creationId xmlns:a16="http://schemas.microsoft.com/office/drawing/2014/main" id="{EBFDF56A-01C2-A12D-3726-21926D37D2CA}"/>
              </a:ext>
            </a:extLst>
          </p:cNvPr>
          <p:cNvSpPr txBox="1"/>
          <p:nvPr/>
        </p:nvSpPr>
        <p:spPr>
          <a:xfrm>
            <a:off x="436900" y="836992"/>
            <a:ext cx="9073813" cy="2585323"/>
          </a:xfrm>
          <a:prstGeom prst="rect">
            <a:avLst/>
          </a:prstGeom>
          <a:noFill/>
        </p:spPr>
        <p:txBody>
          <a:bodyPr wrap="square">
            <a:spAutoFit/>
          </a:bodyPr>
          <a:lstStyle/>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Encryption ensures that data is protected from unauthorised access, even if intercepted or stolen.</a:t>
            </a: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Protects sensitive information during communication (in transit).</a:t>
            </a:r>
          </a:p>
          <a:p>
            <a:pPr marL="285750"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Secures data at rest, ensuring compliance with regulations like GDPR, HIPAA, and PCI-DSS.</a:t>
            </a:r>
          </a:p>
          <a:p>
            <a:pPr marL="285750" indent="-285750">
              <a:buFont typeface="Arial" panose="020B0604020202020204" pitchFamily="34" charset="0"/>
              <a:buChar char="•"/>
            </a:pPr>
            <a:r>
              <a:rPr lang="en-GB" b="1" dirty="0">
                <a:latin typeface="Helvetica" panose="020B0604020202020204" pitchFamily="34" charset="0"/>
                <a:cs typeface="Helvetica" panose="020B0604020202020204" pitchFamily="34" charset="0"/>
              </a:rPr>
              <a:t>Without encryption: </a:t>
            </a:r>
          </a:p>
          <a:p>
            <a:pPr marL="742950" lvl="1"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Data transmitted over the network can be intercepted (man-in-the-middle attacks).</a:t>
            </a:r>
          </a:p>
          <a:p>
            <a:pPr marL="742950" lvl="1" indent="-285750">
              <a:buFont typeface="Arial" panose="020B0604020202020204" pitchFamily="34" charset="0"/>
              <a:buChar char="•"/>
            </a:pPr>
            <a:r>
              <a:rPr lang="en-GB" dirty="0">
                <a:latin typeface="Helvetica" panose="020B0604020202020204" pitchFamily="34" charset="0"/>
                <a:cs typeface="Helvetica" panose="020B0604020202020204" pitchFamily="34" charset="0"/>
              </a:rPr>
              <a:t>Stolen database files can expose sensitive information.</a:t>
            </a:r>
          </a:p>
        </p:txBody>
      </p:sp>
    </p:spTree>
    <p:extLst>
      <p:ext uri="{BB962C8B-B14F-4D97-AF65-F5344CB8AC3E}">
        <p14:creationId xmlns:p14="http://schemas.microsoft.com/office/powerpoint/2010/main" val="2164072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21</a:t>
            </a:fld>
            <a:endParaRPr lang="en-GB" dirty="0"/>
          </a:p>
        </p:txBody>
      </p:sp>
      <p:sp>
        <p:nvSpPr>
          <p:cNvPr id="3" name="Title 1">
            <a:extLst>
              <a:ext uri="{FF2B5EF4-FFF2-40B4-BE49-F238E27FC236}">
                <a16:creationId xmlns:a16="http://schemas.microsoft.com/office/drawing/2014/main" id="{0CE9C34E-E5F5-DA6B-2C71-6799E5AAC912}"/>
              </a:ext>
            </a:extLst>
          </p:cNvPr>
          <p:cNvSpPr txBox="1">
            <a:spLocks/>
          </p:cNvSpPr>
          <p:nvPr/>
        </p:nvSpPr>
        <p:spPr bwMode="auto">
          <a:xfrm>
            <a:off x="436900" y="56230"/>
            <a:ext cx="9662853" cy="78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ctr" anchorCtr="0" compatLnSpc="1">
            <a:prstTxWarp prst="textNoShape">
              <a:avLst/>
            </a:prstTxWarp>
          </a:bodyPr>
          <a:lstStyle>
            <a:lvl1pPr algn="l" rtl="0" eaLnBrk="1" fontAlgn="base" hangingPunct="1">
              <a:spcBef>
                <a:spcPct val="0"/>
              </a:spcBef>
              <a:spcAft>
                <a:spcPct val="0"/>
              </a:spcAft>
              <a:defRPr sz="3600" b="1" kern="1200">
                <a:solidFill>
                  <a:srgbClr val="87A529"/>
                </a:solidFill>
                <a:latin typeface="Georgia" panose="02040502050405020303" pitchFamily="18" charset="0"/>
                <a:ea typeface="ＭＳ Ｐゴシック" charset="0"/>
                <a:cs typeface="ＭＳ Ｐゴシック" charset="0"/>
              </a:defRPr>
            </a:lvl1pPr>
            <a:lvl2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2pPr>
            <a:lvl3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3pPr>
            <a:lvl4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4pPr>
            <a:lvl5pPr algn="l" rtl="0" eaLnBrk="1" fontAlgn="base" hangingPunct="1">
              <a:spcBef>
                <a:spcPct val="0"/>
              </a:spcBef>
              <a:spcAft>
                <a:spcPct val="0"/>
              </a:spcAft>
              <a:defRPr sz="3600" b="1">
                <a:solidFill>
                  <a:srgbClr val="87A529"/>
                </a:solidFill>
                <a:latin typeface="Georgia" charset="0"/>
                <a:ea typeface="ＭＳ Ｐゴシック" charset="0"/>
                <a:cs typeface="ＭＳ Ｐゴシック" charset="0"/>
              </a:defRPr>
            </a:lvl5pPr>
            <a:lvl6pPr marL="4572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6pPr>
            <a:lvl7pPr marL="9144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7pPr>
            <a:lvl8pPr marL="13716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8pPr>
            <a:lvl9pPr marL="1828800" algn="l" rtl="0" eaLnBrk="1" fontAlgn="base" hangingPunct="1">
              <a:spcBef>
                <a:spcPct val="0"/>
              </a:spcBef>
              <a:spcAft>
                <a:spcPct val="0"/>
              </a:spcAft>
              <a:defRPr sz="4000" b="1">
                <a:solidFill>
                  <a:srgbClr val="693B68"/>
                </a:solidFill>
                <a:latin typeface="Georgia" charset="0"/>
                <a:ea typeface="ＭＳ Ｐゴシック" charset="0"/>
                <a:cs typeface="ＭＳ Ｐゴシック" charset="0"/>
              </a:defRPr>
            </a:lvl9pPr>
          </a:lstStyle>
          <a:p>
            <a:r>
              <a:rPr lang="en-GB" sz="3200" dirty="0"/>
              <a:t>Types of Encryption in MongoDB</a:t>
            </a:r>
          </a:p>
        </p:txBody>
      </p:sp>
      <p:sp>
        <p:nvSpPr>
          <p:cNvPr id="4" name="TextBox 3">
            <a:extLst>
              <a:ext uri="{FF2B5EF4-FFF2-40B4-BE49-F238E27FC236}">
                <a16:creationId xmlns:a16="http://schemas.microsoft.com/office/drawing/2014/main" id="{241F15B7-6C39-FC8C-AE51-F6418AB0561A}"/>
              </a:ext>
            </a:extLst>
          </p:cNvPr>
          <p:cNvSpPr txBox="1"/>
          <p:nvPr/>
        </p:nvSpPr>
        <p:spPr>
          <a:xfrm>
            <a:off x="436900" y="980728"/>
            <a:ext cx="9073812" cy="4031873"/>
          </a:xfrm>
          <a:prstGeom prst="rect">
            <a:avLst/>
          </a:prstGeom>
          <a:noFill/>
        </p:spPr>
        <p:txBody>
          <a:bodyPr wrap="square">
            <a:spAutoFit/>
          </a:bodyPr>
          <a:lstStyle/>
          <a:p>
            <a:r>
              <a:rPr lang="en-GB" sz="2200" b="1" dirty="0">
                <a:latin typeface="Helvetica" panose="020B0604020202020204" pitchFamily="34" charset="0"/>
                <a:cs typeface="Helvetica" panose="020B0604020202020204" pitchFamily="34" charset="0"/>
              </a:rPr>
              <a:t>Encryption in Transit:</a:t>
            </a:r>
          </a:p>
          <a:p>
            <a:endParaRPr lang="en-GB" sz="2200" b="1" dirty="0">
              <a:latin typeface="Helvetica" panose="020B0604020202020204" pitchFamily="34" charset="0"/>
              <a:cs typeface="Helvetica" panose="020B0604020202020204" pitchFamily="34" charset="0"/>
            </a:endParaRP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Ensures that data sent between clients, servers, and replica set members is encrypted using TLS/SSL (Transport Layer Security/Secure Sockets Layer).</a:t>
            </a: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TLS/SSL ensures that MongoDB network traffic is only readable by the intended client.</a:t>
            </a:r>
          </a:p>
          <a:p>
            <a:pPr marL="742950" lvl="1" indent="-285750">
              <a:buFont typeface="Helvetica" panose="020B0604020202020204" pitchFamily="34" charset="0"/>
              <a:buChar char="‒"/>
            </a:pPr>
            <a:r>
              <a:rPr lang="en-GB" dirty="0">
                <a:latin typeface="Helvetica" panose="020B0604020202020204" pitchFamily="34" charset="0"/>
                <a:cs typeface="Helvetica" panose="020B0604020202020204" pitchFamily="34" charset="0"/>
              </a:rPr>
              <a:t>Protects against interception during communication.</a:t>
            </a:r>
          </a:p>
          <a:p>
            <a:pPr marL="285750" indent="-285750">
              <a:buFont typeface="Arial" panose="020B0604020202020204" pitchFamily="34" charset="0"/>
              <a:buChar char="•"/>
            </a:pPr>
            <a:endParaRPr lang="en-GB" sz="2200" dirty="0">
              <a:latin typeface="Helvetica" panose="020B0604020202020204" pitchFamily="34" charset="0"/>
              <a:cs typeface="Helvetica" panose="020B0604020202020204" pitchFamily="34" charset="0"/>
            </a:endParaRPr>
          </a:p>
          <a:p>
            <a:r>
              <a:rPr lang="en-GB" sz="2200" b="1" dirty="0">
                <a:latin typeface="Helvetica" panose="020B0604020202020204" pitchFamily="34" charset="0"/>
                <a:cs typeface="Helvetica" panose="020B0604020202020204" pitchFamily="34" charset="0"/>
              </a:rPr>
              <a:t>Encryption at Rest:</a:t>
            </a: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Encrypts data stored on disk, preventing unauthorized access to database files.</a:t>
            </a: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Available in MongoDB Enterprise Edition and MongoDB Atlas.</a:t>
            </a:r>
          </a:p>
        </p:txBody>
      </p:sp>
    </p:spTree>
    <p:extLst>
      <p:ext uri="{BB962C8B-B14F-4D97-AF65-F5344CB8AC3E}">
        <p14:creationId xmlns:p14="http://schemas.microsoft.com/office/powerpoint/2010/main" val="7967216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43147" y="-41563"/>
            <a:ext cx="9662853" cy="780762"/>
          </a:xfrm>
        </p:spPr>
        <p:txBody>
          <a:bodyPr/>
          <a:lstStyle/>
          <a:p>
            <a:r>
              <a:rPr lang="en-GB" sz="3200" dirty="0"/>
              <a:t>Configuring Encryption in Transit</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22</a:t>
            </a:fld>
            <a:endParaRPr lang="en-GB" dirty="0"/>
          </a:p>
        </p:txBody>
      </p:sp>
      <p:sp>
        <p:nvSpPr>
          <p:cNvPr id="10" name="TextBox 9">
            <a:extLst>
              <a:ext uri="{FF2B5EF4-FFF2-40B4-BE49-F238E27FC236}">
                <a16:creationId xmlns:a16="http://schemas.microsoft.com/office/drawing/2014/main" id="{C957B248-739D-0106-DBFC-88996A3E3CD3}"/>
              </a:ext>
            </a:extLst>
          </p:cNvPr>
          <p:cNvSpPr txBox="1"/>
          <p:nvPr/>
        </p:nvSpPr>
        <p:spPr>
          <a:xfrm>
            <a:off x="377825" y="993304"/>
            <a:ext cx="7587432" cy="1015663"/>
          </a:xfrm>
          <a:prstGeom prst="rect">
            <a:avLst/>
          </a:prstGeom>
          <a:noFill/>
        </p:spPr>
        <p:txBody>
          <a:bodyPr wrap="square">
            <a:spAutoFit/>
          </a:bodyPr>
          <a:lstStyle/>
          <a:p>
            <a:r>
              <a:rPr lang="en-GB" sz="2000" b="1" dirty="0">
                <a:latin typeface="Helvetica" panose="020B0604020202020204" pitchFamily="34" charset="0"/>
                <a:cs typeface="Helvetica" panose="020B0604020202020204" pitchFamily="34" charset="0"/>
              </a:rPr>
              <a:t>Enable TLS/SSL:</a:t>
            </a:r>
          </a:p>
          <a:p>
            <a:endParaRPr lang="en-GB" sz="2000" dirty="0">
              <a:latin typeface="Helvetica" panose="020B0604020202020204" pitchFamily="34" charset="0"/>
              <a:cs typeface="Helvetica" panose="020B0604020202020204" pitchFamily="34" charset="0"/>
            </a:endParaRPr>
          </a:p>
          <a:p>
            <a:pPr marL="342900" indent="-342900">
              <a:buFont typeface="Arial" panose="020B0604020202020204" pitchFamily="34" charset="0"/>
              <a:buChar char="•"/>
            </a:pPr>
            <a:r>
              <a:rPr lang="en-GB" sz="2000" dirty="0">
                <a:latin typeface="Helvetica" panose="020B0604020202020204" pitchFamily="34" charset="0"/>
                <a:cs typeface="Helvetica" panose="020B0604020202020204" pitchFamily="34" charset="0"/>
              </a:rPr>
              <a:t>Start the </a:t>
            </a:r>
            <a:r>
              <a:rPr lang="en-GB" sz="2000" dirty="0" err="1">
                <a:latin typeface="Trebuchet MS" panose="020B0603020202020204" pitchFamily="34" charset="0"/>
                <a:cs typeface="Helvetica" panose="020B0604020202020204" pitchFamily="34" charset="0"/>
              </a:rPr>
              <a:t>mongod</a:t>
            </a:r>
            <a:r>
              <a:rPr lang="en-GB" sz="2000" dirty="0">
                <a:latin typeface="Helvetica" panose="020B0604020202020204" pitchFamily="34" charset="0"/>
                <a:cs typeface="Helvetica" panose="020B0604020202020204" pitchFamily="34" charset="0"/>
              </a:rPr>
              <a:t> process with the </a:t>
            </a:r>
            <a:r>
              <a:rPr lang="en-GB" sz="2000" b="1" dirty="0">
                <a:latin typeface="Trebuchet MS" panose="020B0603020202020204" pitchFamily="34" charset="0"/>
                <a:cs typeface="Helvetica" panose="020B0604020202020204" pitchFamily="34" charset="0"/>
              </a:rPr>
              <a:t>--</a:t>
            </a:r>
            <a:r>
              <a:rPr lang="en-GB" sz="2000" b="1" dirty="0" err="1">
                <a:latin typeface="Trebuchet MS" panose="020B0603020202020204" pitchFamily="34" charset="0"/>
                <a:cs typeface="Helvetica" panose="020B0604020202020204" pitchFamily="34" charset="0"/>
              </a:rPr>
              <a:t>sslMode</a:t>
            </a:r>
            <a:r>
              <a:rPr lang="en-GB" sz="2000" b="1" dirty="0">
                <a:latin typeface="Trebuchet MS" panose="020B0603020202020204" pitchFamily="34" charset="0"/>
                <a:cs typeface="Helvetica" panose="020B0604020202020204" pitchFamily="34" charset="0"/>
              </a:rPr>
              <a:t> </a:t>
            </a:r>
            <a:r>
              <a:rPr lang="en-GB" sz="2000" dirty="0">
                <a:latin typeface="Helvetica" panose="020B0604020202020204" pitchFamily="34" charset="0"/>
                <a:cs typeface="Helvetica" panose="020B0604020202020204" pitchFamily="34" charset="0"/>
              </a:rPr>
              <a:t>option:</a:t>
            </a:r>
          </a:p>
        </p:txBody>
      </p:sp>
      <p:sp>
        <p:nvSpPr>
          <p:cNvPr id="13" name="TextBox 12">
            <a:extLst>
              <a:ext uri="{FF2B5EF4-FFF2-40B4-BE49-F238E27FC236}">
                <a16:creationId xmlns:a16="http://schemas.microsoft.com/office/drawing/2014/main" id="{80459C02-4F56-E929-F71D-40894D470551}"/>
              </a:ext>
            </a:extLst>
          </p:cNvPr>
          <p:cNvSpPr txBox="1"/>
          <p:nvPr/>
        </p:nvSpPr>
        <p:spPr>
          <a:xfrm>
            <a:off x="679213" y="2166840"/>
            <a:ext cx="8745236" cy="400110"/>
          </a:xfrm>
          <a:prstGeom prst="rect">
            <a:avLst/>
          </a:prstGeom>
          <a:noFill/>
        </p:spPr>
        <p:txBody>
          <a:bodyPr wrap="square">
            <a:spAutoFit/>
          </a:bodyPr>
          <a:lstStyle/>
          <a:p>
            <a:r>
              <a:rPr lang="en-GB" sz="2000" b="1" dirty="0" err="1">
                <a:latin typeface="Trebuchet MS" panose="020B0603020202020204" pitchFamily="34" charset="0"/>
              </a:rPr>
              <a:t>mongod</a:t>
            </a:r>
            <a:r>
              <a:rPr lang="en-GB" sz="2000" b="1" dirty="0">
                <a:latin typeface="Trebuchet MS" panose="020B0603020202020204" pitchFamily="34" charset="0"/>
              </a:rPr>
              <a:t> --</a:t>
            </a:r>
            <a:r>
              <a:rPr lang="en-GB" sz="2000" b="1" dirty="0" err="1">
                <a:latin typeface="Trebuchet MS" panose="020B0603020202020204" pitchFamily="34" charset="0"/>
              </a:rPr>
              <a:t>sslMode</a:t>
            </a:r>
            <a:r>
              <a:rPr lang="en-GB" sz="2000" b="1" dirty="0">
                <a:latin typeface="Trebuchet MS" panose="020B0603020202020204" pitchFamily="34" charset="0"/>
              </a:rPr>
              <a:t> </a:t>
            </a:r>
            <a:r>
              <a:rPr lang="en-GB" sz="2000" b="1" dirty="0" err="1">
                <a:latin typeface="Trebuchet MS" panose="020B0603020202020204" pitchFamily="34" charset="0"/>
              </a:rPr>
              <a:t>requireSSL</a:t>
            </a:r>
            <a:r>
              <a:rPr lang="en-GB" sz="2000" b="1" dirty="0">
                <a:latin typeface="Trebuchet MS" panose="020B0603020202020204" pitchFamily="34" charset="0"/>
              </a:rPr>
              <a:t> --</a:t>
            </a:r>
            <a:r>
              <a:rPr lang="en-GB" sz="2000" b="1" dirty="0" err="1">
                <a:latin typeface="Trebuchet MS" panose="020B0603020202020204" pitchFamily="34" charset="0"/>
              </a:rPr>
              <a:t>sslPEMKeyFile</a:t>
            </a:r>
            <a:r>
              <a:rPr lang="en-GB" sz="2000" b="1" dirty="0">
                <a:latin typeface="Trebuchet MS" panose="020B0603020202020204" pitchFamily="34" charset="0"/>
              </a:rPr>
              <a:t> /path/to/</a:t>
            </a:r>
            <a:r>
              <a:rPr lang="en-GB" sz="2000" b="1" dirty="0" err="1">
                <a:latin typeface="Trebuchet MS" panose="020B0603020202020204" pitchFamily="34" charset="0"/>
              </a:rPr>
              <a:t>certificate.pem</a:t>
            </a:r>
            <a:endParaRPr lang="en-GB" sz="2000" b="1" dirty="0">
              <a:latin typeface="Trebuchet MS" panose="020B0603020202020204" pitchFamily="34" charset="0"/>
            </a:endParaRPr>
          </a:p>
        </p:txBody>
      </p:sp>
      <p:sp>
        <p:nvSpPr>
          <p:cNvPr id="15" name="TextBox 14">
            <a:extLst>
              <a:ext uri="{FF2B5EF4-FFF2-40B4-BE49-F238E27FC236}">
                <a16:creationId xmlns:a16="http://schemas.microsoft.com/office/drawing/2014/main" id="{BF217B60-A3CF-481E-D7CC-CA1B4C3E03AB}"/>
              </a:ext>
            </a:extLst>
          </p:cNvPr>
          <p:cNvSpPr txBox="1"/>
          <p:nvPr/>
        </p:nvSpPr>
        <p:spPr>
          <a:xfrm>
            <a:off x="358384" y="4597143"/>
            <a:ext cx="8536639" cy="400110"/>
          </a:xfrm>
          <a:prstGeom prst="rect">
            <a:avLst/>
          </a:prstGeom>
          <a:noFill/>
        </p:spPr>
        <p:txBody>
          <a:bodyPr wrap="square">
            <a:spAutoFit/>
          </a:bodyPr>
          <a:lstStyle/>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Verify Connection: Use the </a:t>
            </a:r>
            <a:r>
              <a:rPr lang="en-GB" sz="2000" dirty="0">
                <a:latin typeface="Trebuchet MS" panose="020B0603020202020204" pitchFamily="34" charset="0"/>
                <a:cs typeface="Helvetica" panose="020B0604020202020204" pitchFamily="34" charset="0"/>
              </a:rPr>
              <a:t>mongo</a:t>
            </a:r>
            <a:r>
              <a:rPr lang="en-GB" sz="2000" dirty="0">
                <a:latin typeface="Helvetica" panose="020B0604020202020204" pitchFamily="34" charset="0"/>
                <a:cs typeface="Helvetica" panose="020B0604020202020204" pitchFamily="34" charset="0"/>
              </a:rPr>
              <a:t> shell to connect with </a:t>
            </a:r>
            <a:r>
              <a:rPr lang="en-GB" sz="2000" dirty="0">
                <a:latin typeface="Trebuchet MS" panose="020B0603020202020204" pitchFamily="34" charset="0"/>
                <a:cs typeface="Helvetica" panose="020B0604020202020204" pitchFamily="34" charset="0"/>
              </a:rPr>
              <a:t>--</a:t>
            </a:r>
            <a:r>
              <a:rPr lang="en-GB" sz="2000" dirty="0" err="1">
                <a:latin typeface="Trebuchet MS" panose="020B0603020202020204" pitchFamily="34" charset="0"/>
                <a:cs typeface="Helvetica" panose="020B0604020202020204" pitchFamily="34" charset="0"/>
              </a:rPr>
              <a:t>ssl</a:t>
            </a:r>
            <a:r>
              <a:rPr lang="en-GB" sz="2000" dirty="0">
                <a:latin typeface="Helvetica" panose="020B0604020202020204" pitchFamily="34" charset="0"/>
                <a:cs typeface="Helvetica" panose="020B0604020202020204" pitchFamily="34" charset="0"/>
              </a:rPr>
              <a:t>:</a:t>
            </a:r>
          </a:p>
        </p:txBody>
      </p:sp>
      <p:sp>
        <p:nvSpPr>
          <p:cNvPr id="3" name="TextBox 2">
            <a:extLst>
              <a:ext uri="{FF2B5EF4-FFF2-40B4-BE49-F238E27FC236}">
                <a16:creationId xmlns:a16="http://schemas.microsoft.com/office/drawing/2014/main" id="{CA96BF12-DCD8-D9E5-FC74-21E516744928}"/>
              </a:ext>
            </a:extLst>
          </p:cNvPr>
          <p:cNvSpPr txBox="1"/>
          <p:nvPr/>
        </p:nvSpPr>
        <p:spPr>
          <a:xfrm>
            <a:off x="476421" y="5320417"/>
            <a:ext cx="8913439" cy="400110"/>
          </a:xfrm>
          <a:prstGeom prst="rect">
            <a:avLst/>
          </a:prstGeom>
          <a:noFill/>
        </p:spPr>
        <p:txBody>
          <a:bodyPr wrap="square">
            <a:spAutoFit/>
          </a:bodyPr>
          <a:lstStyle/>
          <a:p>
            <a:r>
              <a:rPr lang="en-GB" sz="2000" b="1" dirty="0">
                <a:latin typeface="Trebuchet MS" panose="020B0603020202020204" pitchFamily="34" charset="0"/>
              </a:rPr>
              <a:t>mongo --</a:t>
            </a:r>
            <a:r>
              <a:rPr lang="en-GB" sz="2000" b="1" dirty="0" err="1">
                <a:latin typeface="Trebuchet MS" panose="020B0603020202020204" pitchFamily="34" charset="0"/>
              </a:rPr>
              <a:t>ssl</a:t>
            </a:r>
            <a:r>
              <a:rPr lang="en-GB" sz="2000" b="1" dirty="0">
                <a:latin typeface="Trebuchet MS" panose="020B0603020202020204" pitchFamily="34" charset="0"/>
              </a:rPr>
              <a:t> --host &lt;hostname&gt; --port &lt;port&gt; --</a:t>
            </a:r>
            <a:r>
              <a:rPr lang="en-GB" sz="2000" b="1" dirty="0" err="1">
                <a:latin typeface="Trebuchet MS" panose="020B0603020202020204" pitchFamily="34" charset="0"/>
              </a:rPr>
              <a:t>sslCAFile</a:t>
            </a:r>
            <a:r>
              <a:rPr lang="en-GB" sz="2000" b="1" dirty="0">
                <a:latin typeface="Trebuchet MS" panose="020B0603020202020204" pitchFamily="34" charset="0"/>
              </a:rPr>
              <a:t> /path/to/</a:t>
            </a:r>
            <a:r>
              <a:rPr lang="en-GB" sz="2000" b="1" dirty="0" err="1">
                <a:latin typeface="Trebuchet MS" panose="020B0603020202020204" pitchFamily="34" charset="0"/>
              </a:rPr>
              <a:t>ca.pem</a:t>
            </a:r>
            <a:endParaRPr lang="en-GB" sz="2000" b="1" dirty="0">
              <a:latin typeface="Trebuchet MS" panose="020B0603020202020204" pitchFamily="34" charset="0"/>
            </a:endParaRPr>
          </a:p>
        </p:txBody>
      </p:sp>
      <p:sp>
        <p:nvSpPr>
          <p:cNvPr id="5" name="TextBox 4">
            <a:extLst>
              <a:ext uri="{FF2B5EF4-FFF2-40B4-BE49-F238E27FC236}">
                <a16:creationId xmlns:a16="http://schemas.microsoft.com/office/drawing/2014/main" id="{A44709B3-CA2A-6D79-71A0-134EEC2DE47C}"/>
              </a:ext>
            </a:extLst>
          </p:cNvPr>
          <p:cNvSpPr txBox="1"/>
          <p:nvPr/>
        </p:nvSpPr>
        <p:spPr>
          <a:xfrm>
            <a:off x="390773" y="2749264"/>
            <a:ext cx="9119940" cy="1631216"/>
          </a:xfrm>
          <a:prstGeom prst="rect">
            <a:avLst/>
          </a:prstGeom>
          <a:noFill/>
        </p:spPr>
        <p:txBody>
          <a:bodyPr wrap="square">
            <a:spAutoFit/>
          </a:bodyPr>
          <a:lstStyle/>
          <a:p>
            <a:pPr marL="285750" indent="-285750">
              <a:buFont typeface="Arial" panose="020B0604020202020204" pitchFamily="34" charset="0"/>
              <a:buChar char="•"/>
            </a:pPr>
            <a:r>
              <a:rPr lang="en-GB" sz="2000" b="1" dirty="0">
                <a:latin typeface="Trebuchet MS" panose="020B0603020202020204" pitchFamily="34" charset="0"/>
              </a:rPr>
              <a:t>--</a:t>
            </a:r>
            <a:r>
              <a:rPr lang="en-GB" sz="2000" b="1" dirty="0" err="1">
                <a:latin typeface="Trebuchet MS" panose="020B0603020202020204" pitchFamily="34" charset="0"/>
              </a:rPr>
              <a:t>sslPEMKeyFile</a:t>
            </a:r>
            <a:r>
              <a:rPr lang="en-GB" sz="2000" dirty="0"/>
              <a:t>: </a:t>
            </a:r>
            <a:r>
              <a:rPr lang="en-GB" sz="2000" dirty="0">
                <a:latin typeface="Helvetica" panose="020B0604020202020204" pitchFamily="34" charset="0"/>
                <a:cs typeface="Helvetica" panose="020B0604020202020204" pitchFamily="34" charset="0"/>
              </a:rPr>
              <a:t>Path to the Privacy Enhanced Mail (PEM) file containing the server's certificate and private key.</a:t>
            </a:r>
          </a:p>
          <a:p>
            <a:endParaRPr lang="en-GB" sz="2000" dirty="0"/>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Optional:</a:t>
            </a:r>
            <a:r>
              <a:rPr lang="en-GB" sz="2000" b="1" dirty="0">
                <a:latin typeface="Trebuchet MS" panose="020B0603020202020204" pitchFamily="34" charset="0"/>
              </a:rPr>
              <a:t>--</a:t>
            </a:r>
            <a:r>
              <a:rPr lang="en-GB" sz="2000" b="1" dirty="0" err="1">
                <a:latin typeface="Trebuchet MS" panose="020B0603020202020204" pitchFamily="34" charset="0"/>
              </a:rPr>
              <a:t>sslCAFile</a:t>
            </a:r>
            <a:r>
              <a:rPr lang="en-GB" sz="2000" b="1" dirty="0">
                <a:latin typeface="Trebuchet MS" panose="020B0603020202020204" pitchFamily="34" charset="0"/>
              </a:rPr>
              <a:t>: </a:t>
            </a:r>
            <a:r>
              <a:rPr lang="en-GB" sz="2000" dirty="0">
                <a:latin typeface="Helvetica" panose="020B0604020202020204" pitchFamily="34" charset="0"/>
                <a:cs typeface="Helvetica" panose="020B0604020202020204" pitchFamily="34" charset="0"/>
              </a:rPr>
              <a:t>Path to the Certificate Authority (CA) file for client certificate validation.</a:t>
            </a:r>
          </a:p>
        </p:txBody>
      </p:sp>
    </p:spTree>
    <p:extLst>
      <p:ext uri="{BB962C8B-B14F-4D97-AF65-F5344CB8AC3E}">
        <p14:creationId xmlns:p14="http://schemas.microsoft.com/office/powerpoint/2010/main" val="1960118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43147" y="0"/>
            <a:ext cx="9662853" cy="780762"/>
          </a:xfrm>
        </p:spPr>
        <p:txBody>
          <a:bodyPr/>
          <a:lstStyle/>
          <a:p>
            <a:r>
              <a:rPr lang="en-GB" sz="3200" dirty="0"/>
              <a:t>Configuring Encryption at Rest</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23</a:t>
            </a:fld>
            <a:endParaRPr lang="en-GB" dirty="0"/>
          </a:p>
        </p:txBody>
      </p:sp>
      <p:sp>
        <p:nvSpPr>
          <p:cNvPr id="9" name="TextBox 8">
            <a:extLst>
              <a:ext uri="{FF2B5EF4-FFF2-40B4-BE49-F238E27FC236}">
                <a16:creationId xmlns:a16="http://schemas.microsoft.com/office/drawing/2014/main" id="{B2563FBC-3BA6-2537-001F-00AF9EA81C88}"/>
              </a:ext>
            </a:extLst>
          </p:cNvPr>
          <p:cNvSpPr txBox="1"/>
          <p:nvPr/>
        </p:nvSpPr>
        <p:spPr>
          <a:xfrm>
            <a:off x="377825" y="908621"/>
            <a:ext cx="9285028" cy="1015663"/>
          </a:xfrm>
          <a:prstGeom prst="rect">
            <a:avLst/>
          </a:prstGeom>
          <a:noFill/>
        </p:spPr>
        <p:txBody>
          <a:bodyPr wrap="square">
            <a:spAutoFit/>
          </a:bodyPr>
          <a:lstStyle/>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Available in MongoDB Enterprise Edition.</a:t>
            </a: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Supports AES-256 encryption.</a:t>
            </a:r>
          </a:p>
          <a:p>
            <a:pPr marL="285750" indent="-285750">
              <a:buFont typeface="Arial" panose="020B0604020202020204" pitchFamily="34" charset="0"/>
              <a:buChar char="•"/>
            </a:pPr>
            <a:r>
              <a:rPr lang="en-GB" sz="2000" dirty="0">
                <a:latin typeface="Helvetica" panose="020B0604020202020204" pitchFamily="34" charset="0"/>
                <a:cs typeface="Helvetica" panose="020B0604020202020204" pitchFamily="34" charset="0"/>
              </a:rPr>
              <a:t>Specify encryption options in the </a:t>
            </a:r>
            <a:r>
              <a:rPr lang="en-GB" sz="2000" b="1" dirty="0" err="1">
                <a:latin typeface="Trebuchet MS" panose="020B0603020202020204" pitchFamily="34" charset="0"/>
                <a:cs typeface="Helvetica" panose="020B0604020202020204" pitchFamily="34" charset="0"/>
              </a:rPr>
              <a:t>mongod.conf</a:t>
            </a:r>
            <a:r>
              <a:rPr lang="en-GB" sz="2000" b="1" dirty="0">
                <a:latin typeface="Trebuchet MS" panose="020B0603020202020204" pitchFamily="34" charset="0"/>
                <a:cs typeface="Helvetica" panose="020B0604020202020204" pitchFamily="34" charset="0"/>
              </a:rPr>
              <a:t> </a:t>
            </a:r>
            <a:r>
              <a:rPr lang="en-GB" sz="2000" dirty="0">
                <a:latin typeface="Helvetica" panose="020B0604020202020204" pitchFamily="34" charset="0"/>
                <a:cs typeface="Helvetica" panose="020B0604020202020204" pitchFamily="34" charset="0"/>
              </a:rPr>
              <a:t>file:</a:t>
            </a:r>
          </a:p>
        </p:txBody>
      </p:sp>
      <p:sp>
        <p:nvSpPr>
          <p:cNvPr id="5" name="TextBox 4">
            <a:extLst>
              <a:ext uri="{FF2B5EF4-FFF2-40B4-BE49-F238E27FC236}">
                <a16:creationId xmlns:a16="http://schemas.microsoft.com/office/drawing/2014/main" id="{5EE716DB-990E-3F0F-67F5-689D9C9C9D93}"/>
              </a:ext>
            </a:extLst>
          </p:cNvPr>
          <p:cNvSpPr txBox="1"/>
          <p:nvPr/>
        </p:nvSpPr>
        <p:spPr>
          <a:xfrm>
            <a:off x="488504" y="3429000"/>
            <a:ext cx="8372892" cy="400110"/>
          </a:xfrm>
          <a:prstGeom prst="rect">
            <a:avLst/>
          </a:prstGeom>
          <a:noFill/>
        </p:spPr>
        <p:txBody>
          <a:bodyPr wrap="square">
            <a:spAutoFit/>
          </a:bodyPr>
          <a:lstStyle/>
          <a:p>
            <a:pPr marL="342900" indent="-342900">
              <a:buFont typeface="Arial" panose="020B0604020202020204" pitchFamily="34" charset="0"/>
              <a:buChar char="•"/>
            </a:pPr>
            <a:r>
              <a:rPr lang="en-GB" sz="2000" dirty="0" err="1">
                <a:latin typeface="Trebuchet MS" panose="020B0603020202020204" pitchFamily="34" charset="0"/>
                <a:cs typeface="Helvetica" panose="020B0604020202020204" pitchFamily="34" charset="0"/>
              </a:rPr>
              <a:t>encryptionKeyFile</a:t>
            </a:r>
            <a:r>
              <a:rPr lang="en-GB" sz="2000" dirty="0">
                <a:latin typeface="Helvetica" panose="020B0604020202020204" pitchFamily="34" charset="0"/>
                <a:cs typeface="Helvetica" panose="020B0604020202020204" pitchFamily="34" charset="0"/>
              </a:rPr>
              <a:t>: File containing the encryption key.</a:t>
            </a:r>
          </a:p>
        </p:txBody>
      </p:sp>
      <p:sp>
        <p:nvSpPr>
          <p:cNvPr id="10" name="TextBox 9">
            <a:extLst>
              <a:ext uri="{FF2B5EF4-FFF2-40B4-BE49-F238E27FC236}">
                <a16:creationId xmlns:a16="http://schemas.microsoft.com/office/drawing/2014/main" id="{79FDE9C8-9366-87E7-C88E-FB328680359B}"/>
              </a:ext>
            </a:extLst>
          </p:cNvPr>
          <p:cNvSpPr txBox="1"/>
          <p:nvPr/>
        </p:nvSpPr>
        <p:spPr>
          <a:xfrm>
            <a:off x="377825" y="4618060"/>
            <a:ext cx="9132888" cy="707886"/>
          </a:xfrm>
          <a:prstGeom prst="rect">
            <a:avLst/>
          </a:prstGeom>
          <a:noFill/>
        </p:spPr>
        <p:txBody>
          <a:bodyPr wrap="square">
            <a:spAutoFit/>
          </a:bodyPr>
          <a:lstStyle/>
          <a:p>
            <a:pPr marL="342900" indent="-342900">
              <a:buFont typeface="Arial" panose="020B0604020202020204" pitchFamily="34" charset="0"/>
              <a:buChar char="•"/>
            </a:pPr>
            <a:r>
              <a:rPr lang="en-GB" sz="2000" dirty="0">
                <a:latin typeface="Helvetica" panose="020B0604020202020204" pitchFamily="34" charset="0"/>
                <a:cs typeface="Helvetica" panose="020B0604020202020204" pitchFamily="34" charset="0"/>
              </a:rPr>
              <a:t>Supports integration with Key Management Systems (KMS) like AWS KMS, Azure Key Vault, and Google Cloud KMS for secure key storage.</a:t>
            </a:r>
            <a:endParaRPr lang="en-GB" dirty="0">
              <a:latin typeface="Helvetica" panose="020B0604020202020204" pitchFamily="34" charset="0"/>
              <a:cs typeface="Helvetica" panose="020B0604020202020204" pitchFamily="34" charset="0"/>
            </a:endParaRPr>
          </a:p>
        </p:txBody>
      </p:sp>
      <p:sp>
        <p:nvSpPr>
          <p:cNvPr id="4" name="TextBox 3">
            <a:extLst>
              <a:ext uri="{FF2B5EF4-FFF2-40B4-BE49-F238E27FC236}">
                <a16:creationId xmlns:a16="http://schemas.microsoft.com/office/drawing/2014/main" id="{7F0F8E2D-CF81-2264-6430-2218C39DB3FC}"/>
              </a:ext>
            </a:extLst>
          </p:cNvPr>
          <p:cNvSpPr txBox="1"/>
          <p:nvPr/>
        </p:nvSpPr>
        <p:spPr>
          <a:xfrm>
            <a:off x="2788091" y="2097681"/>
            <a:ext cx="4464496" cy="1015663"/>
          </a:xfrm>
          <a:prstGeom prst="rect">
            <a:avLst/>
          </a:prstGeom>
          <a:solidFill>
            <a:schemeClr val="bg2">
              <a:lumMod val="75000"/>
            </a:schemeClr>
          </a:solidFill>
        </p:spPr>
        <p:txBody>
          <a:bodyPr wrap="square">
            <a:spAutoFit/>
          </a:bodyPr>
          <a:lstStyle/>
          <a:p>
            <a:r>
              <a:rPr lang="en-GB" sz="2000" dirty="0">
                <a:latin typeface="Trebuchet MS" panose="020B0603020202020204" pitchFamily="34" charset="0"/>
              </a:rPr>
              <a:t>security:</a:t>
            </a:r>
          </a:p>
          <a:p>
            <a:r>
              <a:rPr lang="en-GB" sz="2000" dirty="0">
                <a:latin typeface="Trebuchet MS" panose="020B0603020202020204" pitchFamily="34" charset="0"/>
              </a:rPr>
              <a:t>  </a:t>
            </a:r>
            <a:r>
              <a:rPr lang="en-GB" sz="2000" dirty="0" err="1">
                <a:latin typeface="Trebuchet MS" panose="020B0603020202020204" pitchFamily="34" charset="0"/>
              </a:rPr>
              <a:t>enableEncryption</a:t>
            </a:r>
            <a:r>
              <a:rPr lang="en-GB" sz="2000" dirty="0">
                <a:latin typeface="Trebuchet MS" panose="020B0603020202020204" pitchFamily="34" charset="0"/>
              </a:rPr>
              <a:t>: true</a:t>
            </a:r>
          </a:p>
          <a:p>
            <a:r>
              <a:rPr lang="en-GB" sz="2000" dirty="0">
                <a:latin typeface="Trebuchet MS" panose="020B0603020202020204" pitchFamily="34" charset="0"/>
              </a:rPr>
              <a:t>  </a:t>
            </a:r>
            <a:r>
              <a:rPr lang="en-GB" sz="2000" dirty="0" err="1">
                <a:latin typeface="Trebuchet MS" panose="020B0603020202020204" pitchFamily="34" charset="0"/>
              </a:rPr>
              <a:t>encryptionKeyFile</a:t>
            </a:r>
            <a:r>
              <a:rPr lang="en-GB" sz="2000" dirty="0">
                <a:latin typeface="Trebuchet MS" panose="020B0603020202020204" pitchFamily="34" charset="0"/>
              </a:rPr>
              <a:t>: /path/to/</a:t>
            </a:r>
            <a:r>
              <a:rPr lang="en-GB" sz="2000" dirty="0" err="1">
                <a:latin typeface="Trebuchet MS" panose="020B0603020202020204" pitchFamily="34" charset="0"/>
              </a:rPr>
              <a:t>keyfile</a:t>
            </a:r>
            <a:endParaRPr lang="en-GB" sz="2000" dirty="0">
              <a:latin typeface="Trebuchet MS" panose="020B0603020202020204" pitchFamily="34" charset="0"/>
            </a:endParaRPr>
          </a:p>
        </p:txBody>
      </p:sp>
    </p:spTree>
    <p:extLst>
      <p:ext uri="{BB962C8B-B14F-4D97-AF65-F5344CB8AC3E}">
        <p14:creationId xmlns:p14="http://schemas.microsoft.com/office/powerpoint/2010/main" val="581686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43147" y="0"/>
            <a:ext cx="9662853" cy="780762"/>
          </a:xfrm>
        </p:spPr>
        <p:txBody>
          <a:bodyPr/>
          <a:lstStyle/>
          <a:p>
            <a:r>
              <a:rPr lang="en-GB" sz="3000" dirty="0"/>
              <a:t>Best Practices for Encryption</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24</a:t>
            </a:fld>
            <a:endParaRPr lang="en-GB" dirty="0"/>
          </a:p>
        </p:txBody>
      </p:sp>
      <p:sp>
        <p:nvSpPr>
          <p:cNvPr id="9" name="TextBox 8">
            <a:extLst>
              <a:ext uri="{FF2B5EF4-FFF2-40B4-BE49-F238E27FC236}">
                <a16:creationId xmlns:a16="http://schemas.microsoft.com/office/drawing/2014/main" id="{B2563FBC-3BA6-2537-001F-00AF9EA81C88}"/>
              </a:ext>
            </a:extLst>
          </p:cNvPr>
          <p:cNvSpPr txBox="1"/>
          <p:nvPr/>
        </p:nvSpPr>
        <p:spPr>
          <a:xfrm>
            <a:off x="349744" y="780762"/>
            <a:ext cx="9008631" cy="4093428"/>
          </a:xfrm>
          <a:prstGeom prst="rect">
            <a:avLst/>
          </a:prstGeom>
          <a:noFill/>
        </p:spPr>
        <p:txBody>
          <a:bodyPr wrap="square">
            <a:spAutoFit/>
          </a:bodyPr>
          <a:lstStyle/>
          <a:p>
            <a:endParaRPr lang="en-GB" sz="2000" b="1" dirty="0">
              <a:latin typeface="Helvetica" panose="020B0604020202020204" pitchFamily="34" charset="0"/>
              <a:cs typeface="Helvetica" panose="020B0604020202020204" pitchFamily="34" charset="0"/>
            </a:endParaRPr>
          </a:p>
          <a:p>
            <a:pPr marL="342900" indent="-342900">
              <a:buFont typeface="Wingdings 2" panose="05020102010507070707" pitchFamily="18" charset="2"/>
              <a:buChar char="R"/>
            </a:pPr>
            <a:r>
              <a:rPr lang="en-GB" sz="2000" dirty="0">
                <a:latin typeface="Helvetica" panose="020B0604020202020204" pitchFamily="34" charset="0"/>
                <a:cs typeface="Helvetica" panose="020B0604020202020204" pitchFamily="34" charset="0"/>
              </a:rPr>
              <a:t>Use TLS/SSL for all communications between clients, servers, and replicas.</a:t>
            </a:r>
          </a:p>
          <a:p>
            <a:pPr marL="342900" indent="-342900">
              <a:buFont typeface="Wingdings 2" panose="05020102010507070707" pitchFamily="18" charset="2"/>
              <a:buChar char="R"/>
            </a:pPr>
            <a:endParaRPr lang="en-GB" sz="2000" dirty="0">
              <a:latin typeface="Helvetica" panose="020B0604020202020204" pitchFamily="34" charset="0"/>
              <a:cs typeface="Helvetica" panose="020B0604020202020204" pitchFamily="34" charset="0"/>
            </a:endParaRPr>
          </a:p>
          <a:p>
            <a:pPr marL="342900" indent="-342900">
              <a:buFont typeface="Wingdings 2" panose="05020102010507070707" pitchFamily="18" charset="2"/>
              <a:buChar char="R"/>
            </a:pPr>
            <a:r>
              <a:rPr lang="en-GB" sz="2000" dirty="0">
                <a:latin typeface="Helvetica" panose="020B0604020202020204" pitchFamily="34" charset="0"/>
                <a:cs typeface="Helvetica" panose="020B0604020202020204" pitchFamily="34" charset="0"/>
              </a:rPr>
              <a:t>Enable encryption at rest for sensitive or regulated data.</a:t>
            </a:r>
          </a:p>
          <a:p>
            <a:pPr marL="342900" indent="-342900">
              <a:buFont typeface="Wingdings 2" panose="05020102010507070707" pitchFamily="18" charset="2"/>
              <a:buChar char="R"/>
            </a:pPr>
            <a:endParaRPr lang="en-GB" sz="2000" dirty="0">
              <a:latin typeface="Helvetica" panose="020B0604020202020204" pitchFamily="34" charset="0"/>
              <a:cs typeface="Helvetica" panose="020B0604020202020204" pitchFamily="34" charset="0"/>
            </a:endParaRPr>
          </a:p>
          <a:p>
            <a:pPr marL="342900" indent="-342900">
              <a:buFont typeface="Wingdings 2" panose="05020102010507070707" pitchFamily="18" charset="2"/>
              <a:buChar char="R"/>
            </a:pPr>
            <a:r>
              <a:rPr lang="en-GB" sz="2000" dirty="0">
                <a:latin typeface="Helvetica" panose="020B0604020202020204" pitchFamily="34" charset="0"/>
                <a:cs typeface="Helvetica" panose="020B0604020202020204" pitchFamily="34" charset="0"/>
              </a:rPr>
              <a:t>Rotate encryption keys periodically and store them securely (preferably in a KMS).</a:t>
            </a:r>
          </a:p>
          <a:p>
            <a:pPr marL="342900" indent="-342900">
              <a:buFont typeface="Wingdings 2" panose="05020102010507070707" pitchFamily="18" charset="2"/>
              <a:buChar char="R"/>
            </a:pPr>
            <a:endParaRPr lang="en-GB" sz="2000" dirty="0">
              <a:latin typeface="Helvetica" panose="020B0604020202020204" pitchFamily="34" charset="0"/>
              <a:cs typeface="Helvetica" panose="020B0604020202020204" pitchFamily="34" charset="0"/>
            </a:endParaRPr>
          </a:p>
          <a:p>
            <a:pPr marL="342900" indent="-342900">
              <a:buFont typeface="Wingdings 2" panose="05020102010507070707" pitchFamily="18" charset="2"/>
              <a:buChar char="R"/>
            </a:pPr>
            <a:r>
              <a:rPr lang="en-GB" sz="2000" dirty="0">
                <a:latin typeface="Helvetica" panose="020B0604020202020204" pitchFamily="34" charset="0"/>
                <a:cs typeface="Helvetica" panose="020B0604020202020204" pitchFamily="34" charset="0"/>
              </a:rPr>
              <a:t>Regularly test encryption configurations to ensure they are working correctly.</a:t>
            </a:r>
          </a:p>
          <a:p>
            <a:pPr marL="342900" indent="-342900">
              <a:buFont typeface="Wingdings 2" panose="05020102010507070707" pitchFamily="18" charset="2"/>
              <a:buChar char="R"/>
            </a:pPr>
            <a:endParaRPr lang="en-GB" sz="2000" dirty="0">
              <a:latin typeface="Helvetica" panose="020B0604020202020204" pitchFamily="34" charset="0"/>
              <a:cs typeface="Helvetica" panose="020B0604020202020204" pitchFamily="34" charset="0"/>
            </a:endParaRPr>
          </a:p>
          <a:p>
            <a:pPr marL="342900" indent="-342900">
              <a:buFont typeface="Wingdings 2" panose="05020102010507070707" pitchFamily="18" charset="2"/>
              <a:buChar char="R"/>
            </a:pPr>
            <a:r>
              <a:rPr lang="en-GB" sz="2000" dirty="0">
                <a:latin typeface="Helvetica" panose="020B0604020202020204" pitchFamily="34" charset="0"/>
                <a:cs typeface="Helvetica" panose="020B0604020202020204" pitchFamily="34" charset="0"/>
              </a:rPr>
              <a:t>Monitor encrypted environments to detect misconfigurations or breaches.</a:t>
            </a:r>
          </a:p>
        </p:txBody>
      </p:sp>
    </p:spTree>
    <p:extLst>
      <p:ext uri="{BB962C8B-B14F-4D97-AF65-F5344CB8AC3E}">
        <p14:creationId xmlns:p14="http://schemas.microsoft.com/office/powerpoint/2010/main" val="3278967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43147" y="0"/>
            <a:ext cx="9662853" cy="780762"/>
          </a:xfrm>
        </p:spPr>
        <p:txBody>
          <a:bodyPr/>
          <a:lstStyle/>
          <a:p>
            <a:r>
              <a:rPr lang="en-GB" sz="3000" dirty="0"/>
              <a:t>Best Practices for MongoDB Security</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25</a:t>
            </a:fld>
            <a:endParaRPr lang="en-GB" dirty="0"/>
          </a:p>
        </p:txBody>
      </p:sp>
      <p:sp>
        <p:nvSpPr>
          <p:cNvPr id="9" name="TextBox 8">
            <a:extLst>
              <a:ext uri="{FF2B5EF4-FFF2-40B4-BE49-F238E27FC236}">
                <a16:creationId xmlns:a16="http://schemas.microsoft.com/office/drawing/2014/main" id="{B2563FBC-3BA6-2537-001F-00AF9EA81C88}"/>
              </a:ext>
            </a:extLst>
          </p:cNvPr>
          <p:cNvSpPr txBox="1"/>
          <p:nvPr/>
        </p:nvSpPr>
        <p:spPr>
          <a:xfrm>
            <a:off x="502082" y="980728"/>
            <a:ext cx="9008631" cy="4093428"/>
          </a:xfrm>
          <a:prstGeom prst="rect">
            <a:avLst/>
          </a:prstGeom>
          <a:noFill/>
        </p:spPr>
        <p:txBody>
          <a:bodyPr wrap="square">
            <a:spAutoFit/>
          </a:bodyPr>
          <a:lstStyle/>
          <a:p>
            <a:pPr marL="342900" indent="-342900">
              <a:buFont typeface="Wingdings 2" panose="05020102010507070707" pitchFamily="18" charset="2"/>
              <a:buChar char="R"/>
            </a:pPr>
            <a:r>
              <a:rPr lang="en-GB" sz="2000" dirty="0">
                <a:latin typeface="Helvetica" panose="020B0604020202020204" pitchFamily="34" charset="0"/>
                <a:cs typeface="Helvetica" panose="020B0604020202020204" pitchFamily="34" charset="0"/>
              </a:rPr>
              <a:t>Always enable authentication and use strong passwords.</a:t>
            </a:r>
          </a:p>
          <a:p>
            <a:pPr marL="342900" indent="-342900">
              <a:buFont typeface="Wingdings 2" panose="05020102010507070707" pitchFamily="18" charset="2"/>
              <a:buChar char="R"/>
            </a:pPr>
            <a:endParaRPr lang="en-GB" sz="2000" dirty="0">
              <a:latin typeface="Helvetica" panose="020B0604020202020204" pitchFamily="34" charset="0"/>
              <a:cs typeface="Helvetica" panose="020B0604020202020204" pitchFamily="34" charset="0"/>
            </a:endParaRPr>
          </a:p>
          <a:p>
            <a:pPr marL="342900" indent="-342900">
              <a:buFont typeface="Wingdings 2" panose="05020102010507070707" pitchFamily="18" charset="2"/>
              <a:buChar char="R"/>
            </a:pPr>
            <a:r>
              <a:rPr lang="en-GB" sz="2000" dirty="0">
                <a:latin typeface="Helvetica" panose="020B0604020202020204" pitchFamily="34" charset="0"/>
                <a:cs typeface="Helvetica" panose="020B0604020202020204" pitchFamily="34" charset="0"/>
              </a:rPr>
              <a:t>Restrict access to the database server using firewalls and IP whitelisting.</a:t>
            </a:r>
          </a:p>
          <a:p>
            <a:pPr marL="800100" lvl="1" indent="-342900">
              <a:buFont typeface="Arial" panose="020B0604020202020204" pitchFamily="34" charset="0"/>
              <a:buChar char="•"/>
            </a:pPr>
            <a:r>
              <a:rPr lang="en-GB" sz="2000" dirty="0">
                <a:latin typeface="Helvetica" panose="020B0604020202020204" pitchFamily="34" charset="0"/>
                <a:cs typeface="Helvetica" panose="020B0604020202020204" pitchFamily="34" charset="0"/>
              </a:rPr>
              <a:t>IP whitelisting: Restricting database access to specific IP addresses.</a:t>
            </a:r>
          </a:p>
          <a:p>
            <a:pPr marL="800100" lvl="1" indent="-342900">
              <a:buFont typeface="Arial" panose="020B0604020202020204" pitchFamily="34" charset="0"/>
              <a:buChar char="•"/>
            </a:pPr>
            <a:endParaRPr lang="en-GB" sz="2000" dirty="0">
              <a:latin typeface="Helvetica" panose="020B0604020202020204" pitchFamily="34" charset="0"/>
              <a:cs typeface="Helvetica" panose="020B0604020202020204" pitchFamily="34" charset="0"/>
            </a:endParaRPr>
          </a:p>
          <a:p>
            <a:pPr marL="342900" indent="-342900">
              <a:buFont typeface="Wingdings 2" panose="05020102010507070707" pitchFamily="18" charset="2"/>
              <a:buChar char="R"/>
            </a:pPr>
            <a:r>
              <a:rPr lang="en-GB" sz="2000" dirty="0">
                <a:latin typeface="Helvetica" panose="020B0604020202020204" pitchFamily="34" charset="0"/>
                <a:cs typeface="Helvetica" panose="020B0604020202020204" pitchFamily="34" charset="0"/>
              </a:rPr>
              <a:t>Use encryption for data in transit and at rest.</a:t>
            </a:r>
          </a:p>
          <a:p>
            <a:pPr marL="342900" indent="-342900">
              <a:buFont typeface="Wingdings 2" panose="05020102010507070707" pitchFamily="18" charset="2"/>
              <a:buChar char="R"/>
            </a:pPr>
            <a:endParaRPr lang="en-GB" sz="2000" dirty="0">
              <a:latin typeface="Helvetica" panose="020B0604020202020204" pitchFamily="34" charset="0"/>
              <a:cs typeface="Helvetica" panose="020B0604020202020204" pitchFamily="34" charset="0"/>
            </a:endParaRPr>
          </a:p>
          <a:p>
            <a:pPr marL="342900" indent="-342900">
              <a:buFont typeface="Wingdings 2" panose="05020102010507070707" pitchFamily="18" charset="2"/>
              <a:buChar char="R"/>
            </a:pPr>
            <a:r>
              <a:rPr lang="en-GB" sz="2000" dirty="0">
                <a:latin typeface="Helvetica" panose="020B0604020202020204" pitchFamily="34" charset="0"/>
                <a:cs typeface="Helvetica" panose="020B0604020202020204" pitchFamily="34" charset="0"/>
              </a:rPr>
              <a:t>Regularly update MongoDB to the latest version to patch vulnerabilities.</a:t>
            </a:r>
          </a:p>
          <a:p>
            <a:pPr marL="342900" indent="-342900">
              <a:buFont typeface="Wingdings 2" panose="05020102010507070707" pitchFamily="18" charset="2"/>
              <a:buChar char="R"/>
            </a:pPr>
            <a:endParaRPr lang="en-GB" sz="2000" dirty="0">
              <a:latin typeface="Helvetica" panose="020B0604020202020204" pitchFamily="34" charset="0"/>
              <a:cs typeface="Helvetica" panose="020B0604020202020204" pitchFamily="34" charset="0"/>
            </a:endParaRPr>
          </a:p>
          <a:p>
            <a:pPr marL="342900" indent="-342900">
              <a:buFont typeface="Wingdings 2" panose="05020102010507070707" pitchFamily="18" charset="2"/>
              <a:buChar char="R"/>
            </a:pPr>
            <a:r>
              <a:rPr lang="en-GB" sz="2000" dirty="0">
                <a:latin typeface="Helvetica" panose="020B0604020202020204" pitchFamily="34" charset="0"/>
                <a:cs typeface="Helvetica" panose="020B0604020202020204" pitchFamily="34" charset="0"/>
              </a:rPr>
              <a:t>Audit and monitor database activity to detect suspicious behaviour.</a:t>
            </a:r>
          </a:p>
          <a:p>
            <a:pPr marL="342900" indent="-342900">
              <a:buFont typeface="Wingdings 2" panose="05020102010507070707" pitchFamily="18" charset="2"/>
              <a:buChar char="R"/>
            </a:pPr>
            <a:endParaRPr lang="en-GB" sz="2000" dirty="0">
              <a:latin typeface="Helvetica" panose="020B0604020202020204" pitchFamily="34" charset="0"/>
              <a:cs typeface="Helvetica" panose="020B0604020202020204" pitchFamily="34" charset="0"/>
            </a:endParaRPr>
          </a:p>
          <a:p>
            <a:pPr marL="342900" indent="-342900">
              <a:buFont typeface="Wingdings 2" panose="05020102010507070707" pitchFamily="18" charset="2"/>
              <a:buChar char="R"/>
            </a:pPr>
            <a:r>
              <a:rPr lang="en-GB" sz="2000" dirty="0">
                <a:latin typeface="Helvetica" panose="020B0604020202020204" pitchFamily="34" charset="0"/>
                <a:cs typeface="Helvetica" panose="020B0604020202020204" pitchFamily="34" charset="0"/>
              </a:rPr>
              <a:t>Avoid using root roles for regular tasks; follow the principle of least privilege.</a:t>
            </a:r>
          </a:p>
        </p:txBody>
      </p:sp>
    </p:spTree>
    <p:extLst>
      <p:ext uri="{BB962C8B-B14F-4D97-AF65-F5344CB8AC3E}">
        <p14:creationId xmlns:p14="http://schemas.microsoft.com/office/powerpoint/2010/main" val="1142169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227605" y="0"/>
            <a:ext cx="9662853" cy="780762"/>
          </a:xfrm>
        </p:spPr>
        <p:txBody>
          <a:bodyPr/>
          <a:lstStyle/>
          <a:p>
            <a:r>
              <a:rPr lang="en-GB" sz="2800" dirty="0"/>
              <a:t>Scenario: Using MongoDB for an IoT-Based Smart Healthcare Application</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26</a:t>
            </a:fld>
            <a:endParaRPr lang="en-GB" dirty="0"/>
          </a:p>
        </p:txBody>
      </p:sp>
      <p:sp>
        <p:nvSpPr>
          <p:cNvPr id="5" name="TextBox 4">
            <a:extLst>
              <a:ext uri="{FF2B5EF4-FFF2-40B4-BE49-F238E27FC236}">
                <a16:creationId xmlns:a16="http://schemas.microsoft.com/office/drawing/2014/main" id="{2F17F2C0-2AE1-E764-4703-220FD190AC68}"/>
              </a:ext>
            </a:extLst>
          </p:cNvPr>
          <p:cNvSpPr txBox="1"/>
          <p:nvPr/>
        </p:nvSpPr>
        <p:spPr>
          <a:xfrm>
            <a:off x="345761" y="908720"/>
            <a:ext cx="9073008" cy="4093428"/>
          </a:xfrm>
          <a:prstGeom prst="rect">
            <a:avLst/>
          </a:prstGeom>
          <a:noFill/>
        </p:spPr>
        <p:txBody>
          <a:bodyPr wrap="square">
            <a:spAutoFit/>
          </a:bodyPr>
          <a:lstStyle/>
          <a:p>
            <a:r>
              <a:rPr lang="en-GB" sz="2000" dirty="0">
                <a:latin typeface="Helvetica" panose="020B0604020202020204" pitchFamily="34" charset="0"/>
                <a:cs typeface="Helvetica" panose="020B0604020202020204" pitchFamily="34" charset="0"/>
              </a:rPr>
              <a:t>Imagine a smart healthcare application that uses IoT devices (such as wearable fitness trackers, smart insulin pumps, and connected heart monitors) to continuously monitor patients’ health. Data from these IoT devices is collected, stored, and analysed in real-time using MongoDB as the backend database.</a:t>
            </a:r>
          </a:p>
          <a:p>
            <a:endParaRPr lang="en-GB" sz="2000" dirty="0">
              <a:latin typeface="Helvetica" panose="020B0604020202020204" pitchFamily="34" charset="0"/>
              <a:cs typeface="Helvetica" panose="020B0604020202020204" pitchFamily="34" charset="0"/>
            </a:endParaRPr>
          </a:p>
          <a:p>
            <a:r>
              <a:rPr lang="en-GB" sz="2000" dirty="0">
                <a:latin typeface="Helvetica" panose="020B0604020202020204" pitchFamily="34" charset="0"/>
                <a:cs typeface="Helvetica" panose="020B0604020202020204" pitchFamily="34" charset="0"/>
              </a:rPr>
              <a:t>The application provides critical features:</a:t>
            </a:r>
          </a:p>
          <a:p>
            <a:pPr marL="342900" indent="-34290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Real-Time Monitoring: </a:t>
            </a:r>
            <a:r>
              <a:rPr lang="en-GB" sz="2000" dirty="0">
                <a:latin typeface="Helvetica" panose="020B0604020202020204" pitchFamily="34" charset="0"/>
                <a:cs typeface="Helvetica" panose="020B0604020202020204" pitchFamily="34" charset="0"/>
              </a:rPr>
              <a:t>Tracks vital signs like heart rate, blood sugar levels, and blood pressure.</a:t>
            </a:r>
          </a:p>
          <a:p>
            <a:pPr marL="342900" indent="-34290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Alerts and Notifications: </a:t>
            </a:r>
            <a:r>
              <a:rPr lang="en-GB" sz="2000" dirty="0">
                <a:latin typeface="Helvetica" panose="020B0604020202020204" pitchFamily="34" charset="0"/>
                <a:cs typeface="Helvetica" panose="020B0604020202020204" pitchFamily="34" charset="0"/>
              </a:rPr>
              <a:t>Sends alerts to doctors and family members in case of abnormal readings.</a:t>
            </a:r>
          </a:p>
          <a:p>
            <a:pPr marL="342900" indent="-342900">
              <a:buFont typeface="Arial" panose="020B0604020202020204" pitchFamily="34" charset="0"/>
              <a:buChar char="•"/>
            </a:pPr>
            <a:r>
              <a:rPr lang="en-GB" sz="2000" b="1" dirty="0">
                <a:latin typeface="Helvetica" panose="020B0604020202020204" pitchFamily="34" charset="0"/>
                <a:cs typeface="Helvetica" panose="020B0604020202020204" pitchFamily="34" charset="0"/>
              </a:rPr>
              <a:t>Health History and Analytics: </a:t>
            </a:r>
            <a:r>
              <a:rPr lang="en-GB" sz="2000" dirty="0">
                <a:latin typeface="Helvetica" panose="020B0604020202020204" pitchFamily="34" charset="0"/>
                <a:cs typeface="Helvetica" panose="020B0604020202020204" pitchFamily="34" charset="0"/>
              </a:rPr>
              <a:t>Stores and analyses historical data to generate insights and predictions for personalized healthcare.</a:t>
            </a:r>
          </a:p>
        </p:txBody>
      </p:sp>
      <p:sp>
        <p:nvSpPr>
          <p:cNvPr id="10" name="TextBox 9">
            <a:extLst>
              <a:ext uri="{FF2B5EF4-FFF2-40B4-BE49-F238E27FC236}">
                <a16:creationId xmlns:a16="http://schemas.microsoft.com/office/drawing/2014/main" id="{A4450874-78B6-62FA-B6A5-7049B77FCA88}"/>
              </a:ext>
            </a:extLst>
          </p:cNvPr>
          <p:cNvSpPr txBox="1"/>
          <p:nvPr/>
        </p:nvSpPr>
        <p:spPr>
          <a:xfrm>
            <a:off x="1028564" y="5254225"/>
            <a:ext cx="7848872" cy="830997"/>
          </a:xfrm>
          <a:prstGeom prst="rect">
            <a:avLst/>
          </a:prstGeom>
          <a:solidFill>
            <a:srgbClr val="FFD03B"/>
          </a:solidFill>
        </p:spPr>
        <p:txBody>
          <a:bodyPr wrap="square">
            <a:spAutoFit/>
          </a:bodyPr>
          <a:lstStyle/>
          <a:p>
            <a:pPr algn="ctr"/>
            <a:r>
              <a:rPr lang="en-GB" sz="2400" dirty="0">
                <a:latin typeface="Helvetica" panose="020B0604020202020204" pitchFamily="34" charset="0"/>
                <a:cs typeface="Helvetica" panose="020B0604020202020204" pitchFamily="34" charset="0"/>
              </a:rPr>
              <a:t>What potential security concerns can you identify for this application?</a:t>
            </a:r>
          </a:p>
        </p:txBody>
      </p:sp>
    </p:spTree>
    <p:extLst>
      <p:ext uri="{BB962C8B-B14F-4D97-AF65-F5344CB8AC3E}">
        <p14:creationId xmlns:p14="http://schemas.microsoft.com/office/powerpoint/2010/main" val="2953361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3D453-4D7B-47BF-AED4-27D56C3644AA}"/>
              </a:ext>
            </a:extLst>
          </p:cNvPr>
          <p:cNvSpPr>
            <a:spLocks noGrp="1"/>
          </p:cNvSpPr>
          <p:nvPr>
            <p:ph type="title"/>
          </p:nvPr>
        </p:nvSpPr>
        <p:spPr>
          <a:xfrm>
            <a:off x="488504" y="0"/>
            <a:ext cx="9937104" cy="780762"/>
          </a:xfrm>
        </p:spPr>
        <p:txBody>
          <a:bodyPr/>
          <a:lstStyle/>
          <a:p>
            <a:r>
              <a:rPr lang="en-GB" sz="3200" dirty="0"/>
              <a:t>Thoughts on Potential Security Concerns</a:t>
            </a:r>
          </a:p>
        </p:txBody>
      </p:sp>
      <p:sp>
        <p:nvSpPr>
          <p:cNvPr id="7" name="Footer Placeholder 4"/>
          <p:cNvSpPr>
            <a:spLocks noGrp="1"/>
          </p:cNvSpPr>
          <p:nvPr>
            <p:ph type="ftr" sz="quarter" idx="11"/>
          </p:nvPr>
        </p:nvSpPr>
        <p:spPr/>
        <p:txBody>
          <a:bodyPr/>
          <a:lstStyle/>
          <a:p>
            <a:pPr>
              <a:spcAft>
                <a:spcPts val="600"/>
              </a:spcAft>
              <a:defRPr/>
            </a:pPr>
            <a:r>
              <a:rPr lang="en-GB" dirty="0"/>
              <a:t>COS6009-B: Large Scale Data Driven Applications</a:t>
            </a:r>
          </a:p>
        </p:txBody>
      </p:sp>
      <p:sp>
        <p:nvSpPr>
          <p:cNvPr id="6" name="Slide Number Placeholder 5">
            <a:extLst>
              <a:ext uri="{FF2B5EF4-FFF2-40B4-BE49-F238E27FC236}">
                <a16:creationId xmlns:a16="http://schemas.microsoft.com/office/drawing/2014/main" id="{6DF22B76-0D3D-4667-8BB1-AEF252C0879B}"/>
              </a:ext>
            </a:extLst>
          </p:cNvPr>
          <p:cNvSpPr>
            <a:spLocks noGrp="1"/>
          </p:cNvSpPr>
          <p:nvPr>
            <p:ph type="sldNum" sz="quarter" idx="12"/>
          </p:nvPr>
        </p:nvSpPr>
        <p:spPr/>
        <p:txBody>
          <a:bodyPr/>
          <a:lstStyle/>
          <a:p>
            <a:pPr>
              <a:defRPr/>
            </a:pPr>
            <a:fld id="{09B5ADBA-EE88-1840-8B71-40682D165005}" type="slidenum">
              <a:rPr lang="en-GB" smtClean="0"/>
              <a:pPr>
                <a:defRPr/>
              </a:pPr>
              <a:t>27</a:t>
            </a:fld>
            <a:endParaRPr lang="en-GB" dirty="0"/>
          </a:p>
        </p:txBody>
      </p:sp>
      <p:sp>
        <p:nvSpPr>
          <p:cNvPr id="9" name="TextBox 8">
            <a:extLst>
              <a:ext uri="{FF2B5EF4-FFF2-40B4-BE49-F238E27FC236}">
                <a16:creationId xmlns:a16="http://schemas.microsoft.com/office/drawing/2014/main" id="{324E0D25-B09F-A254-3CF8-2548CFB73BC4}"/>
              </a:ext>
            </a:extLst>
          </p:cNvPr>
          <p:cNvSpPr txBox="1"/>
          <p:nvPr/>
        </p:nvSpPr>
        <p:spPr>
          <a:xfrm>
            <a:off x="380492" y="882536"/>
            <a:ext cx="9325036" cy="5324535"/>
          </a:xfrm>
          <a:prstGeom prst="rect">
            <a:avLst/>
          </a:prstGeom>
          <a:noFill/>
        </p:spPr>
        <p:txBody>
          <a:bodyPr wrap="square">
            <a:spAutoFit/>
          </a:bodyPr>
          <a:lstStyle/>
          <a:p>
            <a:r>
              <a:rPr lang="en-GB" sz="2000" b="1" dirty="0">
                <a:latin typeface="Helvetica" panose="020B0604020202020204" pitchFamily="34" charset="0"/>
                <a:cs typeface="Helvetica" panose="020B0604020202020204" pitchFamily="34" charset="0"/>
              </a:rPr>
              <a:t>Unencrypted Communication: </a:t>
            </a:r>
            <a:r>
              <a:rPr lang="en-GB" sz="2000" dirty="0">
                <a:latin typeface="Helvetica" panose="020B0604020202020204" pitchFamily="34" charset="0"/>
                <a:cs typeface="Helvetica" panose="020B0604020202020204" pitchFamily="34" charset="0"/>
              </a:rPr>
              <a:t>Real-time data from IoT devices is transmitted to MongoDB without TLS encryption, making it vulnerable to interception.</a:t>
            </a:r>
          </a:p>
          <a:p>
            <a:endParaRPr lang="en-GB" sz="2000" dirty="0">
              <a:latin typeface="Helvetica" panose="020B0604020202020204" pitchFamily="34" charset="0"/>
              <a:cs typeface="Helvetica" panose="020B0604020202020204" pitchFamily="34" charset="0"/>
            </a:endParaRPr>
          </a:p>
          <a:p>
            <a:r>
              <a:rPr lang="en-GB" sz="2000" b="1" dirty="0">
                <a:latin typeface="Helvetica" panose="020B0604020202020204" pitchFamily="34" charset="0"/>
                <a:cs typeface="Helvetica" panose="020B0604020202020204" pitchFamily="34" charset="0"/>
              </a:rPr>
              <a:t>Open Database Ports: </a:t>
            </a:r>
            <a:r>
              <a:rPr lang="en-GB" sz="2000" dirty="0">
                <a:latin typeface="Helvetica" panose="020B0604020202020204" pitchFamily="34" charset="0"/>
                <a:cs typeface="Helvetica" panose="020B0604020202020204" pitchFamily="34" charset="0"/>
              </a:rPr>
              <a:t>The MongoDB instance is exposed to the internet with no firewall or IP restrictions, making it susceptible to unauthorized access.</a:t>
            </a:r>
          </a:p>
          <a:p>
            <a:endParaRPr lang="en-GB" sz="2000" dirty="0">
              <a:latin typeface="Helvetica" panose="020B0604020202020204" pitchFamily="34" charset="0"/>
              <a:cs typeface="Helvetica" panose="020B0604020202020204" pitchFamily="34" charset="0"/>
            </a:endParaRPr>
          </a:p>
          <a:p>
            <a:r>
              <a:rPr lang="en-GB" sz="2000" b="1" dirty="0">
                <a:latin typeface="Helvetica" panose="020B0604020202020204" pitchFamily="34" charset="0"/>
                <a:cs typeface="Helvetica" panose="020B0604020202020204" pitchFamily="34" charset="0"/>
              </a:rPr>
              <a:t>Insufficient Authentication: </a:t>
            </a:r>
            <a:r>
              <a:rPr lang="en-GB" sz="2000" dirty="0">
                <a:latin typeface="Helvetica" panose="020B0604020202020204" pitchFamily="34" charset="0"/>
                <a:cs typeface="Helvetica" panose="020B0604020202020204" pitchFamily="34" charset="0"/>
              </a:rPr>
              <a:t>Database authentication is disabled, allowing anyone with the IP address to access patient data.</a:t>
            </a:r>
          </a:p>
          <a:p>
            <a:endParaRPr lang="en-GB" sz="2000" dirty="0">
              <a:latin typeface="Helvetica" panose="020B0604020202020204" pitchFamily="34" charset="0"/>
              <a:cs typeface="Helvetica" panose="020B0604020202020204" pitchFamily="34" charset="0"/>
            </a:endParaRPr>
          </a:p>
          <a:p>
            <a:r>
              <a:rPr lang="en-GB" sz="2000" b="1" dirty="0">
                <a:latin typeface="Helvetica" panose="020B0604020202020204" pitchFamily="34" charset="0"/>
                <a:cs typeface="Helvetica" panose="020B0604020202020204" pitchFamily="34" charset="0"/>
              </a:rPr>
              <a:t>Weak Authorisation Rules: </a:t>
            </a:r>
            <a:r>
              <a:rPr lang="en-GB" sz="2000" dirty="0">
                <a:latin typeface="Helvetica" panose="020B0604020202020204" pitchFamily="34" charset="0"/>
                <a:cs typeface="Helvetica" panose="020B0604020202020204" pitchFamily="34" charset="0"/>
              </a:rPr>
              <a:t>A junior developer was given admin-level access for convenience, violating the principle of least privilege.</a:t>
            </a:r>
          </a:p>
          <a:p>
            <a:endParaRPr lang="en-GB" sz="2000" dirty="0">
              <a:latin typeface="Helvetica" panose="020B0604020202020204" pitchFamily="34" charset="0"/>
              <a:cs typeface="Helvetica" panose="020B0604020202020204" pitchFamily="34" charset="0"/>
            </a:endParaRPr>
          </a:p>
          <a:p>
            <a:r>
              <a:rPr lang="en-GB" sz="2000" b="1" dirty="0">
                <a:latin typeface="Helvetica" panose="020B0604020202020204" pitchFamily="34" charset="0"/>
                <a:cs typeface="Helvetica" panose="020B0604020202020204" pitchFamily="34" charset="0"/>
              </a:rPr>
              <a:t>Audit Logs Missing: </a:t>
            </a:r>
            <a:r>
              <a:rPr lang="en-GB" sz="2000" dirty="0">
                <a:latin typeface="Helvetica" panose="020B0604020202020204" pitchFamily="34" charset="0"/>
                <a:cs typeface="Helvetica" panose="020B0604020202020204" pitchFamily="34" charset="0"/>
              </a:rPr>
              <a:t>No audit logging is configured, leaving no record of who accessed the database or what operations were performed.</a:t>
            </a:r>
          </a:p>
          <a:p>
            <a:endParaRPr lang="en-GB" sz="2000" dirty="0">
              <a:latin typeface="Helvetica" panose="020B0604020202020204" pitchFamily="34" charset="0"/>
              <a:cs typeface="Helvetica" panose="020B0604020202020204" pitchFamily="34" charset="0"/>
            </a:endParaRPr>
          </a:p>
          <a:p>
            <a:r>
              <a:rPr lang="en-GB" sz="2000" b="1" dirty="0">
                <a:latin typeface="Helvetica" panose="020B0604020202020204" pitchFamily="34" charset="0"/>
                <a:cs typeface="Helvetica" panose="020B0604020202020204" pitchFamily="34" charset="0"/>
              </a:rPr>
              <a:t>At-Rest Data Exposure: </a:t>
            </a:r>
            <a:r>
              <a:rPr lang="en-GB" sz="2000" dirty="0">
                <a:latin typeface="Helvetica" panose="020B0604020202020204" pitchFamily="34" charset="0"/>
                <a:cs typeface="Helvetica" panose="020B0604020202020204" pitchFamily="34" charset="0"/>
              </a:rPr>
              <a:t>The database does not use encryption at rest, making the data vulnerable if someone gains access to the physical server or storage.</a:t>
            </a:r>
            <a:endParaRPr lang="en-GB" sz="2000" dirty="0">
              <a:latin typeface="Trebuchet MS" panose="020B0603020202020204" pitchFamily="34" charset="0"/>
              <a:cs typeface="Helvetica" panose="020B0604020202020204" pitchFamily="34" charset="0"/>
            </a:endParaRPr>
          </a:p>
        </p:txBody>
      </p:sp>
    </p:spTree>
    <p:extLst>
      <p:ext uri="{BB962C8B-B14F-4D97-AF65-F5344CB8AC3E}">
        <p14:creationId xmlns:p14="http://schemas.microsoft.com/office/powerpoint/2010/main" val="24470308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6AC74A10-DE2D-4116-A2DE-523D729BAD57}"/>
              </a:ext>
            </a:extLst>
          </p:cNvPr>
          <p:cNvSpPr>
            <a:spLocks noGrp="1"/>
          </p:cNvSpPr>
          <p:nvPr>
            <p:ph type="sldNum" sz="quarter" idx="12"/>
          </p:nvPr>
        </p:nvSpPr>
        <p:spPr/>
        <p:txBody>
          <a:bodyPr/>
          <a:lstStyle/>
          <a:p>
            <a:pPr>
              <a:defRPr/>
            </a:pPr>
            <a:fld id="{09B5ADBA-EE88-1840-8B71-40682D165005}" type="slidenum">
              <a:rPr lang="en-GB" smtClean="0"/>
              <a:pPr>
                <a:defRPr/>
              </a:pPr>
              <a:t>28</a:t>
            </a:fld>
            <a:endParaRPr lang="en-GB" dirty="0"/>
          </a:p>
        </p:txBody>
      </p:sp>
      <p:sp>
        <p:nvSpPr>
          <p:cNvPr id="8" name="Content Placeholder 2">
            <a:extLst>
              <a:ext uri="{FF2B5EF4-FFF2-40B4-BE49-F238E27FC236}">
                <a16:creationId xmlns:a16="http://schemas.microsoft.com/office/drawing/2014/main" id="{0CAEA833-7FC5-4738-B55E-A41BE3BB8F6F}"/>
              </a:ext>
            </a:extLst>
          </p:cNvPr>
          <p:cNvSpPr txBox="1">
            <a:spLocks/>
          </p:cNvSpPr>
          <p:nvPr/>
        </p:nvSpPr>
        <p:spPr bwMode="auto">
          <a:xfrm>
            <a:off x="3800872" y="2996952"/>
            <a:ext cx="2160239" cy="576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normAutofit fontScale="85000" lnSpcReduction="10000"/>
          </a:bodyPr>
          <a:lstStyle>
            <a:lvl1pPr marL="342900" indent="-34290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1pPr>
            <a:lvl2pPr marL="742950" indent="-285750" algn="l" rtl="0" eaLnBrk="1" fontAlgn="base" hangingPunct="1">
              <a:spcBef>
                <a:spcPct val="20000"/>
              </a:spcBef>
              <a:spcAft>
                <a:spcPct val="0"/>
              </a:spcAft>
              <a:buFont typeface="Arial" charset="0"/>
              <a:buChar char="–"/>
              <a:defRPr sz="2400" kern="1200">
                <a:solidFill>
                  <a:schemeClr val="tx1"/>
                </a:solidFill>
                <a:latin typeface="Lucida Sans Unicode" panose="020B0602030504020204" pitchFamily="34" charset="0"/>
                <a:ea typeface="ＭＳ Ｐゴシック" charset="0"/>
                <a:cs typeface="Lucida Sans Unicode" panose="020B0602030504020204" pitchFamily="34" charset="0"/>
              </a:defRPr>
            </a:lvl2pPr>
            <a:lvl3pPr marL="1143000" indent="-228600" algn="l" rtl="0" eaLnBrk="1" fontAlgn="base" hangingPunct="1">
              <a:spcBef>
                <a:spcPct val="20000"/>
              </a:spcBef>
              <a:spcAft>
                <a:spcPct val="0"/>
              </a:spcAft>
              <a:buFont typeface="Arial" charset="0"/>
              <a:buChar char="•"/>
              <a:defRPr sz="2000" kern="1200">
                <a:solidFill>
                  <a:schemeClr val="tx1"/>
                </a:solidFill>
                <a:latin typeface="Lucida Sans Unicode" panose="020B0602030504020204" pitchFamily="34" charset="0"/>
                <a:ea typeface="ＭＳ Ｐゴシック" charset="0"/>
                <a:cs typeface="Lucida Sans Unicode" panose="020B0602030504020204" pitchFamily="34" charset="0"/>
              </a:defRPr>
            </a:lvl3pPr>
            <a:lvl4pPr marL="1600200" indent="-228600" algn="l" rtl="0" eaLnBrk="1" fontAlgn="base" hangingPunct="1">
              <a:spcBef>
                <a:spcPct val="20000"/>
              </a:spcBef>
              <a:spcAft>
                <a:spcPct val="0"/>
              </a:spcAft>
              <a:buFont typeface="Arial" charset="0"/>
              <a:buChar char="–"/>
              <a:defRPr sz="1800" kern="1200">
                <a:solidFill>
                  <a:schemeClr val="tx1"/>
                </a:solidFill>
                <a:latin typeface="Lucida Sans Unicode" panose="020B0602030504020204" pitchFamily="34" charset="0"/>
                <a:ea typeface="ＭＳ Ｐゴシック" charset="0"/>
                <a:cs typeface="Lucida Sans Unicode" panose="020B0602030504020204" pitchFamily="34" charset="0"/>
              </a:defRPr>
            </a:lvl4pPr>
            <a:lvl5pPr marL="2057400" indent="-228600" algn="l" rtl="0" eaLnBrk="1" fontAlgn="base" hangingPunct="1">
              <a:spcBef>
                <a:spcPct val="20000"/>
              </a:spcBef>
              <a:spcAft>
                <a:spcPct val="0"/>
              </a:spcAft>
              <a:buFont typeface="Arial" charset="0"/>
              <a:buChar char="»"/>
              <a:defRPr sz="1800" kern="1200">
                <a:solidFill>
                  <a:schemeClr val="tx1"/>
                </a:solidFill>
                <a:latin typeface="Lucida Sans Unicode" panose="020B0602030504020204" pitchFamily="34" charset="0"/>
                <a:ea typeface="ＭＳ Ｐゴシック" charset="0"/>
                <a:cs typeface="Lucida Sans Unicode" panose="020B0602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Clr>
                <a:srgbClr val="C00000"/>
              </a:buClr>
              <a:buNone/>
            </a:pPr>
            <a:r>
              <a:rPr lang="en-GB" sz="3600" dirty="0">
                <a:latin typeface="Comic Sans MS" panose="030F0702030302020204" pitchFamily="66" charset="0"/>
              </a:rPr>
              <a:t>Questions?</a:t>
            </a:r>
          </a:p>
        </p:txBody>
      </p:sp>
      <p:sp>
        <p:nvSpPr>
          <p:cNvPr id="13" name="Footer Placeholder 4">
            <a:extLst>
              <a:ext uri="{FF2B5EF4-FFF2-40B4-BE49-F238E27FC236}">
                <a16:creationId xmlns:a16="http://schemas.microsoft.com/office/drawing/2014/main" id="{B05BF201-15EA-4712-87E8-E69CA936FC58}"/>
              </a:ext>
            </a:extLst>
          </p:cNvPr>
          <p:cNvSpPr>
            <a:spLocks noGrp="1"/>
          </p:cNvSpPr>
          <p:nvPr>
            <p:ph type="ftr" sz="quarter" idx="11"/>
          </p:nvPr>
        </p:nvSpPr>
        <p:spPr>
          <a:xfrm>
            <a:off x="2864768" y="6337300"/>
            <a:ext cx="6645945" cy="365125"/>
          </a:xfrm>
        </p:spPr>
        <p:txBody>
          <a:bodyPr/>
          <a:lstStyle/>
          <a:p>
            <a:pPr>
              <a:spcAft>
                <a:spcPts val="600"/>
              </a:spcAft>
              <a:defRPr/>
            </a:pPr>
            <a:r>
              <a:rPr lang="en-GB" dirty="0"/>
              <a:t>COS6009-B: Large Scale Data Driven Applications</a:t>
            </a:r>
          </a:p>
        </p:txBody>
      </p:sp>
    </p:spTree>
    <p:extLst>
      <p:ext uri="{BB962C8B-B14F-4D97-AF65-F5344CB8AC3E}">
        <p14:creationId xmlns:p14="http://schemas.microsoft.com/office/powerpoint/2010/main" val="10066440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ENTIMETER_SERIES_ID_KEY" val="al4tdmoahdib7mdmitiproiyp2m6ucjj"/>
</p:tagLst>
</file>

<file path=ppt/theme/theme1.xml><?xml version="1.0" encoding="utf-8"?>
<a:theme xmlns:a="http://schemas.openxmlformats.org/drawingml/2006/main" name="UOB3687_Bradford PPT_Green_External_TEMPLATE">
  <a:themeElements>
    <a:clrScheme name="UOB Green">
      <a:dk1>
        <a:sysClr val="windowText" lastClr="000000"/>
      </a:dk1>
      <a:lt1>
        <a:sysClr val="window" lastClr="FFFFFF"/>
      </a:lt1>
      <a:dk2>
        <a:srgbClr val="005359"/>
      </a:dk2>
      <a:lt2>
        <a:srgbClr val="FFFFFF"/>
      </a:lt2>
      <a:accent1>
        <a:srgbClr val="87A529"/>
      </a:accent1>
      <a:accent2>
        <a:srgbClr val="009EB2"/>
      </a:accent2>
      <a:accent3>
        <a:srgbClr val="395E14"/>
      </a:accent3>
      <a:accent4>
        <a:srgbClr val="E6E7E8"/>
      </a:accent4>
      <a:accent5>
        <a:srgbClr val="C0E064"/>
      </a:accent5>
      <a:accent6>
        <a:srgbClr val="005359"/>
      </a:accent6>
      <a:hlink>
        <a:srgbClr val="009EB2"/>
      </a:hlink>
      <a:folHlink>
        <a:srgbClr val="87A52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0081BE"/>
          </a:solidFill>
        </a:ln>
        <a:effectLst/>
      </a:spPr>
      <a:bodyPr anchor="ctr"/>
      <a:lstStyle>
        <a:defPPr algn="ctr">
          <a:defRPr dirty="0">
            <a:latin typeface="Lucida Sans"/>
            <a:cs typeface="Lucida Sans"/>
          </a:defRPr>
        </a:defPPr>
      </a:lstStyle>
      <a:style>
        <a:lnRef idx="1">
          <a:schemeClr val="accent1"/>
        </a:lnRef>
        <a:fillRef idx="3">
          <a:schemeClr val="accent1"/>
        </a:fillRef>
        <a:effectRef idx="2">
          <a:schemeClr val="accent1"/>
        </a:effectRef>
        <a:fontRef idx="minor">
          <a:schemeClr val="lt1"/>
        </a:fontRef>
      </a:style>
    </a:spDef>
    <a:lnDef>
      <a:spPr>
        <a:ln w="12700">
          <a:solidFill>
            <a:srgbClr val="87A529"/>
          </a:solidFill>
          <a:prstDash val="sysDash"/>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smtClean="0">
            <a:latin typeface="Lucida Sans Unicode" panose="020B0602030504020204" pitchFamily="34" charset="0"/>
            <a:cs typeface="Lucida Sans Unicode" panose="020B0602030504020204"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462028F1181324286088878907BF764" ma:contentTypeVersion="14" ma:contentTypeDescription="Create a new document." ma:contentTypeScope="" ma:versionID="90976bd7b8c99da3d8fa7de315a6c862">
  <xsd:schema xmlns:xsd="http://www.w3.org/2001/XMLSchema" xmlns:xs="http://www.w3.org/2001/XMLSchema" xmlns:p="http://schemas.microsoft.com/office/2006/metadata/properties" xmlns:ns3="8112531f-664b-410e-b854-b0b109d7936d" xmlns:ns4="b544e34c-2ecd-4376-93c2-9ba4477ab504" targetNamespace="http://schemas.microsoft.com/office/2006/metadata/properties" ma:root="true" ma:fieldsID="40b278b0f625431f435dc1ad5c24d1a0" ns3:_="" ns4:_="">
    <xsd:import namespace="8112531f-664b-410e-b854-b0b109d7936d"/>
    <xsd:import namespace="b544e34c-2ecd-4376-93c2-9ba4477ab50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AutoKeyPoints" minOccurs="0"/>
                <xsd:element ref="ns3:MediaServiceKeyPoints" minOccurs="0"/>
                <xsd:element ref="ns3:MediaServiceGenerationTime" minOccurs="0"/>
                <xsd:element ref="ns3:MediaServiceEventHashCode" minOccurs="0"/>
                <xsd:element ref="ns4:SharedWithUsers" minOccurs="0"/>
                <xsd:element ref="ns4:SharedWithDetails" minOccurs="0"/>
                <xsd:element ref="ns4:SharingHintHash"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12531f-664b-410e-b854-b0b109d793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544e34c-2ecd-4376-93c2-9ba4477ab50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9E357C-CCDC-4DFE-B552-9384A2F6389B}">
  <ds:schemaRefs>
    <ds:schemaRef ds:uri="http://schemas.microsoft.com/office/infopath/2007/PartnerControls"/>
    <ds:schemaRef ds:uri="http://schemas.microsoft.com/office/2006/documentManagement/types"/>
    <ds:schemaRef ds:uri="http://purl.org/dc/elements/1.1/"/>
    <ds:schemaRef ds:uri="http://schemas.microsoft.com/office/2006/metadata/properties"/>
    <ds:schemaRef ds:uri="8112531f-664b-410e-b854-b0b109d7936d"/>
    <ds:schemaRef ds:uri="b544e34c-2ecd-4376-93c2-9ba4477ab504"/>
    <ds:schemaRef ds:uri="http://purl.org/dc/terms/"/>
    <ds:schemaRef ds:uri="http://schemas.openxmlformats.org/package/2006/metadata/core-properties"/>
    <ds:schemaRef ds:uri="http://purl.org/dc/dcmitype/"/>
    <ds:schemaRef ds:uri="http://www.w3.org/XML/1998/namespace"/>
  </ds:schemaRefs>
</ds:datastoreItem>
</file>

<file path=customXml/itemProps2.xml><?xml version="1.0" encoding="utf-8"?>
<ds:datastoreItem xmlns:ds="http://schemas.openxmlformats.org/officeDocument/2006/customXml" ds:itemID="{32CE5C33-72EA-487D-B241-32E996B7F0F7}">
  <ds:schemaRefs>
    <ds:schemaRef ds:uri="http://schemas.microsoft.com/sharepoint/v3/contenttype/forms"/>
  </ds:schemaRefs>
</ds:datastoreItem>
</file>

<file path=customXml/itemProps3.xml><?xml version="1.0" encoding="utf-8"?>
<ds:datastoreItem xmlns:ds="http://schemas.openxmlformats.org/officeDocument/2006/customXml" ds:itemID="{7E933D7E-1225-4F91-9BD7-501C0957F9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12531f-664b-410e-b854-b0b109d7936d"/>
    <ds:schemaRef ds:uri="b544e34c-2ecd-4376-93c2-9ba4477ab5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17699</TotalTime>
  <Words>2708</Words>
  <Application>Microsoft Office PowerPoint</Application>
  <PresentationFormat>A4 Paper (210x297 mm)</PresentationFormat>
  <Paragraphs>333</Paragraphs>
  <Slides>28</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Arial</vt:lpstr>
      <vt:lpstr>Calibri</vt:lpstr>
      <vt:lpstr>Comic Sans MS</vt:lpstr>
      <vt:lpstr>Georgia</vt:lpstr>
      <vt:lpstr>Google Sans</vt:lpstr>
      <vt:lpstr>Helvetica</vt:lpstr>
      <vt:lpstr>Lucida Sans</vt:lpstr>
      <vt:lpstr>Lucida Sans Unicode</vt:lpstr>
      <vt:lpstr>Trebuchet MS</vt:lpstr>
      <vt:lpstr>Wingdings 2</vt:lpstr>
      <vt:lpstr>UOB3687_Bradford PPT_Green_External_TEMPLATE</vt:lpstr>
      <vt:lpstr>Large Scale Data Driven Applications</vt:lpstr>
      <vt:lpstr>Outlines</vt:lpstr>
      <vt:lpstr>Why Database Security Matters</vt:lpstr>
      <vt:lpstr>Examples of Database Security Incidents</vt:lpstr>
      <vt:lpstr>Security Challenges in Modern Databases</vt:lpstr>
      <vt:lpstr>Goals of Database Security</vt:lpstr>
      <vt:lpstr>Introduction to MongoDB Security Layers</vt:lpstr>
      <vt:lpstr>MongoDB: Authentication</vt:lpstr>
      <vt:lpstr>Authentication: SCRAM</vt:lpstr>
      <vt:lpstr>Authentication: MongoDB-CR</vt:lpstr>
      <vt:lpstr>MongoDB: External Authentication Methods</vt:lpstr>
      <vt:lpstr>How to Enable Authentication in MongoDB</vt:lpstr>
      <vt:lpstr>MongoDB authentication best practices</vt:lpstr>
      <vt:lpstr>MongoDB: Authorisation(Role-Based Access Control) </vt:lpstr>
      <vt:lpstr>MongoDB: Authorisation(Role-Based Access Control) </vt:lpstr>
      <vt:lpstr>MongoDB: Authorisation(Role-Based Access Control) </vt:lpstr>
      <vt:lpstr>Guideline for Authorisation/role-based security</vt:lpstr>
      <vt:lpstr>MongoDB: Auditing</vt:lpstr>
      <vt:lpstr>Enable and Configure Audit Output</vt:lpstr>
      <vt:lpstr>PowerPoint Presentation</vt:lpstr>
      <vt:lpstr>PowerPoint Presentation</vt:lpstr>
      <vt:lpstr>Configuring Encryption in Transit</vt:lpstr>
      <vt:lpstr>Configuring Encryption at Rest</vt:lpstr>
      <vt:lpstr>Best Practices for Encryption</vt:lpstr>
      <vt:lpstr>Best Practices for MongoDB Security</vt:lpstr>
      <vt:lpstr>Scenario: Using MongoDB for an IoT-Based Smart Healthcare Application</vt:lpstr>
      <vt:lpstr>Thoughts on Potential Security Concerns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Technologies</dc:title>
  <dc:creator>SK</dc:creator>
  <cp:lastModifiedBy>Sohag Kabir</cp:lastModifiedBy>
  <cp:revision>72</cp:revision>
  <dcterms:created xsi:type="dcterms:W3CDTF">2020-01-19T15:58:01Z</dcterms:created>
  <dcterms:modified xsi:type="dcterms:W3CDTF">2024-11-24T18:12:44Z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0x0101004462028F1181324286088878907BF764</vt:lpwstr>
  </property>
</Properties>
</file>