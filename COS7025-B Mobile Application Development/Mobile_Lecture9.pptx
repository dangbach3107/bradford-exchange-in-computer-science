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485" r:id="rId3"/>
    <p:sldId id="486" r:id="rId4"/>
    <p:sldId id="487" r:id="rId5"/>
    <p:sldId id="502" r:id="rId6"/>
    <p:sldId id="488" r:id="rId7"/>
    <p:sldId id="489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3" r:id="rId21"/>
    <p:sldId id="516" r:id="rId22"/>
    <p:sldId id="517" r:id="rId23"/>
    <p:sldId id="518" r:id="rId24"/>
    <p:sldId id="504" r:id="rId25"/>
    <p:sldId id="505" r:id="rId26"/>
    <p:sldId id="434" r:id="rId27"/>
  </p:sldIdLst>
  <p:sldSz cx="9906000" cy="6858000" type="A4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1108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0081BE"/>
    <a:srgbClr val="9E0F1D"/>
    <a:srgbClr val="693B68"/>
    <a:srgbClr val="36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7" d="100"/>
          <a:sy n="77" d="100"/>
        </p:scale>
        <p:origin x="1066" y="72"/>
      </p:cViewPr>
      <p:guideLst>
        <p:guide orient="horz" pos="1071"/>
        <p:guide orient="horz" pos="1108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22EBD4A-5895-A54E-A055-EDAC0AE85B12}" type="datetimeFigureOut">
              <a:rPr lang="en-GB"/>
              <a:pPr>
                <a:defRPr/>
              </a:pPr>
              <a:t>29/07/2025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47DD014-F3DA-9946-8CC1-301B1D9983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7200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C6EAC80-80B2-FE4F-B44C-ECDD3CC6FD34}" type="datetimeFigureOut">
              <a:rPr lang="en-GB"/>
              <a:pPr>
                <a:defRPr/>
              </a:pPr>
              <a:t>29/07/2025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138381A-76B6-2948-B558-3F9575637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2752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68D4F-4E96-4841-A1F5-19AC2D41DEB5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E8C3C-0935-FD48-B11D-125A6C8E73D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5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5"/>
            <a:ext cx="8485605" cy="512288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4441D-FCF9-B841-8F75-F62C4FB0DAB0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EE868-5A68-4147-BDAB-52F2EBBCC5A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509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A35C8-07AA-F94B-83B0-C4A730E41B1B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1DF-C791-F345-ACE0-CA99EFF1D83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28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95428-EAB3-764C-8677-F1F25470B456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20A639-F880-524E-92E8-3486672BD7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48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2D2F54-982D-E743-AA1F-7772CD9012E2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2D634-E916-BD41-9F1F-E85E7417C3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4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25123-537D-E741-BE56-D25E2B04354C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7C140-4BC7-DD46-8CA3-C0DD924A0C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476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BB531-FD53-6A42-8437-AB036AED9633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09A3-AF77-304F-92E2-22002205EF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218757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D460E-B54D-E546-92EF-4D2902D3E54F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E47B-26B3-1A40-A83C-170A74EA22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71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80963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DE044D-56C9-D045-AD41-9211A2AB6C0C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FC4CA-12F0-4A4C-8629-C1CFD830D16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71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114426"/>
            <a:ext cx="5054084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47C88-C818-9543-9F1E-2A7C341B416F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3A9D8-66EC-444B-9E6C-54113037B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62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35336-AB8F-714D-8E4E-F432E240A60F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B0D13-D08B-4549-AC14-0B4B4B9AF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48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A1A8-B470-1540-864F-AF2C7D81F41B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9793B-AD38-1A42-AA9D-4E06B7A01C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753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2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01600"/>
            <a:ext cx="15843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2541-E997-4F49-85EF-4CCCF00D0EF9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48B3D1-E818-B04E-A1F5-49B7F19227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92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114426"/>
            <a:ext cx="5079603" cy="5122886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CD75EA-DCC8-9840-917C-FAC56344F17F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B891-E3D7-6F45-BE23-3A0F1D2E5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07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130F-0913-DF45-95C6-89DBAA63D3E9}" type="datetime3">
              <a:rPr lang="en-GB"/>
              <a:pPr>
                <a:defRPr/>
              </a:pPr>
              <a:t>29 July, 2025</a:t>
            </a:fld>
            <a:endParaRPr lang="en-GB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0DA09-FF99-0649-8968-06384E36B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4426"/>
            <a:ext cx="4062928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114426"/>
            <a:ext cx="4048894" cy="501174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9D680-5E09-F74D-8047-C1E5DBBD3B29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01427-B512-7248-A4CA-C97BF0071E5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99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A3276-1A0C-D446-AB2F-569EC9556028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353AB-A865-4446-87DC-AEDFA62A292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13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112356"/>
            <a:ext cx="4062928" cy="5013814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114426"/>
            <a:ext cx="4049713" cy="50101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7C966C-6B72-5141-B469-5EAA79BF385D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72F7F-CAE4-184F-BD3C-1874F5B871D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7885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6573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BBA733-5E18-704D-8A3E-0849B336BAB7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1DDB-933F-9844-BB22-08B7C960913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9663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124744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916832"/>
            <a:ext cx="4068137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124744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916832"/>
            <a:ext cx="4071620" cy="432048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441FF-F6A3-EF42-B4DC-77CDBD117C18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D98B-0F68-2E43-BC3B-3280CEDF0E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255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EDFE4-4D8A-7846-A0C4-2F016432D8F3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8BE3B-F668-DB4C-A0F2-E43A7C187F3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7190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9EE141-945D-9B45-B69D-164338EB0C16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937DF-DC3B-2B40-8064-4D2CB8147FB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3255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9FF54-C48D-DC49-B8E9-9BFF9633E595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EB4C0-1156-3142-A0E4-36DE16FEE6C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08154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6D1-55F4-274E-8E31-C05C80C0997C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1AFC6-2595-E641-8B02-9202243DB65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1912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E7F3F-C7CA-C949-BDCC-28B438452C1D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34A02-E4AB-AB4F-8B80-E8ACE1C484D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40175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5DABA-A733-ED44-BAF2-74BAD90DD168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C0E16-F279-204C-8F1E-D763784F2CE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877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002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A72E8-4729-7444-BC73-110EEAA2260D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3C102-2AC3-CA4A-8F5C-9BEDD08B54D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418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6B6C-6107-6748-9690-0C5DCB979249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14FEE-8ACB-AB48-9E72-F40339A1EC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88167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8B28D9-145B-CE40-BF66-564217847540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D08EE-0A1B-6E44-89A9-50D76CE33D2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672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C4DF8-4B58-784F-A4DF-275A1FD47115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1FFD0-77F3-3E4D-9850-85A2DA222C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9570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15888"/>
            <a:ext cx="1728788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934045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1772221"/>
            <a:ext cx="8485188" cy="44650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46FC-89C8-8947-B99E-11FCA650D660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278C-87C0-7B46-A362-15FBE10851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74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2FF4-CB32-924A-B752-B19D91491121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8AC8-2546-FA4C-962F-2DDF922E55C7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7439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1" descr="Uni-Bradford_Faculty Engineering and Informatics_Logo_CMYK_AW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4450"/>
            <a:ext cx="187325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1EED1-0220-C642-864B-0421ABAEC11B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F82-2AA4-BD40-8936-9C1C38FBEE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8774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6A427-9C52-914A-9F28-4E7A3B6702C1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1150-2EA3-BA46-9C62-F9F06C80496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95398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2133" y="-50433"/>
            <a:ext cx="9918025" cy="13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9044" tIns="99044" rIns="99044" bIns="9904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37675" y="227760"/>
            <a:ext cx="923065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37675" y="1435033"/>
            <a:ext cx="923065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95285" lvl="0" indent="-412737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90570" lvl="1" indent="-385221" rtl="0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167">
                <a:solidFill>
                  <a:srgbClr val="000000"/>
                </a:solidFill>
              </a:defRPr>
            </a:lvl2pPr>
            <a:lvl3pPr marL="1485854" lvl="2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981139" lvl="3" indent="-34394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476424" lvl="4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971709" lvl="5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466993" lvl="6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962278" lvl="7" indent="-343948" rtl="0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457563" lvl="8" indent="-343948" rtl="0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9178496" y="6319223"/>
            <a:ext cx="594425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812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44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114425"/>
            <a:ext cx="8485188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05075" y="6340475"/>
            <a:ext cx="7011988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904875" y="6340475"/>
            <a:ext cx="159861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875" y="6337300"/>
            <a:ext cx="1473200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56516A83-91EE-AB41-A586-9B58DDBC6DE5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075" y="6337300"/>
            <a:ext cx="7005638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POWERPOINT PRESENTATION TEMPLATE GREEN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B3990C44-6740-6B49-8695-A99901BF4C4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  <p:sldLayoutId id="2147484540" r:id="rId12"/>
    <p:sldLayoutId id="2147484541" r:id="rId13"/>
    <p:sldLayoutId id="2147484542" r:id="rId14"/>
    <p:sldLayoutId id="2147484543" r:id="rId15"/>
    <p:sldLayoutId id="2147484544" r:id="rId16"/>
    <p:sldLayoutId id="2147484545" r:id="rId17"/>
    <p:sldLayoutId id="2147484546" r:id="rId18"/>
    <p:sldLayoutId id="2147484547" r:id="rId19"/>
    <p:sldLayoutId id="2147484548" r:id="rId20"/>
    <p:sldLayoutId id="2147484549" r:id="rId21"/>
    <p:sldLayoutId id="2147484550" r:id="rId22"/>
    <p:sldLayoutId id="2147484551" r:id="rId23"/>
    <p:sldLayoutId id="2147484552" r:id="rId24"/>
    <p:sldLayoutId id="2147484553" r:id="rId25"/>
    <p:sldLayoutId id="2147484554" r:id="rId26"/>
    <p:sldLayoutId id="2147484555" r:id="rId27"/>
    <p:sldLayoutId id="2147484556" r:id="rId28"/>
    <p:sldLayoutId id="2147484557" r:id="rId29"/>
    <p:sldLayoutId id="2147484558" r:id="rId30"/>
    <p:sldLayoutId id="2147484559" r:id="rId31"/>
    <p:sldLayoutId id="2147484560" r:id="rId32"/>
    <p:sldLayoutId id="2147484561" r:id="rId33"/>
    <p:sldLayoutId id="2147484562" r:id="rId34"/>
    <p:sldLayoutId id="2147484564" r:id="rId3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products/functions" TargetMode="External"/><Relationship Id="rId2" Type="http://schemas.openxmlformats.org/officeDocument/2006/relationships/hyperlink" Target="https://firebase.google.com/products/firestore" TargetMode="Externa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developers.google.com/apis/" TargetMode="External"/><Relationship Id="rId2" Type="http://schemas.openxmlformats.org/officeDocument/2006/relationships/hyperlink" Target="https://partner.android.com/things/console#/" TargetMode="External"/><Relationship Id="rId1" Type="http://schemas.openxmlformats.org/officeDocument/2006/relationships/slideLayout" Target="../slideLayouts/slideLayout35.xml"/><Relationship Id="rId5" Type="http://schemas.openxmlformats.org/officeDocument/2006/relationships/hyperlink" Target="https://console.firebase.google.com/" TargetMode="External"/><Relationship Id="rId4" Type="http://schemas.openxmlformats.org/officeDocument/2006/relationships/hyperlink" Target="https://developers.google.com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android/setup#available_libraries" TargetMode="Externa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firebase.google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storage/security/get-started" TargetMode="External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" TargetMode="External"/><Relationship Id="rId2" Type="http://schemas.openxmlformats.org/officeDocument/2006/relationships/hyperlink" Target="https://console.firebase.google.com/" TargetMode="External"/><Relationship Id="rId1" Type="http://schemas.openxmlformats.org/officeDocument/2006/relationships/slideLayout" Target="../slideLayouts/slideLayout35.xml"/><Relationship Id="rId4" Type="http://schemas.openxmlformats.org/officeDocument/2006/relationships/hyperlink" Target="https://codelabs.developers.google.com/codelabs/firebase-android/#0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50"/>
          <p:cNvSpPr>
            <a:spLocks noGrp="1" noChangeArrowheads="1"/>
          </p:cNvSpPr>
          <p:nvPr>
            <p:ph type="title"/>
          </p:nvPr>
        </p:nvSpPr>
        <p:spPr>
          <a:xfrm>
            <a:off x="416496" y="1312895"/>
            <a:ext cx="9230650" cy="7636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  <a:t>Mobile Application Development (COS7025-B)</a:t>
            </a:r>
            <a:br>
              <a:rPr lang="en-GB" altLang="en-US" sz="3600" dirty="0">
                <a:solidFill>
                  <a:schemeClr val="bg1"/>
                </a:solidFill>
                <a:latin typeface="Georgia" panose="02040502050405020303" pitchFamily="18" charset="0"/>
              </a:rPr>
            </a:br>
            <a:br>
              <a:rPr lang="en-GB" altLang="en-US" sz="13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br>
              <a:rPr lang="en-GB" altLang="en-US" sz="900" dirty="0">
                <a:solidFill>
                  <a:srgbClr val="003399"/>
                </a:solidFill>
              </a:rPr>
            </a:br>
            <a:r>
              <a:rPr lang="en-GB" altLang="en-US" sz="3600" dirty="0">
                <a:solidFill>
                  <a:srgbClr val="003399"/>
                </a:solidFill>
                <a:latin typeface="Georgia" panose="02040502050405020303" pitchFamily="18" charset="0"/>
              </a:rPr>
              <a:t> </a:t>
            </a:r>
            <a:br>
              <a:rPr lang="en-GB" altLang="en-US" sz="900" dirty="0">
                <a:solidFill>
                  <a:srgbClr val="003399"/>
                </a:solidFill>
                <a:latin typeface="Georgia" panose="02040502050405020303" pitchFamily="18" charset="0"/>
              </a:rPr>
            </a:br>
            <a: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  <a:t>Designing Mobile Apps using Android</a:t>
            </a:r>
            <a:br>
              <a:rPr lang="en-GB" altLang="en-US" sz="3600" b="1" dirty="0">
                <a:solidFill>
                  <a:srgbClr val="0070C0"/>
                </a:solidFill>
                <a:latin typeface="Georgia" charset="0"/>
                <a:ea typeface="MS PGothic" charset="-128"/>
                <a:cs typeface="ＭＳ Ｐゴシック" charset="-128"/>
              </a:rPr>
            </a:br>
            <a:r>
              <a:rPr lang="en-US" sz="3600" b="1" dirty="0">
                <a:solidFill>
                  <a:srgbClr val="009FDF"/>
                </a:solidFill>
                <a:latin typeface="Georgia" panose="02040502050405020303" pitchFamily="18" charset="0"/>
                <a:ea typeface="MS PGothic" pitchFamily="34" charset="-128"/>
                <a:cs typeface="MS PGothic" panose="020B0600070205080204" pitchFamily="34" charset="-128"/>
              </a:rPr>
              <a:t>Cloud-based Service: Firebase</a:t>
            </a:r>
            <a:endParaRPr lang="es-ES" altLang="en-US" sz="3600" dirty="0">
              <a:solidFill>
                <a:srgbClr val="0081BE"/>
              </a:solidFill>
              <a:latin typeface="Georgia" panose="02040502050405020303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71B4BE5D-D4C9-A14A-A707-5B27380E2328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4294967295"/>
          </p:nvPr>
        </p:nvSpPr>
        <p:spPr>
          <a:xfrm>
            <a:off x="0" y="6337300"/>
            <a:ext cx="1473200" cy="365125"/>
          </a:xfrm>
        </p:spPr>
        <p:txBody>
          <a:bodyPr/>
          <a:lstStyle/>
          <a:p>
            <a:pPr>
              <a:defRPr/>
            </a:pPr>
            <a:fld id="{03F7D35D-8950-BF46-B66A-37F1FDD14F3C}" type="datetime3">
              <a:rPr lang="en-GB"/>
              <a:pPr>
                <a:defRPr/>
              </a:pPr>
              <a:t>29 July,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2900363" y="6337300"/>
            <a:ext cx="7005637" cy="365125"/>
          </a:xfrm>
        </p:spPr>
        <p:txBody>
          <a:bodyPr/>
          <a:lstStyle/>
          <a:p>
            <a:pPr>
              <a:defRPr/>
            </a:pPr>
            <a:r>
              <a:rPr lang="en-GB"/>
              <a:t>POWERPOINT PRESENTATION TEMPLATE GREEN</a:t>
            </a:r>
            <a:endParaRPr lang="en-GB" dirty="0"/>
          </a:p>
        </p:txBody>
      </p:sp>
      <p:sp>
        <p:nvSpPr>
          <p:cNvPr id="10" name="Rectangle 168"/>
          <p:cNvSpPr>
            <a:spLocks noChangeArrowheads="1"/>
          </p:cNvSpPr>
          <p:nvPr/>
        </p:nvSpPr>
        <p:spPr bwMode="auto">
          <a:xfrm>
            <a:off x="2385307" y="3633138"/>
            <a:ext cx="496855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UY" altLang="en-US" sz="2000" b="1" dirty="0">
                <a:solidFill>
                  <a:schemeClr val="tx1"/>
                </a:solidFill>
              </a:rPr>
              <a:t>Karim Hammoud Sadik</a:t>
            </a:r>
          </a:p>
          <a:p>
            <a:endParaRPr lang="es-UY" altLang="en-US" sz="2000" b="1" dirty="0">
              <a:solidFill>
                <a:schemeClr val="tx1"/>
              </a:solidFill>
            </a:endParaRPr>
          </a:p>
          <a:p>
            <a:r>
              <a:rPr lang="es-UY" altLang="en-US" sz="2000" b="1" dirty="0" err="1">
                <a:solidFill>
                  <a:schemeClr val="tx1"/>
                </a:solidFill>
              </a:rPr>
              <a:t>Lecture</a:t>
            </a:r>
            <a:r>
              <a:rPr lang="es-UY" altLang="en-US" sz="2000" b="1" dirty="0">
                <a:solidFill>
                  <a:schemeClr val="tx1"/>
                </a:solidFill>
              </a:rPr>
              <a:t> #9</a:t>
            </a:r>
            <a:endParaRPr lang="es-ES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520" y="4607870"/>
            <a:ext cx="960698" cy="1540889"/>
          </a:xfrm>
          <a:prstGeom prst="rect">
            <a:avLst/>
          </a:prstGeom>
        </p:spPr>
      </p:pic>
      <p:pic>
        <p:nvPicPr>
          <p:cNvPr id="12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048" y="4869160"/>
            <a:ext cx="1103818" cy="1101508"/>
          </a:xfrm>
          <a:prstGeom prst="rect">
            <a:avLst/>
          </a:prstGeom>
        </p:spPr>
      </p:pic>
      <p:sp>
        <p:nvSpPr>
          <p:cNvPr id="13" name="object 2"/>
          <p:cNvSpPr txBox="1">
            <a:spLocks/>
          </p:cNvSpPr>
          <p:nvPr/>
        </p:nvSpPr>
        <p:spPr bwMode="auto">
          <a:xfrm>
            <a:off x="5121609" y="6042039"/>
            <a:ext cx="1625256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700" rIns="0" bIns="0" numCol="1" rtlCol="0" anchor="b" anchorCtr="0" compatLnSpc="1">
            <a:prstTxWarp prst="textNoShape">
              <a:avLst/>
            </a:prstTxWarp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GB" sz="1600" b="1" dirty="0">
                <a:solidFill>
                  <a:srgbClr val="7030A0"/>
                </a:solidFill>
              </a:rPr>
              <a:t>Android</a:t>
            </a:r>
            <a:r>
              <a:rPr lang="en-GB" sz="1600" b="1" spc="-155" dirty="0">
                <a:solidFill>
                  <a:srgbClr val="7030A0"/>
                </a:solidFill>
              </a:rPr>
              <a:t> </a:t>
            </a:r>
            <a:r>
              <a:rPr lang="en-GB" sz="1600" b="1" dirty="0">
                <a:solidFill>
                  <a:srgbClr val="7030A0"/>
                </a:solidFill>
              </a:rPr>
              <a:t>Studio</a:t>
            </a:r>
            <a:endParaRPr lang="en-GB" sz="1600" b="1" spc="-100" dirty="0">
              <a:solidFill>
                <a:srgbClr val="7030A0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1369">
            <a:off x="2770480" y="4707233"/>
            <a:ext cx="803112" cy="1496807"/>
          </a:xfrm>
          <a:prstGeom prst="rect">
            <a:avLst/>
          </a:prstGeom>
        </p:spPr>
      </p:pic>
      <p:pic>
        <p:nvPicPr>
          <p:cNvPr id="15" name="Picture 2" descr="Android framework details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3" r="41013"/>
          <a:stretch>
            <a:fillRect/>
          </a:stretch>
        </p:blipFill>
        <p:spPr bwMode="auto">
          <a:xfrm>
            <a:off x="7751333" y="3987613"/>
            <a:ext cx="1394740" cy="2374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51D6B-2A66-2DDB-DC1B-FFB1B892E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CD68-9EB3-C0EF-A18E-D8B3AB4661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6FE3B1-9F4F-DC03-91DD-51887A9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97FD68-3AE5-A304-9EBD-A8CFD1171E0E}"/>
              </a:ext>
            </a:extLst>
          </p:cNvPr>
          <p:cNvSpPr txBox="1">
            <a:spLocks/>
          </p:cNvSpPr>
          <p:nvPr/>
        </p:nvSpPr>
        <p:spPr bwMode="auto">
          <a:xfrm>
            <a:off x="-159568" y="1367936"/>
            <a:ext cx="9932489" cy="412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lang="en-GB" altLang="en-US" sz="800">
              <a:latin typeface="Lucida Sans Unicode" charset="0"/>
              <a:ea typeface="MS PGothic" charset="-128"/>
              <a:cs typeface="Lucida Sans Unicode" charset="0"/>
            </a:endParaRPr>
          </a:p>
          <a:p>
            <a:pPr lvl="1">
              <a:buFont typeface="Arial" charset="0"/>
              <a:buChar char="–"/>
              <a:defRPr/>
            </a:pPr>
            <a:r>
              <a:rPr lang="en-GB" altLang="en-US" sz="2400">
                <a:latin typeface="Georgia" panose="02040502050405020303" pitchFamily="18" charset="0"/>
                <a:ea typeface="MS PGothic" charset="-128"/>
                <a:cs typeface="Lucida Sans Unicode" charset="0"/>
              </a:rPr>
              <a:t>Understood the usefulness of Cloud Computing, and Cloud Databases such as Firebase</a:t>
            </a:r>
          </a:p>
          <a:p>
            <a:pPr lvl="1">
              <a:buFont typeface="Arial" charset="0"/>
              <a:buChar char="–"/>
              <a:defRPr/>
            </a:pPr>
            <a:r>
              <a:rPr lang="en-GB" altLang="en-US" sz="2400">
                <a:latin typeface="Georgia" panose="02040502050405020303" pitchFamily="18" charset="0"/>
                <a:ea typeface="MS PGothic" charset="-128"/>
                <a:cs typeface="Lucida Sans Unicode" charset="0"/>
              </a:rPr>
              <a:t>Discussed the differences between SQL database and NoSQL database such as Firebase</a:t>
            </a:r>
          </a:p>
          <a:p>
            <a:pPr lvl="1">
              <a:buFont typeface="Arial" charset="0"/>
              <a:buChar char="–"/>
              <a:defRPr/>
            </a:pPr>
            <a:r>
              <a:rPr lang="en-GB" altLang="en-US" sz="2400">
                <a:latin typeface="Georgia" panose="02040502050405020303" pitchFamily="18" charset="0"/>
                <a:ea typeface="MS PGothic" charset="-128"/>
                <a:cs typeface="Lucida Sans Unicode" charset="0"/>
              </a:rPr>
              <a:t>How to setup NoSQL database such as Firebase from Android Studio</a:t>
            </a:r>
            <a:endParaRPr lang="en-GB" altLang="en-US" sz="2400" dirty="0">
              <a:latin typeface="Georgia" panose="02040502050405020303" pitchFamily="18" charset="0"/>
              <a:ea typeface="MS PGothic" charset="-128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5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3C03-C55B-E541-55DF-8A78ECB3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16AB1-AE9E-CA9B-404A-C0293A5584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B4FC94-2E2B-1F47-69E5-9826D7E4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What is Cloud Computing?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4783D2-6984-3ED0-4373-B186B16639F6}"/>
              </a:ext>
            </a:extLst>
          </p:cNvPr>
          <p:cNvSpPr txBox="1">
            <a:spLocks/>
          </p:cNvSpPr>
          <p:nvPr/>
        </p:nvSpPr>
        <p:spPr bwMode="auto">
          <a:xfrm>
            <a:off x="139029" y="1484784"/>
            <a:ext cx="9639842" cy="459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548" indent="0">
              <a:lnSpc>
                <a:spcPct val="120000"/>
              </a:lnSpc>
              <a:buNone/>
            </a:pPr>
            <a:r>
              <a:rPr lang="en-US" sz="7200" dirty="0"/>
              <a:t>1. Cloud computing  provides on-demand network access to a shared platform that  manages computing resources: Storage, Services, Applications, Servers.</a:t>
            </a:r>
          </a:p>
          <a:p>
            <a:pPr marL="82548" indent="0">
              <a:lnSpc>
                <a:spcPct val="120000"/>
              </a:lnSpc>
              <a:buNone/>
            </a:pPr>
            <a:r>
              <a:rPr lang="en-US" sz="7200" dirty="0"/>
              <a:t>2. A user can interact to the platform globally without any human interaction.</a:t>
            </a:r>
          </a:p>
          <a:p>
            <a:pPr marL="82548" indent="0">
              <a:lnSpc>
                <a:spcPct val="120000"/>
              </a:lnSpc>
              <a:buNone/>
            </a:pPr>
            <a:r>
              <a:rPr lang="en-US" sz="7200" dirty="0"/>
              <a:t>3. Computing resources are assigned and optimized as per the user demand.</a:t>
            </a:r>
          </a:p>
          <a:p>
            <a:pPr>
              <a:lnSpc>
                <a:spcPct val="120000"/>
              </a:lnSpc>
            </a:pPr>
            <a:endParaRPr lang="en-US" sz="5000" dirty="0"/>
          </a:p>
          <a:p>
            <a:pPr marL="0" indent="0">
              <a:lnSpc>
                <a:spcPct val="120000"/>
              </a:lnSpc>
              <a:buFont typeface="Arial" charset="0"/>
              <a:buNone/>
            </a:pPr>
            <a:r>
              <a:rPr lang="en-US" sz="8800" b="1" dirty="0">
                <a:solidFill>
                  <a:srgbClr val="009FDF"/>
                </a:solidFill>
                <a:latin typeface="Georgia" panose="02040502050405020303" pitchFamily="18" charset="0"/>
                <a:cs typeface="MS PGothic" panose="020B0600070205080204" pitchFamily="34" charset="-128"/>
              </a:rPr>
              <a:t>Why?</a:t>
            </a:r>
          </a:p>
          <a:p>
            <a:pPr marL="82548" indent="0">
              <a:lnSpc>
                <a:spcPct val="120000"/>
              </a:lnSpc>
              <a:buNone/>
              <a:tabLst>
                <a:tab pos="630238" algn="l"/>
              </a:tabLst>
            </a:pPr>
            <a:r>
              <a:rPr lang="en-US" sz="7200" dirty="0"/>
              <a:t> 1. Do not require higher specification machine for user.</a:t>
            </a:r>
          </a:p>
          <a:p>
            <a:pPr marL="82548" indent="0">
              <a:lnSpc>
                <a:spcPct val="120000"/>
              </a:lnSpc>
              <a:buNone/>
              <a:tabLst>
                <a:tab pos="630238" algn="l"/>
              </a:tabLst>
            </a:pPr>
            <a:r>
              <a:rPr lang="en-US" sz="7200" dirty="0"/>
              <a:t> 2. Provides secure data storage.</a:t>
            </a:r>
          </a:p>
          <a:p>
            <a:pPr marL="82548" indent="0">
              <a:lnSpc>
                <a:spcPct val="120000"/>
              </a:lnSpc>
              <a:buNone/>
              <a:tabLst>
                <a:tab pos="630238" algn="l"/>
              </a:tabLst>
            </a:pPr>
            <a:r>
              <a:rPr lang="en-US" sz="7200" dirty="0"/>
              <a:t> 3. Reduced operation time.</a:t>
            </a:r>
          </a:p>
          <a:p>
            <a:pPr marL="82548" indent="0">
              <a:lnSpc>
                <a:spcPct val="120000"/>
              </a:lnSpc>
              <a:buNone/>
              <a:tabLst>
                <a:tab pos="630238" algn="l"/>
              </a:tabLst>
            </a:pPr>
            <a:r>
              <a:rPr lang="en-US" sz="7200" dirty="0"/>
              <a:t> 4. Can buy/use resource as require for the services.</a:t>
            </a:r>
          </a:p>
          <a:p>
            <a:pPr marL="0" indent="0">
              <a:lnSpc>
                <a:spcPct val="120000"/>
              </a:lnSpc>
              <a:buClr>
                <a:srgbClr val="FF6633"/>
              </a:buClr>
              <a:buSzPct val="45000"/>
              <a:buFont typeface="Arial" charset="0"/>
              <a:buNone/>
              <a:tabLst>
                <a:tab pos="388806" algn="l"/>
                <a:tab pos="491048" algn="l"/>
                <a:tab pos="905774" algn="l"/>
                <a:tab pos="1320500" algn="l"/>
                <a:tab pos="1735226" algn="l"/>
                <a:tab pos="2149952" algn="l"/>
                <a:tab pos="2564678" algn="l"/>
                <a:tab pos="2979404" algn="l"/>
                <a:tab pos="3394131" algn="l"/>
                <a:tab pos="3808857" algn="l"/>
                <a:tab pos="4223583" algn="l"/>
                <a:tab pos="4638309" algn="l"/>
                <a:tab pos="5053035" algn="l"/>
                <a:tab pos="5467761" algn="l"/>
                <a:tab pos="5882487" algn="l"/>
                <a:tab pos="6297213" algn="l"/>
                <a:tab pos="6711939" algn="l"/>
                <a:tab pos="7126666" algn="l"/>
                <a:tab pos="7541392" algn="l"/>
                <a:tab pos="7956118" algn="l"/>
                <a:tab pos="8370844" algn="l"/>
              </a:tabLst>
            </a:pPr>
            <a:r>
              <a:rPr lang="en-US" sz="6200" dirty="0" err="1"/>
              <a:t>Eg</a:t>
            </a:r>
            <a:r>
              <a:rPr lang="en-US" sz="6200" dirty="0"/>
              <a:t>: Amazon Web Services, Google Cloud Platform (Firebase), Microsoft Azure, IBM, Oracle, etc.</a:t>
            </a:r>
            <a:endParaRPr lang="en-GB" sz="3700" dirty="0"/>
          </a:p>
        </p:txBody>
      </p:sp>
    </p:spTree>
    <p:extLst>
      <p:ext uri="{BB962C8B-B14F-4D97-AF65-F5344CB8AC3E}">
        <p14:creationId xmlns:p14="http://schemas.microsoft.com/office/powerpoint/2010/main" val="107273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0522-EC62-7CB5-CBBB-7651E99E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B97F9-065C-54C7-131B-62218F9961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3697A0-6192-A2C0-5222-DA6899485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What is Firebase</a:t>
            </a: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 ?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BF5873-0E23-0320-2710-4C6791FECC43}"/>
              </a:ext>
            </a:extLst>
          </p:cNvPr>
          <p:cNvSpPr txBox="1">
            <a:spLocks/>
          </p:cNvSpPr>
          <p:nvPr/>
        </p:nvSpPr>
        <p:spPr bwMode="auto">
          <a:xfrm>
            <a:off x="0" y="1111855"/>
            <a:ext cx="9993560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dirty="0"/>
              <a:t>A Google’s cloud-based app development platform: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dirty="0"/>
              <a:t>Firebase allowed to save data in cloud.</a:t>
            </a:r>
          </a:p>
          <a:p>
            <a:pPr marL="0" indent="0">
              <a:buFont typeface="Arial" charset="0"/>
              <a:buNone/>
            </a:pPr>
            <a:endParaRPr lang="en-GB" sz="1200" dirty="0"/>
          </a:p>
          <a:p>
            <a:pPr marL="0" indent="0">
              <a:buFont typeface="Arial" charset="0"/>
              <a:buNone/>
            </a:pPr>
            <a:r>
              <a:rPr lang="en-GB" sz="2600" dirty="0"/>
              <a:t>Features:</a:t>
            </a:r>
          </a:p>
          <a:p>
            <a:pPr marL="0" indent="0">
              <a:buFont typeface="Arial" charset="0"/>
              <a:buNone/>
            </a:pPr>
            <a:endParaRPr lang="en-GB" sz="1200" dirty="0"/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b="1" u="sng" dirty="0">
                <a:solidFill>
                  <a:srgbClr val="0033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</a:t>
            </a:r>
            <a:r>
              <a:rPr lang="en-GB" sz="2600" b="1" u="sng" dirty="0" err="1">
                <a:solidFill>
                  <a:srgbClr val="0033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Firestore</a:t>
            </a:r>
            <a:r>
              <a:rPr lang="en-GB" sz="2600" dirty="0"/>
              <a:t>: Serverless store and sync app data at global scale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b="1" dirty="0">
                <a:solidFill>
                  <a:srgbClr val="0033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 Functions</a:t>
            </a:r>
            <a:r>
              <a:rPr lang="en-GB" sz="2600" dirty="0"/>
              <a:t>: Run mobile backend code without managing servers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b="1" u="sng" dirty="0">
                <a:solidFill>
                  <a:srgbClr val="003399"/>
                </a:solidFill>
              </a:rPr>
              <a:t>Firebase Machine Learning</a:t>
            </a:r>
            <a:r>
              <a:rPr lang="en-GB" sz="2600" b="1" dirty="0"/>
              <a:t>: </a:t>
            </a:r>
            <a:r>
              <a:rPr lang="en-GB" sz="2600" dirty="0"/>
              <a:t>Machine learning for mobile developers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b="1" u="sng" dirty="0">
                <a:solidFill>
                  <a:srgbClr val="003399"/>
                </a:solidFill>
              </a:rPr>
              <a:t>Authentication</a:t>
            </a:r>
            <a:r>
              <a:rPr lang="en-GB" sz="2600" u="sng" dirty="0">
                <a:solidFill>
                  <a:srgbClr val="003399"/>
                </a:solidFill>
              </a:rPr>
              <a:t>:</a:t>
            </a:r>
            <a:r>
              <a:rPr lang="en-GB" sz="2600" dirty="0"/>
              <a:t> Authenticate user with security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b="1" u="sng" dirty="0">
                <a:solidFill>
                  <a:srgbClr val="003399"/>
                </a:solidFill>
              </a:rPr>
              <a:t>Hosting:</a:t>
            </a:r>
            <a:r>
              <a:rPr lang="en-GB" sz="2600" dirty="0"/>
              <a:t> Store and serve files.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GB" sz="2600" b="1" u="sng" dirty="0">
                <a:solidFill>
                  <a:srgbClr val="003399"/>
                </a:solidFill>
              </a:rPr>
              <a:t>Realtime Database</a:t>
            </a:r>
            <a:r>
              <a:rPr lang="en-GB" sz="2600" dirty="0">
                <a:solidFill>
                  <a:srgbClr val="003399"/>
                </a:solidFill>
              </a:rPr>
              <a:t>: </a:t>
            </a:r>
            <a:r>
              <a:rPr lang="en-GB" sz="2600" dirty="0"/>
              <a:t>Store and synchronise data in real time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69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950A9-F917-0FCD-D6E7-59CEB412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A3B9-82D2-C08E-AF7C-5E7201C80A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9E9B23-FD74-2B8B-72FC-1C909E7E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What is Firebase</a:t>
            </a: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 ?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BBD3EC-9F6B-2392-3245-CE9575B7D64E}"/>
              </a:ext>
            </a:extLst>
          </p:cNvPr>
          <p:cNvSpPr txBox="1">
            <a:spLocks/>
          </p:cNvSpPr>
          <p:nvPr/>
        </p:nvSpPr>
        <p:spPr bwMode="auto">
          <a:xfrm>
            <a:off x="0" y="1111855"/>
            <a:ext cx="9993560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endParaRPr lang="en-GB" sz="1200" dirty="0"/>
          </a:p>
          <a:p>
            <a:pPr marL="0" indent="0">
              <a:buFont typeface="Arial" charset="0"/>
              <a:buNone/>
            </a:pPr>
            <a:r>
              <a:rPr lang="en-GB" sz="2900" dirty="0"/>
              <a:t>Features:</a:t>
            </a:r>
          </a:p>
          <a:p>
            <a:pPr marL="0" indent="0">
              <a:buFont typeface="Arial" charset="0"/>
              <a:buNone/>
            </a:pPr>
            <a:endParaRPr lang="en-GB" sz="1200" dirty="0"/>
          </a:p>
          <a:p>
            <a:r>
              <a:rPr lang="en-GB" sz="2800" b="1" u="sng" dirty="0">
                <a:solidFill>
                  <a:srgbClr val="003399"/>
                </a:solidFill>
              </a:rPr>
              <a:t>Crashlytics:</a:t>
            </a:r>
            <a:r>
              <a:rPr lang="en-GB" sz="2800" dirty="0">
                <a:solidFill>
                  <a:srgbClr val="003399"/>
                </a:solidFill>
              </a:rPr>
              <a:t> </a:t>
            </a:r>
            <a:r>
              <a:rPr lang="en-GB" sz="2800" dirty="0"/>
              <a:t>Realtime crash reporting</a:t>
            </a:r>
          </a:p>
          <a:p>
            <a:r>
              <a:rPr lang="en-GB" sz="2800" b="1" u="sng" dirty="0">
                <a:solidFill>
                  <a:srgbClr val="003399"/>
                </a:solidFill>
              </a:rPr>
              <a:t>Performance Monitoring</a:t>
            </a:r>
            <a:r>
              <a:rPr lang="en-GB" sz="2800" dirty="0">
                <a:solidFill>
                  <a:srgbClr val="003399"/>
                </a:solidFill>
              </a:rPr>
              <a:t>: </a:t>
            </a:r>
            <a:r>
              <a:rPr lang="en-GB" sz="2800" dirty="0"/>
              <a:t>Provide app performance platform</a:t>
            </a:r>
          </a:p>
          <a:p>
            <a:r>
              <a:rPr lang="en-GB" sz="2800" b="1" u="sng" dirty="0">
                <a:solidFill>
                  <a:srgbClr val="003399"/>
                </a:solidFill>
              </a:rPr>
              <a:t>Test Lan</a:t>
            </a:r>
            <a:r>
              <a:rPr lang="en-GB" sz="2800" dirty="0">
                <a:solidFill>
                  <a:srgbClr val="003399"/>
                </a:solidFill>
              </a:rPr>
              <a:t>: </a:t>
            </a:r>
            <a:r>
              <a:rPr lang="en-GB" sz="2800" dirty="0"/>
              <a:t>Test your app on devices hosted by Google</a:t>
            </a:r>
          </a:p>
          <a:p>
            <a:r>
              <a:rPr lang="en-GB" sz="2800" b="1" u="sng" dirty="0">
                <a:solidFill>
                  <a:srgbClr val="003399"/>
                </a:solidFill>
              </a:rPr>
              <a:t>App Distribution (BETA): </a:t>
            </a:r>
            <a:r>
              <a:rPr lang="en-GB" sz="2800" dirty="0"/>
              <a:t>Distribute pre-release versions of your app to your trusted users.</a:t>
            </a:r>
          </a:p>
          <a:p>
            <a:r>
              <a:rPr lang="en-GB" sz="2800" dirty="0"/>
              <a:t>Support business analytics such as: </a:t>
            </a:r>
          </a:p>
          <a:p>
            <a:pPr marL="804863">
              <a:buFont typeface="Wingdings" panose="05000000000000000000" pitchFamily="2" charset="2"/>
              <a:buChar char="Ø"/>
            </a:pPr>
            <a:r>
              <a:rPr lang="en-GB" sz="2800" dirty="0"/>
              <a:t>Google Analytics</a:t>
            </a:r>
          </a:p>
          <a:p>
            <a:pPr marL="804863">
              <a:buFont typeface="Wingdings" panose="05000000000000000000" pitchFamily="2" charset="2"/>
              <a:buChar char="Ø"/>
            </a:pPr>
            <a:r>
              <a:rPr lang="en-GB" sz="2800" dirty="0"/>
              <a:t>Predictions</a:t>
            </a:r>
          </a:p>
          <a:p>
            <a:pPr marL="804863">
              <a:buFont typeface="Wingdings" panose="05000000000000000000" pitchFamily="2" charset="2"/>
              <a:buChar char="Ø"/>
            </a:pPr>
            <a:r>
              <a:rPr lang="en-GB" sz="2800" dirty="0"/>
              <a:t>Cloud Messaging</a:t>
            </a:r>
          </a:p>
          <a:p>
            <a:pPr marL="804863">
              <a:buFont typeface="Wingdings" panose="05000000000000000000" pitchFamily="2" charset="2"/>
              <a:buChar char="Ø"/>
            </a:pPr>
            <a:r>
              <a:rPr lang="en-GB" sz="2800" dirty="0"/>
              <a:t>Remote Configuration</a:t>
            </a:r>
            <a:r>
              <a:rPr lang="en-GB" sz="2600" dirty="0"/>
              <a:t>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539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D748-870C-E4F3-9BCA-0317F539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62A7B-458C-0128-49C7-00D80B706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6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4EBD91-B974-E255-A069-33F88166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260648"/>
            <a:ext cx="9230650" cy="763600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Relational Databases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10D157-1FC4-0B07-EABF-82F90F68B725}"/>
              </a:ext>
            </a:extLst>
          </p:cNvPr>
          <p:cNvSpPr txBox="1">
            <a:spLocks/>
          </p:cNvSpPr>
          <p:nvPr/>
        </p:nvSpPr>
        <p:spPr bwMode="auto">
          <a:xfrm>
            <a:off x="1" y="1411754"/>
            <a:ext cx="6105128" cy="5165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48" indent="-342900" algn="just">
              <a:buFont typeface="Arial" panose="020B0604020202020204" pitchFamily="34" charset="0"/>
              <a:buChar char="•"/>
            </a:pPr>
            <a:r>
              <a:rPr lang="en-GB" dirty="0"/>
              <a:t>A relational database stores and provides access to data points that are related to one another</a:t>
            </a:r>
            <a:r>
              <a:rPr lang="en-GB" baseline="30000" dirty="0"/>
              <a:t>.</a:t>
            </a:r>
          </a:p>
          <a:p>
            <a:pPr marL="425448" indent="-342900" algn="just">
              <a:buFont typeface="Arial" panose="020B0604020202020204" pitchFamily="34" charset="0"/>
              <a:buChar char="•"/>
            </a:pPr>
            <a:r>
              <a:rPr lang="en-GB" dirty="0"/>
              <a:t>Based on the relational model, representing data in tables.</a:t>
            </a:r>
          </a:p>
          <a:p>
            <a:pPr marL="425448" indent="-342900" algn="just">
              <a:buFont typeface="Arial" panose="020B0604020202020204" pitchFamily="34" charset="0"/>
              <a:buChar char="•"/>
            </a:pPr>
            <a:r>
              <a:rPr lang="en-GB" dirty="0"/>
              <a:t>Each row in the table is a record with a unique ID called the </a:t>
            </a:r>
            <a:r>
              <a:rPr lang="en-GB" i="1" dirty="0"/>
              <a:t>key</a:t>
            </a:r>
            <a:r>
              <a:rPr lang="en-GB" dirty="0"/>
              <a:t>. </a:t>
            </a:r>
          </a:p>
          <a:p>
            <a:pPr marL="425448" indent="-342900" algn="just">
              <a:buFont typeface="Arial" panose="020B0604020202020204" pitchFamily="34" charset="0"/>
              <a:buChar char="•"/>
            </a:pPr>
            <a:r>
              <a:rPr lang="en-GB" dirty="0"/>
              <a:t>The columns of the table hold attributes of the data, and each record usually has a value for each attribute, making it easy to establish the relationships among data points.</a:t>
            </a:r>
          </a:p>
          <a:p>
            <a:pPr marL="425448" indent="-342900" algn="just">
              <a:buFont typeface="Arial" panose="020B0604020202020204" pitchFamily="34" charset="0"/>
              <a:buChar char="•"/>
            </a:pPr>
            <a:r>
              <a:rPr lang="en-GB" dirty="0"/>
              <a:t>SQL(MySQL, PostgreSQL, SQLite) is used to read/write data. SQLite is primary data source for android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4EB8E5-ADD9-2CBA-F9C2-9AB804022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929" y="2228850"/>
            <a:ext cx="3527377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4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76E3-317E-DE48-91C4-758AD071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2A62A-D8A3-3939-EE4B-5A4A543577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33E71E-3508-DAD3-05CB-F8BA8DA13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" y="188640"/>
            <a:ext cx="9230650" cy="763600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Firebase Realtime Database (NoSQL)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FFF62E-B293-E995-9661-0BA405A229D4}"/>
              </a:ext>
            </a:extLst>
          </p:cNvPr>
          <p:cNvSpPr txBox="1">
            <a:spLocks/>
          </p:cNvSpPr>
          <p:nvPr/>
        </p:nvSpPr>
        <p:spPr bwMode="auto">
          <a:xfrm>
            <a:off x="56456" y="1340768"/>
            <a:ext cx="6480720" cy="486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The Firebase Realtime Database is a cloud-hosted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Data is stored as JSON and synchronized in </a:t>
            </a:r>
            <a:r>
              <a:rPr lang="en-GB" sz="2200" dirty="0" err="1"/>
              <a:t>realtime</a:t>
            </a:r>
            <a:r>
              <a:rPr lang="en-GB" sz="2200" dirty="0"/>
              <a:t> to every connected client.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Realtime database helps app users to collaborate by storing and accessing data from different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When an app is built  with iOS/Android and JavaScript SDKs, all of users of that app share one Realtime Database instance and automatically receive updates with the newest data.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73A05-9D6F-65A1-5600-7995E28AE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176" y="1852950"/>
            <a:ext cx="30956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9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DBF2-23D5-684E-F732-27E27514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5F06B-2AAB-CD39-3D40-413E34A39B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EFD7B-6C3D-F9BA-E4B1-B856A616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JSON: </a:t>
            </a:r>
            <a:r>
              <a:rPr lang="en-US" altLang="en-US" sz="36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Javascript</a:t>
            </a:r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 Object Notation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C095F2-209B-E442-B983-6E7744E16111}"/>
              </a:ext>
            </a:extLst>
          </p:cNvPr>
          <p:cNvSpPr txBox="1">
            <a:spLocks/>
          </p:cNvSpPr>
          <p:nvPr/>
        </p:nvSpPr>
        <p:spPr bwMode="auto">
          <a:xfrm>
            <a:off x="30017" y="1443752"/>
            <a:ext cx="9742904" cy="4878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JSON is a lightweight data-interchange format. </a:t>
            </a:r>
          </a:p>
          <a:p>
            <a:r>
              <a:rPr lang="en-GB" sz="2200" dirty="0"/>
              <a:t>It is easy for humans to read and write also easy for machines to parse and generate.</a:t>
            </a:r>
          </a:p>
          <a:p>
            <a:r>
              <a:rPr lang="en-GB" sz="2200" dirty="0"/>
              <a:t>The two primary parts that make up JSON are keys and values. Together they make a key/value pair.</a:t>
            </a:r>
          </a:p>
          <a:p>
            <a:pPr marL="0" indent="0">
              <a:buFont typeface="Arial" charset="0"/>
              <a:buNone/>
            </a:pPr>
            <a:r>
              <a:rPr lang="en-GB" b="1" dirty="0"/>
              <a:t>    </a:t>
            </a:r>
            <a:r>
              <a:rPr lang="en-GB" sz="1900" b="1" dirty="0"/>
              <a:t>Key:</a:t>
            </a:r>
            <a:r>
              <a:rPr lang="en-GB" sz="1900" dirty="0"/>
              <a:t> A key is always a string enclosed in quotation marks.</a:t>
            </a:r>
          </a:p>
          <a:p>
            <a:pPr marL="1527175" indent="-1527175">
              <a:buFont typeface="Arial" charset="0"/>
              <a:buNone/>
            </a:pPr>
            <a:r>
              <a:rPr lang="en-GB" sz="1900" dirty="0"/>
              <a:t>     </a:t>
            </a:r>
            <a:r>
              <a:rPr lang="en-GB" sz="1900" b="1" dirty="0"/>
              <a:t>Value: </a:t>
            </a:r>
            <a:r>
              <a:rPr lang="en-GB" sz="1900" dirty="0"/>
              <a:t>A value can be a string, number, </a:t>
            </a:r>
            <a:r>
              <a:rPr lang="en-GB" sz="1900" dirty="0" err="1"/>
              <a:t>boolean</a:t>
            </a:r>
            <a:r>
              <a:rPr lang="en-GB" sz="1900" dirty="0"/>
              <a:t> expression, array,     or object.</a:t>
            </a:r>
          </a:p>
          <a:p>
            <a:pPr marL="1527175" indent="-1527175">
              <a:buFont typeface="Arial" charset="0"/>
              <a:buNone/>
            </a:pPr>
            <a:r>
              <a:rPr lang="en-GB" sz="1900" dirty="0"/>
              <a:t>     </a:t>
            </a:r>
            <a:r>
              <a:rPr lang="en-GB" sz="1900" b="1" dirty="0"/>
              <a:t>Key/Value Pair:</a:t>
            </a:r>
            <a:r>
              <a:rPr lang="en-GB" sz="1900" dirty="0"/>
              <a:t> A key value pair follows a specific syntax, with the key followed by a colon followed by the value. Key/value pairs are comma separated.</a:t>
            </a:r>
          </a:p>
          <a:p>
            <a:pPr marL="1527175" indent="-1527175">
              <a:buFont typeface="Arial" charset="0"/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63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1F20-2EC6-5464-358A-EEF398E61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C2D94-2DE1-F0D5-2E73-A5D62EBE66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103E49-AD3A-EB07-53CA-AB3408D0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JSON: </a:t>
            </a:r>
            <a:r>
              <a:rPr lang="en-US" altLang="en-US" sz="36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Javascript</a:t>
            </a:r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 Object Notation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29E35D-FB3E-5BC0-84E8-2BD286DB9709}"/>
              </a:ext>
            </a:extLst>
          </p:cNvPr>
          <p:cNvSpPr txBox="1">
            <a:spLocks/>
          </p:cNvSpPr>
          <p:nvPr/>
        </p:nvSpPr>
        <p:spPr bwMode="auto">
          <a:xfrm>
            <a:off x="133079" y="1268760"/>
            <a:ext cx="8735229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800" dirty="0">
                <a:solidFill>
                  <a:srgbClr val="003399"/>
                </a:solidFill>
              </a:rPr>
              <a:t>JSON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0552C6-6F0D-8607-A083-A83E85362470}"/>
              </a:ext>
            </a:extLst>
          </p:cNvPr>
          <p:cNvSpPr txBox="1">
            <a:spLocks/>
          </p:cNvSpPr>
          <p:nvPr/>
        </p:nvSpPr>
        <p:spPr bwMode="auto">
          <a:xfrm>
            <a:off x="133079" y="1904650"/>
            <a:ext cx="9639842" cy="4415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dirty="0"/>
              <a:t>“university” : “</a:t>
            </a:r>
            <a:r>
              <a:rPr lang="en-GB" dirty="0" err="1"/>
              <a:t>UoB</a:t>
            </a:r>
            <a:r>
              <a:rPr lang="en-GB" dirty="0"/>
              <a:t>”</a:t>
            </a:r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dirty="0"/>
              <a:t>“university” :{</a:t>
            </a:r>
          </a:p>
          <a:p>
            <a:pPr marL="457200" lvl="1" indent="0">
              <a:buFont typeface="Arial" charset="0"/>
              <a:buNone/>
            </a:pPr>
            <a:r>
              <a:rPr lang="en-GB" sz="2400" dirty="0"/>
              <a:t> “name” : “</a:t>
            </a:r>
            <a:r>
              <a:rPr lang="en-GB" sz="2400" dirty="0" err="1"/>
              <a:t>UoB</a:t>
            </a:r>
            <a:r>
              <a:rPr lang="en-GB" sz="2400" dirty="0"/>
              <a:t>”,</a:t>
            </a:r>
          </a:p>
          <a:p>
            <a:pPr marL="457200" lvl="1" indent="0">
              <a:buFont typeface="Arial" charset="0"/>
              <a:buNone/>
            </a:pPr>
            <a:r>
              <a:rPr lang="en-GB" sz="2400" dirty="0"/>
              <a:t> “location”: “Bradford”,</a:t>
            </a:r>
          </a:p>
          <a:p>
            <a:pPr marL="457200" lvl="1" indent="0">
              <a:buFont typeface="Arial" charset="0"/>
              <a:buNone/>
            </a:pPr>
            <a:r>
              <a:rPr lang="en-GB" sz="2400" dirty="0"/>
              <a:t> “course”: [“computer”, ”management”]</a:t>
            </a:r>
          </a:p>
          <a:p>
            <a:pPr marL="457200" lvl="1" indent="0">
              <a:buFont typeface="Arial" charset="0"/>
              <a:buNone/>
            </a:pPr>
            <a:r>
              <a:rPr lang="en-GB" sz="2400" dirty="0"/>
              <a:t>}</a:t>
            </a:r>
          </a:p>
          <a:p>
            <a:pPr marL="457200" lvl="1" indent="0">
              <a:buFont typeface="Arial" charset="0"/>
              <a:buNone/>
            </a:pPr>
            <a:r>
              <a:rPr lang="en-GB" sz="2400" dirty="0"/>
              <a:t>Or,</a:t>
            </a:r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dirty="0"/>
              <a:t>“university” :{ “name” : “</a:t>
            </a:r>
            <a:r>
              <a:rPr lang="en-GB" dirty="0" err="1"/>
              <a:t>UoB</a:t>
            </a:r>
            <a:r>
              <a:rPr lang="en-GB" dirty="0"/>
              <a:t>”,  “location”: “Bradford”,  “course”: [“computer”, ”management”] }</a:t>
            </a:r>
          </a:p>
          <a:p>
            <a:endParaRPr lang="en-GB" dirty="0"/>
          </a:p>
          <a:p>
            <a:pPr marL="0" indent="0">
              <a:buFont typeface="Arial" charset="0"/>
              <a:buNone/>
            </a:pPr>
            <a:endParaRPr lang="en-GB" dirty="0"/>
          </a:p>
          <a:p>
            <a:pPr marL="457200" lvl="1" indent="0">
              <a:buFont typeface="Arial" charset="0"/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953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57D57-6B18-1A4D-2F38-BFD7301FD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07F2-8403-01E4-9201-FABD83A532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10</a:t>
            </a:fld>
            <a:endParaRPr lang="e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5C9619-69AA-6B52-F222-06C9B1A24414}"/>
              </a:ext>
            </a:extLst>
          </p:cNvPr>
          <p:cNvSpPr txBox="1">
            <a:spLocks/>
          </p:cNvSpPr>
          <p:nvPr/>
        </p:nvSpPr>
        <p:spPr bwMode="auto">
          <a:xfrm>
            <a:off x="200472" y="199534"/>
            <a:ext cx="8890248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200" b="1" dirty="0">
                <a:solidFill>
                  <a:schemeClr val="bg1"/>
                </a:solidFill>
                <a:latin typeface="Georgia" panose="02040502050405020303" pitchFamily="18" charset="0"/>
              </a:rPr>
              <a:t>JSON: </a:t>
            </a:r>
            <a:r>
              <a:rPr lang="en-US" altLang="en-US" sz="32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Javascript</a:t>
            </a:r>
            <a:r>
              <a:rPr lang="en-US" altLang="en-US" sz="3200" b="1" dirty="0">
                <a:solidFill>
                  <a:schemeClr val="bg1"/>
                </a:solidFill>
                <a:latin typeface="Georgia" panose="02040502050405020303" pitchFamily="18" charset="0"/>
              </a:rPr>
              <a:t> Object Notation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A89C104-0D92-BEAD-8DCC-EC820144C000}"/>
              </a:ext>
            </a:extLst>
          </p:cNvPr>
          <p:cNvSpPr txBox="1">
            <a:spLocks/>
          </p:cNvSpPr>
          <p:nvPr/>
        </p:nvSpPr>
        <p:spPr bwMode="auto">
          <a:xfrm>
            <a:off x="56456" y="1412776"/>
            <a:ext cx="7779393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800" dirty="0">
                <a:solidFill>
                  <a:schemeClr val="tx1"/>
                </a:solidFill>
              </a:rPr>
              <a:t>JSON Structure: Writing data to firebase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3C3808B8-7EBA-6F63-731F-F369FF9C4C5E}"/>
              </a:ext>
            </a:extLst>
          </p:cNvPr>
          <p:cNvSpPr txBox="1">
            <a:spLocks/>
          </p:cNvSpPr>
          <p:nvPr/>
        </p:nvSpPr>
        <p:spPr bwMode="auto">
          <a:xfrm>
            <a:off x="334497" y="2276872"/>
            <a:ext cx="8363272" cy="3954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600"/>
              <a:t>Let’s write some data to firebase database from the firebase console.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00259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0969-AE1D-AB53-8C26-EE2FDCB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45EC7-F586-7413-C3A2-EC1E852966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A10D7D-B14A-1FFD-7CEB-04D7DC26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Firebase Console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B088A3-3295-41A0-25D7-EC4D259EA85C}"/>
              </a:ext>
            </a:extLst>
          </p:cNvPr>
          <p:cNvSpPr txBox="1">
            <a:spLocks/>
          </p:cNvSpPr>
          <p:nvPr/>
        </p:nvSpPr>
        <p:spPr bwMode="auto">
          <a:xfrm>
            <a:off x="128464" y="1556791"/>
            <a:ext cx="9777536" cy="4762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48" indent="-457200">
              <a:buFont typeface="Arial" panose="020B0604020202020204" pitchFamily="34" charset="0"/>
              <a:buChar char="•"/>
            </a:pPr>
            <a:r>
              <a:rPr lang="en-US" dirty="0"/>
              <a:t>Google has a number of "consoles".</a:t>
            </a:r>
          </a:p>
          <a:p>
            <a:pPr lvl="1"/>
            <a:r>
              <a:rPr lang="en-US" sz="2000" dirty="0"/>
              <a:t>These are webpages to control varying things.</a:t>
            </a:r>
          </a:p>
          <a:p>
            <a:pPr lvl="2"/>
            <a:r>
              <a:rPr lang="en-US" dirty="0"/>
              <a:t>Other Examples:</a:t>
            </a:r>
          </a:p>
          <a:p>
            <a:pPr lvl="3"/>
            <a:r>
              <a:rPr lang="en-US" dirty="0">
                <a:hlinkClick r:id="rId2"/>
              </a:rPr>
              <a:t>https://partner.android.com/things/console#/</a:t>
            </a:r>
            <a:r>
              <a:rPr lang="en-US" dirty="0"/>
              <a:t>   android things partners</a:t>
            </a:r>
          </a:p>
          <a:p>
            <a:pPr lvl="3"/>
            <a:r>
              <a:rPr lang="en-US" dirty="0">
                <a:hlinkClick r:id="rId3"/>
              </a:rPr>
              <a:t>https://console.developers.google.com/apis/</a:t>
            </a:r>
            <a:r>
              <a:rPr lang="en-US" dirty="0"/>
              <a:t>   for </a:t>
            </a:r>
            <a:r>
              <a:rPr lang="en-US" dirty="0" err="1"/>
              <a:t>apis</a:t>
            </a:r>
            <a:r>
              <a:rPr lang="en-US" dirty="0"/>
              <a:t> like maps, cloud datastore, cloud </a:t>
            </a:r>
            <a:r>
              <a:rPr lang="en-US" dirty="0" err="1"/>
              <a:t>sql</a:t>
            </a:r>
            <a:r>
              <a:rPr lang="en-US" dirty="0"/>
              <a:t>, cloud storage, etc.</a:t>
            </a:r>
          </a:p>
          <a:p>
            <a:pPr lvl="3"/>
            <a:r>
              <a:rPr lang="en-US" dirty="0">
                <a:hlinkClick r:id="rId4"/>
              </a:rPr>
              <a:t>https://developers.google.com/</a:t>
            </a:r>
            <a:r>
              <a:rPr lang="en-US" dirty="0"/>
              <a:t>   Dashboard for general google development including Firebase, android, Web, Flutter, YouTube etc.</a:t>
            </a:r>
          </a:p>
          <a:p>
            <a:pPr marL="539748" indent="-457200">
              <a:buFont typeface="Arial" panose="020B0604020202020204" pitchFamily="34" charset="0"/>
              <a:buChar char="•"/>
            </a:pPr>
            <a:r>
              <a:rPr lang="en-US" dirty="0"/>
              <a:t>Firebase has it's own as well.</a:t>
            </a:r>
          </a:p>
          <a:p>
            <a:pPr lvl="1"/>
            <a:r>
              <a:rPr lang="en-US" sz="2000" dirty="0">
                <a:hlinkClick r:id="rId5"/>
              </a:rPr>
              <a:t>https://console.firebase.google.com/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14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4707-5735-BD47-C2A8-DB1ADC92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6DFC1-F998-2817-BE39-CD6E9A5E9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23C7EA-3379-5D82-A3F9-B012BB80C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Using Firebase Console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437073-38C3-3F40-1D60-A3C061E756EF}"/>
              </a:ext>
            </a:extLst>
          </p:cNvPr>
          <p:cNvSpPr txBox="1">
            <a:spLocks/>
          </p:cNvSpPr>
          <p:nvPr/>
        </p:nvSpPr>
        <p:spPr bwMode="auto">
          <a:xfrm>
            <a:off x="128464" y="1772816"/>
            <a:ext cx="9777536" cy="44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48" indent="-342900">
              <a:buFont typeface="Arial" panose="020B0604020202020204" pitchFamily="34" charset="0"/>
              <a:buChar char="•"/>
            </a:pPr>
            <a:r>
              <a:rPr lang="en-US" dirty="0"/>
              <a:t>You will need to log into the console with google account and setup a project.</a:t>
            </a:r>
          </a:p>
          <a:p>
            <a:pPr marL="914400" lvl="2" indent="0">
              <a:buFont typeface="Arial" charset="0"/>
              <a:buNone/>
            </a:pPr>
            <a:endParaRPr lang="en-US" dirty="0"/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US" dirty="0"/>
              <a:t>It is platform independent. It can be used on iOS, Android, Unity, C++, and on the Web as well.</a:t>
            </a:r>
          </a:p>
          <a:p>
            <a:endParaRPr lang="en-US" dirty="0"/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US" dirty="0"/>
              <a:t>See the following link for details on how to add Firebase to your Android project</a:t>
            </a:r>
          </a:p>
          <a:p>
            <a:pPr lvl="1"/>
            <a:r>
              <a:rPr lang="en-US" sz="2200" dirty="0">
                <a:hlinkClick r:id="rId2"/>
              </a:rPr>
              <a:t>https://firebase.google.com/docs/android/setup#available_libraries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08502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1714-6866-6284-ED90-16E89B7C9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2C577-FAA8-EBA4-7CEA-7613DC506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4DCDFD-67DA-F770-D81E-9D0D9EFD6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Basic Setup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2EE13B9-D0E3-4FEE-10D8-7E3F8718223E}"/>
              </a:ext>
            </a:extLst>
          </p:cNvPr>
          <p:cNvSpPr txBox="1">
            <a:spLocks/>
          </p:cNvSpPr>
          <p:nvPr/>
        </p:nvSpPr>
        <p:spPr bwMode="auto">
          <a:xfrm>
            <a:off x="0" y="1412776"/>
            <a:ext cx="96774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Setup the Real-time Database: From Android Studio: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C7D22A-0552-4E55-1556-3A5B06E7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01368"/>
            <a:ext cx="2145585" cy="4054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49CA9C-33AD-2D5D-DEB2-D7ADFCCD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721" y="2142222"/>
            <a:ext cx="3367732" cy="42353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1C5922-6CF1-0361-D1D3-383BA821C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668" y="2142222"/>
            <a:ext cx="3367732" cy="417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36DBB-1D42-2E9B-03C6-EC2B3BC4D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D8974-F29B-F7D4-6C94-372DCE0C55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92CC15-F0C8-08B2-2012-50A57286D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Basic Setup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B6F64-F91E-2E38-F205-D15B495C7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048272"/>
            <a:ext cx="9144000" cy="3672408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CF57E2F-9503-4DCC-CDD7-86BC24E17C61}"/>
              </a:ext>
            </a:extLst>
          </p:cNvPr>
          <p:cNvSpPr txBox="1">
            <a:spLocks/>
          </p:cNvSpPr>
          <p:nvPr/>
        </p:nvSpPr>
        <p:spPr bwMode="auto">
          <a:xfrm>
            <a:off x="56456" y="1268760"/>
            <a:ext cx="8409812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browser: Sing in with your Gmail ID                        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3EB00-8933-0F1A-683E-356A8F67739A}"/>
              </a:ext>
            </a:extLst>
          </p:cNvPr>
          <p:cNvSpPr/>
          <p:nvPr/>
        </p:nvSpPr>
        <p:spPr>
          <a:xfrm>
            <a:off x="1424608" y="5748672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https://console.firebase.google.com/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533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498B-D798-F356-C3C3-531D9BFE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31CD7-FD95-BAB7-F197-E262A4837F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958D4-E8CF-21D6-7468-C5E28ABF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bg1"/>
                </a:solidFill>
                <a:latin typeface="Georgia" panose="02040502050405020303" pitchFamily="18" charset="0"/>
              </a:rPr>
              <a:t>Through the Console only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5C85C-A18D-9D9A-7240-94FA6BB6C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4" y="1420245"/>
            <a:ext cx="9144000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70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6821-43F4-FD2F-DCB3-BBC7AA38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C2574-EAA1-9D98-FE1B-92D0540E73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16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19BDC2-76CE-74A1-BCA4-C7BB17A8A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48" y="13977"/>
            <a:ext cx="9435246" cy="763600"/>
          </a:xfrm>
        </p:spPr>
        <p:txBody>
          <a:bodyPr/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Writing Data to Firebase Real time Database from app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C402E9-D38E-0981-1A56-F9DDC46560DF}"/>
              </a:ext>
            </a:extLst>
          </p:cNvPr>
          <p:cNvSpPr txBox="1">
            <a:spLocks/>
          </p:cNvSpPr>
          <p:nvPr/>
        </p:nvSpPr>
        <p:spPr bwMode="auto">
          <a:xfrm>
            <a:off x="-108520" y="1222826"/>
            <a:ext cx="10014520" cy="5022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600"/>
              <a:t>Instantiate the database in our activity’s code:</a:t>
            </a:r>
          </a:p>
          <a:p>
            <a:pPr marL="400050" lvl="1" indent="0">
              <a:buFont typeface="Arial" charset="0"/>
              <a:buNone/>
            </a:pPr>
            <a:r>
              <a:rPr lang="en-GB" sz="2000">
                <a:solidFill>
                  <a:srgbClr val="0070C0"/>
                </a:solidFill>
              </a:rPr>
              <a:t>FirebaseDatabase </a:t>
            </a:r>
            <a:r>
              <a:rPr lang="en-GB" sz="2000" b="1" i="1">
                <a:solidFill>
                  <a:srgbClr val="0070C0"/>
                </a:solidFill>
              </a:rPr>
              <a:t>firebaseDatabase </a:t>
            </a:r>
            <a:r>
              <a:rPr lang="en-GB" sz="2000">
                <a:solidFill>
                  <a:srgbClr val="0070C0"/>
                </a:solidFill>
              </a:rPr>
              <a:t>= FirebaseDatabase.getInstance(“url”);</a:t>
            </a:r>
          </a:p>
          <a:p>
            <a:pPr marL="0" indent="0">
              <a:buFont typeface="Arial" charset="0"/>
              <a:buNone/>
            </a:pPr>
            <a:endParaRPr lang="en-GB" sz="2200"/>
          </a:p>
          <a:p>
            <a:r>
              <a:rPr lang="en-GB" sz="2600"/>
              <a:t>Get the reference of database’s root/child node to add the data.</a:t>
            </a:r>
          </a:p>
          <a:p>
            <a:pPr marL="400050" lvl="1" indent="0">
              <a:buFont typeface="Arial" charset="0"/>
              <a:buNone/>
            </a:pPr>
            <a:r>
              <a:rPr lang="en-GB" sz="1900">
                <a:solidFill>
                  <a:srgbClr val="0070C0"/>
                </a:solidFill>
              </a:rPr>
              <a:t>DatabaseReference </a:t>
            </a:r>
            <a:r>
              <a:rPr lang="en-GB" sz="1900" b="1" i="1">
                <a:solidFill>
                  <a:srgbClr val="0070C0"/>
                </a:solidFill>
              </a:rPr>
              <a:t>reference</a:t>
            </a:r>
            <a:r>
              <a:rPr lang="en-GB" sz="1900">
                <a:solidFill>
                  <a:srgbClr val="0070C0"/>
                </a:solidFill>
              </a:rPr>
              <a:t> = firebaseDatabase.getReference();</a:t>
            </a:r>
            <a:r>
              <a:rPr lang="en-GB" sz="1900"/>
              <a:t>	</a:t>
            </a:r>
          </a:p>
          <a:p>
            <a:pPr marL="400050" lvl="1" indent="0">
              <a:buFont typeface="Arial" charset="0"/>
              <a:buNone/>
            </a:pPr>
            <a:r>
              <a:rPr lang="en-GB" sz="1800">
                <a:solidFill>
                  <a:srgbClr val="0070C0"/>
                </a:solidFill>
              </a:rPr>
              <a:t>DatabaseReference </a:t>
            </a:r>
            <a:r>
              <a:rPr lang="en-GB" sz="1800" b="1" i="1">
                <a:solidFill>
                  <a:srgbClr val="0070C0"/>
                </a:solidFill>
              </a:rPr>
              <a:t>reference1</a:t>
            </a:r>
            <a:r>
              <a:rPr lang="en-GB" sz="1800">
                <a:solidFill>
                  <a:srgbClr val="0070C0"/>
                </a:solidFill>
              </a:rPr>
              <a:t> = firebaseDatabase.getReference().child(“users”);</a:t>
            </a:r>
          </a:p>
          <a:p>
            <a:pPr marL="400050" lvl="1" indent="0">
              <a:buFont typeface="Arial" charset="0"/>
              <a:buNone/>
            </a:pPr>
            <a:r>
              <a:rPr lang="en-GB"/>
              <a:t>	</a:t>
            </a:r>
          </a:p>
          <a:p>
            <a:r>
              <a:rPr lang="en-GB"/>
              <a:t>Set the value using intended child’s key:</a:t>
            </a:r>
          </a:p>
          <a:p>
            <a:pPr marL="400050" lvl="1" indent="0">
              <a:buFont typeface="Arial" charset="0"/>
              <a:buNone/>
            </a:pPr>
            <a:r>
              <a:rPr lang="en-GB" sz="2000">
                <a:solidFill>
                  <a:srgbClr val="0070C0"/>
                </a:solidFill>
              </a:rPr>
              <a:t>reference1.child(“</a:t>
            </a:r>
            <a:r>
              <a:rPr lang="en-GB" sz="2000" i="1">
                <a:solidFill>
                  <a:srgbClr val="0070C0"/>
                </a:solidFill>
              </a:rPr>
              <a:t>username</a:t>
            </a:r>
            <a:r>
              <a:rPr lang="en-GB" sz="2000">
                <a:solidFill>
                  <a:srgbClr val="0070C0"/>
                </a:solidFill>
              </a:rPr>
              <a:t>”).setValue(“</a:t>
            </a:r>
            <a:r>
              <a:rPr lang="en-GB" sz="2000" i="1">
                <a:solidFill>
                  <a:srgbClr val="0070C0"/>
                </a:solidFill>
              </a:rPr>
              <a:t>Mike</a:t>
            </a:r>
            <a:r>
              <a:rPr lang="en-GB" sz="2000">
                <a:solidFill>
                  <a:srgbClr val="0070C0"/>
                </a:solidFill>
              </a:rPr>
              <a:t>”);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06720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6C24-E99B-2670-1B4E-81F657A8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02314-1D92-9BDB-71D9-E76BF4B83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B48F7C-5323-6926-FAB7-F397FA94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96" y="13977"/>
            <a:ext cx="9230650" cy="763600"/>
          </a:xfrm>
        </p:spPr>
        <p:txBody>
          <a:bodyPr/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Another example: Writing Data to Firebase Realtime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4D54B9-FE52-F9E8-DB0C-594DAA4AFE0E}"/>
              </a:ext>
            </a:extLst>
          </p:cNvPr>
          <p:cNvSpPr txBox="1">
            <a:spLocks/>
          </p:cNvSpPr>
          <p:nvPr/>
        </p:nvSpPr>
        <p:spPr bwMode="auto">
          <a:xfrm>
            <a:off x="29884" y="1196752"/>
            <a:ext cx="9459619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7200" dirty="0" err="1"/>
              <a:t>mSendButton</a:t>
            </a:r>
            <a:r>
              <a:rPr lang="en-GB" sz="7200" dirty="0"/>
              <a:t> = (Button) </a:t>
            </a:r>
            <a:r>
              <a:rPr lang="en-GB" sz="7200" dirty="0" err="1"/>
              <a:t>findViewById</a:t>
            </a:r>
            <a:r>
              <a:rPr lang="en-GB" sz="7200" dirty="0"/>
              <a:t>(</a:t>
            </a:r>
            <a:r>
              <a:rPr lang="en-GB" sz="7200" dirty="0" err="1"/>
              <a:t>R.id.sendButton</a:t>
            </a:r>
            <a:r>
              <a:rPr lang="en-GB" sz="7200" dirty="0"/>
              <a:t>);</a:t>
            </a:r>
          </a:p>
          <a:p>
            <a:pPr marL="0" indent="0">
              <a:buFont typeface="Arial" charset="0"/>
              <a:buNone/>
            </a:pPr>
            <a:r>
              <a:rPr lang="en-GB" sz="7200" dirty="0" err="1"/>
              <a:t>mSendButton.setOnClickListener</a:t>
            </a:r>
            <a:r>
              <a:rPr lang="en-GB" sz="7200" dirty="0"/>
              <a:t>(new </a:t>
            </a:r>
            <a:r>
              <a:rPr lang="en-GB" sz="7200" dirty="0" err="1"/>
              <a:t>View.OnClickListener</a:t>
            </a:r>
            <a:r>
              <a:rPr lang="en-GB" sz="7200" dirty="0"/>
              <a:t>() {</a:t>
            </a:r>
          </a:p>
          <a:p>
            <a:pPr marL="0" indent="0">
              <a:buFont typeface="Arial" charset="0"/>
              <a:buNone/>
            </a:pPr>
            <a:r>
              <a:rPr lang="en-GB" dirty="0"/>
              <a:t>   </a:t>
            </a:r>
            <a:r>
              <a:rPr lang="en-GB" sz="5600" dirty="0"/>
              <a:t>@Override</a:t>
            </a:r>
          </a:p>
          <a:p>
            <a:pPr marL="0" indent="0">
              <a:buFont typeface="Arial" charset="0"/>
              <a:buNone/>
            </a:pPr>
            <a:r>
              <a:rPr lang="en-GB" dirty="0"/>
              <a:t>   </a:t>
            </a:r>
            <a:r>
              <a:rPr lang="en-GB" sz="7200" dirty="0"/>
              <a:t>public void </a:t>
            </a:r>
            <a:r>
              <a:rPr lang="en-GB" sz="7200" dirty="0" err="1"/>
              <a:t>onClick</a:t>
            </a:r>
            <a:r>
              <a:rPr lang="en-GB" sz="7200" dirty="0"/>
              <a:t>(View view) {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</a:t>
            </a:r>
            <a:r>
              <a:rPr lang="en-GB" sz="7200" dirty="0" err="1"/>
              <a:t>FriendlyMessage</a:t>
            </a:r>
            <a:r>
              <a:rPr lang="en-GB" sz="7200" dirty="0"/>
              <a:t> </a:t>
            </a:r>
            <a:r>
              <a:rPr lang="en-GB" sz="7200" dirty="0" err="1"/>
              <a:t>friendlyMessage</a:t>
            </a:r>
            <a:r>
              <a:rPr lang="en-GB" sz="7200" dirty="0"/>
              <a:t> = new 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        </a:t>
            </a:r>
            <a:r>
              <a:rPr lang="en-GB" sz="7200" dirty="0" err="1"/>
              <a:t>FriendlyMessage</a:t>
            </a:r>
            <a:r>
              <a:rPr lang="en-GB" sz="7200" dirty="0"/>
              <a:t>(</a:t>
            </a:r>
            <a:r>
              <a:rPr lang="en-GB" sz="7200" dirty="0" err="1"/>
              <a:t>mMessageEditText.getText</a:t>
            </a:r>
            <a:r>
              <a:rPr lang="en-GB" sz="7200" dirty="0"/>
              <a:t>().</a:t>
            </a:r>
            <a:r>
              <a:rPr lang="en-GB" sz="7200" dirty="0" err="1"/>
              <a:t>toString</a:t>
            </a:r>
            <a:r>
              <a:rPr lang="en-GB" sz="7200" dirty="0"/>
              <a:t>(),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                        </a:t>
            </a:r>
            <a:r>
              <a:rPr lang="en-GB" sz="7200" dirty="0" err="1"/>
              <a:t>mUsername</a:t>
            </a:r>
            <a:r>
              <a:rPr lang="en-GB" sz="7200" dirty="0"/>
              <a:t>,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                        </a:t>
            </a:r>
            <a:r>
              <a:rPr lang="en-GB" sz="7200" dirty="0" err="1"/>
              <a:t>mPhotoUrl</a:t>
            </a:r>
            <a:r>
              <a:rPr lang="en-GB" sz="7200" dirty="0"/>
              <a:t>,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                        null /* no image */);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</a:t>
            </a:r>
            <a:r>
              <a:rPr lang="en-GB" sz="7200" dirty="0" err="1"/>
              <a:t>mFirebaseDatabaseReference.child</a:t>
            </a:r>
            <a:r>
              <a:rPr lang="en-GB" sz="7200" dirty="0"/>
              <a:t>(MESSAGES_CHILD)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        </a:t>
            </a:r>
            <a:r>
              <a:rPr lang="en-GB" sz="7200" b="1" dirty="0">
                <a:solidFill>
                  <a:srgbClr val="003399"/>
                </a:solidFill>
              </a:rPr>
              <a:t>.push().</a:t>
            </a:r>
            <a:r>
              <a:rPr lang="en-GB" sz="7200" dirty="0" err="1"/>
              <a:t>setValue</a:t>
            </a:r>
            <a:r>
              <a:rPr lang="en-GB" sz="7200" dirty="0"/>
              <a:t>(</a:t>
            </a:r>
            <a:r>
              <a:rPr lang="en-GB" sz="7200" dirty="0" err="1"/>
              <a:t>friendlyMessage</a:t>
            </a:r>
            <a:r>
              <a:rPr lang="en-GB" sz="7200" dirty="0"/>
              <a:t>);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    </a:t>
            </a:r>
            <a:r>
              <a:rPr lang="en-GB" sz="7200" dirty="0" err="1"/>
              <a:t>mMessageEditText.setText</a:t>
            </a:r>
            <a:r>
              <a:rPr lang="en-GB" sz="7200" dirty="0"/>
              <a:t>("");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   }</a:t>
            </a:r>
          </a:p>
          <a:p>
            <a:pPr marL="0" indent="0">
              <a:buFont typeface="Arial" charset="0"/>
              <a:buNone/>
            </a:pPr>
            <a:r>
              <a:rPr lang="en-GB" sz="7200" dirty="0"/>
              <a:t>});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672193-C00D-EEC0-70F7-B30C5AB460D7}"/>
              </a:ext>
            </a:extLst>
          </p:cNvPr>
          <p:cNvSpPr/>
          <p:nvPr/>
        </p:nvSpPr>
        <p:spPr>
          <a:xfrm>
            <a:off x="6675475" y="4643711"/>
            <a:ext cx="2699792" cy="1947932"/>
          </a:xfrm>
          <a:prstGeom prst="ellipse">
            <a:avLst/>
          </a:prstGeom>
          <a:noFill/>
          <a:ln>
            <a:solidFill>
              <a:srgbClr val="0081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Lucida Sans"/>
                <a:cs typeface="Lucida Sans"/>
              </a:rPr>
              <a:t>Push() method add an automatically generated ID to the pushed object’s path</a:t>
            </a:r>
          </a:p>
        </p:txBody>
      </p:sp>
    </p:spTree>
    <p:extLst>
      <p:ext uri="{BB962C8B-B14F-4D97-AF65-F5344CB8AC3E}">
        <p14:creationId xmlns:p14="http://schemas.microsoft.com/office/powerpoint/2010/main" val="579363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845EF-2B36-2EEC-54B0-1D2434A7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98255-1B75-37F6-091B-00AAFDE406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D30C33-CB4B-EF3C-457A-AC33F29A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1" y="13977"/>
            <a:ext cx="9230650" cy="763600"/>
          </a:xfrm>
        </p:spPr>
        <p:txBody>
          <a:bodyPr/>
          <a:lstStyle/>
          <a:p>
            <a:pPr algn="ctr"/>
            <a:r>
              <a:rPr lang="en-GB" sz="3600" b="1" dirty="0">
                <a:solidFill>
                  <a:schemeClr val="bg1"/>
                </a:solidFill>
              </a:rPr>
              <a:t>Reading Data from Firebase Real time Database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7A8652-5ED4-D6FD-5330-648FEE8C43A9}"/>
              </a:ext>
            </a:extLst>
          </p:cNvPr>
          <p:cNvSpPr txBox="1">
            <a:spLocks/>
          </p:cNvSpPr>
          <p:nvPr/>
        </p:nvSpPr>
        <p:spPr bwMode="auto">
          <a:xfrm>
            <a:off x="-72874" y="1276403"/>
            <a:ext cx="9906000" cy="558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GB" sz="2600" dirty="0">
                <a:solidFill>
                  <a:prstClr val="black"/>
                </a:solidFill>
                <a:ea typeface="MS PGothic" pitchFamily="34" charset="-128"/>
              </a:rPr>
              <a:t>Get the reference of database’s root/child node to read the data.</a:t>
            </a:r>
          </a:p>
          <a:p>
            <a:pPr marL="0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defRPr/>
            </a:pPr>
            <a:endParaRPr lang="en-GB" sz="2200" dirty="0">
              <a:solidFill>
                <a:prstClr val="black"/>
              </a:solidFill>
              <a:ea typeface="MS PGothic" pitchFamily="34" charset="-128"/>
            </a:endParaRP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 sz="2300" dirty="0" err="1">
                <a:solidFill>
                  <a:srgbClr val="0070C0"/>
                </a:solidFill>
                <a:ea typeface="MS PGothic" pitchFamily="34" charset="-128"/>
              </a:rPr>
              <a:t>FirebaseDatabase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 </a:t>
            </a:r>
            <a:r>
              <a:rPr lang="en-GB" sz="2300" b="1" i="1" dirty="0" err="1">
                <a:solidFill>
                  <a:srgbClr val="0070C0"/>
                </a:solidFill>
                <a:ea typeface="MS PGothic" pitchFamily="34" charset="-128"/>
              </a:rPr>
              <a:t>firebaseDatabase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 = </a:t>
            </a:r>
            <a:r>
              <a:rPr lang="en-GB" sz="2300" dirty="0" err="1">
                <a:solidFill>
                  <a:srgbClr val="0070C0"/>
                </a:solidFill>
                <a:ea typeface="MS PGothic" pitchFamily="34" charset="-128"/>
              </a:rPr>
              <a:t>FirebaseDatabase.getInstance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(“</a:t>
            </a:r>
            <a:r>
              <a:rPr lang="en-GB" sz="2300" dirty="0" err="1">
                <a:solidFill>
                  <a:srgbClr val="0070C0"/>
                </a:solidFill>
                <a:ea typeface="MS PGothic" pitchFamily="34" charset="-128"/>
              </a:rPr>
              <a:t>url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”);</a:t>
            </a: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 sz="2300" dirty="0" err="1">
                <a:solidFill>
                  <a:srgbClr val="0070C0"/>
                </a:solidFill>
                <a:ea typeface="MS PGothic" pitchFamily="34" charset="-128"/>
              </a:rPr>
              <a:t>DatabaseReference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 </a:t>
            </a:r>
            <a:r>
              <a:rPr lang="en-GB" sz="2300" b="1" i="1" dirty="0">
                <a:solidFill>
                  <a:srgbClr val="0070C0"/>
                </a:solidFill>
                <a:ea typeface="MS PGothic" pitchFamily="34" charset="-128"/>
              </a:rPr>
              <a:t>reference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 = </a:t>
            </a:r>
            <a:r>
              <a:rPr lang="en-GB" sz="2300" dirty="0" err="1">
                <a:solidFill>
                  <a:srgbClr val="0070C0"/>
                </a:solidFill>
                <a:ea typeface="MS PGothic" pitchFamily="34" charset="-128"/>
              </a:rPr>
              <a:t>firebaseDatabase.getReference</a:t>
            </a:r>
            <a:r>
              <a:rPr lang="en-GB" sz="2300" dirty="0">
                <a:solidFill>
                  <a:srgbClr val="0070C0"/>
                </a:solidFill>
                <a:ea typeface="MS PGothic" pitchFamily="34" charset="-128"/>
              </a:rPr>
              <a:t>();</a:t>
            </a: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GB" sz="2200" dirty="0">
              <a:solidFill>
                <a:srgbClr val="0070C0"/>
              </a:solidFill>
              <a:ea typeface="MS PGothic" pitchFamily="34" charset="-128"/>
            </a:endParaRPr>
          </a:p>
          <a:p>
            <a:pPr marL="539748" indent="-457200">
              <a:lnSpc>
                <a:spcPct val="170000"/>
              </a:lnSpc>
              <a:buFont typeface="Arial" panose="020B0604020202020204" pitchFamily="34" charset="0"/>
              <a:buChar char="•"/>
              <a:defRPr/>
            </a:pPr>
            <a:r>
              <a:rPr lang="en-GB" sz="2600" dirty="0">
                <a:solidFill>
                  <a:prstClr val="black"/>
                </a:solidFill>
                <a:ea typeface="MS PGothic" pitchFamily="34" charset="-128"/>
              </a:rPr>
              <a:t>Use the reference’s “</a:t>
            </a:r>
            <a:r>
              <a:rPr lang="en-GB" sz="2600" b="1" i="1" dirty="0" err="1">
                <a:solidFill>
                  <a:prstClr val="black"/>
                </a:solidFill>
                <a:ea typeface="MS PGothic" pitchFamily="34" charset="-128"/>
              </a:rPr>
              <a:t>addValueEventListener</a:t>
            </a:r>
            <a:r>
              <a:rPr lang="en-GB" sz="2600" dirty="0">
                <a:solidFill>
                  <a:prstClr val="black"/>
                </a:solidFill>
                <a:ea typeface="MS PGothic" pitchFamily="34" charset="-128"/>
              </a:rPr>
              <a:t>” method to listen for changes in the data at a specific location. </a:t>
            </a:r>
            <a:endParaRPr lang="en-GB" sz="2200" dirty="0">
              <a:solidFill>
                <a:prstClr val="black"/>
              </a:solidFill>
              <a:ea typeface="MS PGothic" pitchFamily="34" charset="-128"/>
            </a:endParaRPr>
          </a:p>
          <a:p>
            <a:pPr marL="400050" lvl="1" indent="0">
              <a:buFont typeface="Arial" charset="0"/>
              <a:buNone/>
              <a:defRPr/>
            </a:pPr>
            <a:r>
              <a:rPr lang="en-GB" sz="2200" dirty="0" err="1">
                <a:solidFill>
                  <a:srgbClr val="0070C0"/>
                </a:solidFill>
              </a:rPr>
              <a:t>reference.addValueEventListener</a:t>
            </a:r>
            <a:r>
              <a:rPr lang="en-GB" sz="2200" dirty="0">
                <a:solidFill>
                  <a:srgbClr val="0070C0"/>
                </a:solidFill>
              </a:rPr>
              <a:t>(new </a:t>
            </a:r>
            <a:r>
              <a:rPr lang="en-GB" sz="2200" dirty="0" err="1">
                <a:solidFill>
                  <a:srgbClr val="0070C0"/>
                </a:solidFill>
              </a:rPr>
              <a:t>ValueEventListener</a:t>
            </a:r>
            <a:r>
              <a:rPr lang="en-GB" sz="2200" dirty="0">
                <a:solidFill>
                  <a:srgbClr val="0070C0"/>
                </a:solidFill>
              </a:rPr>
              <a:t>()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</a:rPr>
              <a:t>{  @override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</a:rPr>
              <a:t>   public void </a:t>
            </a:r>
            <a:r>
              <a:rPr lang="en-GB" sz="2200" dirty="0" err="1">
                <a:solidFill>
                  <a:srgbClr val="0070C0"/>
                </a:solidFill>
              </a:rPr>
              <a:t>onDataChange</a:t>
            </a:r>
            <a:r>
              <a:rPr lang="en-GB" sz="2200" dirty="0">
                <a:solidFill>
                  <a:srgbClr val="0070C0"/>
                </a:solidFill>
              </a:rPr>
              <a:t>(@NonNull </a:t>
            </a:r>
            <a:r>
              <a:rPr lang="en-GB" sz="2200" dirty="0" err="1">
                <a:solidFill>
                  <a:srgbClr val="0070C0"/>
                </a:solidFill>
              </a:rPr>
              <a:t>DataSnapshot</a:t>
            </a:r>
            <a:r>
              <a:rPr lang="en-GB" sz="2200" dirty="0">
                <a:solidFill>
                  <a:srgbClr val="0070C0"/>
                </a:solidFill>
              </a:rPr>
              <a:t> snapshot) {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GB" sz="2200" dirty="0" err="1">
                <a:solidFill>
                  <a:srgbClr val="0070C0"/>
                </a:solidFill>
              </a:rPr>
              <a:t>snapshot.child</a:t>
            </a:r>
            <a:r>
              <a:rPr lang="en-GB" sz="2200" dirty="0">
                <a:solidFill>
                  <a:srgbClr val="0070C0"/>
                </a:solidFill>
              </a:rPr>
              <a:t>(“</a:t>
            </a:r>
            <a:r>
              <a:rPr lang="en-GB" sz="2200" b="1" i="1" dirty="0">
                <a:solidFill>
                  <a:srgbClr val="0070C0"/>
                </a:solidFill>
              </a:rPr>
              <a:t>Users</a:t>
            </a:r>
            <a:r>
              <a:rPr lang="en-GB" sz="2200" dirty="0">
                <a:solidFill>
                  <a:srgbClr val="0070C0"/>
                </a:solidFill>
              </a:rPr>
              <a:t>”).child(“</a:t>
            </a:r>
            <a:r>
              <a:rPr lang="en-GB" sz="2200" b="1" i="1" dirty="0">
                <a:solidFill>
                  <a:srgbClr val="0070C0"/>
                </a:solidFill>
              </a:rPr>
              <a:t>email</a:t>
            </a:r>
            <a:r>
              <a:rPr lang="en-GB" sz="2200" dirty="0">
                <a:solidFill>
                  <a:srgbClr val="0070C0"/>
                </a:solidFill>
              </a:rPr>
              <a:t>”).</a:t>
            </a:r>
            <a:r>
              <a:rPr lang="en-GB" sz="2200" dirty="0" err="1">
                <a:solidFill>
                  <a:srgbClr val="0070C0"/>
                </a:solidFill>
              </a:rPr>
              <a:t>getValue</a:t>
            </a:r>
            <a:r>
              <a:rPr lang="en-GB" sz="2200" dirty="0">
                <a:solidFill>
                  <a:srgbClr val="0070C0"/>
                </a:solidFill>
              </a:rPr>
              <a:t>(); 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</a:rPr>
              <a:t>}</a:t>
            </a: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</a:rPr>
              <a:t>   </a:t>
            </a:r>
            <a:r>
              <a:rPr lang="en-GB" sz="2200" dirty="0">
                <a:solidFill>
                  <a:srgbClr val="0070C0"/>
                </a:solidFill>
                <a:ea typeface="MS PGothic" pitchFamily="34" charset="-128"/>
              </a:rPr>
              <a:t>@override</a:t>
            </a: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  <a:ea typeface="MS PGothic" pitchFamily="34" charset="-128"/>
              </a:rPr>
              <a:t>   public void </a:t>
            </a:r>
            <a:r>
              <a:rPr lang="en-GB" sz="2200" dirty="0" err="1">
                <a:solidFill>
                  <a:srgbClr val="0070C0"/>
                </a:solidFill>
                <a:ea typeface="MS PGothic" pitchFamily="34" charset="-128"/>
              </a:rPr>
              <a:t>onCancelled</a:t>
            </a:r>
            <a:r>
              <a:rPr lang="en-GB" sz="2200" dirty="0">
                <a:solidFill>
                  <a:srgbClr val="0070C0"/>
                </a:solidFill>
                <a:ea typeface="MS PGothic" pitchFamily="34" charset="-128"/>
              </a:rPr>
              <a:t>(@NonNull </a:t>
            </a:r>
            <a:r>
              <a:rPr lang="en-GB" sz="2200" dirty="0" err="1">
                <a:solidFill>
                  <a:srgbClr val="0070C0"/>
                </a:solidFill>
                <a:ea typeface="MS PGothic" pitchFamily="34" charset="-128"/>
              </a:rPr>
              <a:t>DatabaseError</a:t>
            </a:r>
            <a:r>
              <a:rPr lang="en-GB" sz="2200" dirty="0">
                <a:solidFill>
                  <a:srgbClr val="0070C0"/>
                </a:solidFill>
                <a:ea typeface="MS PGothic" pitchFamily="34" charset="-128"/>
              </a:rPr>
              <a:t> error) {</a:t>
            </a: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  <a:ea typeface="MS PGothic" pitchFamily="34" charset="-128"/>
              </a:rPr>
              <a:t>   </a:t>
            </a:r>
            <a:r>
              <a:rPr lang="en-GB" sz="2200" dirty="0">
                <a:solidFill>
                  <a:srgbClr val="FF0000"/>
                </a:solidFill>
                <a:ea typeface="MS PGothic" pitchFamily="34" charset="-128"/>
              </a:rPr>
              <a:t>// throw toast message in case of error</a:t>
            </a:r>
          </a:p>
          <a:p>
            <a:pPr marL="400050" lvl="1" indent="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  <a:ea typeface="MS PGothic" pitchFamily="34" charset="-128"/>
              </a:rPr>
              <a:t>}</a:t>
            </a:r>
          </a:p>
          <a:p>
            <a:pPr marL="400050" lvl="1" indent="0">
              <a:buFont typeface="Arial" charset="0"/>
              <a:buNone/>
              <a:defRPr/>
            </a:pPr>
            <a:r>
              <a:rPr lang="en-GB" sz="2200" dirty="0">
                <a:solidFill>
                  <a:srgbClr val="0070C0"/>
                </a:solidFill>
              </a:rPr>
              <a:t>});</a:t>
            </a:r>
            <a:endParaRPr lang="en-GB" sz="2200" dirty="0">
              <a:solidFill>
                <a:srgbClr val="0070C0"/>
              </a:solidFill>
              <a:ea typeface="MS PGothic" pitchFamily="34" charset="-128"/>
            </a:endParaRPr>
          </a:p>
          <a:p>
            <a:pPr marL="0" indent="0">
              <a:buFont typeface="Arial" charset="0"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2525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ED17-0A4D-BC28-07A0-302BD115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0DD40-7902-CF12-8E1A-592D72B582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19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5C4800-03E0-87A7-D81A-D1E96947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6" y="188640"/>
            <a:ext cx="9230650" cy="763600"/>
          </a:xfrm>
        </p:spPr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Firebase Authentication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EE514E-DCF4-6540-A9E0-312B1788E98C}"/>
              </a:ext>
            </a:extLst>
          </p:cNvPr>
          <p:cNvSpPr txBox="1">
            <a:spLocks/>
          </p:cNvSpPr>
          <p:nvPr/>
        </p:nvSpPr>
        <p:spPr bwMode="auto">
          <a:xfrm>
            <a:off x="56456" y="1584670"/>
            <a:ext cx="5616624" cy="4543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dirty="0"/>
              <a:t>Firebase Authentication build secure authentication for end users.</a:t>
            </a:r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dirty="0"/>
              <a:t>It provides an end-to-end identity solution, supporting email and password accounts, phone authentication, and Google, Twitter, Facebook, and GitHub login.</a:t>
            </a:r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dirty="0"/>
              <a:t>Firebase UI provides a customizable, open source, drop-in authentication solution that handles the UI flows for signing in users.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CBF064-688C-4564-0A1B-735D18929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920" y="1584670"/>
            <a:ext cx="3943797" cy="454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79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C421-471B-7C1D-717D-E3334C22C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5CBEC-2CA6-38BF-C2B6-09461C8A43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20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556991-F2D3-0EBE-7435-0DB80F0F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Firebase Authentication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36E2EA-B9C3-81ED-AA8D-FBB43593E83B}"/>
              </a:ext>
            </a:extLst>
          </p:cNvPr>
          <p:cNvSpPr txBox="1">
            <a:spLocks/>
          </p:cNvSpPr>
          <p:nvPr/>
        </p:nvSpPr>
        <p:spPr bwMode="auto">
          <a:xfrm>
            <a:off x="7369" y="1415970"/>
            <a:ext cx="9898631" cy="44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sz="2200" dirty="0"/>
              <a:t>Let’s check the Firebase Authentication on console.</a:t>
            </a:r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sz="2200" dirty="0"/>
              <a:t>Integration into Android studio like Firebase real time database.</a:t>
            </a:r>
          </a:p>
          <a:p>
            <a:pPr marL="425448" indent="-342900">
              <a:buFont typeface="Arial" panose="020B0604020202020204" pitchFamily="34" charset="0"/>
              <a:buChar char="•"/>
            </a:pPr>
            <a:r>
              <a:rPr lang="en-GB" sz="2200" dirty="0"/>
              <a:t>In the java code of your app, you need to instantiate the </a:t>
            </a:r>
            <a:r>
              <a:rPr lang="en-GB" sz="2200" i="1" dirty="0" err="1"/>
              <a:t>FirebaseAuth</a:t>
            </a:r>
            <a:r>
              <a:rPr lang="en-GB" sz="2200" dirty="0"/>
              <a:t> object.</a:t>
            </a:r>
          </a:p>
          <a:p>
            <a:pPr marL="400050" lvl="1" indent="0">
              <a:buFont typeface="Arial" charset="0"/>
              <a:buNone/>
            </a:pPr>
            <a:r>
              <a:rPr lang="en-GB" dirty="0" err="1">
                <a:solidFill>
                  <a:srgbClr val="0070C0"/>
                </a:solidFill>
              </a:rPr>
              <a:t>FirebaseAuth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b="1" i="1" dirty="0">
                <a:solidFill>
                  <a:srgbClr val="0070C0"/>
                </a:solidFill>
              </a:rPr>
              <a:t>auth</a:t>
            </a:r>
            <a:r>
              <a:rPr lang="en-GB" dirty="0">
                <a:solidFill>
                  <a:srgbClr val="0070C0"/>
                </a:solidFill>
              </a:rPr>
              <a:t> = </a:t>
            </a:r>
            <a:r>
              <a:rPr lang="en-GB" dirty="0" err="1">
                <a:solidFill>
                  <a:srgbClr val="0070C0"/>
                </a:solidFill>
              </a:rPr>
              <a:t>FirebaseAuth.getInstance</a:t>
            </a:r>
            <a:r>
              <a:rPr lang="en-GB" dirty="0">
                <a:solidFill>
                  <a:srgbClr val="0070C0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26156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57A7C-1E6F-60DF-2471-563C9374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CABC0-4264-0D47-8C48-E9B3E5C507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AD3E6D-21C6-040D-DC5D-0FD840580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Firebase Authentication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55BD6-2DF1-964B-3FED-F6E7D0CFB992}"/>
              </a:ext>
            </a:extLst>
          </p:cNvPr>
          <p:cNvSpPr txBox="1">
            <a:spLocks/>
          </p:cNvSpPr>
          <p:nvPr/>
        </p:nvSpPr>
        <p:spPr bwMode="auto">
          <a:xfrm>
            <a:off x="6558" y="1280086"/>
            <a:ext cx="8485188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800" dirty="0">
                <a:solidFill>
                  <a:srgbClr val="003399"/>
                </a:solidFill>
              </a:rPr>
              <a:t>Firebase Authentication (Sign up)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0929E580-87A7-9D0C-0416-703DEAF10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0" y="2060848"/>
            <a:ext cx="8333976" cy="405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19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5DEB-2243-4B77-3843-4A640AF2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BC67A-6107-1234-CDF2-A7D3F6B60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B08ED-E0B3-538D-C7E4-03F8B3C9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Firebase Authentication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DA3D8-4D28-F90E-0869-6209C5733D5D}"/>
              </a:ext>
            </a:extLst>
          </p:cNvPr>
          <p:cNvSpPr txBox="1">
            <a:spLocks/>
          </p:cNvSpPr>
          <p:nvPr/>
        </p:nvSpPr>
        <p:spPr bwMode="auto">
          <a:xfrm>
            <a:off x="6558" y="1280086"/>
            <a:ext cx="8485188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800" dirty="0">
                <a:solidFill>
                  <a:srgbClr val="003399"/>
                </a:solidFill>
              </a:rPr>
              <a:t>Firebase Authentication (Sign up)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58C79F6-319D-01D9-7A39-C92F4D5DAA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96" y="2060848"/>
            <a:ext cx="8270541" cy="443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91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7334-05ED-C883-BD86-01D1BAD10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44732-66DC-1045-FBFF-40DC2CD2D6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BDE3B5-4B61-E0E7-B5EF-D70A67032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bg1"/>
                </a:solidFill>
              </a:rPr>
              <a:t>Firebase Authentication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F3177-2C41-FC0A-60B8-D5D4EBDA23A0}"/>
              </a:ext>
            </a:extLst>
          </p:cNvPr>
          <p:cNvSpPr txBox="1">
            <a:spLocks/>
          </p:cNvSpPr>
          <p:nvPr/>
        </p:nvSpPr>
        <p:spPr bwMode="auto">
          <a:xfrm>
            <a:off x="6558" y="1280086"/>
            <a:ext cx="8485188" cy="78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lvl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 b="1" kern="1200">
                <a:solidFill>
                  <a:srgbClr val="FAFAFA"/>
                </a:solidFill>
                <a:latin typeface="Georgia" panose="02040502050405020303" pitchFamily="18" charset="0"/>
                <a:ea typeface="ＭＳ Ｐゴシック" charset="0"/>
                <a:cs typeface="ＭＳ Ｐゴシック" charset="0"/>
              </a:defRPr>
            </a:lvl1pPr>
            <a:lvl2pPr lvl="1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2pPr>
            <a:lvl3pPr lvl="2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3pPr>
            <a:lvl4pPr lvl="3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4pPr>
            <a:lvl5pPr lvl="4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>
                <a:solidFill>
                  <a:srgbClr val="87A529"/>
                </a:solidFill>
                <a:latin typeface="Georgia" charset="0"/>
                <a:ea typeface="ＭＳ Ｐゴシック" charset="0"/>
                <a:cs typeface="ＭＳ Ｐゴシック" charset="0"/>
              </a:defRPr>
            </a:lvl5pPr>
            <a:lvl6pPr marL="457200" lvl="5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6pPr>
            <a:lvl7pPr marL="914400" lvl="6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7pPr>
            <a:lvl8pPr marL="1371600" lvl="7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8pPr>
            <a:lvl9pPr marL="1828800" lvl="8" algn="l" rtl="0" eaLnBrk="1" fontAlgn="base" hangingPunct="1"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rgbClr val="693B68"/>
                </a:solidFill>
                <a:latin typeface="Georgi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GB" sz="2800" dirty="0">
                <a:solidFill>
                  <a:srgbClr val="003399"/>
                </a:solidFill>
              </a:rPr>
              <a:t>Firebase Authentication (Sign up)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41A66721-CDD8-7A89-89F7-EE53FA340B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5" y="2060848"/>
            <a:ext cx="8184410" cy="42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19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7F480-9331-588F-8394-EB63D900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D7DD8-4545-934C-24E2-E3CC6E302D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4111F4-89F3-7935-05D6-8422EEA4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Security Rules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CFBA9A-5C14-29F0-7B69-3F46D231BFBF}"/>
              </a:ext>
            </a:extLst>
          </p:cNvPr>
          <p:cNvSpPr txBox="1">
            <a:spLocks/>
          </p:cNvSpPr>
          <p:nvPr/>
        </p:nvSpPr>
        <p:spPr bwMode="auto">
          <a:xfrm>
            <a:off x="-93509" y="1303097"/>
            <a:ext cx="9993695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4048" indent="-571500">
              <a:buFont typeface="Arial" panose="020B0604020202020204" pitchFamily="34" charset="0"/>
              <a:buChar char="•"/>
            </a:pPr>
            <a:r>
              <a:rPr lang="en-US" sz="7200" dirty="0"/>
              <a:t>Storage by default doesn't have any security. Need to define rules for the security.</a:t>
            </a:r>
          </a:p>
          <a:p>
            <a:pPr marL="654048" indent="-571500">
              <a:buFont typeface="Arial" panose="020B0604020202020204" pitchFamily="34" charset="0"/>
              <a:buChar char="•"/>
            </a:pPr>
            <a:r>
              <a:rPr lang="en-GB" sz="7200" dirty="0"/>
              <a:t>Firebase Security Rules provide robust, completely customizable protection for app data in Cloud </a:t>
            </a:r>
            <a:r>
              <a:rPr lang="en-GB" sz="7200" dirty="0" err="1"/>
              <a:t>Firestore</a:t>
            </a:r>
            <a:r>
              <a:rPr lang="en-GB" sz="7200" dirty="0"/>
              <a:t>, Realtime Database, and Google Cloud Storage. </a:t>
            </a:r>
          </a:p>
          <a:p>
            <a:pPr marL="82548" indent="0">
              <a:buNone/>
            </a:pPr>
            <a:endParaRPr lang="en-GB" sz="3200" b="1" dirty="0"/>
          </a:p>
          <a:p>
            <a:pPr marL="0" indent="0">
              <a:buFont typeface="Arial" charset="0"/>
              <a:buNone/>
            </a:pPr>
            <a:r>
              <a:rPr lang="en-GB" sz="7200" b="1" dirty="0"/>
              <a:t>Basic rules:</a:t>
            </a:r>
          </a:p>
          <a:p>
            <a:pPr marL="82548" indent="0">
              <a:buNone/>
            </a:pPr>
            <a:r>
              <a:rPr lang="en-GB" sz="6400" b="1" dirty="0"/>
              <a:t>Content-owner only:</a:t>
            </a:r>
            <a:r>
              <a:rPr lang="en-GB" sz="6400" dirty="0"/>
              <a:t> Restrict access to content by user.</a:t>
            </a:r>
          </a:p>
          <a:p>
            <a:pPr marL="82548" indent="0">
              <a:buNone/>
            </a:pPr>
            <a:r>
              <a:rPr lang="en-GB" sz="6400" b="1" dirty="0"/>
              <a:t>Mixed access:</a:t>
            </a:r>
            <a:r>
              <a:rPr lang="en-GB" sz="6400" dirty="0"/>
              <a:t> Restrict write access by user, but allow public read access.</a:t>
            </a:r>
          </a:p>
          <a:p>
            <a:pPr marL="82548" indent="0">
              <a:buNone/>
            </a:pPr>
            <a:r>
              <a:rPr lang="en-GB" sz="6400" b="1" dirty="0"/>
              <a:t>Attribute-based access:</a:t>
            </a:r>
            <a:r>
              <a:rPr lang="en-GB" sz="6400" dirty="0"/>
              <a:t> Restrict access to a group or type of user.</a:t>
            </a:r>
          </a:p>
          <a:p>
            <a:endParaRPr lang="en-GB" dirty="0"/>
          </a:p>
          <a:p>
            <a:pPr marL="82548" indent="0">
              <a:buNone/>
            </a:pPr>
            <a:r>
              <a:rPr lang="en-GB" sz="6400" b="1" dirty="0" err="1"/>
              <a:t>Eg</a:t>
            </a:r>
            <a:r>
              <a:rPr lang="en-GB" sz="6400" b="1" dirty="0"/>
              <a:t>: {</a:t>
            </a:r>
          </a:p>
          <a:p>
            <a:pPr marL="82548" indent="0">
              <a:buNone/>
            </a:pPr>
            <a:r>
              <a:rPr lang="en-GB" sz="6400" b="1" dirty="0"/>
              <a:t> "rules": {</a:t>
            </a:r>
          </a:p>
          <a:p>
            <a:pPr marL="82548" indent="0">
              <a:buNone/>
            </a:pPr>
            <a:r>
              <a:rPr lang="en-GB" sz="6400" b="1" dirty="0"/>
              <a:t>    ".read": "auth != null",</a:t>
            </a:r>
          </a:p>
          <a:p>
            <a:pPr marL="82548" indent="0">
              <a:buNone/>
            </a:pPr>
            <a:r>
              <a:rPr lang="en-GB" sz="6400" b="1" dirty="0"/>
              <a:t>    ".write": "auth != null"</a:t>
            </a:r>
          </a:p>
          <a:p>
            <a:pPr marL="82548" indent="0">
              <a:buNone/>
            </a:pPr>
            <a:r>
              <a:rPr lang="en-GB" sz="6400" b="1" dirty="0"/>
              <a:t>  }</a:t>
            </a:r>
          </a:p>
          <a:p>
            <a:pPr marL="82548" indent="0">
              <a:buNone/>
            </a:pPr>
            <a:r>
              <a:rPr lang="en-GB" sz="6400" b="1" dirty="0"/>
              <a:t>}</a:t>
            </a:r>
          </a:p>
          <a:p>
            <a:endParaRPr lang="en-US" dirty="0"/>
          </a:p>
          <a:p>
            <a:pPr marL="0" indent="0">
              <a:buFont typeface="Arial" charset="0"/>
              <a:buNone/>
            </a:pPr>
            <a:r>
              <a:rPr lang="en-US" sz="2300" dirty="0"/>
              <a:t>More at </a:t>
            </a:r>
            <a:r>
              <a:rPr lang="en-US" sz="2300" dirty="0">
                <a:hlinkClick r:id="rId2"/>
              </a:rPr>
              <a:t>https://firebase.google.com/docs/storage/security/get-started</a:t>
            </a:r>
            <a:r>
              <a:rPr lang="en-US" sz="23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09359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0BCD-5133-E386-FF75-F7B96839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6707C-E09A-85A2-DB4F-A42BDB76A9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7A02BA-12F0-A3CB-7B45-9B0868FF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References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09B152-40A1-8C3A-417D-3A72DDF8D746}"/>
              </a:ext>
            </a:extLst>
          </p:cNvPr>
          <p:cNvSpPr txBox="1">
            <a:spLocks/>
          </p:cNvSpPr>
          <p:nvPr/>
        </p:nvSpPr>
        <p:spPr bwMode="auto">
          <a:xfrm>
            <a:off x="24677" y="1403596"/>
            <a:ext cx="9886056" cy="446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spcFirstLastPara="1" vert="horz" wrap="square" lIns="91425" tIns="91425" rIns="91425" bIns="91425" numCol="1" anchor="t" anchorCtr="0" compatLnSpc="1">
            <a:prstTxWarp prst="textNoShape">
              <a:avLst/>
            </a:prstTxWarp>
            <a:noAutofit/>
          </a:bodyPr>
          <a:lstStyle>
            <a:lvl1pPr marL="495285" lvl="0" indent="-412737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charset="0"/>
              <a:buAutoNum type="arabicPeriod"/>
              <a:defRPr sz="24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990570" lvl="1" indent="-385221" algn="l" rtl="0" eaLnBrk="1" fontAlgn="base" hangingPunct="1">
              <a:lnSpc>
                <a:spcPct val="115000"/>
              </a:lnSpc>
              <a:spcBef>
                <a:spcPts val="1083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charset="0"/>
              <a:buAutoNum type="alphaLcPeriod"/>
              <a:defRPr sz="2167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485854" lvl="2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romanLcPeriod"/>
              <a:defRPr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981139" lvl="3" indent="-343948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rabi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476424" lvl="4" indent="-343948" algn="l" rtl="0" eaLnBrk="1" fontAlgn="base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charset="0"/>
              <a:buAutoNum type="alphaLcPeriod"/>
              <a:defRPr sz="1600" kern="1200">
                <a:solidFill>
                  <a:srgbClr val="000000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971709" lvl="5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466993" lvl="6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rabi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962278" lvl="7" indent="-343948" algn="l" defTabSz="914400" rtl="0" eaLnBrk="1" latinLnBrk="0" hangingPunct="1">
              <a:spcBef>
                <a:spcPts val="17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alpha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457563" lvl="8" indent="-343948" algn="l" defTabSz="914400" rtl="0" eaLnBrk="1" latinLnBrk="0" hangingPunct="1">
              <a:spcBef>
                <a:spcPts val="1733"/>
              </a:spcBef>
              <a:spcAft>
                <a:spcPts val="1733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AutoNum type="romanLcPeriod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hlinkClick r:id="rId2"/>
              </a:rPr>
              <a:t>https://console.firebase.google.com/</a:t>
            </a:r>
            <a:r>
              <a:rPr lang="en-US" sz="2800"/>
              <a:t> </a:t>
            </a:r>
          </a:p>
          <a:p>
            <a:r>
              <a:rPr lang="en-US" sz="2800">
                <a:hlinkClick r:id="rId3"/>
              </a:rPr>
              <a:t>https://firebase.google.com/docs/</a:t>
            </a:r>
            <a:r>
              <a:rPr lang="en-US" sz="2800"/>
              <a:t> </a:t>
            </a:r>
          </a:p>
          <a:p>
            <a:pPr lvl="1"/>
            <a:r>
              <a:rPr lang="en-US" sz="2400"/>
              <a:t>Many of the sub doc's where listed on slides.</a:t>
            </a:r>
          </a:p>
          <a:p>
            <a:pPr lvl="1"/>
            <a:endParaRPr lang="en-US"/>
          </a:p>
          <a:p>
            <a:r>
              <a:rPr lang="en-US" sz="2800"/>
              <a:t>Code lab:  FriendlyChat app </a:t>
            </a:r>
          </a:p>
          <a:p>
            <a:pPr lvl="1"/>
            <a:r>
              <a:rPr lang="en-US" sz="2400">
                <a:hlinkClick r:id="rId4"/>
              </a:rPr>
              <a:t>https://codelabs.developers.google.com/codelabs/firebase-android/#0</a:t>
            </a:r>
            <a:r>
              <a:rPr lang="en-US" sz="240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604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46FE-FF38-947F-95C2-1CF94FE88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4F80E-76A6-9456-6B5F-3ED7326C2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" smtClean="0"/>
              <a:pPr algn="r"/>
              <a:t>26</a:t>
            </a:fld>
            <a:endParaRPr lang="e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F13CE-1272-68E0-AFB9-1FB59CC2D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0512" y="2924944"/>
            <a:ext cx="8229600" cy="49006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>
                <a:solidFill>
                  <a:schemeClr val="tx1"/>
                </a:solidFill>
                <a:latin typeface="Georgia" panose="02040502050405020303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32837496"/>
      </p:ext>
    </p:extLst>
  </p:cSld>
  <p:clrMapOvr>
    <a:masterClrMapping/>
  </p:clrMapOvr>
</p:sld>
</file>

<file path=ppt/theme/theme1.xml><?xml version="1.0" encoding="utf-8"?>
<a:theme xmlns:a="http://schemas.openxmlformats.org/drawingml/2006/main" name="Bradford PPT_final_A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uob-green-faculty-or-directorate-guide</Template>
  <TotalTime>501</TotalTime>
  <Words>1580</Words>
  <Application>Microsoft Office PowerPoint</Application>
  <PresentationFormat>A4 Paper (210x297 mm)</PresentationFormat>
  <Paragraphs>214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MS PGothic</vt:lpstr>
      <vt:lpstr>Arial</vt:lpstr>
      <vt:lpstr>Calibri</vt:lpstr>
      <vt:lpstr>Georgia</vt:lpstr>
      <vt:lpstr>Lucida Sans</vt:lpstr>
      <vt:lpstr>Lucida Sans Unicode</vt:lpstr>
      <vt:lpstr>Wingdings</vt:lpstr>
      <vt:lpstr>Bradford PPT_final_A</vt:lpstr>
      <vt:lpstr>Mobile Application Development (COS7025-B)     Designing Mobile Apps using Android Cloud-based Service: Firebase</vt:lpstr>
      <vt:lpstr>Content</vt:lpstr>
      <vt:lpstr>What is Cloud Computing?</vt:lpstr>
      <vt:lpstr>What is Firebase ?</vt:lpstr>
      <vt:lpstr>What is Firebase ?</vt:lpstr>
      <vt:lpstr>Relational Databases</vt:lpstr>
      <vt:lpstr>Firebase Realtime Database (NoSQL)</vt:lpstr>
      <vt:lpstr>JSON: Javascript Object Notation</vt:lpstr>
      <vt:lpstr>JSON: Javascript Object Notation</vt:lpstr>
      <vt:lpstr>PowerPoint Presentation</vt:lpstr>
      <vt:lpstr>Firebase Console</vt:lpstr>
      <vt:lpstr>Using Firebase Console</vt:lpstr>
      <vt:lpstr>Basic Setup</vt:lpstr>
      <vt:lpstr>Basic Setup</vt:lpstr>
      <vt:lpstr>Through the Console only</vt:lpstr>
      <vt:lpstr>Writing Data to Firebase Real time Database from app</vt:lpstr>
      <vt:lpstr>Another example: Writing Data to Firebase Realtime Database</vt:lpstr>
      <vt:lpstr>Reading Data from Firebase Real time Database</vt:lpstr>
      <vt:lpstr>Firebase Authentication</vt:lpstr>
      <vt:lpstr>Firebase Authentication</vt:lpstr>
      <vt:lpstr>Firebase Authentication</vt:lpstr>
      <vt:lpstr>Firebase Authentication</vt:lpstr>
      <vt:lpstr>Firebase Authentication</vt:lpstr>
      <vt:lpstr>Security Rules</vt:lpstr>
      <vt:lpstr>References</vt:lpstr>
      <vt:lpstr>Any Questions?</vt:lpstr>
    </vt:vector>
  </TitlesOfParts>
  <Company>University of Bradford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 (COS7025-B)     Introduction to Android Software  Stack</dc:title>
  <dc:creator>Karim Sadik</dc:creator>
  <cp:lastModifiedBy>Karim Sadik</cp:lastModifiedBy>
  <cp:revision>22</cp:revision>
  <cp:lastPrinted>2014-07-11T09:48:52Z</cp:lastPrinted>
  <dcterms:created xsi:type="dcterms:W3CDTF">2025-07-22T12:14:46Z</dcterms:created>
  <dcterms:modified xsi:type="dcterms:W3CDTF">2025-07-29T09:57:51Z</dcterms:modified>
</cp:coreProperties>
</file>