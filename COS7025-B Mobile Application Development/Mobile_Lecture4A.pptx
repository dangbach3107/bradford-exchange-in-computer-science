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78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28" r:id="rId15"/>
    <p:sldId id="429" r:id="rId16"/>
    <p:sldId id="430" r:id="rId17"/>
    <p:sldId id="431" r:id="rId18"/>
    <p:sldId id="432" r:id="rId19"/>
    <p:sldId id="444" r:id="rId20"/>
    <p:sldId id="441" r:id="rId21"/>
    <p:sldId id="442" r:id="rId22"/>
    <p:sldId id="443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07/10/2025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07/10/2025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7 October,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EditText.html" TargetMode="External"/><Relationship Id="rId2" Type="http://schemas.openxmlformats.org/officeDocument/2006/relationships/hyperlink" Target="https://developer.android.com/reference/android/widget/TextView.html" TargetMode="Externa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widget/TextView.html#attr_android:lineSpacingExtra" TargetMode="External"/><Relationship Id="rId3" Type="http://schemas.openxmlformats.org/officeDocument/2006/relationships/hyperlink" Target="https://developer.android.com/reference/android/widget/TextView.html#attr_android:textColor" TargetMode="External"/><Relationship Id="rId7" Type="http://schemas.openxmlformats.org/officeDocument/2006/relationships/hyperlink" Target="https://developer.android.com/reference/android/widget/TextView.html#attr_android:typeface" TargetMode="External"/><Relationship Id="rId2" Type="http://schemas.openxmlformats.org/officeDocument/2006/relationships/hyperlink" Target="https://developer.android.com/reference/android/widget/TextView.html#attr_android:text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developer.android.com/reference/android/widget/TextView.html#attr_android:textStyle" TargetMode="External"/><Relationship Id="rId5" Type="http://schemas.openxmlformats.org/officeDocument/2006/relationships/hyperlink" Target="https://developer.android.com/reference/android/widget/TextView.html#attr_android:textSize" TargetMode="External"/><Relationship Id="rId4" Type="http://schemas.openxmlformats.org/officeDocument/2006/relationships/hyperlink" Target="https://developer.android.com/reference/android/widget/TextView.html#attr_android:textAppearanc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widget/TextView.html#attr_android:autoLink" TargetMode="Externa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widget/ScrollView.html" TargetMode="Externa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FrameLayout.html" TargetMode="External"/><Relationship Id="rId2" Type="http://schemas.openxmlformats.org/officeDocument/2006/relationships/hyperlink" Target="https://developer.android.com/reference/android/widget/ScrollView.html" TargetMode="External"/><Relationship Id="rId1" Type="http://schemas.openxmlformats.org/officeDocument/2006/relationships/slideLayout" Target="../slideLayouts/slideLayout35.xml"/><Relationship Id="rId5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reference/android/widget/HorizontalScrollView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eloper.android.com/reference/android/support/v7/widget/RecyclerView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Adapter.html" TargetMode="External"/><Relationship Id="rId2" Type="http://schemas.openxmlformats.org/officeDocument/2006/relationships/hyperlink" Target="https://developer.android.com/reference/android/support/v7/widget/RecyclerView.html" TargetMode="Externa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6.png"/><Relationship Id="rId5" Type="http://schemas.openxmlformats.org/officeDocument/2006/relationships/hyperlink" Target="https://developer.android.com/.../RecyclerView.ViewHolder.html" TargetMode="External"/><Relationship Id="rId4" Type="http://schemas.openxmlformats.org/officeDocument/2006/relationships/hyperlink" Target="https://developer.android.com/.../RecyclerView.LayoutManager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LinearLayoutManager.html" TargetMode="External"/><Relationship Id="rId2" Type="http://schemas.openxmlformats.org/officeDocument/2006/relationships/hyperlink" Target="https://developer.android.com/reference/android/support/v7/widget/RecyclerView.html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developer.android.com/reference/android/support/v7/widget/RecyclerView.LayoutManager.html" TargetMode="External"/><Relationship Id="rId5" Type="http://schemas.openxmlformats.org/officeDocument/2006/relationships/hyperlink" Target="https://developer.android.com/reference/android/support/v7/widget/StaggeredGridLayoutManager.html" TargetMode="External"/><Relationship Id="rId4" Type="http://schemas.openxmlformats.org/officeDocument/2006/relationships/hyperlink" Target="https://developer.android.com/reference/android/support/v7/widget/GridLayoutManager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Adapter.html" TargetMode="External"/><Relationship Id="rId2" Type="http://schemas.openxmlformats.org/officeDocument/2006/relationships/hyperlink" Target="https://developer.android.com/reference/android/database/Cursor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.../RecyclerView.ViewHolder.html" TargetMode="Externa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html" TargetMode="External"/><Relationship Id="rId2" Type="http://schemas.openxmlformats.org/officeDocument/2006/relationships/hyperlink" Target="https://developer.android.com/training/material/lists-cards.html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developer.android.com/reference/android/support/v7/widget/RecyclerView.LayoutManager.html" TargetMode="External"/><Relationship Id="rId5" Type="http://schemas.openxmlformats.org/officeDocument/2006/relationships/hyperlink" Target="https://developer.android.com/.../RecyclerView.ViewHolder.html" TargetMode="External"/><Relationship Id="rId4" Type="http://schemas.openxmlformats.org/officeDocument/2006/relationships/hyperlink" Target="https://developer.android.com/reference/android/support/v7/widget/RecyclerView.Adapter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eveloper.android.com/reference/android/app/Activity.html#startActivity(android.content.Intent)" TargetMode="Externa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app/Activity.html#startActivity(android.content.Intent)" TargetMode="Externa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reference/android/content/Intent.html" TargetMode="Externa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app/Activity.html#startActivityForResult(android.content.Intent,%20int)" TargetMode="Externa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br>
              <a:rPr lang="en-GB" altLang="en-US" sz="10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Text View, Scrolling View, Recycler View and Intents</a:t>
            </a:r>
            <a:br>
              <a:rPr lang="en-GB" altLang="en-US" sz="3600" baseline="50000" dirty="0">
                <a:solidFill>
                  <a:srgbClr val="003399"/>
                </a:solidFill>
              </a:rPr>
            </a:br>
            <a:endParaRPr lang="es-ES" altLang="en-US" sz="3600" dirty="0">
              <a:solidFill>
                <a:srgbClr val="003399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1054928" y="6362436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7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#4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65279" y="235244"/>
            <a:ext cx="9379175" cy="620425"/>
          </a:xfrm>
          <a:prstGeom prst="rect">
            <a:avLst/>
          </a:prstGeom>
        </p:spPr>
        <p:txBody>
          <a:bodyPr spcFirstLastPara="1" vert="horz" wrap="square" lIns="99044" tIns="99044" rIns="99044" bIns="99044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27" name="Google Shape;227;p42"/>
          <p:cNvSpPr txBox="1">
            <a:spLocks noGrp="1"/>
          </p:cNvSpPr>
          <p:nvPr>
            <p:ph type="sldNum" idx="12"/>
          </p:nvPr>
        </p:nvSpPr>
        <p:spPr>
          <a:xfrm>
            <a:off x="9178496" y="5777306"/>
            <a:ext cx="594425" cy="426400"/>
          </a:xfrm>
          <a:prstGeom prst="rect">
            <a:avLst/>
          </a:prstGeom>
        </p:spPr>
        <p:txBody>
          <a:bodyPr spcFirstLastPara="1" vert="horz" wrap="square" lIns="99044" tIns="99044" rIns="99044" bIns="99044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</a:t>
            </a:fld>
            <a:endParaRPr/>
          </a:p>
        </p:txBody>
      </p:sp>
      <p:sp>
        <p:nvSpPr>
          <p:cNvPr id="5" name="Google Shape;288;p55">
            <a:extLst>
              <a:ext uri="{FF2B5EF4-FFF2-40B4-BE49-F238E27FC236}">
                <a16:creationId xmlns:a16="http://schemas.microsoft.com/office/drawing/2014/main" id="{D21E60E7-9ADA-E378-C153-49340AB38D4A}"/>
              </a:ext>
            </a:extLst>
          </p:cNvPr>
          <p:cNvSpPr txBox="1">
            <a:spLocks/>
          </p:cNvSpPr>
          <p:nvPr/>
        </p:nvSpPr>
        <p:spPr bwMode="auto">
          <a:xfrm>
            <a:off x="272480" y="1608287"/>
            <a:ext cx="8520600" cy="34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81000">
              <a:spcBef>
                <a:spcPts val="1000"/>
              </a:spcBef>
              <a:buClr>
                <a:srgbClr val="424242"/>
              </a:buClr>
              <a:buFont typeface="Roboto"/>
              <a:buChar char="●"/>
            </a:pPr>
            <a:r>
              <a:rPr lang="en-US" dirty="0"/>
              <a:t>Defining Text View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Defining  Scrolling View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Defining  Recycler View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Starting a new 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-US" dirty="0"/>
              <a:t> with an 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Intent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Passing data between activities with extras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Navigating between activities</a:t>
            </a:r>
          </a:p>
          <a:p>
            <a:pPr marL="0" indent="0">
              <a:spcBef>
                <a:spcPts val="1000"/>
              </a:spcBef>
              <a:buFont typeface="Arial" charset="0"/>
              <a:buNone/>
            </a:pPr>
            <a:endParaRPr lang="en-US" sz="1600" dirty="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00A2-CA4B-20B8-C1E6-72926B0C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76AEB-2521-C77E-DA5A-8CA4D463C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sp>
        <p:nvSpPr>
          <p:cNvPr id="2" name="Google Shape;300;p57">
            <a:extLst>
              <a:ext uri="{FF2B5EF4-FFF2-40B4-BE49-F238E27FC236}">
                <a16:creationId xmlns:a16="http://schemas.microsoft.com/office/drawing/2014/main" id="{273AF08B-A69C-BB57-8749-0E20021D4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TextView for text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01;p57">
            <a:extLst>
              <a:ext uri="{FF2B5EF4-FFF2-40B4-BE49-F238E27FC236}">
                <a16:creationId xmlns:a16="http://schemas.microsoft.com/office/drawing/2014/main" id="{B77054B3-8A85-D73D-995D-B552C10BC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720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TextView</a:t>
            </a:r>
            <a:r>
              <a:rPr lang="en" dirty="0"/>
              <a:t> is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/>
              <a:t> subclass for single and multi-line text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EditText</a:t>
            </a:r>
            <a:r>
              <a:rPr lang="en" dirty="0"/>
              <a:t> is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dirty="0"/>
              <a:t> subclass with editable text 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Controlled with layout attributes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Set text: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Statically from string resource in XML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Dynamically from Java code and any source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43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8213-483B-D5F1-4C75-4A0EF477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79E81-BA1C-76E7-3558-581C269BFD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2" name="Google Shape;307;p58">
            <a:extLst>
              <a:ext uri="{FF2B5EF4-FFF2-40B4-BE49-F238E27FC236}">
                <a16:creationId xmlns:a16="http://schemas.microsoft.com/office/drawing/2014/main" id="{A6D93B8B-9702-BA23-BE26-1A25D2202C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Formatting text in string resource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08;p58">
            <a:extLst>
              <a:ext uri="{FF2B5EF4-FFF2-40B4-BE49-F238E27FC236}">
                <a16:creationId xmlns:a16="http://schemas.microsoft.com/office/drawing/2014/main" id="{AF63F7C7-E57F-4688-F9B2-3A3926E68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850" y="1720800"/>
            <a:ext cx="917166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Use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&lt;b&gt;</a:t>
            </a:r>
            <a:r>
              <a:rPr lang="en" dirty="0"/>
              <a:t> and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&lt;i&gt;</a:t>
            </a:r>
            <a:r>
              <a:rPr lang="en" dirty="0"/>
              <a:t> HTML tags for bold and italics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All other HTML tags are ignored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String resources: one unbroken line = one paragraph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dirty="0"/>
              <a:t> starts a new a line or paragraph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Escape apostrophes and quotes with backslash (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\"</a:t>
            </a:r>
            <a:r>
              <a:rPr lang="en" dirty="0"/>
              <a:t>,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\'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Escape any non-ASCII characters with backslash (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\</a:t>
            </a:r>
            <a:r>
              <a:rPr lang="en" dirty="0"/>
              <a:t>)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1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04D2-AAF5-ED74-CD11-C76C7A6B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F3B60-016B-AAF1-5F92-3272E1F8A8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2" name="Google Shape;314;p59">
            <a:extLst>
              <a:ext uri="{FF2B5EF4-FFF2-40B4-BE49-F238E27FC236}">
                <a16:creationId xmlns:a16="http://schemas.microsoft.com/office/drawing/2014/main" id="{BAF93EF1-C74D-FA3E-5474-98A0F56F1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363" y="13889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Creating TextView in XML</a:t>
            </a:r>
            <a:endParaRPr dirty="0"/>
          </a:p>
        </p:txBody>
      </p:sp>
      <p:sp>
        <p:nvSpPr>
          <p:cNvPr id="3" name="Google Shape;315;p59">
            <a:extLst>
              <a:ext uri="{FF2B5EF4-FFF2-40B4-BE49-F238E27FC236}">
                <a16:creationId xmlns:a16="http://schemas.microsoft.com/office/drawing/2014/main" id="{970321F9-0B88-A4A7-1393-3803A0F8F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436" y="1412776"/>
            <a:ext cx="919706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&lt;TextView android:id="@+id/textview"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  android:layout_width="match_parent"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  android:text="@string/my_story"/&gt;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9023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CF8C-A348-31E3-705B-A877B436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C4989-3C42-04EA-D034-07BD08201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2" name="Google Shape;321;p60">
            <a:extLst>
              <a:ext uri="{FF2B5EF4-FFF2-40B4-BE49-F238E27FC236}">
                <a16:creationId xmlns:a16="http://schemas.microsoft.com/office/drawing/2014/main" id="{A21B451A-5456-3708-1FAB-D42D67E3F3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TextView attributes</a:t>
            </a:r>
            <a:endParaRPr dirty="0"/>
          </a:p>
        </p:txBody>
      </p:sp>
      <p:sp>
        <p:nvSpPr>
          <p:cNvPr id="3" name="Google Shape;322;p60">
            <a:extLst>
              <a:ext uri="{FF2B5EF4-FFF2-40B4-BE49-F238E27FC236}">
                <a16:creationId xmlns:a16="http://schemas.microsoft.com/office/drawing/2014/main" id="{E8352ED1-BEBE-A510-117A-60256CB2F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4789" y="1340768"/>
            <a:ext cx="9636421" cy="3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to display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textColor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—color of text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textAppearance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—predefined style or theme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textSize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size in </a:t>
            </a:r>
            <a:r>
              <a:rPr lang="en" sz="2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textStyle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typeface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sans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serif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 sz="2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monospace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u="sng" dirty="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android:</a:t>
            </a:r>
            <a:r>
              <a:rPr lang="en" sz="2600" b="1" u="sng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lineSpacingExtra</a:t>
            </a:r>
            <a:r>
              <a:rPr lang="en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—extra space between lines </a:t>
            </a:r>
            <a:r>
              <a:rPr lang="en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" sz="2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 sz="28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4624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6514-723E-AC62-F612-7687FEBF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650C-7461-3977-6617-49DD9723B8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2" name="Google Shape;328;p61">
            <a:extLst>
              <a:ext uri="{FF2B5EF4-FFF2-40B4-BE49-F238E27FC236}">
                <a16:creationId xmlns:a16="http://schemas.microsoft.com/office/drawing/2014/main" id="{4614D4A3-A107-EEBF-3486-5FF246F69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88" y="29130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Formatting active web links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29;p61">
            <a:extLst>
              <a:ext uri="{FF2B5EF4-FFF2-40B4-BE49-F238E27FC236}">
                <a16:creationId xmlns:a16="http://schemas.microsoft.com/office/drawing/2014/main" id="{8AD30FEF-D395-7972-68CE-664CAE894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4488" y="1844824"/>
            <a:ext cx="9217024" cy="26642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&lt;string name="article_text"&gt;... 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www.rockument.com 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...&lt;/string&gt;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android:id="@+id/article"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android:layout_width="wrap_content"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sz="2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wrap_content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android:autoLink="web"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android:text="@string/article_text"/&gt;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334;p61">
            <a:extLst>
              <a:ext uri="{FF2B5EF4-FFF2-40B4-BE49-F238E27FC236}">
                <a16:creationId xmlns:a16="http://schemas.microsoft.com/office/drawing/2014/main" id="{658C4A10-B0E2-4B96-5A4B-D155F8505D16}"/>
              </a:ext>
            </a:extLst>
          </p:cNvPr>
          <p:cNvSpPr txBox="1"/>
          <p:nvPr/>
        </p:nvSpPr>
        <p:spPr>
          <a:xfrm>
            <a:off x="317172" y="5363831"/>
            <a:ext cx="936103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 dirty="0">
                <a:solidFill>
                  <a:schemeClr val="hlink"/>
                </a:solidFill>
                <a:hlinkClick r:id="rId2"/>
              </a:rPr>
              <a:t>autoLink</a:t>
            </a: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values:</a:t>
            </a: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"web"</a:t>
            </a:r>
            <a:r>
              <a:rPr lang="en" sz="2400" dirty="0">
                <a:solidFill>
                  <a:schemeClr val="dk1"/>
                </a:solidFill>
              </a:rPr>
              <a:t>,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en" sz="2400" dirty="0"/>
              <a:t>,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"phone"</a:t>
            </a:r>
            <a:r>
              <a:rPr lang="en" sz="2400" dirty="0"/>
              <a:t>,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"map"</a:t>
            </a:r>
            <a:r>
              <a:rPr lang="en" sz="2400" dirty="0"/>
              <a:t>,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"all"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333;p61">
            <a:extLst>
              <a:ext uri="{FF2B5EF4-FFF2-40B4-BE49-F238E27FC236}">
                <a16:creationId xmlns:a16="http://schemas.microsoft.com/office/drawing/2014/main" id="{30C3C7F9-CAFE-6C77-BBA0-A0A871F2C4D8}"/>
              </a:ext>
            </a:extLst>
          </p:cNvPr>
          <p:cNvSpPr txBox="1"/>
          <p:nvPr/>
        </p:nvSpPr>
        <p:spPr>
          <a:xfrm>
            <a:off x="7594708" y="3606876"/>
            <a:ext cx="1881000" cy="13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Don’t use HTML for a web link in free-form text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402747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74EE-CC5C-AA27-1637-80957B6A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61E68-0EE1-694F-FB8D-8D72C4F4B7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sp>
        <p:nvSpPr>
          <p:cNvPr id="2" name="Google Shape;339;p62">
            <a:extLst>
              <a:ext uri="{FF2B5EF4-FFF2-40B4-BE49-F238E27FC236}">
                <a16:creationId xmlns:a16="http://schemas.microsoft.com/office/drawing/2014/main" id="{7374202E-687B-9A8A-2626-ADC4BEAB6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Creating TextView in Java code</a:t>
            </a:r>
            <a:endParaRPr dirty="0"/>
          </a:p>
        </p:txBody>
      </p:sp>
      <p:sp>
        <p:nvSpPr>
          <p:cNvPr id="3" name="Google Shape;340;p62">
            <a:extLst>
              <a:ext uri="{FF2B5EF4-FFF2-40B4-BE49-F238E27FC236}">
                <a16:creationId xmlns:a16="http://schemas.microsoft.com/office/drawing/2014/main" id="{79FAF8AF-2499-0FDA-10C9-33D542A8E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720800"/>
            <a:ext cx="977753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extView myTextview = new TextView(this);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myTextView.setWidth(LayoutParams.MATCH_PARENT);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myTextView.setHeight(LayoutParams.WRAP_CONTENT);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myTextView.setMinLines(3);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myTextView.setText(R.string.my_story);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myTextView.append(userComment);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9520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3A88-BA1E-A3B4-E209-625E09A8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E1C0-0C7C-0FD6-278F-D0C3C82CA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2" name="Google Shape;352;p64">
            <a:extLst>
              <a:ext uri="{FF2B5EF4-FFF2-40B4-BE49-F238E27FC236}">
                <a16:creationId xmlns:a16="http://schemas.microsoft.com/office/drawing/2014/main" id="{49193809-C4DE-2B95-6538-D70DECC6D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What about large amounts of text?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53;p64">
            <a:extLst>
              <a:ext uri="{FF2B5EF4-FFF2-40B4-BE49-F238E27FC236}">
                <a16:creationId xmlns:a16="http://schemas.microsoft.com/office/drawing/2014/main" id="{8FF1ECCB-A24B-594D-90A5-9990A345F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1" y="1720800"/>
            <a:ext cx="957244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N</a:t>
            </a:r>
            <a:r>
              <a:rPr lang="en" sz="2400" dirty="0">
                <a:solidFill>
                  <a:schemeClr val="dk1"/>
                </a:solidFill>
              </a:rPr>
              <a:t>ews stories, articles, etc</a:t>
            </a:r>
            <a:r>
              <a:rPr lang="en" dirty="0">
                <a:solidFill>
                  <a:schemeClr val="dk1"/>
                </a:solidFill>
              </a:rPr>
              <a:t>…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To scroll a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dirty="0">
                <a:solidFill>
                  <a:schemeClr val="dk1"/>
                </a:solidFill>
              </a:rPr>
              <a:t>, embed it in a </a:t>
            </a:r>
            <a:r>
              <a:rPr lang="en" u="sng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ScrollView</a:t>
            </a:r>
            <a:endParaRPr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Only </a:t>
            </a:r>
            <a:r>
              <a:rPr lang="en" sz="2400" i="1" dirty="0">
                <a:solidFill>
                  <a:schemeClr val="dk1"/>
                </a:solidFill>
              </a:rPr>
              <a:t>one</a:t>
            </a:r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 dirty="0">
                <a:solidFill>
                  <a:schemeClr val="dk1"/>
                </a:solidFill>
              </a:rPr>
              <a:t> element (usually </a:t>
            </a: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sz="2400" dirty="0">
                <a:solidFill>
                  <a:schemeClr val="dk1"/>
                </a:solidFill>
              </a:rPr>
              <a:t>) allowed in a </a:t>
            </a: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To scroll multiple elements, use one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dirty="0">
                <a:solidFill>
                  <a:schemeClr val="dk1"/>
                </a:solidFill>
              </a:rPr>
              <a:t> (such as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dirty="0">
                <a:solidFill>
                  <a:schemeClr val="dk1"/>
                </a:solidFill>
              </a:rPr>
              <a:t>) within the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61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7D8D9-5CCA-6945-3E3B-B21C9610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3A74-D8BD-52A7-6D05-E255E1896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2" name="Google Shape;359;p65">
            <a:extLst>
              <a:ext uri="{FF2B5EF4-FFF2-40B4-BE49-F238E27FC236}">
                <a16:creationId xmlns:a16="http://schemas.microsoft.com/office/drawing/2014/main" id="{0BCD2A4C-D9EC-4B76-3098-8D39BCBCF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ScrollView for scrolling content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60;p65">
            <a:extLst>
              <a:ext uri="{FF2B5EF4-FFF2-40B4-BE49-F238E27FC236}">
                <a16:creationId xmlns:a16="http://schemas.microsoft.com/office/drawing/2014/main" id="{FFD6AE52-8C93-4A63-B67B-7F7EDFC55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73837" y="1412776"/>
            <a:ext cx="10146758" cy="3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sz="2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ScrollView</a:t>
            </a:r>
            <a:r>
              <a:rPr lang="en" sz="2800" dirty="0"/>
              <a:t> is a subclass of </a:t>
            </a:r>
            <a:r>
              <a:rPr lang="en" sz="2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FrameLayout</a:t>
            </a:r>
            <a:endParaRPr sz="2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800" dirty="0">
                <a:solidFill>
                  <a:schemeClr val="dk1"/>
                </a:solidFill>
              </a:rPr>
              <a:t>Holds all content in memory</a:t>
            </a:r>
            <a:endParaRPr sz="2800" dirty="0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800" dirty="0">
                <a:solidFill>
                  <a:schemeClr val="dk1"/>
                </a:solidFill>
              </a:rPr>
              <a:t>Not good for long texts, complex layouts</a:t>
            </a:r>
            <a:endParaRPr sz="2800" dirty="0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800" dirty="0">
                <a:solidFill>
                  <a:schemeClr val="dk1"/>
                </a:solidFill>
              </a:rPr>
              <a:t>Do not nest multiple scrolling views</a:t>
            </a:r>
            <a:endParaRPr sz="2800" dirty="0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800" dirty="0">
                <a:solidFill>
                  <a:schemeClr val="dk1"/>
                </a:solidFill>
              </a:rPr>
              <a:t>Use</a:t>
            </a:r>
            <a:r>
              <a:rPr lang="en" sz="2800" dirty="0"/>
              <a:t> </a:t>
            </a:r>
            <a:r>
              <a:rPr lang="en" sz="2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HorizontalScrollView</a:t>
            </a:r>
            <a:r>
              <a:rPr lang="en" sz="2800" dirty="0">
                <a:solidFill>
                  <a:schemeClr val="dk1"/>
                </a:solidFill>
              </a:rPr>
              <a:t> for horizontal scrolling</a:t>
            </a:r>
            <a:endParaRPr sz="2800" dirty="0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800" dirty="0">
                <a:solidFill>
                  <a:schemeClr val="dk1"/>
                </a:solidFill>
              </a:rPr>
              <a:t>Use a</a:t>
            </a:r>
            <a:r>
              <a:rPr lang="en" sz="2800" dirty="0"/>
              <a:t>  </a:t>
            </a:r>
            <a:r>
              <a:rPr lang="en" sz="2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RecyclerView</a:t>
            </a:r>
            <a:r>
              <a:rPr lang="en" sz="2800" dirty="0"/>
              <a:t> </a:t>
            </a:r>
            <a:r>
              <a:rPr lang="en" sz="2800" dirty="0">
                <a:solidFill>
                  <a:schemeClr val="dk1"/>
                </a:solidFill>
              </a:rPr>
              <a:t>for lists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89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C278-73B3-8606-640C-DB48796B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25242-912D-C2CB-3CFC-1B4AB7565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2" name="Google Shape;366;p66">
            <a:extLst>
              <a:ext uri="{FF2B5EF4-FFF2-40B4-BE49-F238E27FC236}">
                <a16:creationId xmlns:a16="http://schemas.microsoft.com/office/drawing/2014/main" id="{C431DAAF-2278-47CA-9FC0-3FB57B753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265" y="1677750"/>
            <a:ext cx="6303895" cy="3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android:layout_width="wrap_content"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android:layout_height="wrap_content"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android:layout_below="@id/article_subheading"&gt;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800" dirty="0">
              <a:solidFill>
                <a:srgbClr val="000000"/>
              </a:solidFill>
            </a:endParaRPr>
          </a:p>
        </p:txBody>
      </p:sp>
      <p:pic>
        <p:nvPicPr>
          <p:cNvPr id="3" name="Google Shape;367;p66">
            <a:extLst>
              <a:ext uri="{FF2B5EF4-FFF2-40B4-BE49-F238E27FC236}">
                <a16:creationId xmlns:a16="http://schemas.microsoft.com/office/drawing/2014/main" id="{D7552539-8A07-2B4C-FA7F-99C8BFCE5D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3160" y="2276872"/>
            <a:ext cx="3388754" cy="2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8;p66">
            <a:extLst>
              <a:ext uri="{FF2B5EF4-FFF2-40B4-BE49-F238E27FC236}">
                <a16:creationId xmlns:a16="http://schemas.microsoft.com/office/drawing/2014/main" id="{AA9DEED4-9CA0-58F5-879F-90396350E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91778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ScrollView layout with one TextView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86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07407-346B-F7B2-5BB6-7A164D5B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C4E5C-3835-5EFA-2440-A983E18912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2" name="Google Shape;375;p67">
            <a:extLst>
              <a:ext uri="{FF2B5EF4-FFF2-40B4-BE49-F238E27FC236}">
                <a16:creationId xmlns:a16="http://schemas.microsoft.com/office/drawing/2014/main" id="{7CA92B5A-182B-150B-95E0-02FE35EE6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484784"/>
            <a:ext cx="5865102" cy="3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 ...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&lt;LinearLayout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android:orientation="vertical"&gt;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android:id="@+id/article_subheading" </a:t>
            </a:r>
            <a:b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.../&gt;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android:id="@+id/article" ... /&gt;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&lt;/LinearLayout&gt;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Google Shape;376;p67">
            <a:extLst>
              <a:ext uri="{FF2B5EF4-FFF2-40B4-BE49-F238E27FC236}">
                <a16:creationId xmlns:a16="http://schemas.microsoft.com/office/drawing/2014/main" id="{D7CE3DBF-4398-BBE9-CD7C-0508D42CD18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89104" y="2267625"/>
            <a:ext cx="3712310" cy="35376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77;p67">
            <a:extLst>
              <a:ext uri="{FF2B5EF4-FFF2-40B4-BE49-F238E27FC236}">
                <a16:creationId xmlns:a16="http://schemas.microsoft.com/office/drawing/2014/main" id="{93E9CE89-D579-0CF2-88F9-31C1FF6DAC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ScrollView layout with a view group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11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CF23-000D-4A50-461A-EF2E1002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3A980-6E8E-DC61-8D35-3D099045C3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2" name="Google Shape;384;p68">
            <a:extLst>
              <a:ext uri="{FF2B5EF4-FFF2-40B4-BE49-F238E27FC236}">
                <a16:creationId xmlns:a16="http://schemas.microsoft.com/office/drawing/2014/main" id="{3BF6C3D5-53CC-B9B8-0A24-69C9D59F1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ScrollView with image and button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85;p68">
            <a:extLst>
              <a:ext uri="{FF2B5EF4-FFF2-40B4-BE49-F238E27FC236}">
                <a16:creationId xmlns:a16="http://schemas.microsoft.com/office/drawing/2014/main" id="{A22BC50F-6EF7-AC02-0712-5611DB9AB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4" y="1412776"/>
            <a:ext cx="5865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&lt;ScrollView...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&lt;LinearLayout...&gt;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&lt;ImageView.../&gt;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&lt;Button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.../&gt;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&lt;/LinearLayout&gt;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22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387;p68">
            <a:extLst>
              <a:ext uri="{FF2B5EF4-FFF2-40B4-BE49-F238E27FC236}">
                <a16:creationId xmlns:a16="http://schemas.microsoft.com/office/drawing/2014/main" id="{15752E01-BF34-2506-4C20-A3F2B805CCD9}"/>
              </a:ext>
            </a:extLst>
          </p:cNvPr>
          <p:cNvSpPr txBox="1"/>
          <p:nvPr/>
        </p:nvSpPr>
        <p:spPr>
          <a:xfrm>
            <a:off x="5682525" y="3026585"/>
            <a:ext cx="2835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Children of the layout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388;p68">
            <a:extLst>
              <a:ext uri="{FF2B5EF4-FFF2-40B4-BE49-F238E27FC236}">
                <a16:creationId xmlns:a16="http://schemas.microsoft.com/office/drawing/2014/main" id="{DA2AE18E-D9FD-E6F4-0A7D-8FE12BA41DFF}"/>
              </a:ext>
            </a:extLst>
          </p:cNvPr>
          <p:cNvSpPr txBox="1"/>
          <p:nvPr/>
        </p:nvSpPr>
        <p:spPr>
          <a:xfrm>
            <a:off x="5285325" y="1907012"/>
            <a:ext cx="36303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One child of ScrollView</a:t>
            </a:r>
            <a:br>
              <a:rPr lang="en" sz="1800" dirty="0">
                <a:latin typeface="Roboto"/>
                <a:ea typeface="Roboto"/>
                <a:cs typeface="Roboto"/>
                <a:sym typeface="Roboto"/>
              </a:rPr>
            </a:b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which can be a layout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389;p68">
            <a:extLst>
              <a:ext uri="{FF2B5EF4-FFF2-40B4-BE49-F238E27FC236}">
                <a16:creationId xmlns:a16="http://schemas.microsoft.com/office/drawing/2014/main" id="{9B26CDBC-3B08-FF20-A8BF-4D113231F5FE}"/>
              </a:ext>
            </a:extLst>
          </p:cNvPr>
          <p:cNvSpPr/>
          <p:nvPr/>
        </p:nvSpPr>
        <p:spPr>
          <a:xfrm>
            <a:off x="4549725" y="2769238"/>
            <a:ext cx="345000" cy="1186200"/>
          </a:xfrm>
          <a:prstGeom prst="rightBracket">
            <a:avLst>
              <a:gd name="adj" fmla="val 8333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390;p68">
            <a:extLst>
              <a:ext uri="{FF2B5EF4-FFF2-40B4-BE49-F238E27FC236}">
                <a16:creationId xmlns:a16="http://schemas.microsoft.com/office/drawing/2014/main" id="{0CB289A7-074D-634F-6458-CB8FC2FA3262}"/>
              </a:ext>
            </a:extLst>
          </p:cNvPr>
          <p:cNvCxnSpPr>
            <a:cxnSpLocks/>
          </p:cNvCxnSpPr>
          <p:nvPr/>
        </p:nvCxnSpPr>
        <p:spPr>
          <a:xfrm>
            <a:off x="4894725" y="3349756"/>
            <a:ext cx="922371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" name="Google Shape;391;p68">
            <a:extLst>
              <a:ext uri="{FF2B5EF4-FFF2-40B4-BE49-F238E27FC236}">
                <a16:creationId xmlns:a16="http://schemas.microsoft.com/office/drawing/2014/main" id="{B789C628-DE35-782A-09C6-77DAD8ADC362}"/>
              </a:ext>
            </a:extLst>
          </p:cNvPr>
          <p:cNvCxnSpPr/>
          <p:nvPr/>
        </p:nvCxnSpPr>
        <p:spPr>
          <a:xfrm>
            <a:off x="4524580" y="2272426"/>
            <a:ext cx="711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32914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EAA33-4FA4-1EFE-CE0F-85716C8964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7" name="Google Shape;295;p56">
            <a:extLst>
              <a:ext uri="{FF2B5EF4-FFF2-40B4-BE49-F238E27FC236}">
                <a16:creationId xmlns:a16="http://schemas.microsoft.com/office/drawing/2014/main" id="{E3F01E7F-043E-B69D-0361-CB355EE5B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is a RecyclerView?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296;p56">
            <a:extLst>
              <a:ext uri="{FF2B5EF4-FFF2-40B4-BE49-F238E27FC236}">
                <a16:creationId xmlns:a16="http://schemas.microsoft.com/office/drawing/2014/main" id="{35E32B6B-2BE7-5BF8-970E-CCBCA62C8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9568" y="1684796"/>
            <a:ext cx="675124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 dirty="0">
                <a:solidFill>
                  <a:srgbClr val="0081BE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RecyclerView</a:t>
            </a:r>
            <a:r>
              <a:rPr lang="en" sz="2000" dirty="0">
                <a:solidFill>
                  <a:srgbClr val="000000"/>
                </a:solidFill>
              </a:rPr>
              <a:t> is scrollable container for large data sets</a:t>
            </a:r>
            <a:endParaRPr sz="2000" dirty="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dirty="0">
                <a:solidFill>
                  <a:srgbClr val="000000"/>
                </a:solidFill>
              </a:rPr>
              <a:t>Efficient </a:t>
            </a:r>
            <a:endParaRPr sz="2000" dirty="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 dirty="0">
                <a:solidFill>
                  <a:srgbClr val="000000"/>
                </a:solidFill>
              </a:rPr>
              <a:t>Uses and reuses limited number of </a:t>
            </a:r>
            <a:r>
              <a:rPr lang="en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 dirty="0">
                <a:solidFill>
                  <a:srgbClr val="000000"/>
                </a:solidFill>
              </a:rPr>
              <a:t> elements</a:t>
            </a:r>
            <a:endParaRPr sz="2000" dirty="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 dirty="0">
                <a:solidFill>
                  <a:srgbClr val="000000"/>
                </a:solidFill>
              </a:rPr>
              <a:t>Updates changing data fast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9" name="Google Shape;298;p56">
            <a:extLst>
              <a:ext uri="{FF2B5EF4-FFF2-40B4-BE49-F238E27FC236}">
                <a16:creationId xmlns:a16="http://schemas.microsoft.com/office/drawing/2014/main" id="{75CF017D-14C6-C8C2-B5F1-AF0ED51180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648" y="1484784"/>
            <a:ext cx="3528392" cy="424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99;p56" descr="pv_wordlistsql-1.png">
            <a:extLst>
              <a:ext uri="{FF2B5EF4-FFF2-40B4-BE49-F238E27FC236}">
                <a16:creationId xmlns:a16="http://schemas.microsoft.com/office/drawing/2014/main" id="{7552F601-0251-F086-3BD0-87782B7CE6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803" t="13488" r="11263" b="17693"/>
          <a:stretch/>
        </p:blipFill>
        <p:spPr>
          <a:xfrm>
            <a:off x="6591672" y="2276872"/>
            <a:ext cx="1368152" cy="23762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47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3770-E18B-9C08-9C12-04659F0C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3345A-F552-F1A1-45A4-1249BE3E4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2" name="Google Shape;314;p58">
            <a:extLst>
              <a:ext uri="{FF2B5EF4-FFF2-40B4-BE49-F238E27FC236}">
                <a16:creationId xmlns:a16="http://schemas.microsoft.com/office/drawing/2014/main" id="{915BB78C-E316-CCB9-AA11-A09AA5320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340768"/>
            <a:ext cx="9993560" cy="35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Data</a:t>
            </a:r>
            <a:endParaRPr sz="1800" b="1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RecyclerView</a:t>
            </a:r>
            <a:r>
              <a:rPr lang="en" sz="1800" dirty="0"/>
              <a:t> scrolling list for list items—</a:t>
            </a:r>
            <a:r>
              <a:rPr lang="en" sz="1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RecyclerView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Layout</a:t>
            </a:r>
            <a:r>
              <a:rPr lang="en" sz="1800" dirty="0"/>
              <a:t> for one item of data—XML file</a:t>
            </a:r>
          </a:p>
          <a:p>
            <a:pPr marL="457200" indent="-342900">
              <a:spcBef>
                <a:spcPts val="1000"/>
              </a:spcBef>
              <a:buSzPts val="1800"/>
              <a:buFont typeface="Arial" charset="0"/>
              <a:buChar char="●"/>
            </a:pPr>
            <a:r>
              <a:rPr lang="en-US" sz="1800" b="1" dirty="0"/>
              <a:t>Adapter</a:t>
            </a:r>
            <a:r>
              <a:rPr lang="en-US" sz="1800" dirty="0"/>
              <a:t> connects data to the </a:t>
            </a:r>
            <a:r>
              <a:rPr lang="en-US" sz="1800" dirty="0" err="1"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-US" sz="1800" dirty="0"/>
              <a:t>—</a:t>
            </a:r>
            <a:r>
              <a:rPr lang="en-US" sz="1800" u="sng" dirty="0" err="1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RecyclerView.Adapter</a:t>
            </a:r>
            <a:endParaRPr sz="1800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Layout manage</a:t>
            </a:r>
            <a:r>
              <a:rPr lang="en" sz="1800" dirty="0"/>
              <a:t>r handles the organization of UI components in a </a:t>
            </a: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1800" dirty="0"/>
              <a:t>—</a:t>
            </a:r>
            <a:r>
              <a:rPr lang="en" sz="1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Recyclerview.LayoutManager</a:t>
            </a: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 dirty="0"/>
              <a:t> </a:t>
            </a:r>
            <a:endParaRPr sz="1800" dirty="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 b="1" dirty="0"/>
              <a:t>ViewHolder</a:t>
            </a:r>
            <a:r>
              <a:rPr lang="en" sz="1800" dirty="0"/>
              <a:t> has view information for displaying one item—</a:t>
            </a:r>
            <a:r>
              <a:rPr lang="en" sz="18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RecyclerView.ViewHolder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316;p58">
            <a:extLst>
              <a:ext uri="{FF2B5EF4-FFF2-40B4-BE49-F238E27FC236}">
                <a16:creationId xmlns:a16="http://schemas.microsoft.com/office/drawing/2014/main" id="{C7A4CD90-1390-3E15-2F52-54ACE8590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pic>
        <p:nvPicPr>
          <p:cNvPr id="5" name="Google Shape;324;p59">
            <a:extLst>
              <a:ext uri="{FF2B5EF4-FFF2-40B4-BE49-F238E27FC236}">
                <a16:creationId xmlns:a16="http://schemas.microsoft.com/office/drawing/2014/main" id="{72466614-6AAB-4217-F4C5-0716319177B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6616" y="4653136"/>
            <a:ext cx="7560840" cy="16660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6893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09FD-7126-CE2D-3448-49BB50FE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3E16F-ECCC-0AB6-7B3F-B22C4054E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2" name="Google Shape;330;p60">
            <a:extLst>
              <a:ext uri="{FF2B5EF4-FFF2-40B4-BE49-F238E27FC236}">
                <a16:creationId xmlns:a16="http://schemas.microsoft.com/office/drawing/2014/main" id="{49C06B7A-CCB2-D2D4-D072-929DEDE64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484784"/>
            <a:ext cx="9217024" cy="4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Each 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sz="2000" dirty="0"/>
              <a:t> has a layout manager</a:t>
            </a:r>
            <a:endParaRPr sz="2000" dirty="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Use to position 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 dirty="0"/>
              <a:t> items inside a </a:t>
            </a:r>
            <a:r>
              <a:rPr lang="en" sz="20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RecyclerView</a:t>
            </a:r>
            <a:endParaRPr sz="2000" dirty="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Reuses 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 dirty="0"/>
              <a:t> items that are no longer visible to the user </a:t>
            </a:r>
            <a:endParaRPr sz="2000" dirty="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Built-in layout managers 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LinearLayoutManager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GridLayoutManager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StaggeredGridLayoutManager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Extend </a:t>
            </a:r>
            <a:r>
              <a:rPr lang="en" sz="20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RecyclerView.LayoutManager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332;p60">
            <a:extLst>
              <a:ext uri="{FF2B5EF4-FFF2-40B4-BE49-F238E27FC236}">
                <a16:creationId xmlns:a16="http://schemas.microsoft.com/office/drawing/2014/main" id="{884D52E1-EC8C-D6A1-E8BF-04F5C5442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layout manager?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1903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0937-5B16-12EA-E520-83375D29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B6D6A-1060-3A91-1DB1-7DC95A19E5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2" name="Google Shape;338;p61">
            <a:extLst>
              <a:ext uri="{FF2B5EF4-FFF2-40B4-BE49-F238E27FC236}">
                <a16:creationId xmlns:a16="http://schemas.microsoft.com/office/drawing/2014/main" id="{1A858A37-D0E6-1993-314A-904EFCC00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484784"/>
            <a:ext cx="990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Helps incompatible interfaces work together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Example: Takes data from database 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Cursor</a:t>
            </a:r>
            <a:r>
              <a:rPr lang="en" dirty="0">
                <a:solidFill>
                  <a:schemeClr val="dk1"/>
                </a:solidFill>
              </a:rPr>
              <a:t> and prepares strings to put into a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Intermediary between data and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Manages creating, updating, adding, deleting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>
                <a:solidFill>
                  <a:schemeClr val="dk1"/>
                </a:solidFill>
              </a:rPr>
              <a:t> items as underlying data changes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RecyclerView.Adapter</a:t>
            </a:r>
            <a:r>
              <a:rPr lang="en" dirty="0"/>
              <a:t>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41FC5A6-E467-0EB3-D048-D83B2DDB9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an adapter?</a:t>
            </a:r>
            <a:endParaRPr dirty="0"/>
          </a:p>
        </p:txBody>
      </p:sp>
      <p:pic>
        <p:nvPicPr>
          <p:cNvPr id="5" name="Google Shape;341;p61">
            <a:extLst>
              <a:ext uri="{FF2B5EF4-FFF2-40B4-BE49-F238E27FC236}">
                <a16:creationId xmlns:a16="http://schemas.microsoft.com/office/drawing/2014/main" id="{962E37C4-6C1A-7BD7-CA93-5925B8D4370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056" y="4725145"/>
            <a:ext cx="4032448" cy="1594078"/>
          </a:xfrm>
          <a:prstGeom prst="rect">
            <a:avLst/>
          </a:prstGeom>
          <a:noFill/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03911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F05E-2AA2-A04C-37EE-142EB3A6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178BB-9959-1773-C1DC-7ADA571A5A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2" name="Google Shape;347;p62">
            <a:extLst>
              <a:ext uri="{FF2B5EF4-FFF2-40B4-BE49-F238E27FC236}">
                <a16:creationId xmlns:a16="http://schemas.microsoft.com/office/drawing/2014/main" id="{F4652A93-CA0F-89BE-E0DC-8AD55D8D1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2356" y="1556792"/>
            <a:ext cx="9623644" cy="29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Used by the adapter to prepare one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>
                <a:solidFill>
                  <a:schemeClr val="dk1"/>
                </a:solidFill>
              </a:rPr>
              <a:t> with data for one list item 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Layout specified in an XML resource file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Can have clickable elements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Is placed by the layout manager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RecyclerView.ViewHolder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349;p62">
            <a:extLst>
              <a:ext uri="{FF2B5EF4-FFF2-40B4-BE49-F238E27FC236}">
                <a16:creationId xmlns:a16="http://schemas.microsoft.com/office/drawing/2014/main" id="{A0C9C1FC-3909-1DDF-690C-9366A11EA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ViewHolder?</a:t>
            </a:r>
            <a:endParaRPr dirty="0"/>
          </a:p>
        </p:txBody>
      </p:sp>
      <p:pic>
        <p:nvPicPr>
          <p:cNvPr id="5" name="Google Shape;350;p62">
            <a:extLst>
              <a:ext uri="{FF2B5EF4-FFF2-40B4-BE49-F238E27FC236}">
                <a16:creationId xmlns:a16="http://schemas.microsoft.com/office/drawing/2014/main" id="{9762492E-4895-ABC4-D8B0-7F44C78B96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088" y="4653136"/>
            <a:ext cx="4027833" cy="1529173"/>
          </a:xfrm>
          <a:prstGeom prst="rect">
            <a:avLst/>
          </a:prstGeom>
          <a:noFill/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7939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6E3D-2DE8-27B9-351A-31D1BB05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Implementing RecyclerView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BDEE8-445F-6538-C957-5FDF4DEDC3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5" name="Google Shape;364;p64">
            <a:extLst>
              <a:ext uri="{FF2B5EF4-FFF2-40B4-BE49-F238E27FC236}">
                <a16:creationId xmlns:a16="http://schemas.microsoft.com/office/drawing/2014/main" id="{DE92BC6A-FBC3-DEDA-BEE6-B8DD07CD1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772816"/>
            <a:ext cx="990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dependency to build.gradle if needed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to layout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XML layout for item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Extend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RecyclerView.Adapter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Extend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RecyclerView.ViewHolder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In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 dirty="0">
                <a:solidFill>
                  <a:schemeClr val="dk1"/>
                </a:solidFill>
              </a:rPr>
              <a:t>, create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with adapter and layout manager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9220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6F11-548A-2BCC-5538-1C138ADF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65C8A-88A4-B44A-94A1-742ADD1289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2" name="Google Shape;439;p73">
            <a:extLst>
              <a:ext uri="{FF2B5EF4-FFF2-40B4-BE49-F238E27FC236}">
                <a16:creationId xmlns:a16="http://schemas.microsoft.com/office/drawing/2014/main" id="{048F0544-3E7E-317A-B368-D5E068159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861" y="1628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WordViewHolder 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RecyclerView.ViewHolder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If you want to handle mouse clicks: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WordViewHolder 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RecyclerView.ViewHolder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implements View.OnClickListener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441;p73">
            <a:extLst>
              <a:ext uri="{FF2B5EF4-FFF2-40B4-BE49-F238E27FC236}">
                <a16:creationId xmlns:a16="http://schemas.microsoft.com/office/drawing/2014/main" id="{9ED6B16E-35B5-12E3-6D8C-ACF96BE45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820"/>
            <a:ext cx="97055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Create the view holder in adapter class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6877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E178-6C80-0FD3-6C0D-D4CA5179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145F6-841E-D407-7672-ABC7800F82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2" name="Google Shape;447;p74">
            <a:extLst>
              <a:ext uri="{FF2B5EF4-FFF2-40B4-BE49-F238E27FC236}">
                <a16:creationId xmlns:a16="http://schemas.microsoft.com/office/drawing/2014/main" id="{3B439D60-B75D-946E-73BC-37BC83517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556792"/>
            <a:ext cx="964445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itemView, WordListAdapter adapter)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super(itemView);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Get the layout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wordItemView = itemView.findViewById(R.id.word);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Associate with this adapter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this.mAdapter = adapter;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Add click listener, if desired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itemView.setOnClickListener(this);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Implement onClick() if desired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449;p74">
            <a:extLst>
              <a:ext uri="{FF2B5EF4-FFF2-40B4-BE49-F238E27FC236}">
                <a16:creationId xmlns:a16="http://schemas.microsoft.com/office/drawing/2014/main" id="{926166A1-3666-C564-F11C-E546F94BB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View holder constructor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444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13AD-5208-688D-374A-65CF2E58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D86C-6EC4-E43C-8388-971CCB2D58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 lang="en"/>
          </a:p>
        </p:txBody>
      </p:sp>
      <p:sp>
        <p:nvSpPr>
          <p:cNvPr id="2" name="Google Shape;469;p77">
            <a:extLst>
              <a:ext uri="{FF2B5EF4-FFF2-40B4-BE49-F238E27FC236}">
                <a16:creationId xmlns:a16="http://schemas.microsoft.com/office/drawing/2014/main" id="{306C7073-9DED-E80A-F5F0-09BAB0784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Learn more</a:t>
            </a:r>
            <a:endParaRPr dirty="0"/>
          </a:p>
        </p:txBody>
      </p:sp>
      <p:sp>
        <p:nvSpPr>
          <p:cNvPr id="3" name="Google Shape;470;p77">
            <a:extLst>
              <a:ext uri="{FF2B5EF4-FFF2-40B4-BE49-F238E27FC236}">
                <a16:creationId xmlns:a16="http://schemas.microsoft.com/office/drawing/2014/main" id="{F97142F7-219B-2B70-7DE1-5270903BDF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0775" y="1844824"/>
            <a:ext cx="8696400" cy="30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2"/>
              </a:rPr>
              <a:t>RecyclerView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RecyclerView</a:t>
            </a:r>
            <a:r>
              <a:rPr lang="en" dirty="0"/>
              <a:t> class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RecyclerView.Adapter</a:t>
            </a:r>
            <a:r>
              <a:rPr lang="en" dirty="0"/>
              <a:t> class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RecyclerView.ViewHolder</a:t>
            </a:r>
            <a:r>
              <a:rPr lang="en" dirty="0"/>
              <a:t> class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RecyclerView.LayoutManager</a:t>
            </a:r>
            <a:r>
              <a:rPr lang="en" dirty="0"/>
              <a:t> class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430560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7A3D-488F-9D58-F5D2-2EBFD762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5EC30-12D9-C4E7-D1EC-83F6F3115D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2" name="Google Shape;393;p69">
            <a:extLst>
              <a:ext uri="{FF2B5EF4-FFF2-40B4-BE49-F238E27FC236}">
                <a16:creationId xmlns:a16="http://schemas.microsoft.com/office/drawing/2014/main" id="{B87F94DF-B22C-A2CE-8E06-6703753F5D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0752" y="116632"/>
            <a:ext cx="4045200" cy="755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Intents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Google Shape;399;p70">
            <a:extLst>
              <a:ext uri="{FF2B5EF4-FFF2-40B4-BE49-F238E27FC236}">
                <a16:creationId xmlns:a16="http://schemas.microsoft.com/office/drawing/2014/main" id="{620D7FE8-A3E5-60D4-502A-8653067E0572}"/>
              </a:ext>
            </a:extLst>
          </p:cNvPr>
          <p:cNvSpPr txBox="1">
            <a:spLocks/>
          </p:cNvSpPr>
          <p:nvPr/>
        </p:nvSpPr>
        <p:spPr bwMode="auto">
          <a:xfrm>
            <a:off x="128464" y="1340768"/>
            <a:ext cx="8520600" cy="57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What is an intent?</a:t>
            </a:r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5" name="Picture 2" descr="A close-up of a person's hands&#10;&#10;Description automatically generated">
            <a:extLst>
              <a:ext uri="{FF2B5EF4-FFF2-40B4-BE49-F238E27FC236}">
                <a16:creationId xmlns:a16="http://schemas.microsoft.com/office/drawing/2014/main" id="{E3EFCAA3-58E1-7255-AF9E-7967686AA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88" y="1913468"/>
            <a:ext cx="7416824" cy="4489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96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0E7B-5F0A-0324-1DF8-601E2FF2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73577-AF05-C5E9-E52A-1E0DC02B3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2" name="Google Shape;413;p71">
            <a:extLst>
              <a:ext uri="{FF2B5EF4-FFF2-40B4-BE49-F238E27FC236}">
                <a16:creationId xmlns:a16="http://schemas.microsoft.com/office/drawing/2014/main" id="{67986521-BF66-CEA8-9513-7EDF123C3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can intents do?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415;p71">
            <a:extLst>
              <a:ext uri="{FF2B5EF4-FFF2-40B4-BE49-F238E27FC236}">
                <a16:creationId xmlns:a16="http://schemas.microsoft.com/office/drawing/2014/main" id="{65E145E5-2407-A5B8-FC22-AB1C1E6D7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" y="1412776"/>
            <a:ext cx="977292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Start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A button click starts a new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for text entry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Clicking Share opens an app that allows you to post a photo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Start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Service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Initiate downloading a file in the background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Deliver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Broadcast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The system informs everybody that the phone is now charging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68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183F-E187-6BE1-122C-C7A6DB37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FCA2A-2F2F-6165-5464-86E1B45729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2" name="Google Shape;420;p72">
            <a:extLst>
              <a:ext uri="{FF2B5EF4-FFF2-40B4-BE49-F238E27FC236}">
                <a16:creationId xmlns:a16="http://schemas.microsoft.com/office/drawing/2014/main" id="{644B26FD-FF0F-0420-52B4-64B878124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and implicit intents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422;p72">
            <a:extLst>
              <a:ext uri="{FF2B5EF4-FFF2-40B4-BE49-F238E27FC236}">
                <a16:creationId xmlns:a16="http://schemas.microsoft.com/office/drawing/2014/main" id="{5461414A-CFBD-2CB3-105B-0CD8716BC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200" y="1556792"/>
            <a:ext cx="982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 dirty="0"/>
              <a:t>Explicit Intent </a:t>
            </a:r>
            <a:endParaRPr sz="2300" b="1" dirty="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Starts a specific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dirty="0"/>
              <a:t>Request tea with milk delivered by someone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dirty="0"/>
              <a:t>Main activity starts the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ViewShoppingCart</a:t>
            </a:r>
            <a:r>
              <a:rPr lang="en" sz="2300" dirty="0"/>
              <a:t>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 dirty="0"/>
              <a:t>Implicit Intent </a:t>
            </a:r>
            <a:endParaRPr sz="2300" b="1" dirty="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Asks system to find an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 dirty="0"/>
              <a:t> that can handle this request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dirty="0"/>
              <a:t>Find an open store that sells green tea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dirty="0"/>
              <a:t>Clicking Share opens a chooser with a list of apps </a:t>
            </a:r>
            <a:endParaRPr sz="23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1621342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83F8-7DA8-C6E4-8C5C-DC1A9BFB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3F161-47BC-B359-FB96-65ACB9038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26</a:t>
            </a:fld>
            <a:endParaRPr lang="en"/>
          </a:p>
        </p:txBody>
      </p:sp>
      <p:sp>
        <p:nvSpPr>
          <p:cNvPr id="2" name="Google Shape;433;p74">
            <a:extLst>
              <a:ext uri="{FF2B5EF4-FFF2-40B4-BE49-F238E27FC236}">
                <a16:creationId xmlns:a16="http://schemas.microsoft.com/office/drawing/2014/main" id="{BECD1E08-BEB1-53CF-67B3-6CAAE5208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64" y="332656"/>
            <a:ext cx="96444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 an Activity with an explicit intent</a:t>
            </a:r>
            <a:endParaRPr dirty="0"/>
          </a:p>
        </p:txBody>
      </p:sp>
      <p:sp>
        <p:nvSpPr>
          <p:cNvPr id="3" name="Google Shape;434;p74">
            <a:extLst>
              <a:ext uri="{FF2B5EF4-FFF2-40B4-BE49-F238E27FC236}">
                <a16:creationId xmlns:a16="http://schemas.microsoft.com/office/drawing/2014/main" id="{1701975D-DA5D-E2C3-86AF-DD099D83D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754" y="1576784"/>
            <a:ext cx="986509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To start a specific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, use an explicit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Create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 b="1" dirty="0">
                <a:latin typeface="Consolas"/>
                <a:ea typeface="Consolas"/>
                <a:cs typeface="Consolas"/>
                <a:sym typeface="Consolas"/>
              </a:rPr>
              <a:t>Intent intent = new Intent(FirstActivity.this, SecondActivity.class);</a:t>
            </a:r>
            <a:endParaRPr sz="1800" b="1"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Use the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dirty="0"/>
              <a:t> to start the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startActivity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CB1A4-02FF-619F-9D45-16D233A3B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70" y="3573016"/>
            <a:ext cx="3096344" cy="26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62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0FE5-4685-D046-AE51-6B2984CC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04D0-D561-928A-DF0E-FB27CEC5B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27</a:t>
            </a:fld>
            <a:endParaRPr lang="en"/>
          </a:p>
        </p:txBody>
      </p:sp>
      <p:sp>
        <p:nvSpPr>
          <p:cNvPr id="2" name="Google Shape;440;p75">
            <a:extLst>
              <a:ext uri="{FF2B5EF4-FFF2-40B4-BE49-F238E27FC236}">
                <a16:creationId xmlns:a16="http://schemas.microsoft.com/office/drawing/2014/main" id="{8492CF9E-6E72-4A8D-2F81-A0ACB2C7C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896" y="188640"/>
            <a:ext cx="92498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 an Activity with implicit intent</a:t>
            </a:r>
            <a:endParaRPr dirty="0"/>
          </a:p>
        </p:txBody>
      </p:sp>
      <p:sp>
        <p:nvSpPr>
          <p:cNvPr id="3" name="Google Shape;441;p75">
            <a:extLst>
              <a:ext uri="{FF2B5EF4-FFF2-40B4-BE49-F238E27FC236}">
                <a16:creationId xmlns:a16="http://schemas.microsoft.com/office/drawing/2014/main" id="{ED1D1266-1131-B83B-62BC-C6FD15DE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556792"/>
            <a:ext cx="964445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To ask Android to find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to handle your request, use an implicit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Create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Intent intent = new Intent(action, uri);</a:t>
            </a:r>
            <a:endParaRPr sz="2000"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Use the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dirty="0"/>
              <a:t> to start the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startActivity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28069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779A8-7361-E23D-E3AB-1414F837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E836-4082-6F0F-1CC1-49B207D71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28</a:t>
            </a:fld>
            <a:endParaRPr lang="en"/>
          </a:p>
        </p:txBody>
      </p:sp>
      <p:sp>
        <p:nvSpPr>
          <p:cNvPr id="2" name="Google Shape;447;p76">
            <a:extLst>
              <a:ext uri="{FF2B5EF4-FFF2-40B4-BE49-F238E27FC236}">
                <a16:creationId xmlns:a16="http://schemas.microsoft.com/office/drawing/2014/main" id="{22A56BE7-BE5A-7D40-6B3B-A20CF55ADB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Implicit Intents - Examples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449;p76">
            <a:extLst>
              <a:ext uri="{FF2B5EF4-FFF2-40B4-BE49-F238E27FC236}">
                <a16:creationId xmlns:a16="http://schemas.microsoft.com/office/drawing/2014/main" id="{FAD85693-2E63-3942-5715-C1F5C8A86F70}"/>
              </a:ext>
            </a:extLst>
          </p:cNvPr>
          <p:cNvSpPr txBox="1"/>
          <p:nvPr/>
        </p:nvSpPr>
        <p:spPr>
          <a:xfrm>
            <a:off x="0" y="1650600"/>
            <a:ext cx="9705528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Show a web page</a:t>
            </a:r>
            <a:br>
              <a:rPr lang="en" sz="24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Uri uri = Uri.parse("http://www.google.com"); </a:t>
            </a:r>
            <a:br>
              <a:rPr lang="en" sz="24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Intent it = new Intent(Intent.ACTION_VIEW,uri); </a:t>
            </a:r>
            <a:br>
              <a:rPr lang="en" sz="24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Dial a phone number</a:t>
            </a:r>
            <a:br>
              <a:rPr lang="en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uri = Uri.parse("tel:8005551234"); 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it = new Intent(Intent.ACTION_DIAL, uri); 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67319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3DB7-89E3-F984-9100-E8171DB8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50C4D-08CE-B731-6AB8-421940E87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29</a:t>
            </a:fld>
            <a:endParaRPr lang="en"/>
          </a:p>
        </p:txBody>
      </p:sp>
      <p:sp>
        <p:nvSpPr>
          <p:cNvPr id="2" name="Google Shape;493;p80">
            <a:extLst>
              <a:ext uri="{FF2B5EF4-FFF2-40B4-BE49-F238E27FC236}">
                <a16:creationId xmlns:a16="http://schemas.microsoft.com/office/drawing/2014/main" id="{EB228310-C8A6-8180-F126-6894D3259C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41" y="230863"/>
            <a:ext cx="98709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Sending and retrieving data with Intents</a:t>
            </a:r>
            <a:endParaRPr dirty="0"/>
          </a:p>
        </p:txBody>
      </p:sp>
      <p:sp>
        <p:nvSpPr>
          <p:cNvPr id="3" name="Google Shape;494;p80">
            <a:extLst>
              <a:ext uri="{FF2B5EF4-FFF2-40B4-BE49-F238E27FC236}">
                <a16:creationId xmlns:a16="http://schemas.microsoft.com/office/drawing/2014/main" id="{34CCAD19-6AF4-8BD3-64E7-C2140B36AE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674" y="1484784"/>
            <a:ext cx="949665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In the first (sending)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b="1" dirty="0">
                <a:solidFill>
                  <a:schemeClr val="dk1"/>
                </a:solidFill>
              </a:rPr>
              <a:t>:</a:t>
            </a:r>
            <a:endParaRPr b="1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the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dirty="0">
                <a:solidFill>
                  <a:schemeClr val="dk1"/>
                </a:solidFill>
              </a:rPr>
              <a:t> object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Put data or extras into that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Start the new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>
                <a:solidFill>
                  <a:schemeClr val="dk1"/>
                </a:solidFill>
              </a:rPr>
              <a:t> with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In the second (receiving)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b="1" dirty="0">
                <a:solidFill>
                  <a:schemeClr val="dk1"/>
                </a:solidFill>
              </a:rPr>
              <a:t>: </a:t>
            </a:r>
            <a:endParaRPr b="1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Get the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dirty="0">
                <a:solidFill>
                  <a:schemeClr val="dk1"/>
                </a:solidFill>
              </a:rPr>
              <a:t> object, the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>
                <a:solidFill>
                  <a:schemeClr val="dk1"/>
                </a:solidFill>
              </a:rPr>
              <a:t> was started with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Retrieve the data or extras from the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dirty="0">
                <a:solidFill>
                  <a:schemeClr val="dk1"/>
                </a:solidFill>
              </a:rPr>
              <a:t> object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326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5E2D-0D4F-171E-3DFC-6EB79ECE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7E64-4789-001B-47B6-AEF8187814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30</a:t>
            </a:fld>
            <a:endParaRPr lang="en"/>
          </a:p>
        </p:txBody>
      </p:sp>
      <p:sp>
        <p:nvSpPr>
          <p:cNvPr id="2" name="Google Shape;500;p81">
            <a:extLst>
              <a:ext uri="{FF2B5EF4-FFF2-40B4-BE49-F238E27FC236}">
                <a16:creationId xmlns:a16="http://schemas.microsoft.com/office/drawing/2014/main" id="{80A1B74E-BA25-E2DC-EF9E-9FBCEDAB6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Putting a URI as intent data</a:t>
            </a:r>
            <a:endParaRPr dirty="0"/>
          </a:p>
        </p:txBody>
      </p:sp>
      <p:sp>
        <p:nvSpPr>
          <p:cNvPr id="3" name="Google Shape;501;p81">
            <a:extLst>
              <a:ext uri="{FF2B5EF4-FFF2-40B4-BE49-F238E27FC236}">
                <a16:creationId xmlns:a16="http://schemas.microsoft.com/office/drawing/2014/main" id="{DE578135-BDBD-646E-3C12-6EC36BD5B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484784"/>
            <a:ext cx="943304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web page URL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Uri.parse("http://www.google.com")); 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Sample file URI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Uri.fromFile(new File("/sdcard/sample.jpg")));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7408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6D7F-686A-1A92-AB7D-38DF7F6E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A0CBC-35FD-8EE9-0C7C-E99109A397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  <p:sp>
        <p:nvSpPr>
          <p:cNvPr id="2" name="Google Shape;507;p82">
            <a:extLst>
              <a:ext uri="{FF2B5EF4-FFF2-40B4-BE49-F238E27FC236}">
                <a16:creationId xmlns:a16="http://schemas.microsoft.com/office/drawing/2014/main" id="{6FF448F7-220A-2811-3000-AAE7FB4ED5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Put information into intent extras</a:t>
            </a:r>
            <a:endParaRPr dirty="0"/>
          </a:p>
        </p:txBody>
      </p:sp>
      <p:sp>
        <p:nvSpPr>
          <p:cNvPr id="3" name="Google Shape;508;p82">
            <a:extLst>
              <a:ext uri="{FF2B5EF4-FFF2-40B4-BE49-F238E27FC236}">
                <a16:creationId xmlns:a16="http://schemas.microsoft.com/office/drawing/2014/main" id="{C4D36BF9-55EE-359C-1596-43A03FD5B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484784"/>
            <a:ext cx="964445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putExtra(String name, int value) </a:t>
            </a:r>
            <a:br>
              <a:rPr lang="en" sz="22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⇒ intent.putExtra("level", 406);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putExtra(String name, String[] value)</a:t>
            </a:r>
            <a:br>
              <a:rPr lang="en" sz="2200" b="1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⇒ </a:t>
            </a:r>
            <a:r>
              <a:rPr lang="en" sz="2200" dirty="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String[] foodList = {"Rice", "Beans", "Fruit"};</a:t>
            </a:r>
            <a:br>
              <a:rPr lang="en" sz="2200" dirty="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200" dirty="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200" dirty="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intent.putExtra("food", foodList);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putExtras(bundle);</a:t>
            </a:r>
            <a:br>
              <a:rPr lang="en" sz="2200" b="1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/>
              <a:t>⇒ if lots of data, first create a bundle and pass the bundle.</a:t>
            </a:r>
            <a:endParaRPr sz="2200" dirty="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585858"/>
              </a:buClr>
              <a:buSzPts val="2200"/>
              <a:buChar char="●"/>
            </a:pPr>
            <a:r>
              <a:rPr lang="en" sz="2200" dirty="0"/>
              <a:t>See</a:t>
            </a:r>
            <a:r>
              <a:rPr lang="en" sz="2200" dirty="0">
                <a:solidFill>
                  <a:srgbClr val="585858"/>
                </a:solidFill>
              </a:rPr>
              <a:t> </a:t>
            </a:r>
            <a:r>
              <a:rPr lang="en" sz="2200" u="sng" dirty="0">
                <a:solidFill>
                  <a:schemeClr val="hlink"/>
                </a:solidFill>
                <a:hlinkClick r:id="rId2"/>
              </a:rPr>
              <a:t>documentation</a:t>
            </a:r>
            <a:r>
              <a:rPr lang="en" sz="2200" dirty="0">
                <a:solidFill>
                  <a:srgbClr val="585858"/>
                </a:solidFill>
              </a:rPr>
              <a:t> </a:t>
            </a:r>
            <a:r>
              <a:rPr lang="en" sz="2200" dirty="0"/>
              <a:t>for all</a:t>
            </a:r>
            <a:endParaRPr sz="2200" dirty="0">
              <a:solidFill>
                <a:srgbClr val="5858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120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6D6C-22C1-ACF9-11D7-52E35EA7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072E3-6F56-9E84-86B8-AD03A962B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32</a:t>
            </a:fld>
            <a:endParaRPr lang="en"/>
          </a:p>
        </p:txBody>
      </p:sp>
      <p:sp>
        <p:nvSpPr>
          <p:cNvPr id="2" name="Google Shape;514;p83">
            <a:extLst>
              <a:ext uri="{FF2B5EF4-FFF2-40B4-BE49-F238E27FC236}">
                <a16:creationId xmlns:a16="http://schemas.microsoft.com/office/drawing/2014/main" id="{2FCE17ED-BFE1-99D1-9452-8D2E414BE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64" y="170820"/>
            <a:ext cx="94330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Sending data to an activity with extras</a:t>
            </a:r>
            <a:endParaRPr dirty="0"/>
          </a:p>
        </p:txBody>
      </p:sp>
      <p:sp>
        <p:nvSpPr>
          <p:cNvPr id="3" name="Google Shape;515;p83">
            <a:extLst>
              <a:ext uri="{FF2B5EF4-FFF2-40B4-BE49-F238E27FC236}">
                <a16:creationId xmlns:a16="http://schemas.microsoft.com/office/drawing/2014/main" id="{5965FC6C-89C7-E2FF-CE89-791CD9DF5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059" y="1772816"/>
            <a:ext cx="974486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EXTRA_MESSAGE_KEY =</a:t>
            </a:r>
            <a:b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"com.example.android.twoactivities.extra.MESSAGE";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Intent(this, SecondActivity.class);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message = "Hello Activity!";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putExtra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(EXTRA_MESSAGE_KEY, message);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48177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F4172-CBE0-8F4B-E1CF-9C1C328B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8BC1A-E631-D3E1-66DE-CBFFA63CD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sp>
        <p:nvSpPr>
          <p:cNvPr id="2" name="Google Shape;521;p84">
            <a:extLst>
              <a:ext uri="{FF2B5EF4-FFF2-40B4-BE49-F238E27FC236}">
                <a16:creationId xmlns:a16="http://schemas.microsoft.com/office/drawing/2014/main" id="{0BAB913F-69B4-3CEF-FF80-CD0CEA84E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Get data from intents</a:t>
            </a:r>
            <a:endParaRPr dirty="0"/>
          </a:p>
        </p:txBody>
      </p:sp>
      <p:sp>
        <p:nvSpPr>
          <p:cNvPr id="3" name="Google Shape;522;p84">
            <a:extLst>
              <a:ext uri="{FF2B5EF4-FFF2-40B4-BE49-F238E27FC236}">
                <a16:creationId xmlns:a16="http://schemas.microsoft.com/office/drawing/2014/main" id="{F1C8A711-C2D3-B8E0-BBE9-8A9760330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9921" y="1720800"/>
            <a:ext cx="94929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getData(); 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⇒ Uri locationUri = intent.getData();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int getIntExtra (String name, int defaultValue)</a:t>
            </a:r>
            <a:br>
              <a:rPr lang="en" b="1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⇒ int level = intent.getIntExtra("level", 0);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 bundle =</a:t>
            </a: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 intent.getExtras(); </a:t>
            </a:r>
            <a:br>
              <a:rPr lang="en" sz="22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/>
              <a:t>⇒ Get all the data at once as a bundle.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02229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C5E7-CEB2-C8E9-295A-2A00C18D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01388-C98C-E812-11C1-F69AE7999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34</a:t>
            </a:fld>
            <a:endParaRPr lang="en"/>
          </a:p>
        </p:txBody>
      </p:sp>
      <p:sp>
        <p:nvSpPr>
          <p:cNvPr id="2" name="Google Shape;528;p85">
            <a:extLst>
              <a:ext uri="{FF2B5EF4-FFF2-40B4-BE49-F238E27FC236}">
                <a16:creationId xmlns:a16="http://schemas.microsoft.com/office/drawing/2014/main" id="{8B9DF5B2-1915-D4B0-EEAF-55A5F383F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808" y="260648"/>
            <a:ext cx="975419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Returning data to the starting activity</a:t>
            </a:r>
            <a:endParaRPr dirty="0"/>
          </a:p>
        </p:txBody>
      </p:sp>
      <p:sp>
        <p:nvSpPr>
          <p:cNvPr id="3" name="Google Shape;529;p85">
            <a:extLst>
              <a:ext uri="{FF2B5EF4-FFF2-40B4-BE49-F238E27FC236}">
                <a16:creationId xmlns:a16="http://schemas.microsoft.com/office/drawing/2014/main" id="{C8B7DC21-722E-3B07-FFBD-AA96DEF2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9" y="1628800"/>
            <a:ext cx="975419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 dirty="0"/>
              <a:t>Use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startActivityForResult(</a:t>
            </a:r>
            <a:r>
              <a:rPr lang="en" sz="2100" dirty="0"/>
              <a:t>) to start the second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 dirty="0"/>
              <a:t>To return data from the second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100" dirty="0"/>
              <a:t>:</a:t>
            </a:r>
            <a:endParaRPr sz="2100" dirty="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Create a </a:t>
            </a:r>
            <a:r>
              <a:rPr lang="en" sz="2100" b="1" i="1" dirty="0"/>
              <a:t>new</a:t>
            </a:r>
            <a:r>
              <a:rPr lang="en" sz="2100" dirty="0"/>
              <a:t>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sz="21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Put the response data in the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100" dirty="0"/>
              <a:t> using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putExtra()</a:t>
            </a:r>
            <a:endParaRPr sz="21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Set the result to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Activity.RESULT_OK</a:t>
            </a:r>
            <a:r>
              <a:rPr lang="en" sz="2100" dirty="0"/>
              <a:t>  </a:t>
            </a:r>
            <a:br>
              <a:rPr lang="en" sz="2100" dirty="0"/>
            </a:br>
            <a:r>
              <a:rPr lang="en" sz="2100" dirty="0"/>
              <a:t>or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RESULT_CANCELED</a:t>
            </a:r>
            <a:r>
              <a:rPr lang="en" sz="2100" dirty="0"/>
              <a:t>, if the user cancelled out</a:t>
            </a:r>
            <a:endParaRPr sz="2100" dirty="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dirty="0"/>
              <a:t>call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finish()</a:t>
            </a:r>
            <a:r>
              <a:rPr lang="en" sz="2100" dirty="0"/>
              <a:t> to close the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 dirty="0"/>
              <a:t>Implement 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 sz="2100" dirty="0"/>
              <a:t> in first </a:t>
            </a:r>
            <a:r>
              <a:rPr lang="en" sz="21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34444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2B80-EAF0-23D9-1C5A-5C29DB9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596B0-ACCB-05BA-A574-A1CB17FFF5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35</a:t>
            </a:fld>
            <a:endParaRPr lang="en"/>
          </a:p>
        </p:txBody>
      </p:sp>
      <p:sp>
        <p:nvSpPr>
          <p:cNvPr id="2" name="Google Shape;535;p86">
            <a:extLst>
              <a:ext uri="{FF2B5EF4-FFF2-40B4-BE49-F238E27FC236}">
                <a16:creationId xmlns:a16="http://schemas.microsoft.com/office/drawing/2014/main" id="{4D892221-D903-EB20-4FD0-06D3CBC90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startActivityForResult()</a:t>
            </a:r>
            <a:endParaRPr dirty="0"/>
          </a:p>
        </p:txBody>
      </p:sp>
      <p:sp>
        <p:nvSpPr>
          <p:cNvPr id="3" name="Google Shape;536;p86">
            <a:extLst>
              <a:ext uri="{FF2B5EF4-FFF2-40B4-BE49-F238E27FC236}">
                <a16:creationId xmlns:a16="http://schemas.microsoft.com/office/drawing/2014/main" id="{9337FD9D-761E-D317-A943-AD104AC44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72" y="1484784"/>
            <a:ext cx="9761228" cy="3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startActivityForResult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(intent, requestCode);</a:t>
            </a:r>
            <a:endParaRPr sz="23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Starts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 dirty="0"/>
              <a:t> (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 dirty="0"/>
              <a:t>), assigns it identifier (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 dirty="0"/>
              <a:t>)</a:t>
            </a:r>
            <a:endParaRPr sz="2300" dirty="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Returns data via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 dirty="0"/>
              <a:t> extras</a:t>
            </a:r>
            <a:endParaRPr sz="2300" dirty="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When done, pop stack, return to previous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 dirty="0"/>
              <a:t>, and execute o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nActivityResult()</a:t>
            </a:r>
            <a:r>
              <a:rPr lang="en" sz="2300" dirty="0"/>
              <a:t> callback to process returned data</a:t>
            </a:r>
            <a:endParaRPr sz="2300" dirty="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Use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 dirty="0"/>
              <a:t> to identify which </a:t>
            </a:r>
            <a:r>
              <a:rPr lang="en" sz="23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 dirty="0"/>
              <a:t> has "returned"</a:t>
            </a: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1704129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5088-E165-9275-D60A-C2C0A5F9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716D5-42BF-C899-183F-ABB60F2DAF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  <p:sp>
        <p:nvSpPr>
          <p:cNvPr id="2" name="Google Shape;542;p87">
            <a:extLst>
              <a:ext uri="{FF2B5EF4-FFF2-40B4-BE49-F238E27FC236}">
                <a16:creationId xmlns:a16="http://schemas.microsoft.com/office/drawing/2014/main" id="{7CEB593A-E2A7-FEEF-C680-A808D0010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 dirty="0"/>
              <a:t>startActivityForResult() Example</a:t>
            </a:r>
            <a:endParaRPr dirty="0"/>
          </a:p>
        </p:txBody>
      </p:sp>
      <p:sp>
        <p:nvSpPr>
          <p:cNvPr id="3" name="Google Shape;543;p87">
            <a:extLst>
              <a:ext uri="{FF2B5EF4-FFF2-40B4-BE49-F238E27FC236}">
                <a16:creationId xmlns:a16="http://schemas.microsoft.com/office/drawing/2014/main" id="{EE5EC1DF-79F3-20FC-51C1-89A9A90CEA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484784"/>
            <a:ext cx="1042560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int CHOOSE_FOOD_REQUEST = 1;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ChooseFoodItemsActivity.class);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startActivityForResult(intent, CHOOSE_FOOD_REQUEST);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64809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8B63-85E3-ACA4-408A-F82C39F8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4EEF8-3328-5F52-744C-C5B9DDCB09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37</a:t>
            </a:fld>
            <a:endParaRPr lang="en"/>
          </a:p>
        </p:txBody>
      </p:sp>
      <p:sp>
        <p:nvSpPr>
          <p:cNvPr id="2" name="Google Shape;549;p88">
            <a:extLst>
              <a:ext uri="{FF2B5EF4-FFF2-40B4-BE49-F238E27FC236}">
                <a16:creationId xmlns:a16="http://schemas.microsoft.com/office/drawing/2014/main" id="{99818250-5E32-7C40-F1C4-E948C52B2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170820"/>
            <a:ext cx="97729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2"/>
            </a:pPr>
            <a:r>
              <a:rPr lang="en" dirty="0"/>
              <a:t>Return data and finish second activity</a:t>
            </a:r>
            <a:endParaRPr dirty="0"/>
          </a:p>
        </p:txBody>
      </p:sp>
      <p:sp>
        <p:nvSpPr>
          <p:cNvPr id="3" name="Google Shape;550;p88">
            <a:extLst>
              <a:ext uri="{FF2B5EF4-FFF2-40B4-BE49-F238E27FC236}">
                <a16:creationId xmlns:a16="http://schemas.microsoft.com/office/drawing/2014/main" id="{CF4243CD-D17C-1497-31CD-FF205B9FA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628800"/>
            <a:ext cx="921702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Create an intent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replyIntent = new Intent()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Put the data to return into the extra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replyIntent.putExtra(EXTRA_REPLY, reply);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Set the activity's result to RESULT_OK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setResult(RESULT_OK, replyIntent);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Finish the current activity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finish();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478969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3F60-4F9D-EA61-1E22-36C2C068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BB11F-8783-7AB1-FDDB-B56BD16342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38</a:t>
            </a:fld>
            <a:endParaRPr lang="en"/>
          </a:p>
        </p:txBody>
      </p:sp>
      <p:sp>
        <p:nvSpPr>
          <p:cNvPr id="2" name="Google Shape;556;p89">
            <a:extLst>
              <a:ext uri="{FF2B5EF4-FFF2-40B4-BE49-F238E27FC236}">
                <a16:creationId xmlns:a16="http://schemas.microsoft.com/office/drawing/2014/main" id="{DD0FA526-A926-FDE3-3DDD-1512A2B1B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3"/>
            </a:pPr>
            <a:r>
              <a:rPr lang="en" dirty="0"/>
              <a:t>Implement onActivityResult()</a:t>
            </a:r>
            <a:endParaRPr dirty="0"/>
          </a:p>
        </p:txBody>
      </p:sp>
      <p:sp>
        <p:nvSpPr>
          <p:cNvPr id="3" name="Google Shape;557;p89">
            <a:extLst>
              <a:ext uri="{FF2B5EF4-FFF2-40B4-BE49-F238E27FC236}">
                <a16:creationId xmlns:a16="http://schemas.microsoft.com/office/drawing/2014/main" id="{563753E8-5830-4F89-9E7B-AFA061BD2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1" y="1556792"/>
            <a:ext cx="957244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onActivityResult(int requestCode, 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int resultCode, Intent data)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super.onActivityResult(requestCode, resultCode, data);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(requestCode == TEXT_REQUEST) { // Identify activity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(resultCode == RESULT_OK) { // Activity succeeded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String reply = data.getStringExtra(SecondActivity.EXTRA_REPLY);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// … do something with the data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}}}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287117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566B-B87C-B1B7-F357-4BD9141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7EB93-346D-FDA7-4D5B-426F906C07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39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9FBB66-3685-7780-1E2B-15F3B07FD155}"/>
              </a:ext>
            </a:extLst>
          </p:cNvPr>
          <p:cNvSpPr txBox="1"/>
          <p:nvPr/>
        </p:nvSpPr>
        <p:spPr>
          <a:xfrm>
            <a:off x="3584848" y="2636912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3366CC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883000866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362</TotalTime>
  <Words>2039</Words>
  <Application>Microsoft Office PowerPoint</Application>
  <PresentationFormat>A4 Paper (210x297 mm)</PresentationFormat>
  <Paragraphs>312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Consolas</vt:lpstr>
      <vt:lpstr>Courier New</vt:lpstr>
      <vt:lpstr>Georgia</vt:lpstr>
      <vt:lpstr>Lucida Sans</vt:lpstr>
      <vt:lpstr>Lucida Sans Unicode</vt:lpstr>
      <vt:lpstr>Roboto</vt:lpstr>
      <vt:lpstr>Bradford PPT_final_A</vt:lpstr>
      <vt:lpstr>Mobile Application Development (COS7025-B)     Designing Mobile Apps using Android  Text View, Scrolling View, Recycler View and Intents </vt:lpstr>
      <vt:lpstr>Contents</vt:lpstr>
      <vt:lpstr>TextView for text</vt:lpstr>
      <vt:lpstr>Formatting text in string resource</vt:lpstr>
      <vt:lpstr>Creating TextView in XML</vt:lpstr>
      <vt:lpstr>Common TextView attributes</vt:lpstr>
      <vt:lpstr>Formatting active web links</vt:lpstr>
      <vt:lpstr>Creating TextView in Java code</vt:lpstr>
      <vt:lpstr>What about large amounts of text?</vt:lpstr>
      <vt:lpstr>ScrollView for scrolling content</vt:lpstr>
      <vt:lpstr>ScrollView layout with one TextView</vt:lpstr>
      <vt:lpstr>ScrollView layout with a view group</vt:lpstr>
      <vt:lpstr>ScrollView with image and button</vt:lpstr>
      <vt:lpstr>What is a RecyclerView?   </vt:lpstr>
      <vt:lpstr>Overview</vt:lpstr>
      <vt:lpstr>What is a layout manager?</vt:lpstr>
      <vt:lpstr>What is an adapter?</vt:lpstr>
      <vt:lpstr>What is a ViewHolder?</vt:lpstr>
      <vt:lpstr>Implementing RecyclerView</vt:lpstr>
      <vt:lpstr>Create the view holder in adapter class</vt:lpstr>
      <vt:lpstr>View holder constructor</vt:lpstr>
      <vt:lpstr>Learn more</vt:lpstr>
      <vt:lpstr>Intents</vt:lpstr>
      <vt:lpstr>What can intents do?</vt:lpstr>
      <vt:lpstr>Explicit and implicit intents</vt:lpstr>
      <vt:lpstr>Start an Activity with an explicit intent</vt:lpstr>
      <vt:lpstr>Start an Activity with implicit intent</vt:lpstr>
      <vt:lpstr>Implicit Intents - Examples</vt:lpstr>
      <vt:lpstr>Sending and retrieving data with Intents</vt:lpstr>
      <vt:lpstr>Putting a URI as intent data</vt:lpstr>
      <vt:lpstr>Put information into intent extras</vt:lpstr>
      <vt:lpstr>Sending data to an activity with extras</vt:lpstr>
      <vt:lpstr>Get data from intents</vt:lpstr>
      <vt:lpstr>Returning data to the starting activity</vt:lpstr>
      <vt:lpstr>startActivityForResult()</vt:lpstr>
      <vt:lpstr>startActivityForResult() Example</vt:lpstr>
      <vt:lpstr>Return data and finish second activity</vt:lpstr>
      <vt:lpstr>Implement onActivityResult()</vt:lpstr>
      <vt:lpstr>PowerPoint Presentation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20</cp:revision>
  <cp:lastPrinted>2014-07-11T09:48:52Z</cp:lastPrinted>
  <dcterms:created xsi:type="dcterms:W3CDTF">2025-07-22T12:14:46Z</dcterms:created>
  <dcterms:modified xsi:type="dcterms:W3CDTF">2025-10-07T13:58:47Z</dcterms:modified>
</cp:coreProperties>
</file>