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8" r:id="rId28"/>
  </p:sldIdLst>
  <p:sldSz cx="9144000" cy="5143500" type="screen16x9"/>
  <p:notesSz cx="6858000" cy="9144000"/>
  <p:embeddedFontLst>
    <p:embeddedFont>
      <p:font typeface="Eras Medium ITC" panose="020B0602030504020804" pitchFamily="34" charset="0"/>
      <p:regular r:id="rId30"/>
    </p:embeddedFont>
    <p:embeddedFont>
      <p:font typeface="Georgia" panose="02040502050405020303" pitchFamily="18" charset="0"/>
      <p:regular r:id="rId31"/>
      <p:bold r:id="rId32"/>
      <p:italic r:id="rId33"/>
      <p:boldItalic r:id="rId34"/>
    </p:embeddedFont>
    <p:embeddedFont>
      <p:font typeface="Lucida Bright" panose="02040602050505020304" pitchFamily="18" charset="0"/>
      <p:regular r:id="rId35"/>
      <p:bold r:id="rId36"/>
      <p:italic r:id="rId37"/>
      <p:boldItalic r:id="rId38"/>
    </p:embeddedFont>
    <p:embeddedFont>
      <p:font typeface="Lucida Sans" panose="020B0602030504020204" pitchFamily="34" charset="0"/>
      <p:regular r:id="rId39"/>
      <p:bold r:id="rId40"/>
      <p:italic r:id="rId41"/>
      <p:boldItalic r:id="rId42"/>
    </p:embeddedFont>
    <p:embeddedFont>
      <p:font typeface="Lucida Sans Unicode" panose="020B0602030504020204" pitchFamily="34" charset="0"/>
      <p:regular r:id="rId43"/>
    </p:embeddedFont>
    <p:embeddedFont>
      <p:font typeface="Roboto" panose="020000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85415F9-EA2B-4801-B0C7-57C60054D0AC}" type="slidenum">
              <a:rPr lang="en-GB" smtClean="0"/>
              <a:t>1</a:t>
            </a:fld>
            <a:endParaRPr lang="en-GB"/>
          </a:p>
        </p:txBody>
      </p:sp>
    </p:spTree>
    <p:extLst>
      <p:ext uri="{BB962C8B-B14F-4D97-AF65-F5344CB8AC3E}">
        <p14:creationId xmlns:p14="http://schemas.microsoft.com/office/powerpoint/2010/main" val="4287469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85415F9-EA2B-4801-B0C7-57C60054D0AC}" type="slidenum">
              <a:rPr lang="en-GB" smtClean="0"/>
              <a:t>2</a:t>
            </a:fld>
            <a:endParaRPr lang="en-GB"/>
          </a:p>
        </p:txBody>
      </p:sp>
    </p:spTree>
    <p:extLst>
      <p:ext uri="{BB962C8B-B14F-4D97-AF65-F5344CB8AC3E}">
        <p14:creationId xmlns:p14="http://schemas.microsoft.com/office/powerpoint/2010/main" val="2272517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85415F9-EA2B-4801-B0C7-57C60054D0AC}" type="slidenum">
              <a:rPr lang="en-GB" smtClean="0"/>
              <a:t>12</a:t>
            </a:fld>
            <a:endParaRPr lang="en-GB"/>
          </a:p>
        </p:txBody>
      </p:sp>
    </p:spTree>
    <p:extLst>
      <p:ext uri="{BB962C8B-B14F-4D97-AF65-F5344CB8AC3E}">
        <p14:creationId xmlns:p14="http://schemas.microsoft.com/office/powerpoint/2010/main" val="341487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4CAF50"/>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311708" y="1006793"/>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FAFAFA"/>
              </a:buClr>
              <a:buSzPts val="5200"/>
              <a:buNone/>
              <a:defRPr sz="5200" b="1">
                <a:solidFill>
                  <a:srgbClr val="FAFAFA"/>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 name="Google Shape;16;p2"/>
          <p:cNvSpPr txBox="1">
            <a:spLocks noGrp="1"/>
          </p:cNvSpPr>
          <p:nvPr>
            <p:ph type="subTitle" idx="1"/>
          </p:nvPr>
        </p:nvSpPr>
        <p:spPr>
          <a:xfrm>
            <a:off x="311700" y="3096343"/>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FAFAFA"/>
              </a:buClr>
              <a:buSzPts val="2800"/>
              <a:buNone/>
              <a:defRPr sz="2800">
                <a:solidFill>
                  <a:srgbClr val="FAFAF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4CAF50"/>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311700" y="20746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FAFAFA"/>
              </a:buClr>
              <a:buSzPts val="3600"/>
              <a:buNone/>
              <a:defRPr sz="3600">
                <a:solidFill>
                  <a:srgbClr val="FAFAFA"/>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p3"/>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21"/>
        <p:cNvGrpSpPr/>
        <p:nvPr/>
      </p:nvGrpSpPr>
      <p:grpSpPr>
        <a:xfrm>
          <a:off x="0" y="0"/>
          <a:ext cx="0" cy="0"/>
          <a:chOff x="0" y="0"/>
          <a:chExt cx="0" cy="0"/>
        </a:xfrm>
      </p:grpSpPr>
      <p:sp>
        <p:nvSpPr>
          <p:cNvPr id="22" name="Google Shape;22;p4"/>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Clr>
                <a:srgbClr val="FAFAFA"/>
              </a:buClr>
              <a:buSzPts val="3600"/>
              <a:buNone/>
              <a:defRPr>
                <a:solidFill>
                  <a:srgbClr val="FAFAF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4"/>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lvl1pPr marL="457200" lvl="0" indent="-381000">
              <a:lnSpc>
                <a:spcPct val="115000"/>
              </a:lnSpc>
              <a:spcBef>
                <a:spcPts val="1000"/>
              </a:spcBef>
              <a:spcAft>
                <a:spcPts val="0"/>
              </a:spcAft>
              <a:buSzPts val="2400"/>
              <a:buAutoNum type="arabicPeriod"/>
              <a:defRPr/>
            </a:lvl1pPr>
            <a:lvl2pPr marL="914400" lvl="1" indent="-355600">
              <a:lnSpc>
                <a:spcPct val="115000"/>
              </a:lnSpc>
              <a:spcBef>
                <a:spcPts val="1000"/>
              </a:spcBef>
              <a:spcAft>
                <a:spcPts val="0"/>
              </a:spcAft>
              <a:buSzPts val="2000"/>
              <a:buAutoNum type="alphaLcPeriod"/>
              <a:defRPr sz="2000"/>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1600"/>
              </a:spcBef>
              <a:spcAft>
                <a:spcPts val="0"/>
              </a:spcAft>
              <a:buSzPts val="1400"/>
              <a:buAutoNum type="alphaLcPeriod"/>
              <a:defRPr/>
            </a:lvl5pPr>
            <a:lvl6pPr marL="2743200" lvl="5" indent="-317500">
              <a:spcBef>
                <a:spcPts val="1600"/>
              </a:spcBef>
              <a:spcAft>
                <a:spcPts val="0"/>
              </a:spcAft>
              <a:buSzPts val="1400"/>
              <a:buAutoNum type="romanLcPeriod"/>
              <a:defRPr/>
            </a:lvl6pPr>
            <a:lvl7pPr marL="3200400" lvl="6" indent="-317500">
              <a:spcBef>
                <a:spcPts val="1600"/>
              </a:spcBef>
              <a:spcAft>
                <a:spcPts val="0"/>
              </a:spcAft>
              <a:buSzPts val="1400"/>
              <a:buAutoNum type="arabicPeriod"/>
              <a:defRPr/>
            </a:lvl7pPr>
            <a:lvl8pPr marL="3657600" lvl="7" indent="-317500">
              <a:spcBef>
                <a:spcPts val="1600"/>
              </a:spcBef>
              <a:spcAft>
                <a:spcPts val="0"/>
              </a:spcAft>
              <a:buSzPts val="1400"/>
              <a:buAutoNum type="alphaLcPeriod"/>
              <a:defRPr/>
            </a:lvl8pPr>
            <a:lvl9pPr marL="4114800" lvl="8" indent="-317500">
              <a:spcBef>
                <a:spcPts val="1600"/>
              </a:spcBef>
              <a:spcAft>
                <a:spcPts val="1600"/>
              </a:spcAft>
              <a:buSzPts val="1400"/>
              <a:buAutoNum type="romanLcPeriod"/>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txBox="1">
            <a:spLocks noGrp="1"/>
          </p:cNvSpPr>
          <p:nvPr>
            <p:ph type="body" idx="1"/>
          </p:nvPr>
        </p:nvSpPr>
        <p:spPr>
          <a:xfrm>
            <a:off x="213226" y="471425"/>
            <a:ext cx="3999900" cy="34164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SzPts val="2400"/>
              <a:buChar char="●"/>
              <a:defRPr/>
            </a:lvl1pPr>
            <a:lvl2pPr marL="914400" lvl="1" indent="-342900">
              <a:spcBef>
                <a:spcPts val="0"/>
              </a:spcBef>
              <a:spcAft>
                <a:spcPts val="0"/>
              </a:spcAft>
              <a:buSzPts val="1800"/>
              <a:buChar char="○"/>
              <a:defRPr/>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190295"/>
            <a:ext cx="3999900" cy="34164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SzPts val="2400"/>
              <a:buChar char="●"/>
              <a:defRPr/>
            </a:lvl1pPr>
            <a:lvl2pPr marL="914400" lvl="1" indent="-342900">
              <a:spcBef>
                <a:spcPts val="0"/>
              </a:spcBef>
              <a:spcAft>
                <a:spcPts val="0"/>
              </a:spcAft>
              <a:buSzPts val="1800"/>
              <a:buChar char="○"/>
              <a:defRPr/>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5"/>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34229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4" name="Google Shape;34;p6"/>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8" name="Google Shape;38;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9" name="Google Shape;39;p7"/>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2" name="Google Shape;42;p8"/>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p:nvPr/>
        </p:nvSpPr>
        <p:spPr>
          <a:xfrm>
            <a:off x="4572000" y="-125"/>
            <a:ext cx="4572000" cy="4660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6" name="Google Shape;46;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81000">
              <a:spcBef>
                <a:spcPts val="0"/>
              </a:spcBef>
              <a:spcAft>
                <a:spcPts val="0"/>
              </a:spcAft>
              <a:buSzPts val="2400"/>
              <a:buChar char="●"/>
              <a:defRPr/>
            </a:lvl1pPr>
            <a:lvl2pPr marL="914400" lvl="1" indent="-342900">
              <a:spcBef>
                <a:spcPts val="0"/>
              </a:spcBef>
              <a:spcAft>
                <a:spcPts val="0"/>
              </a:spcAft>
              <a:buSzPts val="18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1700" y="3918598"/>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None/>
              <a:defRPr/>
            </a:lvl1pPr>
          </a:lstStyle>
          <a:p>
            <a:endParaRPr/>
          </a:p>
        </p:txBody>
      </p:sp>
      <p:sp>
        <p:nvSpPr>
          <p:cNvPr id="51" name="Google Shape;51;p10"/>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 name="Google Shape;5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81000" algn="ctr">
              <a:spcBef>
                <a:spcPts val="0"/>
              </a:spcBef>
              <a:spcAft>
                <a:spcPts val="0"/>
              </a:spcAft>
              <a:buSzPts val="2400"/>
              <a:buChar char="●"/>
              <a:defRPr/>
            </a:lvl1pPr>
            <a:lvl2pPr marL="914400" lvl="1" indent="-342900" algn="ctr">
              <a:spcBef>
                <a:spcPts val="0"/>
              </a:spcBef>
              <a:spcAft>
                <a:spcPts val="0"/>
              </a:spcAft>
              <a:buSzPts val="18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8"/>
        <p:cNvGrpSpPr/>
        <p:nvPr/>
      </p:nvGrpSpPr>
      <p:grpSpPr>
        <a:xfrm>
          <a:off x="0" y="0"/>
          <a:ext cx="0" cy="0"/>
          <a:chOff x="0" y="0"/>
          <a:chExt cx="0" cy="0"/>
        </a:xfrm>
      </p:grpSpPr>
      <p:sp>
        <p:nvSpPr>
          <p:cNvPr id="69" name="Google Shape;69;p13"/>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7" name="Google Shape;7;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CAF50"/>
              </a:buClr>
              <a:buSzPts val="3600"/>
              <a:buFont typeface="Roboto"/>
              <a:buNone/>
              <a:defRPr sz="3600" b="1">
                <a:solidFill>
                  <a:srgbClr val="4CAF50"/>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8" name="Google Shape;8;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a:lnSpc>
                <a:spcPct val="150000"/>
              </a:lnSpc>
              <a:spcBef>
                <a:spcPts val="0"/>
              </a:spcBef>
              <a:spcAft>
                <a:spcPts val="0"/>
              </a:spcAft>
              <a:buSzPts val="2400"/>
              <a:buFont typeface="Roboto"/>
              <a:buChar char="●"/>
              <a:defRPr sz="2400">
                <a:latin typeface="Roboto"/>
                <a:ea typeface="Roboto"/>
                <a:cs typeface="Roboto"/>
                <a:sym typeface="Roboto"/>
              </a:defRPr>
            </a:lvl1pPr>
            <a:lvl2pPr marL="914400" lvl="1" indent="-342900">
              <a:lnSpc>
                <a:spcPct val="150000"/>
              </a:lnSpc>
              <a:spcBef>
                <a:spcPts val="0"/>
              </a:spcBef>
              <a:spcAft>
                <a:spcPts val="0"/>
              </a:spcAft>
              <a:buSzPts val="1800"/>
              <a:buFont typeface="Roboto"/>
              <a:buChar char="○"/>
              <a:defRPr sz="1800">
                <a:latin typeface="Roboto"/>
                <a:ea typeface="Roboto"/>
                <a:cs typeface="Roboto"/>
                <a:sym typeface="Roboto"/>
              </a:defRPr>
            </a:lvl2pPr>
            <a:lvl3pPr marL="1371600" lvl="2" indent="-317500">
              <a:lnSpc>
                <a:spcPct val="150000"/>
              </a:lnSpc>
              <a:spcBef>
                <a:spcPts val="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10" name="Google Shape;10;p1"/>
          <p:cNvSpPr txBox="1"/>
          <p:nvPr/>
        </p:nvSpPr>
        <p:spPr>
          <a:xfrm>
            <a:off x="9303675" y="2108450"/>
            <a:ext cx="5446200" cy="6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62" r:id="rId5"/>
    <p:sldLayoutId id="2147483652" r:id="rId6"/>
    <p:sldLayoutId id="2147483653" r:id="rId7"/>
    <p:sldLayoutId id="2147483654" r:id="rId8"/>
    <p:sldLayoutId id="2147483655" r:id="rId9"/>
    <p:sldLayoutId id="2147483656" r:id="rId10"/>
    <p:sldLayoutId id="2147483657"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mailto:asadik@bradford.ac.uk"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www.bradford.ac.uk/staff/asadi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video" Target="\Users\dthakker\Desktop\First%20two%20lectures%20-%20final\demo2.mp4"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6.xml"/><Relationship Id="rId1" Type="http://schemas.openxmlformats.org/officeDocument/2006/relationships/video" Target="\thump2.scim.brad.ac.uk\dthakker\Final%20Lectures%20and%20Labs\Demos\eye-tracking.mp4"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6.xml"/><Relationship Id="rId4" Type="http://schemas.openxmlformats.org/officeDocument/2006/relationships/image" Target="../media/image14.jpg"/></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6.xml"/><Relationship Id="rId4" Type="http://schemas.openxmlformats.org/officeDocument/2006/relationships/image" Target="../media/image27.jp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1277634" y="897564"/>
            <a:ext cx="6588732" cy="485775"/>
          </a:xfrm>
        </p:spPr>
        <p:txBody>
          <a:bodyPr anchor="ctr"/>
          <a:lstStyle/>
          <a:p>
            <a:r>
              <a:rPr lang="en-GB" altLang="en-US" sz="2700" dirty="0">
                <a:solidFill>
                  <a:schemeClr val="bg1"/>
                </a:solidFill>
                <a:latin typeface="Georgia" panose="02040502050405020303" pitchFamily="18" charset="0"/>
              </a:rPr>
              <a:t>Mobile Application Development (COS7025-B)</a:t>
            </a:r>
            <a:br>
              <a:rPr lang="en-GB" altLang="en-US" sz="2700" dirty="0">
                <a:solidFill>
                  <a:srgbClr val="003399"/>
                </a:solidFill>
                <a:latin typeface="Georgia" panose="02040502050405020303" pitchFamily="18" charset="0"/>
              </a:rPr>
            </a:br>
            <a:r>
              <a:rPr lang="en-GB" altLang="en-US" sz="2700" dirty="0">
                <a:solidFill>
                  <a:schemeClr val="bg1"/>
                </a:solidFill>
                <a:latin typeface="Georgia" panose="02040502050405020303" pitchFamily="18" charset="0"/>
              </a:rPr>
              <a:t>  </a:t>
            </a:r>
            <a:br>
              <a:rPr lang="en-GB" altLang="en-US" sz="2700" dirty="0">
                <a:solidFill>
                  <a:schemeClr val="bg1"/>
                </a:solidFill>
                <a:latin typeface="Georgia" panose="02040502050405020303" pitchFamily="18" charset="0"/>
              </a:rPr>
            </a:br>
            <a:r>
              <a:rPr lang="en-GB" altLang="en-US" sz="2700" dirty="0">
                <a:solidFill>
                  <a:schemeClr val="bg1"/>
                </a:solidFill>
                <a:latin typeface="Georgia" panose="02040502050405020303" pitchFamily="18" charset="0"/>
              </a:rPr>
              <a:t>Introduction</a:t>
            </a:r>
            <a:endParaRPr lang="es-ES" altLang="en-US" sz="2700" dirty="0">
              <a:solidFill>
                <a:schemeClr val="bg1"/>
              </a:solidFill>
              <a:latin typeface="Georgia" panose="02040502050405020303" pitchFamily="18" charset="0"/>
            </a:endParaRPr>
          </a:p>
        </p:txBody>
      </p:sp>
      <p:sp>
        <p:nvSpPr>
          <p:cNvPr id="2216" name="Rectangle 168"/>
          <p:cNvSpPr>
            <a:spLocks noChangeArrowheads="1"/>
          </p:cNvSpPr>
          <p:nvPr/>
        </p:nvSpPr>
        <p:spPr bwMode="auto">
          <a:xfrm>
            <a:off x="2708793" y="2621739"/>
            <a:ext cx="3726414"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000" b="1" dirty="0">
                <a:solidFill>
                  <a:schemeClr val="tx1"/>
                </a:solidFill>
              </a:rPr>
              <a:t>Karim </a:t>
            </a:r>
            <a:r>
              <a:rPr lang="es-UY" altLang="en-US" sz="2000" b="1" dirty="0" err="1">
                <a:solidFill>
                  <a:schemeClr val="tx1"/>
                </a:solidFill>
              </a:rPr>
              <a:t>Hammoud</a:t>
            </a:r>
            <a:r>
              <a:rPr lang="es-UY" altLang="en-US" sz="2000" b="1" dirty="0">
                <a:solidFill>
                  <a:schemeClr val="tx1"/>
                </a:solidFill>
              </a:rPr>
              <a:t> </a:t>
            </a:r>
            <a:r>
              <a:rPr lang="es-UY" altLang="en-US" sz="2000" b="1" dirty="0" err="1">
                <a:solidFill>
                  <a:schemeClr val="tx1"/>
                </a:solidFill>
              </a:rPr>
              <a:t>Sadik</a:t>
            </a:r>
            <a:endParaRPr lang="es-UY" altLang="en-US" sz="2000" b="1" dirty="0">
              <a:solidFill>
                <a:schemeClr val="tx1"/>
              </a:solidFill>
            </a:endParaRPr>
          </a:p>
          <a:p>
            <a:endParaRPr lang="es-UY" altLang="en-US" sz="1500" b="1" dirty="0">
              <a:solidFill>
                <a:schemeClr val="tx1"/>
              </a:solidFill>
            </a:endParaRPr>
          </a:p>
          <a:p>
            <a:r>
              <a:rPr lang="es-UY" altLang="en-US" sz="1800" b="1" dirty="0" err="1">
                <a:solidFill>
                  <a:schemeClr val="tx1"/>
                </a:solidFill>
              </a:rPr>
              <a:t>Lecture</a:t>
            </a:r>
            <a:r>
              <a:rPr lang="es-UY" altLang="en-US" sz="1800" b="1" dirty="0">
                <a:solidFill>
                  <a:schemeClr val="tx1"/>
                </a:solidFill>
              </a:rPr>
              <a:t> #1</a:t>
            </a:r>
            <a:endParaRPr lang="es-ES" altLang="en-US" sz="1800" b="1" dirty="0">
              <a:solidFill>
                <a:schemeClr val="tx1"/>
              </a:solidFill>
            </a:endParaRPr>
          </a:p>
        </p:txBody>
      </p:sp>
      <p:sp>
        <p:nvSpPr>
          <p:cNvPr id="6" name="TextBox 5"/>
          <p:cNvSpPr txBox="1"/>
          <p:nvPr/>
        </p:nvSpPr>
        <p:spPr>
          <a:xfrm>
            <a:off x="3275856" y="4909808"/>
            <a:ext cx="4590510" cy="219291"/>
          </a:xfrm>
          <a:prstGeom prst="rect">
            <a:avLst/>
          </a:prstGeom>
          <a:noFill/>
        </p:spPr>
        <p:txBody>
          <a:bodyPr wrap="square" rtlCol="0">
            <a:spAutoFit/>
          </a:bodyPr>
          <a:lstStyle/>
          <a:p>
            <a:pPr algn="r"/>
            <a:r>
              <a:rPr lang="en-GB" sz="825" dirty="0">
                <a:solidFill>
                  <a:schemeClr val="bg1"/>
                </a:solidFill>
                <a:latin typeface="Eras Medium ITC" panose="020B0602030504020804" pitchFamily="34" charset="0"/>
              </a:rPr>
              <a:t>School Of Computer Science, and Engineering</a:t>
            </a:r>
          </a:p>
        </p:txBody>
      </p:sp>
      <p:pic>
        <p:nvPicPr>
          <p:cNvPr id="9" name="object 3"/>
          <p:cNvPicPr/>
          <p:nvPr/>
        </p:nvPicPr>
        <p:blipFill>
          <a:blip r:embed="rId3" cstate="print"/>
          <a:stretch>
            <a:fillRect/>
          </a:stretch>
        </p:blipFill>
        <p:spPr>
          <a:xfrm>
            <a:off x="270768" y="3107514"/>
            <a:ext cx="918102" cy="1512485"/>
          </a:xfrm>
          <a:prstGeom prst="rect">
            <a:avLst/>
          </a:prstGeom>
        </p:spPr>
      </p:pic>
      <p:pic>
        <p:nvPicPr>
          <p:cNvPr id="10" name="object 5"/>
          <p:cNvPicPr/>
          <p:nvPr/>
        </p:nvPicPr>
        <p:blipFill>
          <a:blip r:embed="rId4" cstate="print"/>
          <a:stretch>
            <a:fillRect/>
          </a:stretch>
        </p:blipFill>
        <p:spPr>
          <a:xfrm>
            <a:off x="7287704" y="3339564"/>
            <a:ext cx="1025441" cy="1010904"/>
          </a:xfrm>
          <a:prstGeom prst="rect">
            <a:avLst/>
          </a:prstGeom>
        </p:spPr>
      </p:pic>
      <p:sp>
        <p:nvSpPr>
          <p:cNvPr id="11" name="object 2"/>
          <p:cNvSpPr txBox="1">
            <a:spLocks/>
          </p:cNvSpPr>
          <p:nvPr/>
        </p:nvSpPr>
        <p:spPr bwMode="auto">
          <a:xfrm>
            <a:off x="6678233" y="4446271"/>
            <a:ext cx="1218942" cy="194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5" rIns="0" bIns="0" numCol="1" rtlCol="0" anchor="b" anchorCtr="0" compatLnSpc="1">
            <a:prstTxWarp prst="textNoShape">
              <a:avLst/>
            </a:prstTxWarp>
            <a:spAutoFit/>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marL="9525">
              <a:spcBef>
                <a:spcPts val="75"/>
              </a:spcBef>
            </a:pPr>
            <a:r>
              <a:rPr lang="en-GB" sz="1200" b="1" dirty="0">
                <a:solidFill>
                  <a:srgbClr val="7030A0"/>
                </a:solidFill>
              </a:rPr>
              <a:t>Android</a:t>
            </a:r>
            <a:r>
              <a:rPr lang="en-GB" sz="1200" b="1" spc="-116" dirty="0">
                <a:solidFill>
                  <a:srgbClr val="7030A0"/>
                </a:solidFill>
              </a:rPr>
              <a:t> </a:t>
            </a:r>
            <a:r>
              <a:rPr lang="en-GB" sz="1200" b="1" dirty="0">
                <a:solidFill>
                  <a:srgbClr val="7030A0"/>
                </a:solidFill>
              </a:rPr>
              <a:t>Studio</a:t>
            </a:r>
            <a:endParaRPr lang="en-GB" sz="1200" b="1" spc="-75" dirty="0">
              <a:solidFill>
                <a:srgbClr val="7030A0"/>
              </a:solidFill>
            </a:endParaRPr>
          </a:p>
        </p:txBody>
      </p:sp>
      <p:pic>
        <p:nvPicPr>
          <p:cNvPr id="7" name="Picture 6"/>
          <p:cNvPicPr>
            <a:picLocks noChangeAspect="1"/>
          </p:cNvPicPr>
          <p:nvPr/>
        </p:nvPicPr>
        <p:blipFill>
          <a:blip r:embed="rId5"/>
          <a:stretch>
            <a:fillRect/>
          </a:stretch>
        </p:blipFill>
        <p:spPr>
          <a:xfrm rot="1901369">
            <a:off x="4134340" y="3487148"/>
            <a:ext cx="648073" cy="1207852"/>
          </a:xfrm>
          <a:prstGeom prst="rect">
            <a:avLst/>
          </a:prstGeom>
        </p:spPr>
      </p:pic>
    </p:spTree>
    <p:extLst>
      <p:ext uri="{BB962C8B-B14F-4D97-AF65-F5344CB8AC3E}">
        <p14:creationId xmlns:p14="http://schemas.microsoft.com/office/powerpoint/2010/main" val="2464445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pPr algn="l"/>
            <a:r>
              <a:rPr lang="en-GB" sz="2700" dirty="0">
                <a:solidFill>
                  <a:schemeClr val="bg1"/>
                </a:solidFill>
                <a:latin typeface="Georgia" panose="02040502050405020303" pitchFamily="18" charset="0"/>
                <a:cs typeface="Arial" panose="020B0604020202020204" pitchFamily="34" charset="0"/>
              </a:rPr>
              <a:t>Teaching Staff!</a:t>
            </a:r>
            <a:endParaRPr lang="en-GB" altLang="en-US" sz="2700" dirty="0">
              <a:solidFill>
                <a:schemeClr val="bg1"/>
              </a:solidFill>
              <a:latin typeface="Georgia" panose="02040502050405020303" pitchFamily="18" charset="0"/>
            </a:endParaRPr>
          </a:p>
        </p:txBody>
      </p:sp>
      <p:sp>
        <p:nvSpPr>
          <p:cNvPr id="139267" name="Rectangle 3"/>
          <p:cNvSpPr>
            <a:spLocks noGrp="1" noChangeArrowheads="1"/>
          </p:cNvSpPr>
          <p:nvPr>
            <p:ph idx="4294967295"/>
          </p:nvPr>
        </p:nvSpPr>
        <p:spPr>
          <a:xfrm>
            <a:off x="0" y="843106"/>
            <a:ext cx="6172200" cy="3395662"/>
          </a:xfrm>
        </p:spPr>
        <p:txBody>
          <a:bodyPr/>
          <a:lstStyle/>
          <a:p>
            <a:pPr marL="34528" indent="0">
              <a:buNone/>
            </a:pPr>
            <a:r>
              <a:rPr lang="en-GB" dirty="0">
                <a:cs typeface="Arial" panose="020B0604020202020204" pitchFamily="34" charset="0"/>
              </a:rPr>
              <a:t>Module Leader</a:t>
            </a:r>
            <a:endParaRPr lang="en-GB" dirty="0"/>
          </a:p>
          <a:p>
            <a:pPr lvl="1"/>
            <a:endParaRPr lang="en-GB" dirty="0">
              <a:latin typeface="Eras Medium ITC" panose="020B0602030504020804" pitchFamily="34" charset="0"/>
            </a:endParaRPr>
          </a:p>
          <a:p>
            <a:pPr lvl="1"/>
            <a:r>
              <a:rPr lang="en-GB" dirty="0">
                <a:latin typeface="Eras Medium ITC" panose="020B0602030504020804" pitchFamily="34" charset="0"/>
              </a:rPr>
              <a:t>Mr. Karim </a:t>
            </a:r>
            <a:r>
              <a:rPr lang="en-GB" dirty="0" err="1">
                <a:latin typeface="Eras Medium ITC" panose="020B0602030504020804" pitchFamily="34" charset="0"/>
              </a:rPr>
              <a:t>Hammoud</a:t>
            </a:r>
            <a:r>
              <a:rPr lang="en-GB" dirty="0">
                <a:latin typeface="Eras Medium ITC" panose="020B0602030504020804" pitchFamily="34" charset="0"/>
              </a:rPr>
              <a:t> </a:t>
            </a:r>
            <a:r>
              <a:rPr lang="en-GB" dirty="0" err="1">
                <a:latin typeface="Eras Medium ITC" panose="020B0602030504020804" pitchFamily="34" charset="0"/>
              </a:rPr>
              <a:t>Sadik</a:t>
            </a:r>
            <a:endParaRPr lang="en-GB" dirty="0">
              <a:latin typeface="Eras Medium ITC" panose="020B0602030504020804" pitchFamily="34" charset="0"/>
            </a:endParaRPr>
          </a:p>
          <a:p>
            <a:pPr lvl="1"/>
            <a:r>
              <a:rPr lang="en-GB" dirty="0">
                <a:latin typeface="Eras Medium ITC" panose="020B0602030504020804" pitchFamily="34" charset="0"/>
                <a:cs typeface="Arial" panose="020B0604020202020204" pitchFamily="34" charset="0"/>
              </a:rPr>
              <a:t>Email: </a:t>
            </a:r>
            <a:r>
              <a:rPr lang="en-GB" dirty="0">
                <a:latin typeface="Eras Medium ITC" panose="020B0602030504020804" pitchFamily="34" charset="0"/>
                <a:hlinkClick r:id="rId3"/>
              </a:rPr>
              <a:t>asadik@bradford.ac.uk</a:t>
            </a:r>
            <a:endParaRPr lang="en-GB" dirty="0">
              <a:latin typeface="Eras Medium ITC" panose="020B0602030504020804" pitchFamily="34" charset="0"/>
            </a:endParaRPr>
          </a:p>
          <a:p>
            <a:pPr lvl="1"/>
            <a:r>
              <a:rPr lang="en-GB" dirty="0">
                <a:latin typeface="Eras Medium ITC" panose="020B0602030504020804" pitchFamily="34" charset="0"/>
                <a:cs typeface="Arial" panose="020B0604020202020204" pitchFamily="34" charset="0"/>
              </a:rPr>
              <a:t>Office  D4.09 Horton</a:t>
            </a:r>
          </a:p>
          <a:p>
            <a:pPr lvl="1"/>
            <a:r>
              <a:rPr lang="en-GB" dirty="0">
                <a:latin typeface="Eras Medium ITC" panose="020B0602030504020804" pitchFamily="34" charset="0"/>
                <a:cs typeface="Arial" panose="020B0604020202020204" pitchFamily="34" charset="0"/>
              </a:rPr>
              <a:t>Research/Teaching Interests:  </a:t>
            </a:r>
          </a:p>
          <a:p>
            <a:pPr lvl="1"/>
            <a:r>
              <a:rPr lang="en-GB" dirty="0">
                <a:latin typeface="Eras Medium ITC" panose="020B0602030504020804" pitchFamily="34" charset="0"/>
                <a:cs typeface="Arial" panose="020B0604020202020204" pitchFamily="34" charset="0"/>
              </a:rPr>
              <a:t>Web link: </a:t>
            </a:r>
            <a:r>
              <a:rPr lang="en-GB" dirty="0">
                <a:latin typeface="Eras Medium ITC" panose="020B0602030504020804" pitchFamily="34" charset="0"/>
                <a:hlinkClick r:id="rId4"/>
              </a:rPr>
              <a:t>https://www.bradford.ac.uk/staff/asadik</a:t>
            </a:r>
            <a:endParaRPr lang="en-GB" dirty="0">
              <a:latin typeface="Eras Medium ITC" panose="020B0602030504020804" pitchFamily="34" charset="0"/>
            </a:endParaRPr>
          </a:p>
          <a:p>
            <a:pPr lvl="1"/>
            <a:r>
              <a:rPr lang="en-GB" dirty="0">
                <a:latin typeface="Eras Medium ITC" panose="020B0602030504020804" pitchFamily="34" charset="0"/>
                <a:cs typeface="Arial" panose="020B0604020202020204" pitchFamily="34" charset="0"/>
              </a:rPr>
              <a:t>Availability: By appointment only </a:t>
            </a:r>
          </a:p>
        </p:txBody>
      </p:sp>
    </p:spTree>
    <p:extLst>
      <p:ext uri="{BB962C8B-B14F-4D97-AF65-F5344CB8AC3E}">
        <p14:creationId xmlns:p14="http://schemas.microsoft.com/office/powerpoint/2010/main" val="200853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lgn="l"/>
            <a:r>
              <a:rPr lang="en-GB" altLang="en-US" sz="2700" dirty="0">
                <a:solidFill>
                  <a:schemeClr val="bg1"/>
                </a:solidFill>
                <a:latin typeface="Georgia" panose="02040502050405020303" pitchFamily="18" charset="0"/>
              </a:rPr>
              <a:t>Learning Activities</a:t>
            </a:r>
            <a:endParaRPr lang="en-US" altLang="en-US" sz="2700" dirty="0">
              <a:solidFill>
                <a:schemeClr val="bg1"/>
              </a:solidFill>
              <a:latin typeface="Georgia" panose="02040502050405020303" pitchFamily="18" charset="0"/>
            </a:endParaRPr>
          </a:p>
        </p:txBody>
      </p:sp>
      <p:sp>
        <p:nvSpPr>
          <p:cNvPr id="139267" name="Rectangle 3"/>
          <p:cNvSpPr>
            <a:spLocks noGrp="1" noChangeArrowheads="1"/>
          </p:cNvSpPr>
          <p:nvPr>
            <p:ph idx="4294967295"/>
          </p:nvPr>
        </p:nvSpPr>
        <p:spPr>
          <a:xfrm>
            <a:off x="82192" y="1289960"/>
            <a:ext cx="7233007" cy="3395662"/>
          </a:xfrm>
        </p:spPr>
        <p:txBody>
          <a:bodyPr/>
          <a:lstStyle/>
          <a:p>
            <a:pPr>
              <a:lnSpc>
                <a:spcPct val="80000"/>
              </a:lnSpc>
              <a:buFont typeface="Arial" charset="0"/>
              <a:buChar char="•"/>
              <a:defRPr/>
            </a:pPr>
            <a:r>
              <a:rPr lang="en-GB" altLang="en-US" sz="2100" b="1" dirty="0">
                <a:solidFill>
                  <a:srgbClr val="7030A0"/>
                </a:solidFill>
                <a:latin typeface="Lucida Sans Unicode" charset="0"/>
                <a:ea typeface="MS PGothic" charset="-128"/>
                <a:cs typeface="Lucida Sans Unicode" charset="0"/>
              </a:rPr>
              <a:t>Two sessions each week</a:t>
            </a:r>
          </a:p>
          <a:p>
            <a:pPr lvl="1">
              <a:lnSpc>
                <a:spcPct val="80000"/>
              </a:lnSpc>
              <a:buFont typeface="Arial" charset="0"/>
              <a:buChar char="–"/>
              <a:defRPr/>
            </a:pPr>
            <a:endParaRPr lang="en-GB" altLang="en-US" dirty="0">
              <a:latin typeface="Lucida Sans Unicode" charset="0"/>
              <a:ea typeface="MS PGothic" charset="-128"/>
              <a:cs typeface="Lucida Sans Unicode" charset="0"/>
            </a:endParaRPr>
          </a:p>
          <a:p>
            <a:pPr lvl="1">
              <a:lnSpc>
                <a:spcPct val="80000"/>
              </a:lnSpc>
              <a:spcBef>
                <a:spcPts val="600"/>
              </a:spcBef>
              <a:buFont typeface="Arial" charset="0"/>
              <a:buChar char="–"/>
              <a:defRPr/>
            </a:pPr>
            <a:r>
              <a:rPr lang="en-GB" altLang="en-US" dirty="0">
                <a:latin typeface="Lucida Sans Unicode" charset="0"/>
                <a:ea typeface="MS PGothic" charset="-128"/>
                <a:cs typeface="Lucida Sans Unicode" charset="0"/>
              </a:rPr>
              <a:t>Every Monday 11-12 Am      (Lectures)</a:t>
            </a:r>
          </a:p>
          <a:p>
            <a:pPr lvl="1">
              <a:lnSpc>
                <a:spcPct val="80000"/>
              </a:lnSpc>
              <a:spcBef>
                <a:spcPts val="600"/>
              </a:spcBef>
              <a:buFont typeface="Arial" charset="0"/>
              <a:buChar char="–"/>
              <a:defRPr/>
            </a:pPr>
            <a:r>
              <a:rPr lang="en-GB" altLang="en-US" dirty="0">
                <a:latin typeface="Lucida Sans Unicode" charset="0"/>
                <a:ea typeface="MS PGothic" charset="-128"/>
                <a:cs typeface="Lucida Sans Unicode" charset="0"/>
              </a:rPr>
              <a:t>Every Tuesday 12-14  pm    (Labs)</a:t>
            </a:r>
          </a:p>
          <a:p>
            <a:pPr marL="342900" lvl="1" indent="0">
              <a:lnSpc>
                <a:spcPct val="80000"/>
              </a:lnSpc>
              <a:buNone/>
              <a:defRPr/>
            </a:pPr>
            <a:endParaRPr lang="en-GB" altLang="en-US" b="1" dirty="0">
              <a:latin typeface="Lucida Sans Unicode" charset="0"/>
              <a:ea typeface="MS PGothic" charset="-128"/>
              <a:cs typeface="Lucida Sans Unicode" charset="0"/>
            </a:endParaRPr>
          </a:p>
          <a:p>
            <a:pPr>
              <a:lnSpc>
                <a:spcPct val="80000"/>
              </a:lnSpc>
              <a:buFont typeface="Arial" charset="0"/>
              <a:buChar char="•"/>
              <a:defRPr/>
            </a:pPr>
            <a:r>
              <a:rPr lang="en-GB" altLang="en-US" sz="2100" b="1" dirty="0">
                <a:solidFill>
                  <a:srgbClr val="7030A0"/>
                </a:solidFill>
                <a:latin typeface="Lucida Sans Unicode" charset="0"/>
                <a:ea typeface="MS PGothic" charset="-128"/>
                <a:cs typeface="Lucida Sans Unicode" charset="0"/>
              </a:rPr>
              <a:t>Coursework</a:t>
            </a:r>
          </a:p>
          <a:p>
            <a:pPr lvl="1">
              <a:lnSpc>
                <a:spcPct val="80000"/>
              </a:lnSpc>
              <a:buFont typeface="Arial" charset="0"/>
              <a:buChar char="–"/>
              <a:defRPr/>
            </a:pPr>
            <a:endParaRPr lang="en-GB" altLang="en-US" dirty="0">
              <a:latin typeface="Lucida Sans Unicode" charset="0"/>
              <a:ea typeface="MS PGothic" charset="-128"/>
              <a:cs typeface="Lucida Sans Unicode" charset="0"/>
            </a:endParaRPr>
          </a:p>
          <a:p>
            <a:pPr lvl="1">
              <a:lnSpc>
                <a:spcPct val="80000"/>
              </a:lnSpc>
              <a:buFont typeface="Arial" charset="0"/>
              <a:buChar char="–"/>
              <a:defRPr/>
            </a:pPr>
            <a:r>
              <a:rPr lang="en-GB" altLang="en-US" dirty="0">
                <a:latin typeface="Lucida Sans Unicode" charset="0"/>
                <a:ea typeface="MS PGothic" charset="-128"/>
                <a:cs typeface="Lucida Sans Unicode" charset="0"/>
              </a:rPr>
              <a:t>Testing practical aspects</a:t>
            </a:r>
          </a:p>
          <a:p>
            <a:pPr>
              <a:lnSpc>
                <a:spcPct val="80000"/>
              </a:lnSpc>
              <a:buFont typeface="Arial" charset="0"/>
              <a:buChar char="•"/>
              <a:defRPr/>
            </a:pPr>
            <a:endParaRPr lang="en-GB" altLang="en-US" dirty="0">
              <a:latin typeface="Lucida Sans Unicode" charset="0"/>
              <a:ea typeface="MS PGothic" charset="-128"/>
              <a:cs typeface="Lucida Sans Unicode" charset="0"/>
            </a:endParaRPr>
          </a:p>
          <a:p>
            <a:pPr>
              <a:lnSpc>
                <a:spcPct val="80000"/>
              </a:lnSpc>
              <a:buFont typeface="Arial" charset="0"/>
              <a:buChar char="•"/>
              <a:defRPr/>
            </a:pPr>
            <a:r>
              <a:rPr lang="en-GB" altLang="en-US" sz="2100" b="1" dirty="0">
                <a:solidFill>
                  <a:srgbClr val="7030A0"/>
                </a:solidFill>
                <a:latin typeface="Lucida Sans Unicode" charset="0"/>
                <a:ea typeface="MS PGothic" charset="-128"/>
                <a:cs typeface="Lucida Sans Unicode" charset="0"/>
              </a:rPr>
              <a:t>VLE/Canvas</a:t>
            </a:r>
          </a:p>
          <a:p>
            <a:pPr lvl="1">
              <a:lnSpc>
                <a:spcPct val="80000"/>
              </a:lnSpc>
              <a:buFont typeface="Arial" charset="0"/>
              <a:buChar char="–"/>
              <a:defRPr/>
            </a:pPr>
            <a:endParaRPr lang="en-GB" altLang="en-US" dirty="0">
              <a:latin typeface="Lucida Sans Unicode" charset="0"/>
              <a:ea typeface="MS PGothic" charset="-128"/>
              <a:cs typeface="Lucida Sans Unicode" charset="0"/>
            </a:endParaRPr>
          </a:p>
          <a:p>
            <a:pPr lvl="1">
              <a:lnSpc>
                <a:spcPct val="80000"/>
              </a:lnSpc>
              <a:spcBef>
                <a:spcPts val="600"/>
              </a:spcBef>
              <a:buFont typeface="Arial" charset="0"/>
              <a:buChar char="–"/>
              <a:defRPr/>
            </a:pPr>
            <a:r>
              <a:rPr lang="en-GB" altLang="en-US" dirty="0">
                <a:latin typeface="Lucida Sans Unicode" charset="0"/>
                <a:ea typeface="MS PGothic" charset="-128"/>
                <a:cs typeface="Lucida Sans Unicode" charset="0"/>
              </a:rPr>
              <a:t>Lecture notes (</a:t>
            </a:r>
            <a:r>
              <a:rPr lang="en-GB" altLang="en-US" dirty="0">
                <a:solidFill>
                  <a:srgbClr val="C00000"/>
                </a:solidFill>
                <a:latin typeface="Lucida Sans Unicode" charset="0"/>
                <a:ea typeface="MS PGothic" charset="-128"/>
                <a:cs typeface="Lucida Sans Unicode" charset="0"/>
              </a:rPr>
              <a:t>attendanc</a:t>
            </a:r>
            <a:r>
              <a:rPr lang="en-GB" altLang="en-US" dirty="0">
                <a:solidFill>
                  <a:srgbClr val="FF0000"/>
                </a:solidFill>
                <a:latin typeface="Lucida Sans Unicode" charset="0"/>
                <a:ea typeface="MS PGothic" charset="-128"/>
                <a:cs typeface="Lucida Sans Unicode" charset="0"/>
              </a:rPr>
              <a:t>e </a:t>
            </a:r>
            <a:r>
              <a:rPr lang="en-GB" altLang="en-US" dirty="0">
                <a:latin typeface="Lucida Sans Unicode" charset="0"/>
                <a:ea typeface="MS PGothic" charset="-128"/>
                <a:cs typeface="Lucida Sans Unicode" charset="0"/>
              </a:rPr>
              <a:t>is crucial)</a:t>
            </a:r>
          </a:p>
          <a:p>
            <a:pPr lvl="1">
              <a:lnSpc>
                <a:spcPct val="80000"/>
              </a:lnSpc>
              <a:spcBef>
                <a:spcPts val="600"/>
              </a:spcBef>
              <a:buFont typeface="Arial" charset="0"/>
              <a:buChar char="–"/>
              <a:defRPr/>
            </a:pPr>
            <a:r>
              <a:rPr lang="en-GB" altLang="en-US" dirty="0">
                <a:latin typeface="Lucida Sans Unicode" charset="0"/>
                <a:ea typeface="MS PGothic" charset="-128"/>
                <a:cs typeface="Lucida Sans Unicode" charset="0"/>
              </a:rPr>
              <a:t>Reading materials (</a:t>
            </a:r>
            <a:r>
              <a:rPr lang="en-GB" altLang="en-US" dirty="0">
                <a:solidFill>
                  <a:srgbClr val="C00000"/>
                </a:solidFill>
                <a:latin typeface="Lucida Sans Unicode" charset="0"/>
                <a:ea typeface="MS PGothic" charset="-128"/>
                <a:cs typeface="Lucida Sans Unicode" charset="0"/>
              </a:rPr>
              <a:t>essential</a:t>
            </a:r>
            <a:r>
              <a:rPr lang="en-GB" altLang="en-US" dirty="0">
                <a:latin typeface="Lucida Sans Unicode" charset="0"/>
                <a:ea typeface="MS PGothic" charset="-128"/>
                <a:cs typeface="Lucida Sans Unicode" charset="0"/>
              </a:rPr>
              <a:t>)</a:t>
            </a:r>
          </a:p>
          <a:p>
            <a:pPr lvl="1">
              <a:lnSpc>
                <a:spcPct val="80000"/>
              </a:lnSpc>
              <a:spcBef>
                <a:spcPts val="600"/>
              </a:spcBef>
              <a:buFont typeface="Arial" charset="0"/>
              <a:buChar char="–"/>
              <a:defRPr/>
            </a:pPr>
            <a:r>
              <a:rPr lang="en-GB" altLang="en-US" dirty="0">
                <a:latin typeface="Lucida Sans Unicode" charset="0"/>
                <a:ea typeface="MS PGothic" charset="-128"/>
                <a:cs typeface="Lucida Sans Unicode" charset="0"/>
              </a:rPr>
              <a:t>Discussion board (please post </a:t>
            </a:r>
            <a:r>
              <a:rPr lang="en-GB" altLang="en-US" dirty="0">
                <a:solidFill>
                  <a:srgbClr val="C00000"/>
                </a:solidFill>
                <a:latin typeface="Lucida Sans Unicode" charset="0"/>
                <a:ea typeface="MS PGothic" charset="-128"/>
                <a:cs typeface="Lucida Sans Unicode" charset="0"/>
              </a:rPr>
              <a:t>your questions </a:t>
            </a:r>
            <a:r>
              <a:rPr lang="en-GB" altLang="en-US" dirty="0">
                <a:latin typeface="Lucida Sans Unicode" charset="0"/>
                <a:ea typeface="MS PGothic" charset="-128"/>
                <a:cs typeface="Lucida Sans Unicode" charset="0"/>
              </a:rPr>
              <a:t>there)</a:t>
            </a:r>
          </a:p>
        </p:txBody>
      </p:sp>
      <p:sp>
        <p:nvSpPr>
          <p:cNvPr id="2" name="TextBox 1">
            <a:extLst>
              <a:ext uri="{FF2B5EF4-FFF2-40B4-BE49-F238E27FC236}">
                <a16:creationId xmlns:a16="http://schemas.microsoft.com/office/drawing/2014/main" id="{B3144536-09C8-6E17-DE3C-9B7601EFEEA8}"/>
              </a:ext>
            </a:extLst>
          </p:cNvPr>
          <p:cNvSpPr txBox="1"/>
          <p:nvPr/>
        </p:nvSpPr>
        <p:spPr>
          <a:xfrm>
            <a:off x="3275856" y="4909808"/>
            <a:ext cx="4590510" cy="219291"/>
          </a:xfrm>
          <a:prstGeom prst="rect">
            <a:avLst/>
          </a:prstGeom>
          <a:noFill/>
        </p:spPr>
        <p:txBody>
          <a:bodyPr wrap="square" rtlCol="0">
            <a:spAutoFit/>
          </a:bodyPr>
          <a:lstStyle/>
          <a:p>
            <a:pPr algn="r"/>
            <a:r>
              <a:rPr lang="en-GB" sz="825" dirty="0">
                <a:solidFill>
                  <a:schemeClr val="bg1"/>
                </a:solidFill>
                <a:latin typeface="Eras Medium ITC" panose="020B0602030504020804" pitchFamily="34" charset="0"/>
              </a:rPr>
              <a:t>School Of Computer Science, AI and Electronic</a:t>
            </a:r>
          </a:p>
        </p:txBody>
      </p:sp>
    </p:spTree>
    <p:extLst>
      <p:ext uri="{BB962C8B-B14F-4D97-AF65-F5344CB8AC3E}">
        <p14:creationId xmlns:p14="http://schemas.microsoft.com/office/powerpoint/2010/main" val="1259641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7325" y="883595"/>
            <a:ext cx="6843414" cy="4027643"/>
          </a:xfrm>
          <a:prstGeom prst="rect">
            <a:avLst/>
          </a:prstGeom>
        </p:spPr>
      </p:pic>
      <p:sp>
        <p:nvSpPr>
          <p:cNvPr id="7" name="TextBox 95"/>
          <p:cNvSpPr txBox="1">
            <a:spLocks noChangeArrowheads="1"/>
          </p:cNvSpPr>
          <p:nvPr/>
        </p:nvSpPr>
        <p:spPr bwMode="auto">
          <a:xfrm>
            <a:off x="2293475" y="4912668"/>
            <a:ext cx="425469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900" dirty="0">
                <a:latin typeface="Calibri" panose="020F0502020204030204" pitchFamily="34" charset="0"/>
              </a:rPr>
              <a:t>Source: http://sydney.edu.au/engineering/civil/current/undergraduate/learning.shtml</a:t>
            </a:r>
          </a:p>
        </p:txBody>
      </p:sp>
      <p:sp>
        <p:nvSpPr>
          <p:cNvPr id="8" name="Title 7"/>
          <p:cNvSpPr>
            <a:spLocks noGrp="1"/>
          </p:cNvSpPr>
          <p:nvPr>
            <p:ph type="title"/>
          </p:nvPr>
        </p:nvSpPr>
        <p:spPr/>
        <p:txBody>
          <a:bodyPr/>
          <a:lstStyle/>
          <a:p>
            <a:r>
              <a:rPr lang="en-GB" altLang="en-US" sz="3200" dirty="0">
                <a:solidFill>
                  <a:schemeClr val="bg1"/>
                </a:solidFill>
                <a:latin typeface="Georgia" panose="02040502050405020303" pitchFamily="18" charset="0"/>
              </a:rPr>
              <a:t>Learning Activities</a:t>
            </a:r>
            <a:endParaRPr lang="en-GB" sz="3200" dirty="0"/>
          </a:p>
        </p:txBody>
      </p:sp>
    </p:spTree>
    <p:extLst>
      <p:ext uri="{BB962C8B-B14F-4D97-AF65-F5344CB8AC3E}">
        <p14:creationId xmlns:p14="http://schemas.microsoft.com/office/powerpoint/2010/main" val="139886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altLang="en-US" sz="2700" dirty="0">
                <a:solidFill>
                  <a:schemeClr val="bg1"/>
                </a:solidFill>
                <a:latin typeface="Georgia" panose="02040502050405020303" pitchFamily="18" charset="0"/>
              </a:rPr>
              <a:t>What is this module about?</a:t>
            </a:r>
            <a:endParaRPr lang="en-US" altLang="en-US" sz="2700" dirty="0">
              <a:solidFill>
                <a:schemeClr val="bg1"/>
              </a:solidFill>
              <a:latin typeface="Georgia" panose="02040502050405020303" pitchFamily="18" charset="0"/>
            </a:endParaRPr>
          </a:p>
        </p:txBody>
      </p:sp>
      <p:sp>
        <p:nvSpPr>
          <p:cNvPr id="139267" name="Rectangle 3"/>
          <p:cNvSpPr>
            <a:spLocks noGrp="1" noChangeArrowheads="1"/>
          </p:cNvSpPr>
          <p:nvPr>
            <p:ph idx="4294967295"/>
          </p:nvPr>
        </p:nvSpPr>
        <p:spPr>
          <a:xfrm>
            <a:off x="0" y="735013"/>
            <a:ext cx="9144000" cy="3889375"/>
          </a:xfrm>
        </p:spPr>
        <p:txBody>
          <a:bodyPr/>
          <a:lstStyle/>
          <a:p>
            <a:pPr>
              <a:defRPr/>
            </a:pPr>
            <a:r>
              <a:rPr lang="en-GB" sz="2000" b="1" dirty="0">
                <a:solidFill>
                  <a:srgbClr val="7030A0"/>
                </a:solidFill>
              </a:rPr>
              <a:t>Learn about:</a:t>
            </a:r>
          </a:p>
          <a:p>
            <a:pPr lvl="1">
              <a:defRPr/>
            </a:pPr>
            <a:r>
              <a:rPr lang="en-GB" sz="1600" dirty="0"/>
              <a:t>Mobile devices </a:t>
            </a:r>
          </a:p>
          <a:p>
            <a:pPr lvl="1">
              <a:defRPr/>
            </a:pPr>
            <a:r>
              <a:rPr lang="en-GB" sz="1600" dirty="0"/>
              <a:t>Android Programming</a:t>
            </a:r>
          </a:p>
          <a:p>
            <a:pPr>
              <a:defRPr/>
            </a:pPr>
            <a:r>
              <a:rPr lang="en-GB" sz="2000" b="1" dirty="0">
                <a:solidFill>
                  <a:srgbClr val="7030A0"/>
                </a:solidFill>
              </a:rPr>
              <a:t>Develop interesting Android applications</a:t>
            </a:r>
          </a:p>
          <a:p>
            <a:pPr lvl="1">
              <a:defRPr/>
            </a:pPr>
            <a:r>
              <a:rPr lang="en-GB" sz="1600" dirty="0"/>
              <a:t>Expect lots of programming</a:t>
            </a:r>
          </a:p>
          <a:p>
            <a:pPr lvl="1">
              <a:defRPr/>
            </a:pPr>
            <a:r>
              <a:rPr lang="en-GB" sz="1600" dirty="0"/>
              <a:t>Hands-on lab exercises</a:t>
            </a:r>
          </a:p>
          <a:p>
            <a:pPr>
              <a:defRPr/>
            </a:pPr>
            <a:r>
              <a:rPr lang="en-GB" sz="2000" b="1" dirty="0">
                <a:solidFill>
                  <a:srgbClr val="7030A0"/>
                </a:solidFill>
              </a:rPr>
              <a:t>Module organisation</a:t>
            </a:r>
          </a:p>
          <a:p>
            <a:pPr lvl="1">
              <a:defRPr/>
            </a:pPr>
            <a:r>
              <a:rPr lang="en-GB" sz="1650" dirty="0"/>
              <a:t>Mix of labs and lectures – soft (e.g. mobile app development roadmap, human factors) and hard skills (how to program a functional app using Android)</a:t>
            </a:r>
          </a:p>
          <a:p>
            <a:pPr lvl="1">
              <a:defRPr/>
            </a:pPr>
            <a:r>
              <a:rPr lang="en-GB" sz="1650" dirty="0"/>
              <a:t>Lectures to cover theoretical aspects</a:t>
            </a:r>
          </a:p>
          <a:p>
            <a:pPr lvl="1">
              <a:defRPr/>
            </a:pPr>
            <a:r>
              <a:rPr lang="en-GB" sz="1650" dirty="0"/>
              <a:t>Lab to have hands-on experience</a:t>
            </a:r>
          </a:p>
          <a:p>
            <a:endParaRPr lang="en-US" altLang="en-US" dirty="0"/>
          </a:p>
        </p:txBody>
      </p:sp>
    </p:spTree>
    <p:extLst>
      <p:ext uri="{BB962C8B-B14F-4D97-AF65-F5344CB8AC3E}">
        <p14:creationId xmlns:p14="http://schemas.microsoft.com/office/powerpoint/2010/main" val="141151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altLang="en-US" sz="2700" dirty="0">
                <a:solidFill>
                  <a:schemeClr val="bg1"/>
                </a:solidFill>
              </a:rPr>
              <a:t>Lecture (some) Topics</a:t>
            </a:r>
            <a:endParaRPr lang="en-US" altLang="en-US" sz="2700" dirty="0">
              <a:solidFill>
                <a:schemeClr val="bg1"/>
              </a:solidFill>
            </a:endParaRPr>
          </a:p>
        </p:txBody>
      </p:sp>
      <p:sp>
        <p:nvSpPr>
          <p:cNvPr id="139267" name="Rectangle 3"/>
          <p:cNvSpPr>
            <a:spLocks noGrp="1" noChangeArrowheads="1"/>
          </p:cNvSpPr>
          <p:nvPr>
            <p:ph idx="4294967295"/>
          </p:nvPr>
        </p:nvSpPr>
        <p:spPr>
          <a:xfrm>
            <a:off x="0" y="845425"/>
            <a:ext cx="9483047" cy="3395662"/>
          </a:xfrm>
        </p:spPr>
        <p:txBody>
          <a:bodyPr/>
          <a:lstStyle/>
          <a:p>
            <a:pPr>
              <a:defRPr/>
            </a:pPr>
            <a:r>
              <a:rPr lang="en-GB" sz="1800" dirty="0">
                <a:latin typeface="Lucida Sans" panose="020B0602030504020204" pitchFamily="34" charset="0"/>
              </a:rPr>
              <a:t>Introduction to Mobile Applications and Android Platform</a:t>
            </a:r>
          </a:p>
          <a:p>
            <a:pPr>
              <a:defRPr/>
            </a:pPr>
            <a:r>
              <a:rPr lang="en-GB" sz="1800" dirty="0">
                <a:latin typeface="Lucida Sans" panose="020B0602030504020204" pitchFamily="34" charset="0"/>
              </a:rPr>
              <a:t>Mobile application development roadmaps</a:t>
            </a:r>
          </a:p>
          <a:p>
            <a:pPr>
              <a:defRPr/>
            </a:pPr>
            <a:r>
              <a:rPr lang="en-GB" sz="1800" dirty="0">
                <a:latin typeface="Lucida Sans" panose="020B0602030504020204" pitchFamily="34" charset="0"/>
              </a:rPr>
              <a:t>Human factors in Mobile app development</a:t>
            </a:r>
          </a:p>
          <a:p>
            <a:pPr>
              <a:defRPr/>
            </a:pPr>
            <a:r>
              <a:rPr lang="en-GB" sz="1800" dirty="0">
                <a:latin typeface="Lucida Sans" panose="020B0602030504020204" pitchFamily="34" charset="0"/>
              </a:rPr>
              <a:t>Android Studio &amp; Emulators</a:t>
            </a:r>
          </a:p>
          <a:p>
            <a:pPr>
              <a:defRPr/>
            </a:pPr>
            <a:r>
              <a:rPr lang="en-GB" sz="1800" dirty="0">
                <a:latin typeface="Lucida Sans" panose="020B0602030504020204" pitchFamily="34" charset="0"/>
              </a:rPr>
              <a:t>MVC in android development</a:t>
            </a:r>
          </a:p>
          <a:p>
            <a:pPr>
              <a:defRPr/>
            </a:pPr>
            <a:r>
              <a:rPr lang="en-GB" sz="1800" dirty="0">
                <a:latin typeface="Lucida Sans" panose="020B0602030504020204" pitchFamily="34" charset="0"/>
              </a:rPr>
              <a:t>Android</a:t>
            </a:r>
          </a:p>
          <a:p>
            <a:pPr lvl="1">
              <a:defRPr/>
            </a:pPr>
            <a:r>
              <a:rPr lang="en-GB" sz="1500" dirty="0">
                <a:latin typeface="Lucida Sans" panose="020B0602030504020204" pitchFamily="34" charset="0"/>
              </a:rPr>
              <a:t>Activities &amp; Fragments</a:t>
            </a:r>
          </a:p>
          <a:p>
            <a:pPr lvl="1">
              <a:defRPr/>
            </a:pPr>
            <a:r>
              <a:rPr lang="en-GB" sz="1500" dirty="0">
                <a:latin typeface="Lucida Sans" panose="020B0602030504020204" pitchFamily="34" charset="0"/>
              </a:rPr>
              <a:t>Lists &amp; Adaptors</a:t>
            </a:r>
          </a:p>
          <a:p>
            <a:pPr lvl="1">
              <a:defRPr/>
            </a:pPr>
            <a:r>
              <a:rPr lang="en-GB" sz="1500" dirty="0">
                <a:latin typeface="Lucida Sans" panose="020B0602030504020204" pitchFamily="34" charset="0"/>
              </a:rPr>
              <a:t>Storage/Access using Databa</a:t>
            </a:r>
            <a:r>
              <a:rPr lang="en-GB" sz="1500" dirty="0">
                <a:latin typeface="Lucida Bright" panose="02040602050505020304" pitchFamily="18" charset="0"/>
              </a:rPr>
              <a:t>ses and Web Services</a:t>
            </a:r>
          </a:p>
          <a:p>
            <a:pPr lvl="1">
              <a:defRPr/>
            </a:pPr>
            <a:r>
              <a:rPr lang="en-GB" sz="1500" dirty="0">
                <a:latin typeface="Lucida Bright" panose="02040602050505020304" pitchFamily="18" charset="0"/>
              </a:rPr>
              <a:t>Location API</a:t>
            </a:r>
          </a:p>
          <a:p>
            <a:endParaRPr lang="en-US" altLang="en-US" dirty="0"/>
          </a:p>
        </p:txBody>
      </p:sp>
    </p:spTree>
    <p:extLst>
      <p:ext uri="{BB962C8B-B14F-4D97-AF65-F5344CB8AC3E}">
        <p14:creationId xmlns:p14="http://schemas.microsoft.com/office/powerpoint/2010/main" val="3392913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altLang="en-US" sz="2700" dirty="0">
                <a:solidFill>
                  <a:schemeClr val="bg1"/>
                </a:solidFill>
                <a:latin typeface="Georgia" panose="02040502050405020303" pitchFamily="18" charset="0"/>
              </a:rPr>
              <a:t>Lab (some) Exercises	</a:t>
            </a:r>
            <a:endParaRPr lang="en-US" altLang="en-US" sz="2700" dirty="0">
              <a:solidFill>
                <a:schemeClr val="bg1"/>
              </a:solidFill>
              <a:latin typeface="Georgia" panose="02040502050405020303" pitchFamily="18" charset="0"/>
            </a:endParaRPr>
          </a:p>
        </p:txBody>
      </p:sp>
      <p:sp>
        <p:nvSpPr>
          <p:cNvPr id="139267" name="Rectangle 3"/>
          <p:cNvSpPr>
            <a:spLocks noGrp="1" noChangeArrowheads="1"/>
          </p:cNvSpPr>
          <p:nvPr>
            <p:ph idx="4294967295"/>
          </p:nvPr>
        </p:nvSpPr>
        <p:spPr>
          <a:xfrm>
            <a:off x="174660" y="1059027"/>
            <a:ext cx="7866366" cy="3395662"/>
          </a:xfrm>
        </p:spPr>
        <p:txBody>
          <a:bodyPr/>
          <a:lstStyle/>
          <a:p>
            <a:pPr>
              <a:defRPr/>
            </a:pPr>
            <a:r>
              <a:rPr lang="en-GB" sz="1800" b="1" dirty="0">
                <a:latin typeface="Lucida Sans" panose="020B0602030504020204" pitchFamily="34" charset="0"/>
              </a:rPr>
              <a:t>Java Programming</a:t>
            </a:r>
          </a:p>
          <a:p>
            <a:pPr>
              <a:defRPr/>
            </a:pPr>
            <a:r>
              <a:rPr lang="en-GB" sz="1800" b="1" dirty="0">
                <a:latin typeface="Lucida Sans" panose="020B0602030504020204" pitchFamily="34" charset="0"/>
              </a:rPr>
              <a:t>Introduction to Java + Kotlin </a:t>
            </a:r>
          </a:p>
          <a:p>
            <a:pPr>
              <a:defRPr/>
            </a:pPr>
            <a:r>
              <a:rPr lang="en-GB" sz="1800" b="1" dirty="0">
                <a:latin typeface="Lucida Sans" panose="020B0602030504020204" pitchFamily="34" charset="0"/>
              </a:rPr>
              <a:t>Installation of Android &amp; Emulators</a:t>
            </a:r>
          </a:p>
          <a:p>
            <a:pPr>
              <a:defRPr/>
            </a:pPr>
            <a:r>
              <a:rPr lang="en-GB" sz="1800" b="1" dirty="0">
                <a:latin typeface="Lucida Sans" panose="020B0602030504020204" pitchFamily="34" charset="0"/>
              </a:rPr>
              <a:t>Development of mini-apps</a:t>
            </a:r>
          </a:p>
          <a:p>
            <a:pPr lvl="1">
              <a:defRPr/>
            </a:pPr>
            <a:r>
              <a:rPr lang="en-GB" sz="1650" dirty="0">
                <a:latin typeface="Lucida Sans" panose="020B0602030504020204" pitchFamily="34" charset="0"/>
              </a:rPr>
              <a:t>Fragments (Tasks)</a:t>
            </a:r>
          </a:p>
          <a:p>
            <a:pPr lvl="1">
              <a:defRPr/>
            </a:pPr>
            <a:r>
              <a:rPr lang="en-GB" sz="1650" dirty="0">
                <a:latin typeface="Lucida Sans" panose="020B0602030504020204" pitchFamily="34" charset="0"/>
              </a:rPr>
              <a:t>Web services &amp; Cloud database (Firebase)</a:t>
            </a:r>
          </a:p>
          <a:p>
            <a:pPr lvl="1">
              <a:defRPr/>
            </a:pPr>
            <a:r>
              <a:rPr lang="en-GB" sz="1650" dirty="0">
                <a:latin typeface="Lucida Sans" panose="020B0602030504020204" pitchFamily="34" charset="0"/>
              </a:rPr>
              <a:t>SQLite</a:t>
            </a:r>
          </a:p>
          <a:p>
            <a:pPr marL="0" indent="0">
              <a:buNone/>
            </a:pPr>
            <a:endParaRPr lang="en-US" altLang="en-US" dirty="0"/>
          </a:p>
        </p:txBody>
      </p:sp>
    </p:spTree>
    <p:extLst>
      <p:ext uri="{BB962C8B-B14F-4D97-AF65-F5344CB8AC3E}">
        <p14:creationId xmlns:p14="http://schemas.microsoft.com/office/powerpoint/2010/main" val="89876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altLang="en-US" sz="2700" dirty="0">
                <a:solidFill>
                  <a:schemeClr val="bg1"/>
                </a:solidFill>
                <a:latin typeface="Georgia" panose="02040502050405020303" pitchFamily="18" charset="0"/>
              </a:rPr>
              <a:t>Assessment</a:t>
            </a:r>
            <a:endParaRPr lang="en-US" altLang="en-US" sz="2700" dirty="0">
              <a:solidFill>
                <a:schemeClr val="bg1"/>
              </a:solidFill>
              <a:latin typeface="Georgia" panose="02040502050405020303" pitchFamily="18" charset="0"/>
            </a:endParaRPr>
          </a:p>
        </p:txBody>
      </p:sp>
      <p:sp>
        <p:nvSpPr>
          <p:cNvPr id="7" name="Content Placeholder 2"/>
          <p:cNvSpPr txBox="1">
            <a:spLocks/>
          </p:cNvSpPr>
          <p:nvPr/>
        </p:nvSpPr>
        <p:spPr bwMode="auto">
          <a:xfrm>
            <a:off x="187542" y="1236344"/>
            <a:ext cx="8644758" cy="3349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en-US" sz="1800" dirty="0">
                <a:latin typeface="Lucida Sans" panose="020B0602030504020204" pitchFamily="34" charset="0"/>
              </a:rPr>
              <a:t>No written exams!!</a:t>
            </a:r>
          </a:p>
          <a:p>
            <a:r>
              <a:rPr lang="en-GB" altLang="en-US" sz="1800" dirty="0">
                <a:latin typeface="Lucida Sans" panose="020B0602030504020204" pitchFamily="34" charset="0"/>
              </a:rPr>
              <a:t>One course work:</a:t>
            </a:r>
          </a:p>
          <a:p>
            <a:pPr lvl="1"/>
            <a:r>
              <a:rPr lang="en-GB" altLang="en-US" sz="1800" dirty="0"/>
              <a:t>Mobile Application (mini) Project [100%]</a:t>
            </a:r>
          </a:p>
          <a:p>
            <a:pPr lvl="2"/>
            <a:r>
              <a:rPr lang="en-GB" altLang="en-US" sz="1650" dirty="0"/>
              <a:t>Type: Report (based on development work) + Source code</a:t>
            </a:r>
          </a:p>
          <a:p>
            <a:pPr lvl="2"/>
            <a:r>
              <a:rPr lang="en-GB" altLang="en-US" sz="1650" dirty="0"/>
              <a:t>Deadline – End of the year</a:t>
            </a:r>
          </a:p>
          <a:p>
            <a:pPr lvl="1"/>
            <a:r>
              <a:rPr lang="en-GB" altLang="en-US" sz="1800" dirty="0"/>
              <a:t>Formative assessment [0%] </a:t>
            </a:r>
            <a:r>
              <a:rPr lang="mr-IN" altLang="en-US" sz="1800" dirty="0"/>
              <a:t>–</a:t>
            </a:r>
            <a:r>
              <a:rPr lang="en-GB" altLang="en-US" sz="1800" dirty="0"/>
              <a:t> feedback on case study selection </a:t>
            </a:r>
          </a:p>
          <a:p>
            <a:pPr lvl="1"/>
            <a:r>
              <a:rPr lang="en-GB" altLang="en-US" sz="1800" dirty="0"/>
              <a:t>Exact details will be available soon.</a:t>
            </a:r>
          </a:p>
          <a:p>
            <a:pPr lvl="2"/>
            <a:endParaRPr lang="en-GB" altLang="en-US" sz="1800" dirty="0"/>
          </a:p>
        </p:txBody>
      </p:sp>
    </p:spTree>
    <p:extLst>
      <p:ext uri="{BB962C8B-B14F-4D97-AF65-F5344CB8AC3E}">
        <p14:creationId xmlns:p14="http://schemas.microsoft.com/office/powerpoint/2010/main" val="321316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039" y="991601"/>
            <a:ext cx="7732964" cy="1764506"/>
          </a:xfrm>
          <a:prstGeom prst="rect">
            <a:avLst/>
          </a:prstGeom>
        </p:spPr>
      </p:pic>
      <p:pic>
        <p:nvPicPr>
          <p:cNvPr id="3" name="Picture 2"/>
          <p:cNvPicPr>
            <a:picLocks noChangeAspect="1"/>
          </p:cNvPicPr>
          <p:nvPr/>
        </p:nvPicPr>
        <p:blipFill>
          <a:blip r:embed="rId3"/>
          <a:stretch>
            <a:fillRect/>
          </a:stretch>
        </p:blipFill>
        <p:spPr>
          <a:xfrm>
            <a:off x="137038" y="2671762"/>
            <a:ext cx="7732965" cy="2471738"/>
          </a:xfrm>
          <a:prstGeom prst="rect">
            <a:avLst/>
          </a:prstGeom>
        </p:spPr>
      </p:pic>
      <p:sp>
        <p:nvSpPr>
          <p:cNvPr id="5" name="Title 4"/>
          <p:cNvSpPr>
            <a:spLocks noGrp="1"/>
          </p:cNvSpPr>
          <p:nvPr>
            <p:ph type="title"/>
          </p:nvPr>
        </p:nvSpPr>
        <p:spPr/>
        <p:txBody>
          <a:bodyPr/>
          <a:lstStyle/>
          <a:p>
            <a:r>
              <a:rPr lang="en-GB" sz="3200" dirty="0"/>
              <a:t>Module Policy</a:t>
            </a:r>
          </a:p>
        </p:txBody>
      </p:sp>
    </p:spTree>
    <p:extLst>
      <p:ext uri="{BB962C8B-B14F-4D97-AF65-F5344CB8AC3E}">
        <p14:creationId xmlns:p14="http://schemas.microsoft.com/office/powerpoint/2010/main" val="1773117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p:txBody>
          <a:bodyPr/>
          <a:lstStyle/>
          <a:p>
            <a:r>
              <a:rPr lang="en-GB" altLang="en-US" sz="2700" dirty="0">
                <a:solidFill>
                  <a:schemeClr val="bg1"/>
                </a:solidFill>
                <a:latin typeface="Georgia" panose="02040502050405020303" pitchFamily="18" charset="0"/>
              </a:rPr>
              <a:t>What I Expect From You</a:t>
            </a:r>
          </a:p>
        </p:txBody>
      </p:sp>
      <p:sp>
        <p:nvSpPr>
          <p:cNvPr id="8" name="Content Placeholder 2"/>
          <p:cNvSpPr>
            <a:spLocks noGrp="1"/>
          </p:cNvSpPr>
          <p:nvPr>
            <p:ph idx="4294967295"/>
          </p:nvPr>
        </p:nvSpPr>
        <p:spPr>
          <a:xfrm>
            <a:off x="0" y="1074060"/>
            <a:ext cx="9144000" cy="3835400"/>
          </a:xfrm>
        </p:spPr>
        <p:txBody>
          <a:bodyPr>
            <a:normAutofit fontScale="62500" lnSpcReduction="20000"/>
          </a:bodyPr>
          <a:lstStyle/>
          <a:p>
            <a:pPr>
              <a:defRPr/>
            </a:pPr>
            <a:r>
              <a:rPr lang="en-GB" sz="2600" dirty="0">
                <a:latin typeface="Arial" panose="020B0604020202020204" pitchFamily="34" charset="0"/>
                <a:cs typeface="Arial" panose="020B0604020202020204" pitchFamily="34" charset="0"/>
              </a:rPr>
              <a:t>Good attendance…!</a:t>
            </a:r>
          </a:p>
          <a:p>
            <a:pPr>
              <a:defRPr/>
            </a:pPr>
            <a:endParaRPr lang="en-GB" sz="2300" dirty="0">
              <a:latin typeface="Arial" panose="020B0604020202020204" pitchFamily="34" charset="0"/>
              <a:cs typeface="Arial" panose="020B0604020202020204" pitchFamily="34" charset="0"/>
            </a:endParaRPr>
          </a:p>
          <a:p>
            <a:pPr>
              <a:defRPr/>
            </a:pPr>
            <a:r>
              <a:rPr lang="en-GB" sz="2600" dirty="0">
                <a:latin typeface="Arial" panose="020B0604020202020204" pitchFamily="34" charset="0"/>
                <a:cs typeface="Arial" panose="020B0604020202020204" pitchFamily="34" charset="0"/>
              </a:rPr>
              <a:t>Positive questions, anecdotes and insight I may miss</a:t>
            </a:r>
          </a:p>
          <a:p>
            <a:pPr>
              <a:defRPr/>
            </a:pPr>
            <a:endParaRPr lang="en-GB" sz="1350" dirty="0">
              <a:latin typeface="Arial" panose="020B0604020202020204" pitchFamily="34" charset="0"/>
              <a:cs typeface="Arial" panose="020B0604020202020204" pitchFamily="34" charset="0"/>
            </a:endParaRPr>
          </a:p>
          <a:p>
            <a:pPr>
              <a:defRPr/>
            </a:pPr>
            <a:r>
              <a:rPr lang="en-GB" sz="2600" dirty="0">
                <a:solidFill>
                  <a:srgbClr val="FF0000"/>
                </a:solidFill>
                <a:latin typeface="Arial" panose="020B0604020202020204" pitchFamily="34" charset="0"/>
                <a:cs typeface="Arial" panose="020B0604020202020204" pitchFamily="34" charset="0"/>
              </a:rPr>
              <a:t>Muted phones</a:t>
            </a:r>
            <a:r>
              <a:rPr lang="en-GB" sz="2600" dirty="0">
                <a:latin typeface="Arial" panose="020B0604020202020204" pitchFamily="34" charset="0"/>
                <a:cs typeface="Arial" panose="020B0604020202020204" pitchFamily="34" charset="0"/>
              </a:rPr>
              <a:t>, exceptions will be given for emergencies etc or when it needs to be used for Lab exercises, you do not need one if you do not have one (or if you do not have Android one)</a:t>
            </a:r>
          </a:p>
          <a:p>
            <a:pPr>
              <a:defRPr/>
            </a:pPr>
            <a:endParaRPr lang="en-GB" sz="1350" dirty="0">
              <a:latin typeface="Arial" panose="020B0604020202020204" pitchFamily="34" charset="0"/>
              <a:cs typeface="Arial" panose="020B0604020202020204" pitchFamily="34" charset="0"/>
            </a:endParaRPr>
          </a:p>
          <a:p>
            <a:pPr>
              <a:defRPr/>
            </a:pPr>
            <a:r>
              <a:rPr lang="en-GB" sz="2600" dirty="0">
                <a:latin typeface="Arial" panose="020B0604020202020204" pitchFamily="34" charset="0"/>
                <a:cs typeface="Arial" panose="020B0604020202020204" pitchFamily="34" charset="0"/>
              </a:rPr>
              <a:t>Be on time </a:t>
            </a:r>
          </a:p>
          <a:p>
            <a:pPr>
              <a:defRPr/>
            </a:pPr>
            <a:endParaRPr lang="en-GB" sz="1350" dirty="0">
              <a:latin typeface="Arial" panose="020B0604020202020204" pitchFamily="34" charset="0"/>
              <a:cs typeface="Arial" panose="020B0604020202020204" pitchFamily="34" charset="0"/>
            </a:endParaRPr>
          </a:p>
          <a:p>
            <a:pPr>
              <a:defRPr/>
            </a:pPr>
            <a:r>
              <a:rPr lang="en-GB" sz="2600" dirty="0">
                <a:latin typeface="Arial" panose="020B0604020202020204" pitchFamily="34" charset="0"/>
                <a:cs typeface="Arial" panose="020B0604020202020204" pitchFamily="34" charset="0"/>
              </a:rPr>
              <a:t>A decent quality of academic writing</a:t>
            </a:r>
          </a:p>
          <a:p>
            <a:pPr marL="0" indent="0">
              <a:buNone/>
              <a:defRPr/>
            </a:pPr>
            <a:endParaRPr lang="en-GB" sz="1350" dirty="0">
              <a:latin typeface="Arial" panose="020B0604020202020204" pitchFamily="34" charset="0"/>
              <a:cs typeface="Arial" panose="020B0604020202020204" pitchFamily="34" charset="0"/>
            </a:endParaRPr>
          </a:p>
          <a:p>
            <a:pPr>
              <a:defRPr/>
            </a:pPr>
            <a:r>
              <a:rPr lang="en-GB" sz="2325" dirty="0">
                <a:latin typeface="Arial" panose="020B0604020202020204" pitchFamily="34" charset="0"/>
                <a:cs typeface="Arial" panose="020B0604020202020204" pitchFamily="34" charset="0"/>
              </a:rPr>
              <a:t>Standard etiquette for speech/ presenting</a:t>
            </a:r>
          </a:p>
          <a:p>
            <a:pPr>
              <a:defRPr/>
            </a:pPr>
            <a:endParaRPr lang="en-GB" sz="1350" dirty="0">
              <a:latin typeface="Arial" panose="020B0604020202020204" pitchFamily="34" charset="0"/>
              <a:cs typeface="Arial" panose="020B0604020202020204" pitchFamily="34" charset="0"/>
            </a:endParaRPr>
          </a:p>
          <a:p>
            <a:pPr>
              <a:defRPr/>
            </a:pPr>
            <a:r>
              <a:rPr lang="en-GB" sz="2325" dirty="0">
                <a:latin typeface="Arial" panose="020B0604020202020204" pitchFamily="34" charset="0"/>
                <a:cs typeface="Arial" panose="020B0604020202020204" pitchFamily="34" charset="0"/>
              </a:rPr>
              <a:t>Utilise your </a:t>
            </a:r>
            <a:r>
              <a:rPr lang="en-GB" sz="2325" dirty="0">
                <a:solidFill>
                  <a:srgbClr val="FF0000"/>
                </a:solidFill>
                <a:latin typeface="Arial" panose="020B0604020202020204" pitchFamily="34" charset="0"/>
                <a:cs typeface="Arial" panose="020B0604020202020204" pitchFamily="34" charset="0"/>
              </a:rPr>
              <a:t>164 hours </a:t>
            </a:r>
            <a:r>
              <a:rPr lang="en-GB" sz="2325" dirty="0">
                <a:latin typeface="Arial" panose="020B0604020202020204" pitchFamily="34" charset="0"/>
                <a:cs typeface="Arial" panose="020B0604020202020204" pitchFamily="34" charset="0"/>
              </a:rPr>
              <a:t>of independent study</a:t>
            </a:r>
          </a:p>
          <a:p>
            <a:pPr>
              <a:defRPr/>
            </a:pPr>
            <a:endParaRPr lang="en-GB" sz="1350" dirty="0">
              <a:latin typeface="Arial" panose="020B0604020202020204" pitchFamily="34" charset="0"/>
              <a:cs typeface="Arial" panose="020B0604020202020204" pitchFamily="34" charset="0"/>
            </a:endParaRPr>
          </a:p>
          <a:p>
            <a:pPr marL="0" indent="0">
              <a:buNone/>
              <a:defRPr/>
            </a:pPr>
            <a:endParaRPr lang="en-GB" sz="1036" dirty="0">
              <a:latin typeface="Arial" panose="020B0604020202020204" pitchFamily="34" charset="0"/>
              <a:cs typeface="Arial" panose="020B0604020202020204" pitchFamily="34" charset="0"/>
            </a:endParaRPr>
          </a:p>
          <a:p>
            <a:pPr>
              <a:defRPr/>
            </a:pPr>
            <a:endParaRPr lang="en-GB" sz="975" dirty="0">
              <a:solidFill>
                <a:schemeClr val="tx2">
                  <a:lumMod val="40000"/>
                  <a:lumOff val="60000"/>
                </a:schemeClr>
              </a:solidFill>
            </a:endParaRPr>
          </a:p>
        </p:txBody>
      </p:sp>
    </p:spTree>
    <p:extLst>
      <p:ext uri="{BB962C8B-B14F-4D97-AF65-F5344CB8AC3E}">
        <p14:creationId xmlns:p14="http://schemas.microsoft.com/office/powerpoint/2010/main" val="1982226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Slide Number Placeholder 5"/>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fld id="{F058DC1E-5F16-4010-819D-5CD9A1271AFA}" type="slidenum">
              <a:rPr lang="en-GB" altLang="en-US" sz="831">
                <a:solidFill>
                  <a:schemeClr val="bg1"/>
                </a:solidFill>
              </a:rPr>
              <a:pPr>
                <a:spcBef>
                  <a:spcPct val="0"/>
                </a:spcBef>
                <a:buFontTx/>
                <a:buNone/>
              </a:pPr>
              <a:t>11</a:t>
            </a:fld>
            <a:endParaRPr lang="en-GB" altLang="en-US" sz="831">
              <a:solidFill>
                <a:schemeClr val="bg1"/>
              </a:solidFill>
            </a:endParaRPr>
          </a:p>
        </p:txBody>
      </p:sp>
      <p:sp>
        <p:nvSpPr>
          <p:cNvPr id="58370" name="Title 1"/>
          <p:cNvSpPr>
            <a:spLocks noGrp="1"/>
          </p:cNvSpPr>
          <p:nvPr>
            <p:ph type="title"/>
          </p:nvPr>
        </p:nvSpPr>
        <p:spPr/>
        <p:txBody>
          <a:bodyPr/>
          <a:lstStyle/>
          <a:p>
            <a:r>
              <a:rPr lang="en-GB" altLang="en-US" sz="2700" dirty="0">
                <a:solidFill>
                  <a:schemeClr val="bg1"/>
                </a:solidFill>
                <a:latin typeface="Georgia" panose="02040502050405020303" pitchFamily="18" charset="0"/>
              </a:rPr>
              <a:t>Existing Work @ Bradford</a:t>
            </a:r>
          </a:p>
        </p:txBody>
      </p:sp>
      <p:pic>
        <p:nvPicPr>
          <p:cNvPr id="58373" name="Content Placeholder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280043" y="1065942"/>
            <a:ext cx="4336514" cy="4077558"/>
          </a:xfrm>
        </p:spPr>
      </p:pic>
      <p:sp>
        <p:nvSpPr>
          <p:cNvPr id="58371" name="Date Placeholder 3"/>
          <p:cNvSpPr>
            <a:spLocks noGrp="1"/>
          </p:cNvSpPr>
          <p:nvPr>
            <p:ph type="dt" sz="half"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fld id="{CA29068A-B219-435D-BA5A-B4A9D594C2D4}" type="datetime3">
              <a:rPr lang="en-GB" altLang="en-US" sz="831">
                <a:solidFill>
                  <a:schemeClr val="bg1"/>
                </a:solidFill>
              </a:rPr>
              <a:pPr>
                <a:spcBef>
                  <a:spcPct val="0"/>
                </a:spcBef>
                <a:buFontTx/>
                <a:buNone/>
              </a:pPr>
              <a:t>19 September, 2025</a:t>
            </a:fld>
            <a:endParaRPr lang="en-GB" altLang="en-US" sz="831">
              <a:solidFill>
                <a:schemeClr val="bg1"/>
              </a:solidFill>
            </a:endParaRPr>
          </a:p>
        </p:txBody>
      </p:sp>
      <p:sp>
        <p:nvSpPr>
          <p:cNvPr id="2" name="TextBox 1"/>
          <p:cNvSpPr txBox="1"/>
          <p:nvPr/>
        </p:nvSpPr>
        <p:spPr>
          <a:xfrm>
            <a:off x="76190" y="1262963"/>
            <a:ext cx="1783431" cy="338554"/>
          </a:xfrm>
          <a:prstGeom prst="rect">
            <a:avLst/>
          </a:prstGeom>
          <a:noFill/>
        </p:spPr>
        <p:txBody>
          <a:bodyPr wrap="square" rtlCol="0">
            <a:spAutoFit/>
          </a:bodyPr>
          <a:lstStyle/>
          <a:p>
            <a:r>
              <a:rPr lang="en-GB" sz="1600" b="1" dirty="0">
                <a:solidFill>
                  <a:srgbClr val="7030A0"/>
                </a:solidFill>
              </a:rPr>
              <a:t>Example #1</a:t>
            </a:r>
          </a:p>
        </p:txBody>
      </p:sp>
    </p:spTree>
    <p:extLst>
      <p:ext uri="{BB962C8B-B14F-4D97-AF65-F5344CB8AC3E}">
        <p14:creationId xmlns:p14="http://schemas.microsoft.com/office/powerpoint/2010/main" val="3639709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Slide Number Placeholder 5"/>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fld id="{08DC906F-77DE-4D77-B226-93A55EF50AAC}" type="slidenum">
              <a:rPr lang="en-GB" altLang="en-US" sz="831">
                <a:solidFill>
                  <a:schemeClr val="bg1"/>
                </a:solidFill>
              </a:rPr>
              <a:pPr>
                <a:spcBef>
                  <a:spcPct val="0"/>
                </a:spcBef>
                <a:buFontTx/>
                <a:buNone/>
              </a:pPr>
              <a:t>12</a:t>
            </a:fld>
            <a:endParaRPr lang="en-GB" altLang="en-US" sz="831">
              <a:solidFill>
                <a:schemeClr val="bg1"/>
              </a:solidFill>
            </a:endParaRPr>
          </a:p>
        </p:txBody>
      </p:sp>
      <p:sp>
        <p:nvSpPr>
          <p:cNvPr id="59394" name="Title 1"/>
          <p:cNvSpPr>
            <a:spLocks noGrp="1"/>
          </p:cNvSpPr>
          <p:nvPr>
            <p:ph type="title"/>
          </p:nvPr>
        </p:nvSpPr>
        <p:spPr>
          <a:xfrm>
            <a:off x="7390796" y="1794325"/>
            <a:ext cx="1753204" cy="568731"/>
          </a:xfrm>
        </p:spPr>
        <p:txBody>
          <a:bodyPr/>
          <a:lstStyle/>
          <a:p>
            <a:r>
              <a:rPr lang="en-GB" altLang="en-US" sz="1800" dirty="0">
                <a:solidFill>
                  <a:schemeClr val="tx1"/>
                </a:solidFill>
                <a:latin typeface="Georgia" panose="02040502050405020303" pitchFamily="18" charset="0"/>
              </a:rPr>
              <a:t>Job Application Management</a:t>
            </a:r>
          </a:p>
        </p:txBody>
      </p:sp>
      <p:sp>
        <p:nvSpPr>
          <p:cNvPr id="61443" name="Content Placeholder 2"/>
          <p:cNvSpPr>
            <a:spLocks noGrp="1"/>
          </p:cNvSpPr>
          <p:nvPr>
            <p:ph idx="4294967295"/>
          </p:nvPr>
        </p:nvSpPr>
        <p:spPr>
          <a:xfrm>
            <a:off x="2237215" y="4885354"/>
            <a:ext cx="6329362" cy="339725"/>
          </a:xfrm>
        </p:spPr>
        <p:txBody>
          <a:bodyPr>
            <a:normAutofit fontScale="55000" lnSpcReduction="20000"/>
          </a:bodyPr>
          <a:lstStyle/>
          <a:p>
            <a:pPr marL="0" indent="0">
              <a:buNone/>
              <a:defRPr/>
            </a:pPr>
            <a:r>
              <a:rPr lang="en-GB" altLang="en-US" sz="1247" dirty="0"/>
              <a:t>Client: </a:t>
            </a:r>
            <a:r>
              <a:rPr lang="en-GB" altLang="en-US" sz="1247" dirty="0" err="1"/>
              <a:t>Exigo</a:t>
            </a:r>
            <a:r>
              <a:rPr lang="en-GB" altLang="en-US" sz="1247" dirty="0"/>
              <a:t>+;  Student: </a:t>
            </a:r>
            <a:r>
              <a:rPr lang="en-GB" altLang="en-US" sz="1247" dirty="0" err="1"/>
              <a:t>Bala</a:t>
            </a:r>
            <a:r>
              <a:rPr lang="en-GB" altLang="en-US" sz="1247" dirty="0"/>
              <a:t> </a:t>
            </a:r>
            <a:r>
              <a:rPr lang="en-GB" altLang="en-US" sz="1247" dirty="0" err="1"/>
              <a:t>Chockalingam</a:t>
            </a:r>
            <a:r>
              <a:rPr lang="en-GB" altLang="en-US" sz="1247" dirty="0"/>
              <a:t>; Course: MSc Mobile Applications</a:t>
            </a:r>
          </a:p>
        </p:txBody>
      </p:sp>
      <p:sp>
        <p:nvSpPr>
          <p:cNvPr id="59396" name="Date Placeholder 3"/>
          <p:cNvSpPr>
            <a:spLocks noGrp="1"/>
          </p:cNvSpPr>
          <p:nvPr>
            <p:ph type="dt" sz="half"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endParaRPr lang="en-GB" altLang="en-US" sz="831" dirty="0">
              <a:solidFill>
                <a:schemeClr val="bg1"/>
              </a:solidFill>
            </a:endParaRPr>
          </a:p>
        </p:txBody>
      </p:sp>
      <p:pic>
        <p:nvPicPr>
          <p:cNvPr id="8" name="demo2.mp4">
            <a:hlinkClick r:id="" action="ppaction://media"/>
          </p:cNvPr>
          <p:cNvPicPr>
            <a:picLocks noRot="1" noChangeAspect="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1739820" y="1463229"/>
            <a:ext cx="5482004" cy="3470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1739820" y="1004683"/>
            <a:ext cx="4943513" cy="284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1247" dirty="0">
                <a:solidFill>
                  <a:srgbClr val="7030A0"/>
                </a:solidFill>
              </a:rPr>
              <a:t>App is finalised to be released through Google Play store</a:t>
            </a:r>
          </a:p>
        </p:txBody>
      </p:sp>
      <p:sp>
        <p:nvSpPr>
          <p:cNvPr id="11" name="TextBox 10"/>
          <p:cNvSpPr txBox="1"/>
          <p:nvPr/>
        </p:nvSpPr>
        <p:spPr>
          <a:xfrm>
            <a:off x="311700" y="1463229"/>
            <a:ext cx="2127444" cy="338554"/>
          </a:xfrm>
          <a:prstGeom prst="rect">
            <a:avLst/>
          </a:prstGeom>
          <a:noFill/>
        </p:spPr>
        <p:txBody>
          <a:bodyPr wrap="square" rtlCol="0">
            <a:spAutoFit/>
          </a:bodyPr>
          <a:lstStyle/>
          <a:p>
            <a:r>
              <a:rPr lang="en-GB" sz="1600" b="1" dirty="0">
                <a:solidFill>
                  <a:srgbClr val="7030A0"/>
                </a:solidFill>
              </a:rPr>
              <a:t>Example #2</a:t>
            </a:r>
          </a:p>
        </p:txBody>
      </p:sp>
      <p:sp>
        <p:nvSpPr>
          <p:cNvPr id="12" name="Title 1"/>
          <p:cNvSpPr txBox="1">
            <a:spLocks/>
          </p:cNvSpPr>
          <p:nvPr/>
        </p:nvSpPr>
        <p:spPr bwMode="auto">
          <a:xfrm>
            <a:off x="2084571" y="94349"/>
            <a:ext cx="5874361" cy="39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GB" altLang="en-US" sz="2700" b="1" dirty="0">
                <a:solidFill>
                  <a:schemeClr val="bg1"/>
                </a:solidFill>
                <a:latin typeface="Georgia" panose="02040502050405020303" pitchFamily="18" charset="0"/>
              </a:rPr>
              <a:t>Existing Work @ Bradford</a:t>
            </a:r>
          </a:p>
        </p:txBody>
      </p:sp>
    </p:spTree>
    <p:extLst>
      <p:ext uri="{BB962C8B-B14F-4D97-AF65-F5344CB8AC3E}">
        <p14:creationId xmlns:p14="http://schemas.microsoft.com/office/powerpoint/2010/main" val="113449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nodeType="clickPar">
                      <p:stCondLst>
                        <p:cond delay="0"/>
                      </p:stCondLst>
                      <p:childTnLst>
                        <p:par>
                          <p:cTn id="9" fill="hold" nodeType="withGroup">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bldLst>
      <p:bldP spid="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Slide Number Placeholder 5"/>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fld id="{3FA20CC9-7FF2-45A9-AD9B-2AFF6666B3B6}" type="slidenum">
              <a:rPr lang="en-GB" altLang="en-US" sz="831">
                <a:solidFill>
                  <a:schemeClr val="bg1"/>
                </a:solidFill>
              </a:rPr>
              <a:pPr>
                <a:spcBef>
                  <a:spcPct val="0"/>
                </a:spcBef>
                <a:buFontTx/>
                <a:buNone/>
              </a:pPr>
              <a:t>13</a:t>
            </a:fld>
            <a:endParaRPr lang="en-GB" altLang="en-US" sz="831">
              <a:solidFill>
                <a:schemeClr val="bg1"/>
              </a:solidFill>
            </a:endParaRPr>
          </a:p>
        </p:txBody>
      </p:sp>
      <p:sp>
        <p:nvSpPr>
          <p:cNvPr id="60418" name="Title 1"/>
          <p:cNvSpPr>
            <a:spLocks noGrp="1"/>
          </p:cNvSpPr>
          <p:nvPr>
            <p:ph type="title"/>
          </p:nvPr>
        </p:nvSpPr>
        <p:spPr>
          <a:xfrm>
            <a:off x="0" y="890529"/>
            <a:ext cx="8520600" cy="572700"/>
          </a:xfrm>
        </p:spPr>
        <p:txBody>
          <a:bodyPr/>
          <a:lstStyle/>
          <a:p>
            <a:r>
              <a:rPr lang="en-GB" altLang="en-US" sz="2100" dirty="0">
                <a:solidFill>
                  <a:schemeClr val="tx1"/>
                </a:solidFill>
                <a:latin typeface="Georgia" panose="02040502050405020303" pitchFamily="18" charset="0"/>
              </a:rPr>
              <a:t>Eye Tracking Software</a:t>
            </a:r>
          </a:p>
        </p:txBody>
      </p:sp>
      <p:sp>
        <p:nvSpPr>
          <p:cNvPr id="60419" name="Content Placeholder 2"/>
          <p:cNvSpPr>
            <a:spLocks noGrp="1"/>
          </p:cNvSpPr>
          <p:nvPr>
            <p:ph idx="4294967295"/>
          </p:nvPr>
        </p:nvSpPr>
        <p:spPr>
          <a:xfrm>
            <a:off x="450804" y="4245621"/>
            <a:ext cx="8520600" cy="747712"/>
          </a:xfrm>
        </p:spPr>
        <p:txBody>
          <a:bodyPr/>
          <a:lstStyle/>
          <a:p>
            <a:pPr marL="0" indent="0">
              <a:buNone/>
            </a:pPr>
            <a:r>
              <a:rPr lang="en-GB" altLang="en-US" sz="1108" b="1" dirty="0"/>
              <a:t>Client: </a:t>
            </a:r>
            <a:r>
              <a:rPr lang="en-GB" altLang="en-US" sz="1108" dirty="0"/>
              <a:t>Division of Psychology (Bradford) and Institute of Psychological Sciences (Leeds) </a:t>
            </a:r>
          </a:p>
          <a:p>
            <a:pPr marL="0" indent="0">
              <a:buNone/>
            </a:pPr>
            <a:r>
              <a:rPr lang="en-GB" altLang="en-US" sz="1108" b="1" dirty="0"/>
              <a:t>Project: </a:t>
            </a:r>
            <a:r>
              <a:rPr lang="en-GB" altLang="en-US" sz="1108" dirty="0"/>
              <a:t>Eye/Pupil tracking software can be implemented and used on a tablet and/or phone device to enable recording of gaze position. Capture and store the information in an appropriate form for post-hoc analysis</a:t>
            </a:r>
          </a:p>
        </p:txBody>
      </p:sp>
      <p:sp>
        <p:nvSpPr>
          <p:cNvPr id="60420" name="Date Placeholder 3"/>
          <p:cNvSpPr>
            <a:spLocks noGrp="1"/>
          </p:cNvSpPr>
          <p:nvPr>
            <p:ph type="dt" sz="half"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fld id="{53B62EAA-62FD-40C0-869D-36A9F37B192C}" type="datetime3">
              <a:rPr lang="en-GB" altLang="en-US" sz="831">
                <a:solidFill>
                  <a:schemeClr val="bg1"/>
                </a:solidFill>
              </a:rPr>
              <a:pPr>
                <a:spcBef>
                  <a:spcPct val="0"/>
                </a:spcBef>
                <a:buFontTx/>
                <a:buNone/>
              </a:pPr>
              <a:t>19 September, 2025</a:t>
            </a:fld>
            <a:endParaRPr lang="en-GB" altLang="en-US" sz="831">
              <a:solidFill>
                <a:schemeClr val="bg1"/>
              </a:solidFill>
            </a:endParaRPr>
          </a:p>
        </p:txBody>
      </p:sp>
      <p:pic>
        <p:nvPicPr>
          <p:cNvPr id="7" name="eye-tracking.mp4">
            <a:hlinkClick r:id="" action="ppaction://media"/>
          </p:cNvPr>
          <p:cNvPicPr>
            <a:picLocks noRot="1" noChangeAspect="1"/>
          </p:cNvPicPr>
          <p:nvPr>
            <a:videoFile r:link="rId1"/>
          </p:nvPr>
        </p:nvPicPr>
        <p:blipFill>
          <a:blip r:embed="rId3">
            <a:extLst>
              <a:ext uri="{28A0092B-C50C-407E-A947-70E740481C1C}">
                <a14:useLocalDpi xmlns:a14="http://schemas.microsoft.com/office/drawing/2010/main" val="0"/>
              </a:ext>
            </a:extLst>
          </a:blip>
          <a:srcRect/>
          <a:stretch>
            <a:fillRect/>
          </a:stretch>
        </p:blipFill>
        <p:spPr bwMode="auto">
          <a:xfrm>
            <a:off x="2439144" y="1463229"/>
            <a:ext cx="4885226" cy="276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317715" y="1463229"/>
            <a:ext cx="2121429" cy="369332"/>
          </a:xfrm>
          <a:prstGeom prst="rect">
            <a:avLst/>
          </a:prstGeom>
          <a:noFill/>
        </p:spPr>
        <p:txBody>
          <a:bodyPr wrap="square" rtlCol="0">
            <a:spAutoFit/>
          </a:bodyPr>
          <a:lstStyle/>
          <a:p>
            <a:r>
              <a:rPr lang="en-GB" sz="1800" b="1" dirty="0">
                <a:solidFill>
                  <a:srgbClr val="7030A0"/>
                </a:solidFill>
              </a:rPr>
              <a:t>Example #3</a:t>
            </a:r>
          </a:p>
        </p:txBody>
      </p:sp>
      <p:sp>
        <p:nvSpPr>
          <p:cNvPr id="10" name="Title 1"/>
          <p:cNvSpPr txBox="1">
            <a:spLocks/>
          </p:cNvSpPr>
          <p:nvPr/>
        </p:nvSpPr>
        <p:spPr bwMode="auto">
          <a:xfrm>
            <a:off x="1773924" y="103831"/>
            <a:ext cx="5874361" cy="39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GB" altLang="en-US" sz="2700" b="1" dirty="0">
                <a:solidFill>
                  <a:schemeClr val="bg1"/>
                </a:solidFill>
                <a:latin typeface="Georgia" panose="02040502050405020303" pitchFamily="18" charset="0"/>
              </a:rPr>
              <a:t>Existing Work @ Bradford</a:t>
            </a:r>
          </a:p>
        </p:txBody>
      </p:sp>
      <p:sp>
        <p:nvSpPr>
          <p:cNvPr id="2" name="TextBox 1">
            <a:extLst>
              <a:ext uri="{FF2B5EF4-FFF2-40B4-BE49-F238E27FC236}">
                <a16:creationId xmlns:a16="http://schemas.microsoft.com/office/drawing/2014/main" id="{AA235F69-81AC-9275-12E9-6C4340FDC11F}"/>
              </a:ext>
            </a:extLst>
          </p:cNvPr>
          <p:cNvSpPr txBox="1"/>
          <p:nvPr/>
        </p:nvSpPr>
        <p:spPr>
          <a:xfrm>
            <a:off x="3275856" y="4909808"/>
            <a:ext cx="4590510" cy="219291"/>
          </a:xfrm>
          <a:prstGeom prst="rect">
            <a:avLst/>
          </a:prstGeom>
          <a:noFill/>
        </p:spPr>
        <p:txBody>
          <a:bodyPr wrap="square" rtlCol="0">
            <a:spAutoFit/>
          </a:bodyPr>
          <a:lstStyle/>
          <a:p>
            <a:pPr algn="r"/>
            <a:r>
              <a:rPr lang="en-GB" sz="825" dirty="0">
                <a:solidFill>
                  <a:schemeClr val="bg1"/>
                </a:solidFill>
                <a:latin typeface="Eras Medium ITC" panose="020B0602030504020804" pitchFamily="34" charset="0"/>
              </a:rPr>
              <a:t>School Of Computer Science, AI and Electronic</a:t>
            </a:r>
          </a:p>
        </p:txBody>
      </p:sp>
    </p:spTree>
    <p:extLst>
      <p:ext uri="{BB962C8B-B14F-4D97-AF65-F5344CB8AC3E}">
        <p14:creationId xmlns:p14="http://schemas.microsoft.com/office/powerpoint/2010/main" val="8282889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Slide Number Placeholder 5"/>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fld id="{2B64E35B-6B09-4D61-9AB8-24B2AC1782CD}" type="slidenum">
              <a:rPr lang="en-GB" altLang="en-US" sz="831">
                <a:solidFill>
                  <a:schemeClr val="bg1"/>
                </a:solidFill>
              </a:rPr>
              <a:pPr>
                <a:spcBef>
                  <a:spcPct val="0"/>
                </a:spcBef>
                <a:buFontTx/>
                <a:buNone/>
              </a:pPr>
              <a:t>14</a:t>
            </a:fld>
            <a:endParaRPr lang="en-GB" altLang="en-US" sz="831">
              <a:solidFill>
                <a:schemeClr val="bg1"/>
              </a:solidFill>
            </a:endParaRPr>
          </a:p>
        </p:txBody>
      </p:sp>
      <p:sp>
        <p:nvSpPr>
          <p:cNvPr id="61442" name="Title 1"/>
          <p:cNvSpPr>
            <a:spLocks noGrp="1"/>
          </p:cNvSpPr>
          <p:nvPr>
            <p:ph type="title"/>
          </p:nvPr>
        </p:nvSpPr>
        <p:spPr>
          <a:xfrm>
            <a:off x="6679264" y="1428941"/>
            <a:ext cx="1938042" cy="572700"/>
          </a:xfrm>
        </p:spPr>
        <p:txBody>
          <a:bodyPr/>
          <a:lstStyle/>
          <a:p>
            <a:r>
              <a:rPr lang="en-GB" altLang="en-US" sz="1800" dirty="0">
                <a:solidFill>
                  <a:schemeClr val="tx1"/>
                </a:solidFill>
                <a:latin typeface="Georgia" panose="02040502050405020303" pitchFamily="18" charset="0"/>
              </a:rPr>
              <a:t>Chemistry App</a:t>
            </a:r>
          </a:p>
        </p:txBody>
      </p:sp>
      <p:sp>
        <p:nvSpPr>
          <p:cNvPr id="3" name="Content Placeholder 2"/>
          <p:cNvSpPr>
            <a:spLocks noGrp="1"/>
          </p:cNvSpPr>
          <p:nvPr>
            <p:ph idx="4294967295"/>
          </p:nvPr>
        </p:nvSpPr>
        <p:spPr>
          <a:xfrm>
            <a:off x="-16531" y="1817358"/>
            <a:ext cx="2974622" cy="3092450"/>
          </a:xfrm>
        </p:spPr>
        <p:txBody>
          <a:bodyPr>
            <a:normAutofit fontScale="40000" lnSpcReduction="20000"/>
          </a:bodyPr>
          <a:lstStyle/>
          <a:p>
            <a:pPr>
              <a:defRPr/>
            </a:pPr>
            <a:r>
              <a:rPr lang="en-GB" dirty="0"/>
              <a:t>Chemistry App (designed for Chemical Forensic Society) is a cell based display of all currently known periodic elements in the style of the traditional periodic table everyone knows and loves.</a:t>
            </a:r>
          </a:p>
          <a:p>
            <a:pPr>
              <a:defRPr/>
            </a:pPr>
            <a:r>
              <a:rPr lang="en-GB" dirty="0"/>
              <a:t>Functional and interactive periodic table, complete with element statistics and an easy to use atomic mass calculator.</a:t>
            </a:r>
          </a:p>
          <a:p>
            <a:pPr>
              <a:defRPr/>
            </a:pPr>
            <a:r>
              <a:rPr lang="en-GB" dirty="0"/>
              <a:t>Features:</a:t>
            </a:r>
          </a:p>
          <a:p>
            <a:pPr marL="0" indent="0">
              <a:buNone/>
              <a:defRPr/>
            </a:pPr>
            <a:r>
              <a:rPr lang="en-GB" dirty="0"/>
              <a:t>	1) 118 Elements.</a:t>
            </a:r>
          </a:p>
          <a:p>
            <a:pPr marL="0" indent="0">
              <a:buNone/>
              <a:defRPr/>
            </a:pPr>
            <a:r>
              <a:rPr lang="en-GB" dirty="0"/>
              <a:t>	2) Atomic number, atomic mass, electron shells, symbol, and name.</a:t>
            </a:r>
          </a:p>
          <a:p>
            <a:pPr marL="0" indent="0">
              <a:buNone/>
              <a:defRPr/>
            </a:pPr>
            <a:r>
              <a:rPr lang="en-GB" dirty="0"/>
              <a:t>	3) Zoom-able periodic table.</a:t>
            </a:r>
          </a:p>
          <a:p>
            <a:pPr>
              <a:defRPr/>
            </a:pPr>
            <a:endParaRPr lang="en-GB" dirty="0"/>
          </a:p>
          <a:p>
            <a:pPr>
              <a:defRPr/>
            </a:pPr>
            <a:endParaRPr lang="en-GB" dirty="0"/>
          </a:p>
        </p:txBody>
      </p:sp>
      <p:sp>
        <p:nvSpPr>
          <p:cNvPr id="61444" name="Date Placeholder 3"/>
          <p:cNvSpPr>
            <a:spLocks noGrp="1"/>
          </p:cNvSpPr>
          <p:nvPr>
            <p:ph type="dt" sz="half"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1661">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514363" indent="-197832">
              <a:spcBef>
                <a:spcPct val="20000"/>
              </a:spcBef>
              <a:buFont typeface="Arial" panose="020B0604020202020204" pitchFamily="34" charset="0"/>
              <a:buChar char="–"/>
              <a:defRPr sz="1385">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791327" indent="-158266">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107859"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1424390" indent="-158266">
              <a:spcBef>
                <a:spcPct val="20000"/>
              </a:spcBef>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1740920"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057452"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237398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2690513" indent="-158266" eaLnBrk="0" fontAlgn="base" hangingPunct="0">
              <a:spcBef>
                <a:spcPct val="20000"/>
              </a:spcBef>
              <a:spcAft>
                <a:spcPct val="0"/>
              </a:spcAft>
              <a:buFont typeface="Arial" panose="020B0604020202020204" pitchFamily="34" charset="0"/>
              <a:buChar char="»"/>
              <a:defRPr sz="1108">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endParaRPr lang="en-GB" altLang="en-US" sz="831" dirty="0">
              <a:solidFill>
                <a:schemeClr val="bg1"/>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4622" y="1020464"/>
            <a:ext cx="3472964" cy="371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0" y="1376737"/>
            <a:ext cx="2439144" cy="338554"/>
          </a:xfrm>
          <a:prstGeom prst="rect">
            <a:avLst/>
          </a:prstGeom>
          <a:noFill/>
        </p:spPr>
        <p:txBody>
          <a:bodyPr wrap="square" rtlCol="0">
            <a:spAutoFit/>
          </a:bodyPr>
          <a:lstStyle/>
          <a:p>
            <a:r>
              <a:rPr lang="en-GB" sz="1600" b="1" dirty="0">
                <a:solidFill>
                  <a:srgbClr val="7030A0"/>
                </a:solidFill>
              </a:rPr>
              <a:t>Example #4</a:t>
            </a:r>
          </a:p>
        </p:txBody>
      </p:sp>
      <p:sp>
        <p:nvSpPr>
          <p:cNvPr id="10" name="Title 1"/>
          <p:cNvSpPr txBox="1">
            <a:spLocks/>
          </p:cNvSpPr>
          <p:nvPr/>
        </p:nvSpPr>
        <p:spPr bwMode="auto">
          <a:xfrm>
            <a:off x="1773924" y="103831"/>
            <a:ext cx="5874361" cy="39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GB" altLang="en-US" sz="2700" b="1" dirty="0">
                <a:solidFill>
                  <a:schemeClr val="bg1"/>
                </a:solidFill>
                <a:latin typeface="Georgia" panose="02040502050405020303" pitchFamily="18" charset="0"/>
              </a:rPr>
              <a:t>Existing Work @ Bradford</a:t>
            </a:r>
          </a:p>
        </p:txBody>
      </p:sp>
      <p:sp>
        <p:nvSpPr>
          <p:cNvPr id="4" name="TextBox 3">
            <a:extLst>
              <a:ext uri="{FF2B5EF4-FFF2-40B4-BE49-F238E27FC236}">
                <a16:creationId xmlns:a16="http://schemas.microsoft.com/office/drawing/2014/main" id="{C71D8CB7-6FF1-3AC6-EB72-85B605F648E1}"/>
              </a:ext>
            </a:extLst>
          </p:cNvPr>
          <p:cNvSpPr txBox="1"/>
          <p:nvPr/>
        </p:nvSpPr>
        <p:spPr>
          <a:xfrm>
            <a:off x="3275856" y="4909808"/>
            <a:ext cx="4590510" cy="219291"/>
          </a:xfrm>
          <a:prstGeom prst="rect">
            <a:avLst/>
          </a:prstGeom>
          <a:noFill/>
        </p:spPr>
        <p:txBody>
          <a:bodyPr wrap="square" rtlCol="0">
            <a:spAutoFit/>
          </a:bodyPr>
          <a:lstStyle/>
          <a:p>
            <a:pPr algn="r"/>
            <a:r>
              <a:rPr lang="en-GB" sz="825" dirty="0">
                <a:solidFill>
                  <a:schemeClr val="bg1"/>
                </a:solidFill>
                <a:latin typeface="Eras Medium ITC" panose="020B0602030504020804" pitchFamily="34" charset="0"/>
              </a:rPr>
              <a:t>School Of Computer Science, AI and Electronic</a:t>
            </a:r>
          </a:p>
        </p:txBody>
      </p:sp>
    </p:spTree>
    <p:extLst>
      <p:ext uri="{BB962C8B-B14F-4D97-AF65-F5344CB8AC3E}">
        <p14:creationId xmlns:p14="http://schemas.microsoft.com/office/powerpoint/2010/main" val="35818165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5"/>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a:xfrm>
            <a:off x="2276475" y="1493508"/>
            <a:ext cx="5476875" cy="3416300"/>
          </a:xfrm>
        </p:spPr>
      </p:pic>
      <p:sp>
        <p:nvSpPr>
          <p:cNvPr id="8" name="Title 1"/>
          <p:cNvSpPr txBox="1">
            <a:spLocks/>
          </p:cNvSpPr>
          <p:nvPr/>
        </p:nvSpPr>
        <p:spPr bwMode="auto">
          <a:xfrm>
            <a:off x="1601670" y="934949"/>
            <a:ext cx="6363891" cy="47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US" altLang="en-US" sz="2100" b="1" dirty="0">
                <a:solidFill>
                  <a:schemeClr val="tx1"/>
                </a:solidFill>
                <a:latin typeface="Georgia" panose="02040502050405020303" pitchFamily="18" charset="0"/>
              </a:rPr>
              <a:t>Fall Detection </a:t>
            </a:r>
            <a:r>
              <a:rPr lang="mr-IN" altLang="en-US" sz="2100" b="1" dirty="0">
                <a:solidFill>
                  <a:schemeClr val="tx1"/>
                </a:solidFill>
                <a:latin typeface="Georgia" panose="02040502050405020303" pitchFamily="18" charset="0"/>
              </a:rPr>
              <a:t>–</a:t>
            </a:r>
            <a:r>
              <a:rPr lang="en-US" altLang="en-US" sz="2100" b="1" dirty="0">
                <a:solidFill>
                  <a:schemeClr val="tx1"/>
                </a:solidFill>
                <a:latin typeface="Georgia" panose="02040502050405020303" pitchFamily="18" charset="0"/>
              </a:rPr>
              <a:t> Digital Health app</a:t>
            </a:r>
          </a:p>
        </p:txBody>
      </p:sp>
      <p:sp>
        <p:nvSpPr>
          <p:cNvPr id="9" name="TextBox 8"/>
          <p:cNvSpPr txBox="1"/>
          <p:nvPr/>
        </p:nvSpPr>
        <p:spPr>
          <a:xfrm>
            <a:off x="147011" y="1493508"/>
            <a:ext cx="1846175" cy="338554"/>
          </a:xfrm>
          <a:prstGeom prst="rect">
            <a:avLst/>
          </a:prstGeom>
          <a:noFill/>
        </p:spPr>
        <p:txBody>
          <a:bodyPr wrap="square" rtlCol="0">
            <a:spAutoFit/>
          </a:bodyPr>
          <a:lstStyle/>
          <a:p>
            <a:r>
              <a:rPr lang="en-GB" sz="1600" b="1" dirty="0">
                <a:solidFill>
                  <a:srgbClr val="7030A0"/>
                </a:solidFill>
              </a:rPr>
              <a:t>Example #5</a:t>
            </a:r>
          </a:p>
        </p:txBody>
      </p:sp>
      <p:sp>
        <p:nvSpPr>
          <p:cNvPr id="10" name="Title 1"/>
          <p:cNvSpPr txBox="1">
            <a:spLocks/>
          </p:cNvSpPr>
          <p:nvPr/>
        </p:nvSpPr>
        <p:spPr bwMode="auto">
          <a:xfrm>
            <a:off x="1773924" y="103831"/>
            <a:ext cx="5874361" cy="39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GB" altLang="en-US" sz="2700" b="1" dirty="0">
                <a:solidFill>
                  <a:schemeClr val="bg1"/>
                </a:solidFill>
                <a:latin typeface="Georgia" panose="02040502050405020303" pitchFamily="18" charset="0"/>
              </a:rPr>
              <a:t>Existing Work @ Bradford</a:t>
            </a:r>
          </a:p>
        </p:txBody>
      </p:sp>
    </p:spTree>
    <p:extLst>
      <p:ext uri="{BB962C8B-B14F-4D97-AF65-F5344CB8AC3E}">
        <p14:creationId xmlns:p14="http://schemas.microsoft.com/office/powerpoint/2010/main" val="1183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sz="3200" dirty="0">
                <a:solidFill>
                  <a:schemeClr val="bg1"/>
                </a:solidFill>
                <a:latin typeface="Georgia" panose="02040502050405020303" pitchFamily="18" charset="0"/>
              </a:rPr>
              <a:t>Android</a:t>
            </a:r>
            <a:r>
              <a:rPr lang="en-GB" sz="3200" spc="-116" dirty="0">
                <a:solidFill>
                  <a:schemeClr val="bg1"/>
                </a:solidFill>
                <a:latin typeface="Georgia" panose="02040502050405020303" pitchFamily="18" charset="0"/>
              </a:rPr>
              <a:t> </a:t>
            </a:r>
            <a:r>
              <a:rPr lang="en-GB" sz="3200" dirty="0">
                <a:solidFill>
                  <a:schemeClr val="bg1"/>
                </a:solidFill>
                <a:latin typeface="Georgia" panose="02040502050405020303" pitchFamily="18" charset="0"/>
              </a:rPr>
              <a:t>Studio</a:t>
            </a:r>
            <a:r>
              <a:rPr lang="en-GB" sz="3200" spc="-60" dirty="0">
                <a:solidFill>
                  <a:schemeClr val="bg1"/>
                </a:solidFill>
                <a:latin typeface="Georgia" panose="02040502050405020303" pitchFamily="18" charset="0"/>
              </a:rPr>
              <a:t> </a:t>
            </a:r>
            <a:r>
              <a:rPr lang="en-GB" sz="3200" spc="-158" dirty="0">
                <a:solidFill>
                  <a:schemeClr val="bg1"/>
                </a:solidFill>
                <a:latin typeface="Georgia" panose="02040502050405020303" pitchFamily="18" charset="0"/>
              </a:rPr>
              <a:t>+</a:t>
            </a:r>
            <a:r>
              <a:rPr lang="en-GB" sz="3200" dirty="0">
                <a:solidFill>
                  <a:schemeClr val="bg1"/>
                </a:solidFill>
                <a:latin typeface="Georgia" panose="02040502050405020303" pitchFamily="18" charset="0"/>
              </a:rPr>
              <a:t> </a:t>
            </a:r>
            <a:r>
              <a:rPr lang="en-GB" sz="3200" spc="-75" dirty="0">
                <a:solidFill>
                  <a:schemeClr val="bg1"/>
                </a:solidFill>
                <a:latin typeface="Georgia" panose="02040502050405020303" pitchFamily="18" charset="0"/>
              </a:rPr>
              <a:t>Java</a:t>
            </a:r>
            <a:endParaRPr lang="en-GB" sz="3200" dirty="0">
              <a:solidFill>
                <a:schemeClr val="bg1"/>
              </a:solidFill>
            </a:endParaRPr>
          </a:p>
        </p:txBody>
      </p:sp>
      <p:sp>
        <p:nvSpPr>
          <p:cNvPr id="7" name="object 2"/>
          <p:cNvSpPr txBox="1">
            <a:spLocks/>
          </p:cNvSpPr>
          <p:nvPr/>
        </p:nvSpPr>
        <p:spPr bwMode="auto">
          <a:xfrm>
            <a:off x="2087724" y="1969845"/>
            <a:ext cx="4806534" cy="425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5" rIns="0" bIns="0" numCol="1" rtlCol="0" anchor="ctr" anchorCtr="0" compatLnSpc="1">
            <a:prstTxWarp prst="textNoShape">
              <a:avLst/>
            </a:prstTxWarp>
            <a:spAutoFit/>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marL="9525">
              <a:spcBef>
                <a:spcPts val="75"/>
              </a:spcBef>
            </a:pPr>
            <a:r>
              <a:rPr lang="en-GB" sz="2700" b="1" dirty="0">
                <a:solidFill>
                  <a:srgbClr val="7030A0"/>
                </a:solidFill>
                <a:latin typeface="Georgia" panose="02040502050405020303" pitchFamily="18" charset="0"/>
              </a:rPr>
              <a:t>Android</a:t>
            </a:r>
            <a:r>
              <a:rPr lang="en-GB" sz="2700" b="1" spc="-116" dirty="0">
                <a:solidFill>
                  <a:srgbClr val="7030A0"/>
                </a:solidFill>
                <a:latin typeface="Georgia" panose="02040502050405020303" pitchFamily="18" charset="0"/>
              </a:rPr>
              <a:t> </a:t>
            </a:r>
            <a:r>
              <a:rPr lang="en-GB" sz="2700" b="1" dirty="0">
                <a:solidFill>
                  <a:srgbClr val="7030A0"/>
                </a:solidFill>
                <a:latin typeface="Georgia" panose="02040502050405020303" pitchFamily="18" charset="0"/>
              </a:rPr>
              <a:t>Studio</a:t>
            </a:r>
            <a:r>
              <a:rPr lang="en-GB" sz="2700" b="1" spc="-60" dirty="0">
                <a:solidFill>
                  <a:srgbClr val="7030A0"/>
                </a:solidFill>
                <a:latin typeface="Georgia" panose="02040502050405020303" pitchFamily="18" charset="0"/>
              </a:rPr>
              <a:t> </a:t>
            </a:r>
            <a:r>
              <a:rPr lang="en-GB" sz="2700" b="1" spc="-158" dirty="0">
                <a:solidFill>
                  <a:srgbClr val="7030A0"/>
                </a:solidFill>
                <a:latin typeface="Georgia" panose="02040502050405020303" pitchFamily="18" charset="0"/>
              </a:rPr>
              <a:t>+</a:t>
            </a:r>
            <a:r>
              <a:rPr lang="en-GB" sz="2700" b="1" dirty="0">
                <a:solidFill>
                  <a:srgbClr val="7030A0"/>
                </a:solidFill>
                <a:latin typeface="Georgia" panose="02040502050405020303" pitchFamily="18" charset="0"/>
              </a:rPr>
              <a:t> </a:t>
            </a:r>
            <a:r>
              <a:rPr lang="en-GB" sz="2700" b="1" spc="-75" dirty="0">
                <a:solidFill>
                  <a:srgbClr val="7030A0"/>
                </a:solidFill>
                <a:latin typeface="Georgia" panose="02040502050405020303" pitchFamily="18" charset="0"/>
              </a:rPr>
              <a:t>Java</a:t>
            </a:r>
          </a:p>
        </p:txBody>
      </p:sp>
      <p:pic>
        <p:nvPicPr>
          <p:cNvPr id="8" name="object 3"/>
          <p:cNvPicPr/>
          <p:nvPr/>
        </p:nvPicPr>
        <p:blipFill>
          <a:blip r:embed="rId2" cstate="print"/>
          <a:stretch>
            <a:fillRect/>
          </a:stretch>
        </p:blipFill>
        <p:spPr>
          <a:xfrm>
            <a:off x="6678235" y="2787774"/>
            <a:ext cx="864095" cy="1890527"/>
          </a:xfrm>
          <a:prstGeom prst="rect">
            <a:avLst/>
          </a:prstGeom>
        </p:spPr>
      </p:pic>
      <p:pic>
        <p:nvPicPr>
          <p:cNvPr id="9" name="object 5"/>
          <p:cNvPicPr/>
          <p:nvPr/>
        </p:nvPicPr>
        <p:blipFill>
          <a:blip r:embed="rId3" cstate="print"/>
          <a:stretch>
            <a:fillRect/>
          </a:stretch>
        </p:blipFill>
        <p:spPr>
          <a:xfrm>
            <a:off x="1512439" y="3265523"/>
            <a:ext cx="1025441" cy="1010904"/>
          </a:xfrm>
          <a:prstGeom prst="rect">
            <a:avLst/>
          </a:prstGeom>
        </p:spPr>
      </p:pic>
      <p:sp>
        <p:nvSpPr>
          <p:cNvPr id="10" name="object 2"/>
          <p:cNvSpPr txBox="1">
            <a:spLocks/>
          </p:cNvSpPr>
          <p:nvPr/>
        </p:nvSpPr>
        <p:spPr bwMode="auto">
          <a:xfrm>
            <a:off x="1512438" y="4329954"/>
            <a:ext cx="1218942" cy="194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5" rIns="0" bIns="0" numCol="1" rtlCol="0" anchor="b" anchorCtr="0" compatLnSpc="1">
            <a:prstTxWarp prst="textNoShape">
              <a:avLst/>
            </a:prstTxWarp>
            <a:spAutoFit/>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marL="9525">
              <a:spcBef>
                <a:spcPts val="75"/>
              </a:spcBef>
            </a:pPr>
            <a:r>
              <a:rPr lang="en-GB" sz="1200" b="1" dirty="0">
                <a:solidFill>
                  <a:srgbClr val="7030A0"/>
                </a:solidFill>
              </a:rPr>
              <a:t>Android</a:t>
            </a:r>
            <a:r>
              <a:rPr lang="en-GB" sz="1200" b="1" spc="-116" dirty="0">
                <a:solidFill>
                  <a:srgbClr val="7030A0"/>
                </a:solidFill>
              </a:rPr>
              <a:t> </a:t>
            </a:r>
            <a:r>
              <a:rPr lang="en-GB" sz="1200" b="1" dirty="0">
                <a:solidFill>
                  <a:srgbClr val="7030A0"/>
                </a:solidFill>
              </a:rPr>
              <a:t>Studio</a:t>
            </a:r>
            <a:endParaRPr lang="en-GB" sz="1200" b="1" spc="-75" dirty="0">
              <a:solidFill>
                <a:srgbClr val="7030A0"/>
              </a:solidFill>
            </a:endParaRPr>
          </a:p>
        </p:txBody>
      </p:sp>
    </p:spTree>
    <p:extLst>
      <p:ext uri="{BB962C8B-B14F-4D97-AF65-F5344CB8AC3E}">
        <p14:creationId xmlns:p14="http://schemas.microsoft.com/office/powerpoint/2010/main" val="3534263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p:nvPr/>
        </p:nvSpPr>
        <p:spPr>
          <a:xfrm>
            <a:off x="159490" y="1146512"/>
            <a:ext cx="8871493" cy="3515706"/>
          </a:xfrm>
          <a:prstGeom prst="rect">
            <a:avLst/>
          </a:prstGeom>
        </p:spPr>
        <p:txBody>
          <a:bodyPr vert="horz" wrap="square" lIns="0" tIns="17145" rIns="0" bIns="0" rtlCol="0">
            <a:spAutoFit/>
          </a:bodyPr>
          <a:lstStyle/>
          <a:p>
            <a:pPr marL="225266" marR="420053" indent="-216218">
              <a:spcBef>
                <a:spcPts val="135"/>
              </a:spcBef>
              <a:buChar char="-"/>
              <a:tabLst>
                <a:tab pos="225266" algn="l"/>
              </a:tabLst>
            </a:pPr>
            <a:r>
              <a:rPr sz="1800" dirty="0">
                <a:latin typeface="Lucida Sans" panose="020B0602030504020204" pitchFamily="34" charset="0"/>
              </a:rPr>
              <a:t>Unlike</a:t>
            </a:r>
            <a:r>
              <a:rPr sz="1800" spc="-23" dirty="0">
                <a:latin typeface="Lucida Sans" panose="020B0602030504020204" pitchFamily="34" charset="0"/>
              </a:rPr>
              <a:t> </a:t>
            </a:r>
            <a:r>
              <a:rPr sz="1800" dirty="0">
                <a:latin typeface="Lucida Sans" panose="020B0602030504020204" pitchFamily="34" charset="0"/>
              </a:rPr>
              <a:t>compiled</a:t>
            </a:r>
            <a:r>
              <a:rPr sz="1800" spc="-15" dirty="0">
                <a:latin typeface="Lucida Sans" panose="020B0602030504020204" pitchFamily="34" charset="0"/>
              </a:rPr>
              <a:t> </a:t>
            </a:r>
            <a:r>
              <a:rPr sz="1800" dirty="0">
                <a:latin typeface="Lucida Sans" panose="020B0602030504020204" pitchFamily="34" charset="0"/>
              </a:rPr>
              <a:t>languages</a:t>
            </a:r>
            <a:r>
              <a:rPr sz="1800" spc="-15" dirty="0">
                <a:latin typeface="Lucida Sans" panose="020B0602030504020204" pitchFamily="34" charset="0"/>
              </a:rPr>
              <a:t> </a:t>
            </a:r>
            <a:r>
              <a:rPr sz="1800" dirty="0">
                <a:latin typeface="Lucida Sans" panose="020B0602030504020204" pitchFamily="34" charset="0"/>
              </a:rPr>
              <a:t>(e.g.,</a:t>
            </a:r>
            <a:r>
              <a:rPr sz="1800" spc="-15" dirty="0">
                <a:latin typeface="Lucida Sans" panose="020B0602030504020204" pitchFamily="34" charset="0"/>
              </a:rPr>
              <a:t> </a:t>
            </a:r>
            <a:r>
              <a:rPr sz="1800" dirty="0">
                <a:latin typeface="Lucida Sans" panose="020B0602030504020204" pitchFamily="34" charset="0"/>
              </a:rPr>
              <a:t>Pascal</a:t>
            </a:r>
            <a:r>
              <a:rPr sz="1800" spc="-15" dirty="0">
                <a:latin typeface="Lucida Sans" panose="020B0602030504020204" pitchFamily="34" charset="0"/>
              </a:rPr>
              <a:t> </a:t>
            </a:r>
            <a:r>
              <a:rPr sz="1800" dirty="0">
                <a:latin typeface="Lucida Sans" panose="020B0602030504020204" pitchFamily="34" charset="0"/>
              </a:rPr>
              <a:t>or</a:t>
            </a:r>
            <a:r>
              <a:rPr sz="1800" spc="-15" dirty="0">
                <a:latin typeface="Lucida Sans" panose="020B0602030504020204" pitchFamily="34" charset="0"/>
              </a:rPr>
              <a:t> </a:t>
            </a:r>
            <a:r>
              <a:rPr sz="1800" dirty="0">
                <a:latin typeface="Lucida Sans" panose="020B0602030504020204" pitchFamily="34" charset="0"/>
              </a:rPr>
              <a:t>C),</a:t>
            </a:r>
            <a:r>
              <a:rPr sz="1800" spc="-15" dirty="0">
                <a:latin typeface="Lucida Sans" panose="020B0602030504020204" pitchFamily="34" charset="0"/>
              </a:rPr>
              <a:t> </a:t>
            </a:r>
            <a:r>
              <a:rPr sz="1800" dirty="0">
                <a:latin typeface="Lucida Sans" panose="020B0602030504020204" pitchFamily="34" charset="0"/>
              </a:rPr>
              <a:t>Java</a:t>
            </a:r>
            <a:r>
              <a:rPr sz="1800" spc="-15" dirty="0">
                <a:latin typeface="Lucida Sans" panose="020B0602030504020204" pitchFamily="34" charset="0"/>
              </a:rPr>
              <a:t> </a:t>
            </a:r>
            <a:r>
              <a:rPr sz="1800" dirty="0">
                <a:latin typeface="Lucida Sans" panose="020B0602030504020204" pitchFamily="34" charset="0"/>
              </a:rPr>
              <a:t>uses</a:t>
            </a:r>
            <a:r>
              <a:rPr sz="1800" spc="-15" dirty="0">
                <a:latin typeface="Lucida Sans" panose="020B0602030504020204" pitchFamily="34" charset="0"/>
              </a:rPr>
              <a:t> </a:t>
            </a:r>
            <a:r>
              <a:rPr sz="1800" dirty="0">
                <a:latin typeface="Lucida Sans" panose="020B0602030504020204" pitchFamily="34" charset="0"/>
              </a:rPr>
              <a:t>both</a:t>
            </a:r>
            <a:r>
              <a:rPr sz="1800" spc="-15" dirty="0">
                <a:latin typeface="Lucida Sans" panose="020B0602030504020204" pitchFamily="34" charset="0"/>
              </a:rPr>
              <a:t> </a:t>
            </a:r>
            <a:r>
              <a:rPr sz="1800" spc="-38" dirty="0">
                <a:latin typeface="Lucida Sans" panose="020B0602030504020204" pitchFamily="34" charset="0"/>
              </a:rPr>
              <a:t>a </a:t>
            </a:r>
            <a:r>
              <a:rPr sz="1800" dirty="0">
                <a:latin typeface="Lucida Sans" panose="020B0602030504020204" pitchFamily="34" charset="0"/>
              </a:rPr>
              <a:t>compiler</a:t>
            </a:r>
            <a:r>
              <a:rPr sz="1800" spc="-8" dirty="0">
                <a:latin typeface="Lucida Sans" panose="020B0602030504020204" pitchFamily="34" charset="0"/>
              </a:rPr>
              <a:t> </a:t>
            </a:r>
            <a:r>
              <a:rPr sz="1800" dirty="0">
                <a:latin typeface="Lucida Sans" panose="020B0602030504020204" pitchFamily="34" charset="0"/>
              </a:rPr>
              <a:t>and</a:t>
            </a:r>
            <a:r>
              <a:rPr sz="1800" spc="-8" dirty="0">
                <a:latin typeface="Lucida Sans" panose="020B0602030504020204" pitchFamily="34" charset="0"/>
              </a:rPr>
              <a:t> </a:t>
            </a:r>
            <a:r>
              <a:rPr sz="1800" dirty="0">
                <a:latin typeface="Lucida Sans" panose="020B0602030504020204" pitchFamily="34" charset="0"/>
              </a:rPr>
              <a:t>an</a:t>
            </a:r>
            <a:r>
              <a:rPr sz="1800" spc="-8" dirty="0">
                <a:latin typeface="Lucida Sans" panose="020B0602030504020204" pitchFamily="34" charset="0"/>
              </a:rPr>
              <a:t> interpreter.</a:t>
            </a:r>
            <a:endParaRPr lang="en-GB" sz="1800" spc="-8" dirty="0">
              <a:latin typeface="Lucida Sans" panose="020B0602030504020204" pitchFamily="34" charset="0"/>
            </a:endParaRPr>
          </a:p>
          <a:p>
            <a:pPr marL="225266" marR="420053" indent="-216218">
              <a:spcBef>
                <a:spcPts val="135"/>
              </a:spcBef>
              <a:buChar char="-"/>
              <a:tabLst>
                <a:tab pos="225266" algn="l"/>
              </a:tabLst>
            </a:pPr>
            <a:endParaRPr sz="1800" dirty="0">
              <a:latin typeface="Lucida Sans" panose="020B0602030504020204" pitchFamily="34" charset="0"/>
            </a:endParaRPr>
          </a:p>
          <a:p>
            <a:pPr marL="225266" marR="3810" indent="-216218">
              <a:buChar char="-"/>
              <a:tabLst>
                <a:tab pos="225266" algn="l"/>
              </a:tabLst>
            </a:pPr>
            <a:r>
              <a:rPr sz="1800" dirty="0">
                <a:latin typeface="Lucida Sans" panose="020B0602030504020204" pitchFamily="34" charset="0"/>
              </a:rPr>
              <a:t>Compiled</a:t>
            </a:r>
            <a:r>
              <a:rPr sz="1800" spc="-23" dirty="0">
                <a:latin typeface="Lucida Sans" panose="020B0602030504020204" pitchFamily="34" charset="0"/>
              </a:rPr>
              <a:t> </a:t>
            </a:r>
            <a:r>
              <a:rPr sz="1800" dirty="0">
                <a:latin typeface="Lucida Sans" panose="020B0602030504020204" pitchFamily="34" charset="0"/>
              </a:rPr>
              <a:t>languages</a:t>
            </a:r>
            <a:r>
              <a:rPr sz="1800" spc="-11" dirty="0">
                <a:latin typeface="Lucida Sans" panose="020B0602030504020204" pitchFamily="34" charset="0"/>
              </a:rPr>
              <a:t> </a:t>
            </a:r>
            <a:r>
              <a:rPr sz="1800" dirty="0">
                <a:latin typeface="Lucida Sans" panose="020B0602030504020204" pitchFamily="34" charset="0"/>
              </a:rPr>
              <a:t>need</a:t>
            </a:r>
            <a:r>
              <a:rPr sz="1800" spc="-11" dirty="0">
                <a:latin typeface="Lucida Sans" panose="020B0602030504020204" pitchFamily="34" charset="0"/>
              </a:rPr>
              <a:t> </a:t>
            </a:r>
            <a:r>
              <a:rPr sz="1800" dirty="0">
                <a:latin typeface="Lucida Sans" panose="020B0602030504020204" pitchFamily="34" charset="0"/>
              </a:rPr>
              <a:t>to</a:t>
            </a:r>
            <a:r>
              <a:rPr sz="1800" spc="-11" dirty="0">
                <a:latin typeface="Lucida Sans" panose="020B0602030504020204" pitchFamily="34" charset="0"/>
              </a:rPr>
              <a:t> </a:t>
            </a:r>
            <a:r>
              <a:rPr sz="1800" dirty="0">
                <a:latin typeface="Lucida Sans" panose="020B0602030504020204" pitchFamily="34" charset="0"/>
              </a:rPr>
              <a:t>be</a:t>
            </a:r>
            <a:r>
              <a:rPr sz="1800" spc="-11" dirty="0">
                <a:latin typeface="Lucida Sans" panose="020B0602030504020204" pitchFamily="34" charset="0"/>
              </a:rPr>
              <a:t> </a:t>
            </a:r>
            <a:r>
              <a:rPr sz="1800" spc="-8" dirty="0">
                <a:latin typeface="Lucida Sans" panose="020B0602030504020204" pitchFamily="34" charset="0"/>
              </a:rPr>
              <a:t>re-</a:t>
            </a:r>
            <a:r>
              <a:rPr sz="1800" dirty="0">
                <a:latin typeface="Lucida Sans" panose="020B0602030504020204" pitchFamily="34" charset="0"/>
              </a:rPr>
              <a:t>compiled</a:t>
            </a:r>
            <a:r>
              <a:rPr sz="1800" spc="-11" dirty="0">
                <a:latin typeface="Lucida Sans" panose="020B0602030504020204" pitchFamily="34" charset="0"/>
              </a:rPr>
              <a:t> </a:t>
            </a:r>
            <a:r>
              <a:rPr sz="1800" dirty="0">
                <a:latin typeface="Lucida Sans" panose="020B0602030504020204" pitchFamily="34" charset="0"/>
              </a:rPr>
              <a:t>when</a:t>
            </a:r>
            <a:r>
              <a:rPr sz="1800" spc="-11" dirty="0">
                <a:latin typeface="Lucida Sans" panose="020B0602030504020204" pitchFamily="34" charset="0"/>
              </a:rPr>
              <a:t> </a:t>
            </a:r>
            <a:r>
              <a:rPr sz="1800" dirty="0">
                <a:latin typeface="Lucida Sans" panose="020B0602030504020204" pitchFamily="34" charset="0"/>
              </a:rPr>
              <a:t>their</a:t>
            </a:r>
            <a:r>
              <a:rPr sz="1800" spc="-11" dirty="0">
                <a:latin typeface="Lucida Sans" panose="020B0602030504020204" pitchFamily="34" charset="0"/>
              </a:rPr>
              <a:t> </a:t>
            </a:r>
            <a:r>
              <a:rPr sz="1800" dirty="0">
                <a:latin typeface="Lucida Sans" panose="020B0602030504020204" pitchFamily="34" charset="0"/>
              </a:rPr>
              <a:t>program</a:t>
            </a:r>
            <a:r>
              <a:rPr sz="1800" spc="-11" dirty="0">
                <a:latin typeface="Lucida Sans" panose="020B0602030504020204" pitchFamily="34" charset="0"/>
              </a:rPr>
              <a:t> </a:t>
            </a:r>
            <a:r>
              <a:rPr sz="1800" spc="-8" dirty="0">
                <a:latin typeface="Lucida Sans" panose="020B0602030504020204" pitchFamily="34" charset="0"/>
              </a:rPr>
              <a:t>needs </a:t>
            </a:r>
            <a:r>
              <a:rPr sz="1800" dirty="0">
                <a:latin typeface="Lucida Sans" panose="020B0602030504020204" pitchFamily="34" charset="0"/>
              </a:rPr>
              <a:t>to</a:t>
            </a:r>
            <a:r>
              <a:rPr sz="1800" spc="-15" dirty="0">
                <a:latin typeface="Lucida Sans" panose="020B0602030504020204" pitchFamily="34" charset="0"/>
              </a:rPr>
              <a:t> </a:t>
            </a:r>
            <a:r>
              <a:rPr sz="1800" dirty="0">
                <a:latin typeface="Lucida Sans" panose="020B0602030504020204" pitchFamily="34" charset="0"/>
              </a:rPr>
              <a:t>run</a:t>
            </a:r>
            <a:r>
              <a:rPr sz="1800" spc="-11" dirty="0">
                <a:latin typeface="Lucida Sans" panose="020B0602030504020204" pitchFamily="34" charset="0"/>
              </a:rPr>
              <a:t> </a:t>
            </a:r>
            <a:r>
              <a:rPr sz="1800" dirty="0">
                <a:latin typeface="Lucida Sans" panose="020B0602030504020204" pitchFamily="34" charset="0"/>
              </a:rPr>
              <a:t>on</a:t>
            </a:r>
            <a:r>
              <a:rPr sz="1800" spc="-15" dirty="0">
                <a:latin typeface="Lucida Sans" panose="020B0602030504020204" pitchFamily="34" charset="0"/>
              </a:rPr>
              <a:t> </a:t>
            </a:r>
            <a:r>
              <a:rPr sz="1800" dirty="0">
                <a:latin typeface="Lucida Sans" panose="020B0602030504020204" pitchFamily="34" charset="0"/>
              </a:rPr>
              <a:t>a</a:t>
            </a:r>
            <a:r>
              <a:rPr sz="1800" spc="-11" dirty="0">
                <a:latin typeface="Lucida Sans" panose="020B0602030504020204" pitchFamily="34" charset="0"/>
              </a:rPr>
              <a:t> </a:t>
            </a:r>
            <a:r>
              <a:rPr sz="1800" dirty="0">
                <a:latin typeface="Lucida Sans" panose="020B0602030504020204" pitchFamily="34" charset="0"/>
              </a:rPr>
              <a:t>different</a:t>
            </a:r>
            <a:r>
              <a:rPr sz="1800" spc="-11" dirty="0">
                <a:latin typeface="Lucida Sans" panose="020B0602030504020204" pitchFamily="34" charset="0"/>
              </a:rPr>
              <a:t> </a:t>
            </a:r>
            <a:r>
              <a:rPr sz="1800" spc="-8" dirty="0">
                <a:latin typeface="Lucida Sans" panose="020B0602030504020204" pitchFamily="34" charset="0"/>
              </a:rPr>
              <a:t>architecture.</a:t>
            </a:r>
            <a:endParaRPr lang="en-GB" sz="1800" spc="-8" dirty="0">
              <a:latin typeface="Lucida Sans" panose="020B0602030504020204" pitchFamily="34" charset="0"/>
            </a:endParaRPr>
          </a:p>
          <a:p>
            <a:pPr marL="225266" marR="3810" indent="-216218">
              <a:buChar char="-"/>
              <a:tabLst>
                <a:tab pos="225266" algn="l"/>
              </a:tabLst>
            </a:pPr>
            <a:endParaRPr sz="1800" dirty="0">
              <a:latin typeface="Lucida Sans" panose="020B0602030504020204" pitchFamily="34" charset="0"/>
            </a:endParaRPr>
          </a:p>
          <a:p>
            <a:pPr marL="225266" marR="20003" indent="-216218">
              <a:buChar char="-"/>
              <a:tabLst>
                <a:tab pos="225266" algn="l"/>
              </a:tabLst>
            </a:pPr>
            <a:r>
              <a:rPr sz="1800" dirty="0">
                <a:latin typeface="Lucida Sans" panose="020B0602030504020204" pitchFamily="34" charset="0"/>
              </a:rPr>
              <a:t>Java</a:t>
            </a:r>
            <a:r>
              <a:rPr sz="1800" spc="-19" dirty="0">
                <a:latin typeface="Lucida Sans" panose="020B0602030504020204" pitchFamily="34" charset="0"/>
              </a:rPr>
              <a:t> </a:t>
            </a:r>
            <a:r>
              <a:rPr sz="1800" dirty="0">
                <a:latin typeface="Lucida Sans" panose="020B0602030504020204" pitchFamily="34" charset="0"/>
              </a:rPr>
              <a:t>is</a:t>
            </a:r>
            <a:r>
              <a:rPr sz="1800" spc="-15" dirty="0">
                <a:latin typeface="Lucida Sans" panose="020B0602030504020204" pitchFamily="34" charset="0"/>
              </a:rPr>
              <a:t> </a:t>
            </a:r>
            <a:r>
              <a:rPr sz="1800" dirty="0">
                <a:latin typeface="Lucida Sans" panose="020B0602030504020204" pitchFamily="34" charset="0"/>
              </a:rPr>
              <a:t>compiled</a:t>
            </a:r>
            <a:r>
              <a:rPr sz="1800" spc="-15" dirty="0">
                <a:latin typeface="Lucida Sans" panose="020B0602030504020204" pitchFamily="34" charset="0"/>
              </a:rPr>
              <a:t> </a:t>
            </a:r>
            <a:r>
              <a:rPr sz="1800" dirty="0">
                <a:latin typeface="Lucida Sans" panose="020B0602030504020204" pitchFamily="34" charset="0"/>
              </a:rPr>
              <a:t>(to</a:t>
            </a:r>
            <a:r>
              <a:rPr sz="1800" spc="-15" dirty="0">
                <a:latin typeface="Lucida Sans" panose="020B0602030504020204" pitchFamily="34" charset="0"/>
              </a:rPr>
              <a:t> </a:t>
            </a:r>
            <a:r>
              <a:rPr sz="1800" dirty="0">
                <a:latin typeface="Lucida Sans" panose="020B0602030504020204" pitchFamily="34" charset="0"/>
              </a:rPr>
              <a:t>java</a:t>
            </a:r>
            <a:r>
              <a:rPr sz="1800" spc="-19" dirty="0">
                <a:latin typeface="Lucida Sans" panose="020B0602030504020204" pitchFamily="34" charset="0"/>
              </a:rPr>
              <a:t> </a:t>
            </a:r>
            <a:r>
              <a:rPr sz="1800" dirty="0">
                <a:latin typeface="Lucida Sans" panose="020B0602030504020204" pitchFamily="34" charset="0"/>
              </a:rPr>
              <a:t>bytecode)</a:t>
            </a:r>
            <a:r>
              <a:rPr sz="1800" spc="-15" dirty="0">
                <a:latin typeface="Lucida Sans" panose="020B0602030504020204" pitchFamily="34" charset="0"/>
              </a:rPr>
              <a:t> </a:t>
            </a:r>
            <a:r>
              <a:rPr sz="1800" i="1" dirty="0">
                <a:latin typeface="Lucida Sans" panose="020B0602030504020204" pitchFamily="34" charset="0"/>
              </a:rPr>
              <a:t>and</a:t>
            </a:r>
            <a:r>
              <a:rPr sz="1800" i="1" spc="-15" dirty="0">
                <a:latin typeface="Lucida Sans" panose="020B0602030504020204" pitchFamily="34" charset="0"/>
              </a:rPr>
              <a:t> </a:t>
            </a:r>
            <a:r>
              <a:rPr sz="1800" dirty="0">
                <a:latin typeface="Lucida Sans" panose="020B0602030504020204" pitchFamily="34" charset="0"/>
              </a:rPr>
              <a:t>interpreted</a:t>
            </a:r>
            <a:r>
              <a:rPr sz="1800" spc="-15" dirty="0">
                <a:latin typeface="Lucida Sans" panose="020B0602030504020204" pitchFamily="34" charset="0"/>
              </a:rPr>
              <a:t> </a:t>
            </a:r>
            <a:r>
              <a:rPr sz="1800" dirty="0">
                <a:latin typeface="Lucida Sans" panose="020B0602030504020204" pitchFamily="34" charset="0"/>
              </a:rPr>
              <a:t>(by</a:t>
            </a:r>
            <a:r>
              <a:rPr sz="1800" spc="-15" dirty="0">
                <a:latin typeface="Lucida Sans" panose="020B0602030504020204" pitchFamily="34" charset="0"/>
              </a:rPr>
              <a:t> </a:t>
            </a:r>
            <a:r>
              <a:rPr sz="1800" dirty="0">
                <a:latin typeface="Lucida Sans" panose="020B0602030504020204" pitchFamily="34" charset="0"/>
              </a:rPr>
              <a:t>Java</a:t>
            </a:r>
            <a:r>
              <a:rPr sz="1800" spc="-19" dirty="0">
                <a:latin typeface="Lucida Sans" panose="020B0602030504020204" pitchFamily="34" charset="0"/>
              </a:rPr>
              <a:t> </a:t>
            </a:r>
            <a:r>
              <a:rPr sz="1800" spc="-8" dirty="0">
                <a:latin typeface="Lucida Sans" panose="020B0602030504020204" pitchFamily="34" charset="0"/>
              </a:rPr>
              <a:t>Virtual </a:t>
            </a:r>
            <a:r>
              <a:rPr sz="1800" dirty="0">
                <a:latin typeface="Lucida Sans" panose="020B0602030504020204" pitchFamily="34" charset="0"/>
              </a:rPr>
              <a:t>Machine),</a:t>
            </a:r>
            <a:r>
              <a:rPr sz="1800" spc="-26" dirty="0">
                <a:latin typeface="Lucida Sans" panose="020B0602030504020204" pitchFamily="34" charset="0"/>
              </a:rPr>
              <a:t> </a:t>
            </a:r>
            <a:r>
              <a:rPr sz="1800" dirty="0">
                <a:latin typeface="Lucida Sans" panose="020B0602030504020204" pitchFamily="34" charset="0"/>
              </a:rPr>
              <a:t>so</a:t>
            </a:r>
            <a:r>
              <a:rPr sz="1800" spc="-15" dirty="0">
                <a:latin typeface="Lucida Sans" panose="020B0602030504020204" pitchFamily="34" charset="0"/>
              </a:rPr>
              <a:t> </a:t>
            </a:r>
            <a:r>
              <a:rPr sz="1800" dirty="0">
                <a:latin typeface="Lucida Sans" panose="020B0602030504020204" pitchFamily="34" charset="0"/>
              </a:rPr>
              <a:t>any</a:t>
            </a:r>
            <a:r>
              <a:rPr sz="1800" spc="-15" dirty="0">
                <a:latin typeface="Lucida Sans" panose="020B0602030504020204" pitchFamily="34" charset="0"/>
              </a:rPr>
              <a:t> </a:t>
            </a:r>
            <a:r>
              <a:rPr sz="1800" dirty="0">
                <a:latin typeface="Lucida Sans" panose="020B0602030504020204" pitchFamily="34" charset="0"/>
              </a:rPr>
              <a:t>java</a:t>
            </a:r>
            <a:r>
              <a:rPr sz="1800" spc="-19" dirty="0">
                <a:latin typeface="Lucida Sans" panose="020B0602030504020204" pitchFamily="34" charset="0"/>
              </a:rPr>
              <a:t> </a:t>
            </a:r>
            <a:r>
              <a:rPr sz="1800" dirty="0">
                <a:latin typeface="Lucida Sans" panose="020B0602030504020204" pitchFamily="34" charset="0"/>
              </a:rPr>
              <a:t>program</a:t>
            </a:r>
            <a:r>
              <a:rPr sz="1800" spc="-15" dirty="0">
                <a:latin typeface="Lucida Sans" panose="020B0602030504020204" pitchFamily="34" charset="0"/>
              </a:rPr>
              <a:t> </a:t>
            </a:r>
            <a:r>
              <a:rPr sz="1800" dirty="0">
                <a:latin typeface="Lucida Sans" panose="020B0602030504020204" pitchFamily="34" charset="0"/>
              </a:rPr>
              <a:t>that’s</a:t>
            </a:r>
            <a:r>
              <a:rPr sz="1800" spc="-15" dirty="0">
                <a:latin typeface="Lucida Sans" panose="020B0602030504020204" pitchFamily="34" charset="0"/>
              </a:rPr>
              <a:t> </a:t>
            </a:r>
            <a:r>
              <a:rPr sz="1800" dirty="0">
                <a:latin typeface="Lucida Sans" panose="020B0602030504020204" pitchFamily="34" charset="0"/>
              </a:rPr>
              <a:t>compiled</a:t>
            </a:r>
            <a:r>
              <a:rPr sz="1800" spc="-19" dirty="0">
                <a:latin typeface="Lucida Sans" panose="020B0602030504020204" pitchFamily="34" charset="0"/>
              </a:rPr>
              <a:t> </a:t>
            </a:r>
            <a:r>
              <a:rPr sz="1800" dirty="0">
                <a:latin typeface="Lucida Sans" panose="020B0602030504020204" pitchFamily="34" charset="0"/>
              </a:rPr>
              <a:t>on</a:t>
            </a:r>
            <a:r>
              <a:rPr sz="1800" spc="-15" dirty="0">
                <a:latin typeface="Lucida Sans" panose="020B0602030504020204" pitchFamily="34" charset="0"/>
              </a:rPr>
              <a:t> </a:t>
            </a:r>
            <a:r>
              <a:rPr sz="1800" dirty="0">
                <a:latin typeface="Lucida Sans" panose="020B0602030504020204" pitchFamily="34" charset="0"/>
              </a:rPr>
              <a:t>one</a:t>
            </a:r>
            <a:r>
              <a:rPr sz="1800" spc="-15" dirty="0">
                <a:latin typeface="Lucida Sans" panose="020B0602030504020204" pitchFamily="34" charset="0"/>
              </a:rPr>
              <a:t> </a:t>
            </a:r>
            <a:r>
              <a:rPr sz="1800" dirty="0">
                <a:latin typeface="Lucida Sans" panose="020B0602030504020204" pitchFamily="34" charset="0"/>
              </a:rPr>
              <a:t>architecture</a:t>
            </a:r>
            <a:r>
              <a:rPr sz="1800" spc="-15" dirty="0">
                <a:latin typeface="Lucida Sans" panose="020B0602030504020204" pitchFamily="34" charset="0"/>
              </a:rPr>
              <a:t> </a:t>
            </a:r>
            <a:r>
              <a:rPr sz="1800" spc="-19" dirty="0">
                <a:latin typeface="Lucida Sans" panose="020B0602030504020204" pitchFamily="34" charset="0"/>
              </a:rPr>
              <a:t>can </a:t>
            </a:r>
            <a:r>
              <a:rPr sz="1800" dirty="0">
                <a:latin typeface="Lucida Sans" panose="020B0602030504020204" pitchFamily="34" charset="0"/>
              </a:rPr>
              <a:t>also</a:t>
            </a:r>
            <a:r>
              <a:rPr sz="1800" spc="-19" dirty="0">
                <a:latin typeface="Lucida Sans" panose="020B0602030504020204" pitchFamily="34" charset="0"/>
              </a:rPr>
              <a:t> </a:t>
            </a:r>
            <a:r>
              <a:rPr sz="1800" dirty="0">
                <a:latin typeface="Lucida Sans" panose="020B0602030504020204" pitchFamily="34" charset="0"/>
              </a:rPr>
              <a:t>run</a:t>
            </a:r>
            <a:r>
              <a:rPr sz="1800" spc="-11" dirty="0">
                <a:latin typeface="Lucida Sans" panose="020B0602030504020204" pitchFamily="34" charset="0"/>
              </a:rPr>
              <a:t> </a:t>
            </a:r>
            <a:r>
              <a:rPr sz="1800" dirty="0">
                <a:latin typeface="Lucida Sans" panose="020B0602030504020204" pitchFamily="34" charset="0"/>
              </a:rPr>
              <a:t>on</a:t>
            </a:r>
            <a:r>
              <a:rPr sz="1800" spc="-11" dirty="0">
                <a:latin typeface="Lucida Sans" panose="020B0602030504020204" pitchFamily="34" charset="0"/>
              </a:rPr>
              <a:t> </a:t>
            </a:r>
            <a:r>
              <a:rPr sz="1800" dirty="0">
                <a:latin typeface="Lucida Sans" panose="020B0602030504020204" pitchFamily="34" charset="0"/>
              </a:rPr>
              <a:t>any</a:t>
            </a:r>
            <a:r>
              <a:rPr sz="1800" spc="-11" dirty="0">
                <a:latin typeface="Lucida Sans" panose="020B0602030504020204" pitchFamily="34" charset="0"/>
              </a:rPr>
              <a:t> </a:t>
            </a:r>
            <a:r>
              <a:rPr sz="1800" dirty="0">
                <a:latin typeface="Lucida Sans" panose="020B0602030504020204" pitchFamily="34" charset="0"/>
              </a:rPr>
              <a:t>other</a:t>
            </a:r>
            <a:r>
              <a:rPr sz="1800" spc="-11" dirty="0">
                <a:latin typeface="Lucida Sans" panose="020B0602030504020204" pitchFamily="34" charset="0"/>
              </a:rPr>
              <a:t> </a:t>
            </a:r>
            <a:r>
              <a:rPr sz="1800" dirty="0">
                <a:latin typeface="Lucida Sans" panose="020B0602030504020204" pitchFamily="34" charset="0"/>
              </a:rPr>
              <a:t>architecture</a:t>
            </a:r>
            <a:r>
              <a:rPr sz="1800" spc="-11" dirty="0">
                <a:latin typeface="Lucida Sans" panose="020B0602030504020204" pitchFamily="34" charset="0"/>
              </a:rPr>
              <a:t> </a:t>
            </a:r>
            <a:r>
              <a:rPr sz="1800" dirty="0">
                <a:latin typeface="Lucida Sans" panose="020B0602030504020204" pitchFamily="34" charset="0"/>
              </a:rPr>
              <a:t>(as</a:t>
            </a:r>
            <a:r>
              <a:rPr sz="1800" spc="-8" dirty="0">
                <a:latin typeface="Lucida Sans" panose="020B0602030504020204" pitchFamily="34" charset="0"/>
              </a:rPr>
              <a:t> </a:t>
            </a:r>
            <a:r>
              <a:rPr sz="1800" dirty="0">
                <a:latin typeface="Lucida Sans" panose="020B0602030504020204" pitchFamily="34" charset="0"/>
              </a:rPr>
              <a:t>long</a:t>
            </a:r>
            <a:r>
              <a:rPr sz="1800" spc="-11" dirty="0">
                <a:latin typeface="Lucida Sans" panose="020B0602030504020204" pitchFamily="34" charset="0"/>
              </a:rPr>
              <a:t> </a:t>
            </a:r>
            <a:r>
              <a:rPr sz="1800" dirty="0">
                <a:latin typeface="Lucida Sans" panose="020B0602030504020204" pitchFamily="34" charset="0"/>
              </a:rPr>
              <a:t>as</a:t>
            </a:r>
            <a:r>
              <a:rPr sz="1800" spc="-11" dirty="0">
                <a:latin typeface="Lucida Sans" panose="020B0602030504020204" pitchFamily="34" charset="0"/>
              </a:rPr>
              <a:t> </a:t>
            </a:r>
            <a:r>
              <a:rPr sz="1800" dirty="0">
                <a:latin typeface="Lucida Sans" panose="020B0602030504020204" pitchFamily="34" charset="0"/>
              </a:rPr>
              <a:t>it</a:t>
            </a:r>
            <a:r>
              <a:rPr sz="1800" spc="-11" dirty="0">
                <a:latin typeface="Lucida Sans" panose="020B0602030504020204" pitchFamily="34" charset="0"/>
              </a:rPr>
              <a:t> </a:t>
            </a:r>
            <a:r>
              <a:rPr sz="1800" dirty="0">
                <a:latin typeface="Lucida Sans" panose="020B0602030504020204" pitchFamily="34" charset="0"/>
              </a:rPr>
              <a:t>has</a:t>
            </a:r>
            <a:r>
              <a:rPr sz="1800" spc="-11" dirty="0">
                <a:latin typeface="Lucida Sans" panose="020B0602030504020204" pitchFamily="34" charset="0"/>
              </a:rPr>
              <a:t> </a:t>
            </a:r>
            <a:r>
              <a:rPr sz="1800" dirty="0">
                <a:latin typeface="Lucida Sans" panose="020B0602030504020204" pitchFamily="34" charset="0"/>
              </a:rPr>
              <a:t>a</a:t>
            </a:r>
            <a:r>
              <a:rPr sz="1800" spc="-11" dirty="0">
                <a:latin typeface="Lucida Sans" panose="020B0602030504020204" pitchFamily="34" charset="0"/>
              </a:rPr>
              <a:t> </a:t>
            </a:r>
            <a:r>
              <a:rPr sz="1800" dirty="0">
                <a:latin typeface="Lucida Sans" panose="020B0602030504020204" pitchFamily="34" charset="0"/>
              </a:rPr>
              <a:t>java</a:t>
            </a:r>
            <a:r>
              <a:rPr sz="1800" spc="-8" dirty="0">
                <a:latin typeface="Lucida Sans" panose="020B0602030504020204" pitchFamily="34" charset="0"/>
              </a:rPr>
              <a:t> interpreter).</a:t>
            </a:r>
            <a:endParaRPr lang="en-GB" sz="1800" spc="-8" dirty="0">
              <a:latin typeface="Lucida Sans" panose="020B0602030504020204" pitchFamily="34" charset="0"/>
            </a:endParaRPr>
          </a:p>
          <a:p>
            <a:pPr marL="225266" marR="20003" indent="-216218">
              <a:buChar char="-"/>
              <a:tabLst>
                <a:tab pos="225266" algn="l"/>
              </a:tabLst>
            </a:pPr>
            <a:endParaRPr sz="1800" dirty="0">
              <a:latin typeface="Lucida Sans" panose="020B0602030504020204" pitchFamily="34" charset="0"/>
            </a:endParaRPr>
          </a:p>
          <a:p>
            <a:pPr marL="225266" marR="79534" indent="-216218">
              <a:buChar char="-"/>
              <a:tabLst>
                <a:tab pos="225266" algn="l"/>
              </a:tabLst>
            </a:pPr>
            <a:r>
              <a:rPr sz="1800" dirty="0">
                <a:latin typeface="Lucida Sans" panose="020B0602030504020204" pitchFamily="34" charset="0"/>
              </a:rPr>
              <a:t>Android</a:t>
            </a:r>
            <a:r>
              <a:rPr sz="1800" spc="-26" dirty="0">
                <a:latin typeface="Lucida Sans" panose="020B0602030504020204" pitchFamily="34" charset="0"/>
              </a:rPr>
              <a:t> </a:t>
            </a:r>
            <a:r>
              <a:rPr sz="1800" dirty="0">
                <a:latin typeface="Lucida Sans" panose="020B0602030504020204" pitchFamily="34" charset="0"/>
              </a:rPr>
              <a:t>Studio</a:t>
            </a:r>
            <a:r>
              <a:rPr sz="1800" spc="-19" dirty="0">
                <a:latin typeface="Lucida Sans" panose="020B0602030504020204" pitchFamily="34" charset="0"/>
              </a:rPr>
              <a:t> </a:t>
            </a:r>
            <a:r>
              <a:rPr sz="1800" dirty="0">
                <a:latin typeface="Lucida Sans" panose="020B0602030504020204" pitchFamily="34" charset="0"/>
              </a:rPr>
              <a:t>comes</a:t>
            </a:r>
            <a:r>
              <a:rPr sz="1800" spc="-19" dirty="0">
                <a:latin typeface="Lucida Sans" panose="020B0602030504020204" pitchFamily="34" charset="0"/>
              </a:rPr>
              <a:t> </a:t>
            </a:r>
            <a:r>
              <a:rPr sz="1800" dirty="0">
                <a:latin typeface="Lucida Sans" panose="020B0602030504020204" pitchFamily="34" charset="0"/>
              </a:rPr>
              <a:t>bundled</a:t>
            </a:r>
            <a:r>
              <a:rPr sz="1800" spc="-19" dirty="0">
                <a:latin typeface="Lucida Sans" panose="020B0602030504020204" pitchFamily="34" charset="0"/>
              </a:rPr>
              <a:t> </a:t>
            </a:r>
            <a:r>
              <a:rPr sz="1800" dirty="0">
                <a:latin typeface="Lucida Sans" panose="020B0602030504020204" pitchFamily="34" charset="0"/>
              </a:rPr>
              <a:t>with</a:t>
            </a:r>
            <a:r>
              <a:rPr sz="1800" spc="-19" dirty="0">
                <a:latin typeface="Lucida Sans" panose="020B0602030504020204" pitchFamily="34" charset="0"/>
              </a:rPr>
              <a:t> </a:t>
            </a:r>
            <a:r>
              <a:rPr sz="1800" dirty="0">
                <a:latin typeface="Lucida Sans" panose="020B0602030504020204" pitchFamily="34" charset="0"/>
              </a:rPr>
              <a:t>OpenJDK,</a:t>
            </a:r>
            <a:r>
              <a:rPr sz="1800" spc="-19" dirty="0">
                <a:latin typeface="Lucida Sans" panose="020B0602030504020204" pitchFamily="34" charset="0"/>
              </a:rPr>
              <a:t> </a:t>
            </a:r>
            <a:r>
              <a:rPr sz="1800" dirty="0">
                <a:latin typeface="Lucida Sans" panose="020B0602030504020204" pitchFamily="34" charset="0"/>
              </a:rPr>
              <a:t>an</a:t>
            </a:r>
            <a:r>
              <a:rPr sz="1800" spc="-19" dirty="0">
                <a:latin typeface="Lucida Sans" panose="020B0602030504020204" pitchFamily="34" charset="0"/>
              </a:rPr>
              <a:t> </a:t>
            </a:r>
            <a:r>
              <a:rPr sz="1800" dirty="0">
                <a:latin typeface="Lucida Sans" panose="020B0602030504020204" pitchFamily="34" charset="0"/>
              </a:rPr>
              <a:t>open</a:t>
            </a:r>
            <a:r>
              <a:rPr sz="1800" spc="-15" dirty="0">
                <a:latin typeface="Lucida Sans" panose="020B0602030504020204" pitchFamily="34" charset="0"/>
              </a:rPr>
              <a:t> </a:t>
            </a:r>
            <a:r>
              <a:rPr sz="1800" spc="-8" dirty="0">
                <a:latin typeface="Lucida Sans" panose="020B0602030504020204" pitchFamily="34" charset="0"/>
              </a:rPr>
              <a:t>source </a:t>
            </a:r>
            <a:r>
              <a:rPr sz="1800" dirty="0">
                <a:latin typeface="Lucida Sans" panose="020B0602030504020204" pitchFamily="34" charset="0"/>
              </a:rPr>
              <a:t>implementation</a:t>
            </a:r>
            <a:r>
              <a:rPr sz="1800" spc="-19" dirty="0">
                <a:latin typeface="Lucida Sans" panose="020B0602030504020204" pitchFamily="34" charset="0"/>
              </a:rPr>
              <a:t> </a:t>
            </a:r>
            <a:r>
              <a:rPr sz="1800" dirty="0">
                <a:latin typeface="Lucida Sans" panose="020B0602030504020204" pitchFamily="34" charset="0"/>
              </a:rPr>
              <a:t>of</a:t>
            </a:r>
            <a:r>
              <a:rPr sz="1800" spc="-19" dirty="0">
                <a:latin typeface="Lucida Sans" panose="020B0602030504020204" pitchFamily="34" charset="0"/>
              </a:rPr>
              <a:t> </a:t>
            </a:r>
            <a:r>
              <a:rPr sz="1800" dirty="0">
                <a:latin typeface="Lucida Sans" panose="020B0602030504020204" pitchFamily="34" charset="0"/>
              </a:rPr>
              <a:t>Java,</a:t>
            </a:r>
            <a:r>
              <a:rPr sz="1800" spc="-15" dirty="0">
                <a:latin typeface="Lucida Sans" panose="020B0602030504020204" pitchFamily="34" charset="0"/>
              </a:rPr>
              <a:t> </a:t>
            </a:r>
            <a:r>
              <a:rPr sz="1800" dirty="0">
                <a:latin typeface="Lucida Sans" panose="020B0602030504020204" pitchFamily="34" charset="0"/>
              </a:rPr>
              <a:t>so</a:t>
            </a:r>
            <a:r>
              <a:rPr sz="1800" spc="-19" dirty="0">
                <a:latin typeface="Lucida Sans" panose="020B0602030504020204" pitchFamily="34" charset="0"/>
              </a:rPr>
              <a:t> </a:t>
            </a:r>
            <a:r>
              <a:rPr sz="1800" dirty="0">
                <a:latin typeface="Lucida Sans" panose="020B0602030504020204" pitchFamily="34" charset="0"/>
              </a:rPr>
              <a:t>you</a:t>
            </a:r>
            <a:r>
              <a:rPr sz="1800" spc="-15" dirty="0">
                <a:latin typeface="Lucida Sans" panose="020B0602030504020204" pitchFamily="34" charset="0"/>
              </a:rPr>
              <a:t> </a:t>
            </a:r>
            <a:r>
              <a:rPr sz="1800" dirty="0">
                <a:latin typeface="Lucida Sans" panose="020B0602030504020204" pitchFamily="34" charset="0"/>
              </a:rPr>
              <a:t>don’t</a:t>
            </a:r>
            <a:r>
              <a:rPr sz="1800" spc="-19" dirty="0">
                <a:latin typeface="Lucida Sans" panose="020B0602030504020204" pitchFamily="34" charset="0"/>
              </a:rPr>
              <a:t> </a:t>
            </a:r>
            <a:r>
              <a:rPr sz="1800" dirty="0">
                <a:latin typeface="Lucida Sans" panose="020B0602030504020204" pitchFamily="34" charset="0"/>
              </a:rPr>
              <a:t>have</a:t>
            </a:r>
            <a:r>
              <a:rPr sz="1800" spc="-15" dirty="0">
                <a:latin typeface="Lucida Sans" panose="020B0602030504020204" pitchFamily="34" charset="0"/>
              </a:rPr>
              <a:t> </a:t>
            </a:r>
            <a:r>
              <a:rPr sz="1800" dirty="0">
                <a:latin typeface="Lucida Sans" panose="020B0602030504020204" pitchFamily="34" charset="0"/>
              </a:rPr>
              <a:t>to</a:t>
            </a:r>
            <a:r>
              <a:rPr sz="1800" spc="-19" dirty="0">
                <a:latin typeface="Lucida Sans" panose="020B0602030504020204" pitchFamily="34" charset="0"/>
              </a:rPr>
              <a:t> </a:t>
            </a:r>
            <a:r>
              <a:rPr sz="1800" dirty="0">
                <a:latin typeface="Lucida Sans" panose="020B0602030504020204" pitchFamily="34" charset="0"/>
              </a:rPr>
              <a:t>install</a:t>
            </a:r>
            <a:r>
              <a:rPr sz="1800" spc="-15" dirty="0">
                <a:latin typeface="Lucida Sans" panose="020B0602030504020204" pitchFamily="34" charset="0"/>
              </a:rPr>
              <a:t> </a:t>
            </a:r>
            <a:r>
              <a:rPr sz="1800" dirty="0">
                <a:latin typeface="Lucida Sans" panose="020B0602030504020204" pitchFamily="34" charset="0"/>
              </a:rPr>
              <a:t>any</a:t>
            </a:r>
            <a:r>
              <a:rPr sz="1800" spc="-19" dirty="0">
                <a:latin typeface="Lucida Sans" panose="020B0602030504020204" pitchFamily="34" charset="0"/>
              </a:rPr>
              <a:t> </a:t>
            </a:r>
            <a:r>
              <a:rPr sz="1800" dirty="0">
                <a:latin typeface="Lucida Sans" panose="020B0602030504020204" pitchFamily="34" charset="0"/>
              </a:rPr>
              <a:t>other</a:t>
            </a:r>
            <a:r>
              <a:rPr sz="1800" spc="-15" dirty="0">
                <a:latin typeface="Lucida Sans" panose="020B0602030504020204" pitchFamily="34" charset="0"/>
              </a:rPr>
              <a:t> </a:t>
            </a:r>
            <a:r>
              <a:rPr sz="1800" dirty="0">
                <a:latin typeface="Lucida Sans" panose="020B0602030504020204" pitchFamily="34" charset="0"/>
              </a:rPr>
              <a:t>SDKs</a:t>
            </a:r>
            <a:r>
              <a:rPr sz="1800" spc="-19" dirty="0">
                <a:latin typeface="Lucida Sans" panose="020B0602030504020204" pitchFamily="34" charset="0"/>
              </a:rPr>
              <a:t> in</a:t>
            </a:r>
            <a:r>
              <a:rPr sz="1800" spc="-19" dirty="0">
                <a:solidFill>
                  <a:srgbClr val="FFFFFF"/>
                </a:solidFill>
                <a:latin typeface="Lucida Sans" panose="020B0602030504020204" pitchFamily="34" charset="0"/>
              </a:rPr>
              <a:t> </a:t>
            </a:r>
            <a:r>
              <a:rPr sz="1050" dirty="0">
                <a:solidFill>
                  <a:srgbClr val="FFFFFF"/>
                </a:solidFill>
              </a:rPr>
              <a:t>order</a:t>
            </a:r>
            <a:r>
              <a:rPr sz="1050" spc="-8" dirty="0">
                <a:solidFill>
                  <a:srgbClr val="FFFFFF"/>
                </a:solidFill>
              </a:rPr>
              <a:t> </a:t>
            </a:r>
            <a:r>
              <a:rPr sz="1050" dirty="0">
                <a:solidFill>
                  <a:srgbClr val="FFFFFF"/>
                </a:solidFill>
              </a:rPr>
              <a:t>to</a:t>
            </a:r>
            <a:r>
              <a:rPr sz="1050" spc="-4" dirty="0">
                <a:solidFill>
                  <a:srgbClr val="FFFFFF"/>
                </a:solidFill>
              </a:rPr>
              <a:t> </a:t>
            </a:r>
            <a:r>
              <a:rPr sz="1050" spc="-8" dirty="0">
                <a:solidFill>
                  <a:srgbClr val="FFFFFF"/>
                </a:solidFill>
              </a:rPr>
              <a:t>develop.</a:t>
            </a:r>
            <a:endParaRPr sz="1050" dirty="0"/>
          </a:p>
        </p:txBody>
      </p:sp>
      <p:sp>
        <p:nvSpPr>
          <p:cNvPr id="8" name="object 2"/>
          <p:cNvSpPr txBox="1">
            <a:spLocks/>
          </p:cNvSpPr>
          <p:nvPr/>
        </p:nvSpPr>
        <p:spPr bwMode="auto">
          <a:xfrm>
            <a:off x="1817694" y="120507"/>
            <a:ext cx="4806534" cy="425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5" rIns="0" bIns="0" numCol="1" rtlCol="0" anchor="ctr" anchorCtr="0" compatLnSpc="1">
            <a:prstTxWarp prst="textNoShape">
              <a:avLst/>
            </a:prstTxWarp>
            <a:spAutoFit/>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marL="9525">
              <a:spcBef>
                <a:spcPts val="75"/>
              </a:spcBef>
            </a:pPr>
            <a:r>
              <a:rPr lang="en-GB" sz="2700" b="1" dirty="0">
                <a:solidFill>
                  <a:schemeClr val="bg1"/>
                </a:solidFill>
                <a:latin typeface="Georgia" panose="02040502050405020303" pitchFamily="18" charset="0"/>
              </a:rPr>
              <a:t>Android</a:t>
            </a:r>
            <a:r>
              <a:rPr lang="en-GB" sz="2700" b="1" spc="-116" dirty="0">
                <a:solidFill>
                  <a:schemeClr val="bg1"/>
                </a:solidFill>
                <a:latin typeface="Georgia" panose="02040502050405020303" pitchFamily="18" charset="0"/>
              </a:rPr>
              <a:t> </a:t>
            </a:r>
            <a:r>
              <a:rPr lang="en-GB" sz="2700" b="1" dirty="0">
                <a:solidFill>
                  <a:schemeClr val="bg1"/>
                </a:solidFill>
                <a:latin typeface="Georgia" panose="02040502050405020303" pitchFamily="18" charset="0"/>
              </a:rPr>
              <a:t>Studio</a:t>
            </a:r>
            <a:r>
              <a:rPr lang="en-GB" sz="2700" b="1" spc="-60" dirty="0">
                <a:solidFill>
                  <a:schemeClr val="bg1"/>
                </a:solidFill>
                <a:latin typeface="Georgia" panose="02040502050405020303" pitchFamily="18" charset="0"/>
              </a:rPr>
              <a:t> </a:t>
            </a:r>
            <a:r>
              <a:rPr lang="en-GB" sz="2700" b="1" spc="-158" dirty="0">
                <a:solidFill>
                  <a:schemeClr val="bg1"/>
                </a:solidFill>
                <a:latin typeface="Georgia" panose="02040502050405020303" pitchFamily="18" charset="0"/>
              </a:rPr>
              <a:t>+</a:t>
            </a:r>
            <a:r>
              <a:rPr lang="en-GB" sz="2700" b="1" dirty="0">
                <a:solidFill>
                  <a:schemeClr val="bg1"/>
                </a:solidFill>
                <a:latin typeface="Georgia" panose="02040502050405020303" pitchFamily="18" charset="0"/>
              </a:rPr>
              <a:t> </a:t>
            </a:r>
            <a:r>
              <a:rPr lang="en-GB" sz="2700" b="1" spc="-75" dirty="0">
                <a:solidFill>
                  <a:schemeClr val="bg1"/>
                </a:solidFill>
                <a:latin typeface="Georgia" panose="02040502050405020303" pitchFamily="18" charset="0"/>
              </a:rPr>
              <a:t>Java</a:t>
            </a:r>
          </a:p>
        </p:txBody>
      </p:sp>
    </p:spTree>
    <p:extLst>
      <p:ext uri="{BB962C8B-B14F-4D97-AF65-F5344CB8AC3E}">
        <p14:creationId xmlns:p14="http://schemas.microsoft.com/office/powerpoint/2010/main" val="1741961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sz="2700" spc="-105" dirty="0">
                <a:solidFill>
                  <a:schemeClr val="bg1"/>
                </a:solidFill>
                <a:latin typeface="Georgia" panose="02040502050405020303" pitchFamily="18" charset="0"/>
              </a:rPr>
              <a:t>Java</a:t>
            </a:r>
            <a:r>
              <a:rPr lang="en-GB" sz="2700" spc="-26" dirty="0">
                <a:solidFill>
                  <a:schemeClr val="bg1"/>
                </a:solidFill>
                <a:latin typeface="Georgia" panose="02040502050405020303" pitchFamily="18" charset="0"/>
              </a:rPr>
              <a:t> </a:t>
            </a:r>
            <a:r>
              <a:rPr lang="en-GB" sz="2700" spc="98" dirty="0">
                <a:solidFill>
                  <a:schemeClr val="bg1"/>
                </a:solidFill>
                <a:latin typeface="Georgia" panose="02040502050405020303" pitchFamily="18" charset="0"/>
              </a:rPr>
              <a:t>-</a:t>
            </a:r>
            <a:r>
              <a:rPr lang="en-GB" sz="2700" spc="-86" dirty="0">
                <a:solidFill>
                  <a:schemeClr val="bg1"/>
                </a:solidFill>
                <a:latin typeface="Georgia" panose="02040502050405020303" pitchFamily="18" charset="0"/>
              </a:rPr>
              <a:t> </a:t>
            </a:r>
            <a:r>
              <a:rPr lang="en-GB" sz="2700" dirty="0">
                <a:solidFill>
                  <a:schemeClr val="bg1"/>
                </a:solidFill>
                <a:latin typeface="Georgia" panose="02040502050405020303" pitchFamily="18" charset="0"/>
              </a:rPr>
              <a:t>Data</a:t>
            </a:r>
            <a:r>
              <a:rPr lang="en-GB" sz="2700" spc="-53" dirty="0">
                <a:solidFill>
                  <a:schemeClr val="bg1"/>
                </a:solidFill>
                <a:latin typeface="Georgia" panose="02040502050405020303" pitchFamily="18" charset="0"/>
              </a:rPr>
              <a:t> </a:t>
            </a:r>
            <a:r>
              <a:rPr lang="en-GB" sz="2700" dirty="0">
                <a:solidFill>
                  <a:schemeClr val="bg1"/>
                </a:solidFill>
                <a:latin typeface="Georgia" panose="02040502050405020303" pitchFamily="18" charset="0"/>
              </a:rPr>
              <a:t>types</a:t>
            </a:r>
            <a:r>
              <a:rPr lang="en-GB" sz="2700" spc="-56" dirty="0">
                <a:solidFill>
                  <a:schemeClr val="bg1"/>
                </a:solidFill>
                <a:latin typeface="Georgia" panose="02040502050405020303" pitchFamily="18" charset="0"/>
              </a:rPr>
              <a:t> </a:t>
            </a:r>
            <a:r>
              <a:rPr lang="en-GB" sz="2700" spc="-15" dirty="0">
                <a:solidFill>
                  <a:schemeClr val="bg1"/>
                </a:solidFill>
                <a:latin typeface="Georgia" panose="02040502050405020303" pitchFamily="18" charset="0"/>
              </a:rPr>
              <a:t>and</a:t>
            </a:r>
            <a:r>
              <a:rPr lang="en-GB" sz="2700" spc="-56" dirty="0">
                <a:solidFill>
                  <a:schemeClr val="bg1"/>
                </a:solidFill>
                <a:latin typeface="Georgia" panose="02040502050405020303" pitchFamily="18" charset="0"/>
              </a:rPr>
              <a:t> </a:t>
            </a:r>
            <a:r>
              <a:rPr lang="en-GB" sz="2700" spc="-8" dirty="0">
                <a:solidFill>
                  <a:schemeClr val="bg1"/>
                </a:solidFill>
                <a:latin typeface="Georgia" panose="02040502050405020303" pitchFamily="18" charset="0"/>
              </a:rPr>
              <a:t>variables</a:t>
            </a:r>
            <a:endParaRPr lang="en-US" altLang="en-US" sz="2700" dirty="0">
              <a:solidFill>
                <a:schemeClr val="bg1"/>
              </a:solidFill>
              <a:latin typeface="Georgia" panose="02040502050405020303" pitchFamily="18" charset="0"/>
            </a:endParaRPr>
          </a:p>
        </p:txBody>
      </p:sp>
      <p:pic>
        <p:nvPicPr>
          <p:cNvPr id="7" name="object 3"/>
          <p:cNvPicPr/>
          <p:nvPr/>
        </p:nvPicPr>
        <p:blipFill>
          <a:blip r:embed="rId2" cstate="print"/>
          <a:stretch>
            <a:fillRect/>
          </a:stretch>
        </p:blipFill>
        <p:spPr>
          <a:xfrm>
            <a:off x="174342" y="1370084"/>
            <a:ext cx="3573268" cy="498111"/>
          </a:xfrm>
          <a:prstGeom prst="rect">
            <a:avLst/>
          </a:prstGeom>
        </p:spPr>
      </p:pic>
      <p:pic>
        <p:nvPicPr>
          <p:cNvPr id="8" name="object 4"/>
          <p:cNvPicPr/>
          <p:nvPr/>
        </p:nvPicPr>
        <p:blipFill>
          <a:blip r:embed="rId3" cstate="print"/>
          <a:stretch>
            <a:fillRect/>
          </a:stretch>
        </p:blipFill>
        <p:spPr>
          <a:xfrm>
            <a:off x="1060405" y="2535833"/>
            <a:ext cx="1585909" cy="442911"/>
          </a:xfrm>
          <a:prstGeom prst="rect">
            <a:avLst/>
          </a:prstGeom>
        </p:spPr>
      </p:pic>
      <p:pic>
        <p:nvPicPr>
          <p:cNvPr id="9" name="object 7"/>
          <p:cNvPicPr/>
          <p:nvPr/>
        </p:nvPicPr>
        <p:blipFill>
          <a:blip r:embed="rId4" cstate="print"/>
          <a:stretch>
            <a:fillRect/>
          </a:stretch>
        </p:blipFill>
        <p:spPr>
          <a:xfrm>
            <a:off x="174342" y="3929750"/>
            <a:ext cx="4200516" cy="942973"/>
          </a:xfrm>
          <a:prstGeom prst="rect">
            <a:avLst/>
          </a:prstGeom>
        </p:spPr>
      </p:pic>
      <p:sp>
        <p:nvSpPr>
          <p:cNvPr id="10" name="object 5"/>
          <p:cNvSpPr txBox="1"/>
          <p:nvPr/>
        </p:nvSpPr>
        <p:spPr>
          <a:xfrm>
            <a:off x="4572000" y="1497930"/>
            <a:ext cx="3024335" cy="171201"/>
          </a:xfrm>
          <a:prstGeom prst="rect">
            <a:avLst/>
          </a:prstGeom>
        </p:spPr>
        <p:txBody>
          <a:bodyPr vert="horz" wrap="square" lIns="0" tIns="17145" rIns="0" bIns="0" rtlCol="0">
            <a:spAutoFit/>
          </a:bodyPr>
          <a:lstStyle/>
          <a:p>
            <a:pPr marL="9525" marR="3810">
              <a:lnSpc>
                <a:spcPts val="1238"/>
              </a:lnSpc>
              <a:spcBef>
                <a:spcPts val="135"/>
              </a:spcBef>
            </a:pPr>
            <a:r>
              <a:rPr sz="1050" dirty="0">
                <a:latin typeface="Courier New"/>
                <a:cs typeface="Courier New"/>
              </a:rPr>
              <a:t>hello</a:t>
            </a:r>
            <a:r>
              <a:rPr sz="1050" spc="-8" dirty="0">
                <a:latin typeface="Courier New"/>
                <a:cs typeface="Courier New"/>
              </a:rPr>
              <a:t> world</a:t>
            </a:r>
            <a:r>
              <a:rPr sz="1050" spc="-217" dirty="0">
                <a:latin typeface="Courier New"/>
                <a:cs typeface="Courier New"/>
              </a:rPr>
              <a:t> </a:t>
            </a:r>
            <a:r>
              <a:rPr sz="1050" dirty="0"/>
              <a:t>is</a:t>
            </a:r>
            <a:r>
              <a:rPr sz="1050" spc="-4" dirty="0"/>
              <a:t> </a:t>
            </a:r>
            <a:r>
              <a:rPr sz="1050" dirty="0"/>
              <a:t>a</a:t>
            </a:r>
            <a:r>
              <a:rPr sz="1050" spc="-4" dirty="0"/>
              <a:t> </a:t>
            </a:r>
            <a:r>
              <a:rPr sz="1050" spc="-8" dirty="0"/>
              <a:t>literal </a:t>
            </a:r>
            <a:r>
              <a:rPr sz="1050" dirty="0"/>
              <a:t>(actual</a:t>
            </a:r>
            <a:r>
              <a:rPr sz="1050" spc="-26" dirty="0"/>
              <a:t> </a:t>
            </a:r>
            <a:r>
              <a:rPr sz="1050" spc="-8" dirty="0"/>
              <a:t>data)</a:t>
            </a:r>
            <a:endParaRPr sz="1050" dirty="0"/>
          </a:p>
        </p:txBody>
      </p:sp>
      <p:sp>
        <p:nvSpPr>
          <p:cNvPr id="11" name="object 6"/>
          <p:cNvSpPr txBox="1"/>
          <p:nvPr/>
        </p:nvSpPr>
        <p:spPr>
          <a:xfrm>
            <a:off x="3275856" y="2594743"/>
            <a:ext cx="5416081" cy="325089"/>
          </a:xfrm>
          <a:prstGeom prst="rect">
            <a:avLst/>
          </a:prstGeom>
        </p:spPr>
        <p:txBody>
          <a:bodyPr vert="horz" wrap="square" lIns="0" tIns="17145" rIns="0" bIns="0" rtlCol="0">
            <a:spAutoFit/>
          </a:bodyPr>
          <a:lstStyle/>
          <a:p>
            <a:pPr marL="9525" marR="3810" algn="just">
              <a:lnSpc>
                <a:spcPts val="1238"/>
              </a:lnSpc>
              <a:spcBef>
                <a:spcPts val="135"/>
              </a:spcBef>
            </a:pPr>
            <a:r>
              <a:rPr sz="1200" spc="-41" dirty="0">
                <a:latin typeface="Courier New"/>
                <a:cs typeface="Courier New"/>
              </a:rPr>
              <a:t>count</a:t>
            </a:r>
            <a:r>
              <a:rPr sz="1200" spc="-116" dirty="0">
                <a:latin typeface="Courier New"/>
                <a:cs typeface="Courier New"/>
              </a:rPr>
              <a:t> </a:t>
            </a:r>
            <a:r>
              <a:rPr sz="1200" dirty="0"/>
              <a:t>is</a:t>
            </a:r>
            <a:r>
              <a:rPr sz="1200" spc="-75" dirty="0"/>
              <a:t> </a:t>
            </a:r>
            <a:r>
              <a:rPr sz="1200" dirty="0"/>
              <a:t>a</a:t>
            </a:r>
            <a:r>
              <a:rPr sz="1200" spc="15" dirty="0"/>
              <a:t> </a:t>
            </a:r>
            <a:r>
              <a:rPr sz="1200" dirty="0"/>
              <a:t>variable</a:t>
            </a:r>
            <a:r>
              <a:rPr sz="1200" spc="34" dirty="0"/>
              <a:t> </a:t>
            </a:r>
            <a:r>
              <a:rPr sz="1200" spc="-19" dirty="0"/>
              <a:t>(a </a:t>
            </a:r>
            <a:r>
              <a:rPr sz="1200" dirty="0"/>
              <a:t>container</a:t>
            </a:r>
            <a:r>
              <a:rPr sz="1200" spc="-4" dirty="0"/>
              <a:t> </a:t>
            </a:r>
            <a:r>
              <a:rPr sz="1200" dirty="0"/>
              <a:t>for</a:t>
            </a:r>
            <a:r>
              <a:rPr sz="1200" spc="-4" dirty="0"/>
              <a:t> </a:t>
            </a:r>
            <a:r>
              <a:rPr sz="1200" dirty="0"/>
              <a:t>data)</a:t>
            </a:r>
            <a:r>
              <a:rPr sz="1200" spc="-4" dirty="0"/>
              <a:t> </a:t>
            </a:r>
            <a:r>
              <a:rPr sz="1200" spc="-19" dirty="0"/>
              <a:t>and </a:t>
            </a:r>
            <a:r>
              <a:rPr sz="1200" spc="-83" dirty="0">
                <a:latin typeface="Courier New"/>
                <a:cs typeface="Courier New"/>
              </a:rPr>
              <a:t>int</a:t>
            </a:r>
            <a:r>
              <a:rPr sz="1200" spc="-75" dirty="0">
                <a:latin typeface="Courier New"/>
                <a:cs typeface="Courier New"/>
              </a:rPr>
              <a:t> </a:t>
            </a:r>
            <a:r>
              <a:rPr sz="1200" dirty="0"/>
              <a:t>is</a:t>
            </a:r>
            <a:r>
              <a:rPr sz="1200" spc="-75" dirty="0"/>
              <a:t> </a:t>
            </a:r>
            <a:r>
              <a:rPr sz="1200" dirty="0"/>
              <a:t>its</a:t>
            </a:r>
            <a:r>
              <a:rPr sz="1200" spc="-45" dirty="0"/>
              <a:t> </a:t>
            </a:r>
            <a:r>
              <a:rPr sz="1200" dirty="0"/>
              <a:t>type</a:t>
            </a:r>
            <a:r>
              <a:rPr sz="1200" spc="38" dirty="0"/>
              <a:t> </a:t>
            </a:r>
            <a:r>
              <a:rPr sz="1200" dirty="0"/>
              <a:t>(i.e.,</a:t>
            </a:r>
            <a:r>
              <a:rPr sz="1200" spc="34" dirty="0"/>
              <a:t> </a:t>
            </a:r>
            <a:r>
              <a:rPr sz="1200" spc="-19" dirty="0"/>
              <a:t>the </a:t>
            </a:r>
            <a:r>
              <a:rPr sz="1200" dirty="0"/>
              <a:t>kind</a:t>
            </a:r>
            <a:r>
              <a:rPr sz="1200" spc="-11" dirty="0"/>
              <a:t> </a:t>
            </a:r>
            <a:r>
              <a:rPr sz="1200" dirty="0"/>
              <a:t>of</a:t>
            </a:r>
            <a:r>
              <a:rPr sz="1200" spc="-11" dirty="0"/>
              <a:t> </a:t>
            </a:r>
            <a:r>
              <a:rPr sz="1200" dirty="0"/>
              <a:t>data</a:t>
            </a:r>
            <a:r>
              <a:rPr sz="1200" spc="-11" dirty="0"/>
              <a:t> </a:t>
            </a:r>
            <a:r>
              <a:rPr sz="1200" dirty="0"/>
              <a:t>it</a:t>
            </a:r>
            <a:r>
              <a:rPr sz="1200" spc="-11" dirty="0"/>
              <a:t> </a:t>
            </a:r>
            <a:r>
              <a:rPr sz="1200" spc="-19" dirty="0"/>
              <a:t>is)</a:t>
            </a:r>
            <a:endParaRPr sz="1200" dirty="0"/>
          </a:p>
        </p:txBody>
      </p:sp>
      <p:sp>
        <p:nvSpPr>
          <p:cNvPr id="12" name="object 8"/>
          <p:cNvSpPr txBox="1"/>
          <p:nvPr/>
        </p:nvSpPr>
        <p:spPr>
          <a:xfrm>
            <a:off x="4572000" y="4134160"/>
            <a:ext cx="3415756" cy="325089"/>
          </a:xfrm>
          <a:prstGeom prst="rect">
            <a:avLst/>
          </a:prstGeom>
        </p:spPr>
        <p:txBody>
          <a:bodyPr vert="horz" wrap="square" lIns="0" tIns="17145" rIns="0" bIns="0" rtlCol="0">
            <a:spAutoFit/>
          </a:bodyPr>
          <a:lstStyle/>
          <a:p>
            <a:pPr marL="9525" marR="3810">
              <a:lnSpc>
                <a:spcPts val="1238"/>
              </a:lnSpc>
              <a:spcBef>
                <a:spcPts val="135"/>
              </a:spcBef>
            </a:pPr>
            <a:r>
              <a:rPr sz="1200" dirty="0"/>
              <a:t>Just</a:t>
            </a:r>
            <a:r>
              <a:rPr sz="1200" spc="-19" dirty="0"/>
              <a:t> </a:t>
            </a:r>
            <a:r>
              <a:rPr sz="1200" dirty="0"/>
              <a:t>like</a:t>
            </a:r>
            <a:r>
              <a:rPr sz="1200" spc="-19" dirty="0"/>
              <a:t> </a:t>
            </a:r>
            <a:r>
              <a:rPr sz="1200" dirty="0"/>
              <a:t>C/C++,</a:t>
            </a:r>
            <a:r>
              <a:rPr sz="1200" spc="-15" dirty="0"/>
              <a:t> Java </a:t>
            </a:r>
            <a:r>
              <a:rPr sz="1200" dirty="0"/>
              <a:t>has</a:t>
            </a:r>
            <a:r>
              <a:rPr sz="1200" spc="-8" dirty="0"/>
              <a:t> </a:t>
            </a:r>
            <a:r>
              <a:rPr sz="1200" dirty="0"/>
              <a:t>its</a:t>
            </a:r>
            <a:r>
              <a:rPr sz="1200" spc="-8" dirty="0"/>
              <a:t> </a:t>
            </a:r>
            <a:r>
              <a:rPr sz="1200" dirty="0"/>
              <a:t>own</a:t>
            </a:r>
            <a:r>
              <a:rPr sz="1200" spc="-4" dirty="0"/>
              <a:t> </a:t>
            </a:r>
            <a:r>
              <a:rPr sz="1200" spc="-15" dirty="0"/>
              <a:t>main </a:t>
            </a:r>
            <a:r>
              <a:rPr sz="1200" dirty="0"/>
              <a:t>method,</a:t>
            </a:r>
            <a:r>
              <a:rPr sz="1200" spc="-19" dirty="0"/>
              <a:t> </a:t>
            </a:r>
            <a:r>
              <a:rPr sz="1200" dirty="0"/>
              <a:t>which</a:t>
            </a:r>
            <a:r>
              <a:rPr sz="1200" spc="-23" dirty="0"/>
              <a:t> </a:t>
            </a:r>
            <a:r>
              <a:rPr sz="1200" dirty="0"/>
              <a:t>is</a:t>
            </a:r>
            <a:r>
              <a:rPr sz="1200" spc="-19" dirty="0"/>
              <a:t> the </a:t>
            </a:r>
            <a:r>
              <a:rPr sz="1200" dirty="0"/>
              <a:t>entry</a:t>
            </a:r>
            <a:r>
              <a:rPr sz="1200" spc="-15" dirty="0"/>
              <a:t> </a:t>
            </a:r>
            <a:r>
              <a:rPr sz="1200" dirty="0"/>
              <a:t>point</a:t>
            </a:r>
            <a:r>
              <a:rPr sz="1200" spc="-11" dirty="0"/>
              <a:t> </a:t>
            </a:r>
            <a:r>
              <a:rPr sz="1200" dirty="0"/>
              <a:t>into</a:t>
            </a:r>
            <a:r>
              <a:rPr sz="1200" spc="-11" dirty="0"/>
              <a:t> </a:t>
            </a:r>
            <a:r>
              <a:rPr sz="1200" spc="-38" dirty="0"/>
              <a:t>a </a:t>
            </a:r>
            <a:r>
              <a:rPr sz="1200" spc="-8" dirty="0"/>
              <a:t>program.</a:t>
            </a:r>
            <a:endParaRPr sz="1200" dirty="0"/>
          </a:p>
        </p:txBody>
      </p:sp>
      <p:sp>
        <p:nvSpPr>
          <p:cNvPr id="2" name="TextBox 1">
            <a:extLst>
              <a:ext uri="{FF2B5EF4-FFF2-40B4-BE49-F238E27FC236}">
                <a16:creationId xmlns:a16="http://schemas.microsoft.com/office/drawing/2014/main" id="{D28C7988-15E2-E3CD-1C9D-9160E8E04280}"/>
              </a:ext>
            </a:extLst>
          </p:cNvPr>
          <p:cNvSpPr txBox="1"/>
          <p:nvPr/>
        </p:nvSpPr>
        <p:spPr>
          <a:xfrm>
            <a:off x="3275856" y="4909808"/>
            <a:ext cx="4590510" cy="219291"/>
          </a:xfrm>
          <a:prstGeom prst="rect">
            <a:avLst/>
          </a:prstGeom>
          <a:noFill/>
        </p:spPr>
        <p:txBody>
          <a:bodyPr wrap="square" rtlCol="0">
            <a:spAutoFit/>
          </a:bodyPr>
          <a:lstStyle/>
          <a:p>
            <a:pPr algn="r"/>
            <a:r>
              <a:rPr lang="en-GB" sz="825" dirty="0">
                <a:solidFill>
                  <a:schemeClr val="bg1"/>
                </a:solidFill>
                <a:latin typeface="Eras Medium ITC" panose="020B0602030504020804" pitchFamily="34" charset="0"/>
              </a:rPr>
              <a:t>School Of Computer Science, AI and Electronic</a:t>
            </a:r>
          </a:p>
        </p:txBody>
      </p:sp>
    </p:spTree>
    <p:extLst>
      <p:ext uri="{BB962C8B-B14F-4D97-AF65-F5344CB8AC3E}">
        <p14:creationId xmlns:p14="http://schemas.microsoft.com/office/powerpoint/2010/main" val="2940696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sz="2700" spc="-105" dirty="0">
                <a:solidFill>
                  <a:schemeClr val="bg1"/>
                </a:solidFill>
                <a:latin typeface="Georgia" panose="02040502050405020303" pitchFamily="18" charset="0"/>
              </a:rPr>
              <a:t>Java</a:t>
            </a:r>
            <a:r>
              <a:rPr lang="en-GB" sz="2700" spc="-4" dirty="0">
                <a:solidFill>
                  <a:schemeClr val="bg1"/>
                </a:solidFill>
                <a:latin typeface="Georgia" panose="02040502050405020303" pitchFamily="18" charset="0"/>
              </a:rPr>
              <a:t> </a:t>
            </a:r>
            <a:r>
              <a:rPr lang="en-GB" sz="2700" spc="98" dirty="0">
                <a:solidFill>
                  <a:schemeClr val="bg1"/>
                </a:solidFill>
                <a:latin typeface="Georgia" panose="02040502050405020303" pitchFamily="18" charset="0"/>
              </a:rPr>
              <a:t>-</a:t>
            </a:r>
            <a:r>
              <a:rPr lang="en-GB" sz="2700" spc="-4" dirty="0">
                <a:solidFill>
                  <a:schemeClr val="bg1"/>
                </a:solidFill>
                <a:latin typeface="Georgia" panose="02040502050405020303" pitchFamily="18" charset="0"/>
              </a:rPr>
              <a:t> </a:t>
            </a:r>
            <a:r>
              <a:rPr lang="en-GB" sz="2700" spc="-8" dirty="0">
                <a:solidFill>
                  <a:schemeClr val="bg1"/>
                </a:solidFill>
                <a:latin typeface="Georgia" panose="02040502050405020303" pitchFamily="18" charset="0"/>
              </a:rPr>
              <a:t>Primitives</a:t>
            </a:r>
            <a:endParaRPr lang="en-US" altLang="en-US" sz="2700" dirty="0">
              <a:solidFill>
                <a:schemeClr val="bg1"/>
              </a:solidFill>
              <a:latin typeface="Georgia" panose="02040502050405020303" pitchFamily="18" charset="0"/>
            </a:endParaRPr>
          </a:p>
        </p:txBody>
      </p:sp>
      <p:sp>
        <p:nvSpPr>
          <p:cNvPr id="139267" name="Rectangle 3"/>
          <p:cNvSpPr>
            <a:spLocks noGrp="1" noChangeArrowheads="1"/>
          </p:cNvSpPr>
          <p:nvPr>
            <p:ph idx="4294967295"/>
          </p:nvPr>
        </p:nvSpPr>
        <p:spPr>
          <a:xfrm>
            <a:off x="1601670" y="1241097"/>
            <a:ext cx="7542330" cy="3725863"/>
          </a:xfrm>
        </p:spPr>
        <p:txBody>
          <a:bodyPr/>
          <a:lstStyle/>
          <a:p>
            <a:pPr marL="9525" marR="84773">
              <a:spcBef>
                <a:spcPts val="135"/>
              </a:spcBef>
            </a:pPr>
            <a:r>
              <a:rPr lang="en-GB" sz="1500" dirty="0"/>
              <a:t>Primitives</a:t>
            </a:r>
            <a:r>
              <a:rPr lang="en-GB" sz="1500" spc="-23" dirty="0"/>
              <a:t> </a:t>
            </a:r>
            <a:r>
              <a:rPr lang="en-GB" sz="1500" dirty="0"/>
              <a:t>are</a:t>
            </a:r>
            <a:r>
              <a:rPr lang="en-GB" sz="1500" spc="-15" dirty="0"/>
              <a:t> </a:t>
            </a:r>
            <a:r>
              <a:rPr lang="en-GB" sz="1500" dirty="0"/>
              <a:t>built</a:t>
            </a:r>
            <a:r>
              <a:rPr lang="en-GB" sz="1500" spc="-15" dirty="0"/>
              <a:t> </a:t>
            </a:r>
            <a:r>
              <a:rPr lang="en-GB" sz="1500" dirty="0"/>
              <a:t>in</a:t>
            </a:r>
            <a:r>
              <a:rPr lang="en-GB" sz="1500" spc="-15" dirty="0"/>
              <a:t> </a:t>
            </a:r>
            <a:r>
              <a:rPr lang="en-GB" sz="1500" dirty="0"/>
              <a:t>data</a:t>
            </a:r>
            <a:r>
              <a:rPr lang="en-GB" sz="1500" spc="-15" dirty="0"/>
              <a:t> </a:t>
            </a:r>
            <a:r>
              <a:rPr lang="en-GB" sz="1500" dirty="0"/>
              <a:t>types</a:t>
            </a:r>
            <a:r>
              <a:rPr lang="en-GB" sz="1500" spc="-15" dirty="0"/>
              <a:t> </a:t>
            </a:r>
            <a:r>
              <a:rPr lang="en-GB" sz="1500" dirty="0"/>
              <a:t>in</a:t>
            </a:r>
            <a:r>
              <a:rPr lang="en-GB" sz="1500" spc="-15" dirty="0"/>
              <a:t> </a:t>
            </a:r>
            <a:r>
              <a:rPr lang="en-GB" sz="1500" dirty="0"/>
              <a:t>a</a:t>
            </a:r>
            <a:r>
              <a:rPr lang="en-GB" sz="1500" spc="-15" dirty="0"/>
              <a:t> </a:t>
            </a:r>
            <a:r>
              <a:rPr lang="en-GB" sz="1500" dirty="0"/>
              <a:t>programming</a:t>
            </a:r>
            <a:r>
              <a:rPr lang="en-GB" sz="1500" spc="-15" dirty="0"/>
              <a:t> </a:t>
            </a:r>
            <a:r>
              <a:rPr lang="en-GB" sz="1500" dirty="0"/>
              <a:t>language.</a:t>
            </a:r>
            <a:r>
              <a:rPr lang="en-GB" sz="1500" spc="-11" dirty="0"/>
              <a:t> </a:t>
            </a:r>
            <a:r>
              <a:rPr lang="en-GB" sz="1500" spc="-19" dirty="0"/>
              <a:t>The </a:t>
            </a:r>
            <a:r>
              <a:rPr lang="en-GB" sz="1500" dirty="0"/>
              <a:t>image</a:t>
            </a:r>
            <a:r>
              <a:rPr lang="en-GB" sz="1500" spc="-23" dirty="0"/>
              <a:t> </a:t>
            </a:r>
            <a:r>
              <a:rPr lang="en-GB" sz="1500" dirty="0"/>
              <a:t>to</a:t>
            </a:r>
            <a:r>
              <a:rPr lang="en-GB" sz="1500" spc="-15" dirty="0"/>
              <a:t> </a:t>
            </a:r>
            <a:r>
              <a:rPr lang="en-GB" sz="1500" dirty="0"/>
              <a:t>the</a:t>
            </a:r>
            <a:r>
              <a:rPr lang="en-GB" sz="1500" spc="-15" dirty="0"/>
              <a:t> </a:t>
            </a:r>
            <a:r>
              <a:rPr lang="en-GB" sz="1500" dirty="0"/>
              <a:t>left</a:t>
            </a:r>
            <a:r>
              <a:rPr lang="en-GB" sz="1500" spc="-15" dirty="0"/>
              <a:t> </a:t>
            </a:r>
            <a:r>
              <a:rPr lang="en-GB" sz="1500" dirty="0"/>
              <a:t>shows</a:t>
            </a:r>
            <a:r>
              <a:rPr lang="en-GB" sz="1500" spc="-15" dirty="0"/>
              <a:t> </a:t>
            </a:r>
            <a:r>
              <a:rPr lang="en-GB" sz="1500" dirty="0"/>
              <a:t>the</a:t>
            </a:r>
            <a:r>
              <a:rPr lang="en-GB" sz="1500" spc="-11" dirty="0"/>
              <a:t> </a:t>
            </a:r>
            <a:r>
              <a:rPr lang="en-GB" sz="1500" dirty="0"/>
              <a:t>primitive</a:t>
            </a:r>
            <a:r>
              <a:rPr lang="en-GB" sz="1500" spc="-15" dirty="0"/>
              <a:t> </a:t>
            </a:r>
            <a:r>
              <a:rPr lang="en-GB" sz="1500" dirty="0"/>
              <a:t>data</a:t>
            </a:r>
            <a:r>
              <a:rPr lang="en-GB" sz="1500" spc="-15" dirty="0"/>
              <a:t> </a:t>
            </a:r>
            <a:r>
              <a:rPr lang="en-GB" sz="1500" dirty="0"/>
              <a:t>types</a:t>
            </a:r>
            <a:r>
              <a:rPr lang="en-GB" sz="1500" spc="-15" dirty="0"/>
              <a:t> </a:t>
            </a:r>
            <a:r>
              <a:rPr lang="en-GB" sz="1500" dirty="0"/>
              <a:t>of</a:t>
            </a:r>
            <a:r>
              <a:rPr lang="en-GB" sz="1500" spc="-15" dirty="0"/>
              <a:t> </a:t>
            </a:r>
            <a:r>
              <a:rPr lang="en-GB" sz="1500" dirty="0"/>
              <a:t>Java.</a:t>
            </a:r>
            <a:r>
              <a:rPr lang="en-GB" sz="1500" spc="-15" dirty="0"/>
              <a:t> </a:t>
            </a:r>
            <a:r>
              <a:rPr lang="en-GB" sz="1500" dirty="0"/>
              <a:t>They’re</a:t>
            </a:r>
            <a:r>
              <a:rPr lang="en-GB" sz="1500" spc="-11" dirty="0"/>
              <a:t> </a:t>
            </a:r>
            <a:r>
              <a:rPr lang="en-GB" sz="1500" spc="-19" dirty="0"/>
              <a:t>the </a:t>
            </a:r>
            <a:r>
              <a:rPr lang="en-GB" sz="1500" dirty="0"/>
              <a:t>building</a:t>
            </a:r>
            <a:r>
              <a:rPr lang="en-GB" sz="1500" spc="-19" dirty="0"/>
              <a:t> </a:t>
            </a:r>
            <a:r>
              <a:rPr lang="en-GB" sz="1500" dirty="0"/>
              <a:t>blocks</a:t>
            </a:r>
            <a:r>
              <a:rPr lang="en-GB" sz="1500" spc="-15" dirty="0"/>
              <a:t> </a:t>
            </a:r>
            <a:r>
              <a:rPr lang="en-GB" sz="1500" dirty="0"/>
              <a:t>of</a:t>
            </a:r>
            <a:r>
              <a:rPr lang="en-GB" sz="1500" spc="-19" dirty="0"/>
              <a:t> </a:t>
            </a:r>
            <a:r>
              <a:rPr lang="en-GB" sz="1500" dirty="0"/>
              <a:t>a</a:t>
            </a:r>
            <a:r>
              <a:rPr lang="en-GB" sz="1500" spc="-15" dirty="0"/>
              <a:t> </a:t>
            </a:r>
            <a:r>
              <a:rPr lang="en-GB" sz="1500" dirty="0"/>
              <a:t>much</a:t>
            </a:r>
            <a:r>
              <a:rPr lang="en-GB" sz="1500" spc="-19" dirty="0"/>
              <a:t> </a:t>
            </a:r>
            <a:r>
              <a:rPr lang="en-GB" sz="1500" dirty="0"/>
              <a:t>more</a:t>
            </a:r>
            <a:r>
              <a:rPr lang="en-GB" sz="1500" spc="-15" dirty="0"/>
              <a:t> </a:t>
            </a:r>
            <a:r>
              <a:rPr lang="en-GB" sz="1500" dirty="0"/>
              <a:t>complicated</a:t>
            </a:r>
            <a:r>
              <a:rPr lang="en-GB" sz="1500" spc="-19" dirty="0"/>
              <a:t> </a:t>
            </a:r>
            <a:r>
              <a:rPr lang="en-GB" sz="1500" dirty="0"/>
              <a:t>data</a:t>
            </a:r>
            <a:r>
              <a:rPr lang="en-GB" sz="1500" spc="-15" dirty="0"/>
              <a:t> </a:t>
            </a:r>
            <a:r>
              <a:rPr lang="en-GB" sz="1500" dirty="0"/>
              <a:t>type,</a:t>
            </a:r>
            <a:r>
              <a:rPr lang="en-GB" sz="1500" spc="-19" dirty="0"/>
              <a:t> </a:t>
            </a:r>
            <a:r>
              <a:rPr lang="en-GB" sz="1500" dirty="0"/>
              <a:t>known</a:t>
            </a:r>
            <a:r>
              <a:rPr lang="en-GB" sz="1500" spc="-15" dirty="0"/>
              <a:t> </a:t>
            </a:r>
            <a:r>
              <a:rPr lang="en-GB" sz="1500" spc="-19" dirty="0"/>
              <a:t>as </a:t>
            </a:r>
            <a:r>
              <a:rPr lang="en-GB" sz="1500" spc="-8" dirty="0">
                <a:latin typeface="Courier New"/>
                <a:cs typeface="Courier New"/>
              </a:rPr>
              <a:t>class</a:t>
            </a:r>
            <a:r>
              <a:rPr lang="en-GB" sz="1500" spc="-8" dirty="0"/>
              <a:t>.</a:t>
            </a:r>
            <a:endParaRPr lang="en-GB" sz="1500" dirty="0"/>
          </a:p>
          <a:p>
            <a:pPr marL="9525">
              <a:lnSpc>
                <a:spcPts val="1248"/>
              </a:lnSpc>
              <a:spcBef>
                <a:spcPts val="1178"/>
              </a:spcBef>
            </a:pPr>
            <a:r>
              <a:rPr lang="en-GB" sz="1500" dirty="0"/>
              <a:t>For</a:t>
            </a:r>
            <a:r>
              <a:rPr lang="en-GB" sz="1500" spc="-4" dirty="0"/>
              <a:t> </a:t>
            </a:r>
            <a:r>
              <a:rPr lang="en-GB" sz="1500" spc="-8" dirty="0"/>
              <a:t>example:</a:t>
            </a:r>
            <a:endParaRPr lang="en-GB" sz="1500" dirty="0"/>
          </a:p>
          <a:p>
            <a:pPr marL="351949" indent="-215741">
              <a:lnSpc>
                <a:spcPts val="1238"/>
              </a:lnSpc>
              <a:buFont typeface="Arial"/>
              <a:buChar char="-"/>
              <a:tabLst>
                <a:tab pos="351949" algn="l"/>
              </a:tabLst>
            </a:pPr>
            <a:endParaRPr lang="en-GB" sz="1500" spc="-8" dirty="0">
              <a:latin typeface="Courier New"/>
              <a:cs typeface="Courier New"/>
            </a:endParaRPr>
          </a:p>
          <a:p>
            <a:pPr marL="351949" indent="-215741">
              <a:lnSpc>
                <a:spcPts val="1238"/>
              </a:lnSpc>
              <a:buFont typeface="Arial"/>
              <a:buChar char="-"/>
              <a:tabLst>
                <a:tab pos="351949" algn="l"/>
              </a:tabLst>
            </a:pPr>
            <a:r>
              <a:rPr lang="en-GB" sz="1500" spc="-8" dirty="0">
                <a:latin typeface="Courier New"/>
                <a:cs typeface="Courier New"/>
              </a:rPr>
              <a:t>String</a:t>
            </a:r>
            <a:r>
              <a:rPr lang="en-GB" sz="1500" spc="-274" dirty="0">
                <a:latin typeface="Courier New"/>
                <a:cs typeface="Courier New"/>
              </a:rPr>
              <a:t> </a:t>
            </a:r>
            <a:r>
              <a:rPr lang="en-GB" sz="1500" dirty="0"/>
              <a:t>class is</a:t>
            </a:r>
            <a:r>
              <a:rPr lang="en-GB" sz="1500" spc="-4" dirty="0"/>
              <a:t> </a:t>
            </a:r>
            <a:r>
              <a:rPr lang="en-GB" sz="1500" dirty="0"/>
              <a:t>an array</a:t>
            </a:r>
            <a:r>
              <a:rPr lang="en-GB" sz="1500" spc="-4" dirty="0"/>
              <a:t> </a:t>
            </a:r>
            <a:r>
              <a:rPr lang="en-GB" sz="1500" dirty="0"/>
              <a:t>of </a:t>
            </a:r>
            <a:r>
              <a:rPr lang="en-GB" sz="1500" spc="-8" dirty="0">
                <a:latin typeface="Courier New"/>
                <a:cs typeface="Courier New"/>
              </a:rPr>
              <a:t>char</a:t>
            </a:r>
            <a:r>
              <a:rPr lang="en-GB" sz="1500" spc="-8" dirty="0"/>
              <a:t>.</a:t>
            </a:r>
            <a:endParaRPr lang="en-GB" sz="1500" dirty="0"/>
          </a:p>
          <a:p>
            <a:pPr marL="351949" marR="281940" indent="-216218">
              <a:lnSpc>
                <a:spcPts val="1238"/>
              </a:lnSpc>
              <a:spcBef>
                <a:spcPts val="49"/>
              </a:spcBef>
              <a:buFont typeface="Arial"/>
              <a:buChar char="-"/>
              <a:tabLst>
                <a:tab pos="351949" algn="l"/>
              </a:tabLst>
            </a:pPr>
            <a:r>
              <a:rPr lang="en-GB" sz="1500" spc="-8" dirty="0">
                <a:latin typeface="Courier New"/>
                <a:cs typeface="Courier New"/>
              </a:rPr>
              <a:t>Date</a:t>
            </a:r>
            <a:r>
              <a:rPr lang="en-GB" sz="1500" spc="-296" dirty="0">
                <a:latin typeface="Courier New"/>
                <a:cs typeface="Courier New"/>
              </a:rPr>
              <a:t>  </a:t>
            </a:r>
            <a:r>
              <a:rPr lang="en-GB" sz="1500" dirty="0"/>
              <a:t>class</a:t>
            </a:r>
            <a:r>
              <a:rPr lang="en-GB" sz="1500" spc="-11" dirty="0"/>
              <a:t> </a:t>
            </a:r>
            <a:r>
              <a:rPr lang="en-GB" sz="1500" dirty="0"/>
              <a:t>can</a:t>
            </a:r>
            <a:r>
              <a:rPr lang="en-GB" sz="1500" spc="-4" dirty="0"/>
              <a:t> </a:t>
            </a:r>
            <a:r>
              <a:rPr lang="en-GB" sz="1500" dirty="0"/>
              <a:t>be</a:t>
            </a:r>
            <a:r>
              <a:rPr lang="en-GB" sz="1500" spc="-8" dirty="0"/>
              <a:t> </a:t>
            </a:r>
            <a:r>
              <a:rPr lang="en-GB" sz="1500" dirty="0"/>
              <a:t>seen</a:t>
            </a:r>
            <a:r>
              <a:rPr lang="en-GB" sz="1500" spc="-8" dirty="0"/>
              <a:t> </a:t>
            </a:r>
            <a:r>
              <a:rPr lang="en-GB" sz="1500" dirty="0"/>
              <a:t>as</a:t>
            </a:r>
            <a:r>
              <a:rPr lang="en-GB" sz="1500" spc="-4" dirty="0"/>
              <a:t> </a:t>
            </a:r>
            <a:r>
              <a:rPr lang="en-GB" sz="1500" dirty="0"/>
              <a:t>a</a:t>
            </a:r>
            <a:r>
              <a:rPr lang="en-GB" sz="1500" spc="-8" dirty="0"/>
              <a:t> </a:t>
            </a:r>
            <a:r>
              <a:rPr lang="en-GB" sz="1500" dirty="0"/>
              <a:t>composite</a:t>
            </a:r>
            <a:r>
              <a:rPr lang="en-GB" sz="1500" spc="-8" dirty="0"/>
              <a:t> </a:t>
            </a:r>
            <a:r>
              <a:rPr lang="en-GB" sz="1500" dirty="0"/>
              <a:t>of</a:t>
            </a:r>
            <a:r>
              <a:rPr lang="en-GB" sz="1500" spc="-4" dirty="0"/>
              <a:t> </a:t>
            </a:r>
            <a:r>
              <a:rPr lang="en-GB" sz="1500" dirty="0"/>
              <a:t>three</a:t>
            </a:r>
            <a:r>
              <a:rPr lang="en-GB" sz="1500" spc="-4" dirty="0"/>
              <a:t> </a:t>
            </a:r>
            <a:r>
              <a:rPr lang="en-GB" sz="1500" dirty="0">
                <a:latin typeface="Courier New"/>
                <a:cs typeface="Courier New"/>
              </a:rPr>
              <a:t>int’</a:t>
            </a:r>
            <a:r>
              <a:rPr lang="en-GB" sz="1500" dirty="0"/>
              <a:t>s</a:t>
            </a:r>
            <a:r>
              <a:rPr lang="en-GB" sz="1500" spc="-4" dirty="0"/>
              <a:t>   </a:t>
            </a:r>
            <a:r>
              <a:rPr lang="en-GB" sz="1500" spc="-15" dirty="0"/>
              <a:t>(for </a:t>
            </a:r>
            <a:r>
              <a:rPr lang="en-GB" sz="1500" dirty="0"/>
              <a:t>month,</a:t>
            </a:r>
            <a:r>
              <a:rPr lang="en-GB" sz="1500" spc="-19" dirty="0"/>
              <a:t> </a:t>
            </a:r>
            <a:r>
              <a:rPr lang="en-GB" sz="1500" dirty="0"/>
              <a:t>day,</a:t>
            </a:r>
            <a:r>
              <a:rPr lang="en-GB" sz="1500" spc="-15" dirty="0"/>
              <a:t> </a:t>
            </a:r>
            <a:r>
              <a:rPr lang="en-GB" sz="1500" dirty="0"/>
              <a:t>and</a:t>
            </a:r>
            <a:r>
              <a:rPr lang="en-GB" sz="1500" spc="-15" dirty="0"/>
              <a:t> </a:t>
            </a:r>
            <a:r>
              <a:rPr lang="en-GB" sz="1500" spc="-8" dirty="0"/>
              <a:t>year).</a:t>
            </a:r>
            <a:endParaRPr lang="en-GB" sz="1500" dirty="0"/>
          </a:p>
          <a:p>
            <a:pPr>
              <a:lnSpc>
                <a:spcPct val="100000"/>
              </a:lnSpc>
              <a:spcBef>
                <a:spcPts val="30"/>
              </a:spcBef>
            </a:pPr>
            <a:endParaRPr lang="en-GB" sz="1500" dirty="0"/>
          </a:p>
          <a:p>
            <a:pPr marL="9525" marR="3810" indent="-135000">
              <a:spcBef>
                <a:spcPts val="450"/>
              </a:spcBef>
            </a:pPr>
            <a:r>
              <a:rPr lang="en-GB" sz="1500" dirty="0"/>
              <a:t>The</a:t>
            </a:r>
            <a:r>
              <a:rPr lang="en-GB" sz="1500" spc="-4" dirty="0"/>
              <a:t> </a:t>
            </a:r>
            <a:r>
              <a:rPr lang="en-GB" sz="1500" dirty="0"/>
              <a:t>variables</a:t>
            </a:r>
            <a:r>
              <a:rPr lang="en-GB" sz="1500" spc="-4" dirty="0"/>
              <a:t> </a:t>
            </a:r>
            <a:r>
              <a:rPr lang="en-GB" sz="1500" dirty="0"/>
              <a:t>(or </a:t>
            </a:r>
            <a:r>
              <a:rPr lang="en-GB" sz="1500" dirty="0">
                <a:latin typeface="Courier New"/>
                <a:cs typeface="Courier New"/>
              </a:rPr>
              <a:t>fields</a:t>
            </a:r>
            <a:r>
              <a:rPr lang="en-GB" sz="1500" dirty="0"/>
              <a:t>)</a:t>
            </a:r>
            <a:r>
              <a:rPr lang="en-GB" sz="1500" spc="-4" dirty="0"/>
              <a:t> </a:t>
            </a:r>
            <a:r>
              <a:rPr lang="en-GB" sz="1500" dirty="0"/>
              <a:t>of</a:t>
            </a:r>
            <a:r>
              <a:rPr lang="en-GB" sz="1500" spc="-4" dirty="0"/>
              <a:t> </a:t>
            </a:r>
            <a:r>
              <a:rPr lang="en-GB" sz="1500" dirty="0"/>
              <a:t>a</a:t>
            </a:r>
            <a:r>
              <a:rPr lang="en-GB" sz="1500" spc="4" dirty="0"/>
              <a:t> </a:t>
            </a:r>
            <a:r>
              <a:rPr lang="en-GB" sz="1500" spc="-8" dirty="0">
                <a:latin typeface="Courier New"/>
                <a:cs typeface="Courier New"/>
              </a:rPr>
              <a:t>class</a:t>
            </a:r>
            <a:r>
              <a:rPr lang="en-GB" sz="1500" spc="-285" dirty="0">
                <a:latin typeface="Courier New"/>
                <a:cs typeface="Courier New"/>
              </a:rPr>
              <a:t> </a:t>
            </a:r>
            <a:r>
              <a:rPr lang="en-GB" sz="1500" dirty="0"/>
              <a:t>define</a:t>
            </a:r>
            <a:r>
              <a:rPr lang="en-GB" sz="1500" spc="-4" dirty="0"/>
              <a:t> </a:t>
            </a:r>
            <a:r>
              <a:rPr lang="en-GB" sz="1500" dirty="0"/>
              <a:t>what sort</a:t>
            </a:r>
            <a:r>
              <a:rPr lang="en-GB" sz="1500" spc="-4" dirty="0"/>
              <a:t> </a:t>
            </a:r>
            <a:r>
              <a:rPr lang="en-GB" sz="1500" dirty="0"/>
              <a:t>of </a:t>
            </a:r>
            <a:r>
              <a:rPr lang="en-GB" sz="1500" spc="-8" dirty="0"/>
              <a:t>operations </a:t>
            </a:r>
            <a:r>
              <a:rPr lang="en-GB" sz="1500" dirty="0"/>
              <a:t>are</a:t>
            </a:r>
            <a:r>
              <a:rPr lang="en-GB" sz="1500" spc="-15" dirty="0"/>
              <a:t> </a:t>
            </a:r>
            <a:r>
              <a:rPr lang="en-GB" sz="1500" dirty="0"/>
              <a:t>valid</a:t>
            </a:r>
            <a:r>
              <a:rPr lang="en-GB" sz="1500" spc="-11" dirty="0"/>
              <a:t> </a:t>
            </a:r>
            <a:r>
              <a:rPr lang="en-GB" sz="1500" dirty="0">
                <a:solidFill>
                  <a:srgbClr val="FFFFFF"/>
                </a:solidFill>
              </a:rPr>
              <a:t>on</a:t>
            </a:r>
            <a:r>
              <a:rPr lang="en-GB" sz="1500" spc="-11" dirty="0">
                <a:solidFill>
                  <a:srgbClr val="FFFFFF"/>
                </a:solidFill>
              </a:rPr>
              <a:t> </a:t>
            </a:r>
            <a:r>
              <a:rPr lang="en-GB" sz="1500" dirty="0">
                <a:solidFill>
                  <a:srgbClr val="FFFFFF"/>
                </a:solidFill>
              </a:rPr>
              <a:t>it,</a:t>
            </a:r>
            <a:r>
              <a:rPr lang="en-GB" sz="1500" spc="-11" dirty="0">
                <a:solidFill>
                  <a:srgbClr val="FFFFFF"/>
                </a:solidFill>
              </a:rPr>
              <a:t> </a:t>
            </a:r>
            <a:r>
              <a:rPr lang="en-GB" sz="1500" dirty="0">
                <a:solidFill>
                  <a:srgbClr val="FFFFFF"/>
                </a:solidFill>
              </a:rPr>
              <a:t>these</a:t>
            </a:r>
            <a:r>
              <a:rPr lang="en-GB" sz="1500" spc="-11" dirty="0">
                <a:solidFill>
                  <a:srgbClr val="FFFFFF"/>
                </a:solidFill>
              </a:rPr>
              <a:t> </a:t>
            </a:r>
            <a:r>
              <a:rPr lang="en-GB" sz="1500" dirty="0">
                <a:solidFill>
                  <a:srgbClr val="FFFFFF"/>
                </a:solidFill>
              </a:rPr>
              <a:t>operations</a:t>
            </a:r>
            <a:r>
              <a:rPr lang="en-GB" sz="1500" spc="-11" dirty="0">
                <a:solidFill>
                  <a:srgbClr val="FFFFFF"/>
                </a:solidFill>
              </a:rPr>
              <a:t> </a:t>
            </a:r>
            <a:r>
              <a:rPr lang="en-GB" dirty="0">
                <a:solidFill>
                  <a:srgbClr val="FFFFFF"/>
                </a:solidFill>
              </a:rPr>
              <a:t>are</a:t>
            </a:r>
            <a:r>
              <a:rPr lang="en-GB" spc="-11" dirty="0">
                <a:solidFill>
                  <a:srgbClr val="FFFFFF"/>
                </a:solidFill>
              </a:rPr>
              <a:t> </a:t>
            </a:r>
            <a:r>
              <a:rPr lang="en-GB" dirty="0">
                <a:solidFill>
                  <a:srgbClr val="FFFFFF"/>
                </a:solidFill>
              </a:rPr>
              <a:t>known</a:t>
            </a:r>
            <a:r>
              <a:rPr lang="en-GB" spc="-11" dirty="0">
                <a:solidFill>
                  <a:srgbClr val="FFFFFF"/>
                </a:solidFill>
              </a:rPr>
              <a:t> </a:t>
            </a:r>
            <a:r>
              <a:rPr lang="en-GB" dirty="0">
                <a:solidFill>
                  <a:srgbClr val="FFFFFF"/>
                </a:solidFill>
              </a:rPr>
              <a:t>as</a:t>
            </a:r>
            <a:r>
              <a:rPr lang="en-GB" spc="-8" dirty="0">
                <a:solidFill>
                  <a:srgbClr val="FFFFFF"/>
                </a:solidFill>
              </a:rPr>
              <a:t> </a:t>
            </a:r>
            <a:r>
              <a:rPr lang="en-GB" spc="-8" dirty="0">
                <a:solidFill>
                  <a:srgbClr val="FFFFFF"/>
                </a:solidFill>
                <a:latin typeface="Courier New"/>
                <a:cs typeface="Courier New"/>
              </a:rPr>
              <a:t>method</a:t>
            </a:r>
            <a:r>
              <a:rPr lang="en-GB" spc="-8" dirty="0">
                <a:solidFill>
                  <a:srgbClr val="FFFFFF"/>
                </a:solidFill>
              </a:rPr>
              <a:t>s.</a:t>
            </a:r>
            <a:endParaRPr lang="en-GB" dirty="0"/>
          </a:p>
        </p:txBody>
      </p:sp>
      <p:pic>
        <p:nvPicPr>
          <p:cNvPr id="7" name="object 3"/>
          <p:cNvPicPr/>
          <p:nvPr/>
        </p:nvPicPr>
        <p:blipFill>
          <a:blip r:embed="rId2" cstate="print"/>
          <a:stretch>
            <a:fillRect/>
          </a:stretch>
        </p:blipFill>
        <p:spPr>
          <a:xfrm>
            <a:off x="144990" y="1381350"/>
            <a:ext cx="1359022" cy="2276849"/>
          </a:xfrm>
          <a:prstGeom prst="rect">
            <a:avLst/>
          </a:prstGeom>
        </p:spPr>
      </p:pic>
    </p:spTree>
    <p:extLst>
      <p:ext uri="{BB962C8B-B14F-4D97-AF65-F5344CB8AC3E}">
        <p14:creationId xmlns:p14="http://schemas.microsoft.com/office/powerpoint/2010/main" val="3262009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sz="2700" spc="-105" dirty="0">
                <a:solidFill>
                  <a:schemeClr val="bg1"/>
                </a:solidFill>
                <a:latin typeface="Georgia" panose="02040502050405020303" pitchFamily="18" charset="0"/>
              </a:rPr>
              <a:t>Java</a:t>
            </a:r>
            <a:r>
              <a:rPr lang="en-GB" sz="2700" spc="-23" dirty="0">
                <a:solidFill>
                  <a:schemeClr val="bg1"/>
                </a:solidFill>
                <a:latin typeface="Georgia" panose="02040502050405020303" pitchFamily="18" charset="0"/>
              </a:rPr>
              <a:t> </a:t>
            </a:r>
            <a:r>
              <a:rPr lang="en-GB" sz="2700" spc="98" dirty="0">
                <a:solidFill>
                  <a:schemeClr val="bg1"/>
                </a:solidFill>
                <a:latin typeface="Georgia" panose="02040502050405020303" pitchFamily="18" charset="0"/>
              </a:rPr>
              <a:t>-</a:t>
            </a:r>
            <a:r>
              <a:rPr lang="en-GB" sz="2700" spc="-23" dirty="0">
                <a:solidFill>
                  <a:schemeClr val="bg1"/>
                </a:solidFill>
                <a:latin typeface="Georgia" panose="02040502050405020303" pitchFamily="18" charset="0"/>
              </a:rPr>
              <a:t> </a:t>
            </a:r>
            <a:r>
              <a:rPr lang="en-GB" sz="2700" spc="-38" dirty="0">
                <a:solidFill>
                  <a:schemeClr val="bg1"/>
                </a:solidFill>
                <a:latin typeface="Georgia" panose="02040502050405020303" pitchFamily="18" charset="0"/>
              </a:rPr>
              <a:t>access</a:t>
            </a:r>
            <a:r>
              <a:rPr lang="en-GB" sz="2700" spc="-23" dirty="0">
                <a:solidFill>
                  <a:schemeClr val="bg1"/>
                </a:solidFill>
                <a:latin typeface="Georgia" panose="02040502050405020303" pitchFamily="18" charset="0"/>
              </a:rPr>
              <a:t> </a:t>
            </a:r>
            <a:r>
              <a:rPr lang="en-GB" sz="2700" spc="-8" dirty="0">
                <a:solidFill>
                  <a:schemeClr val="bg1"/>
                </a:solidFill>
                <a:latin typeface="Georgia" panose="02040502050405020303" pitchFamily="18" charset="0"/>
              </a:rPr>
              <a:t>modifiers</a:t>
            </a:r>
            <a:endParaRPr lang="en-US" altLang="en-US" sz="2700" dirty="0">
              <a:solidFill>
                <a:schemeClr val="bg1"/>
              </a:solidFill>
              <a:latin typeface="Georgia" panose="02040502050405020303" pitchFamily="18" charset="0"/>
            </a:endParaRPr>
          </a:p>
        </p:txBody>
      </p:sp>
      <p:pic>
        <p:nvPicPr>
          <p:cNvPr id="8" name="object 3"/>
          <p:cNvPicPr/>
          <p:nvPr/>
        </p:nvPicPr>
        <p:blipFill>
          <a:blip r:embed="rId2" cstate="print"/>
          <a:stretch>
            <a:fillRect/>
          </a:stretch>
        </p:blipFill>
        <p:spPr>
          <a:xfrm>
            <a:off x="2265287" y="1909436"/>
            <a:ext cx="4300529" cy="2300282"/>
          </a:xfrm>
          <a:prstGeom prst="rect">
            <a:avLst/>
          </a:prstGeom>
        </p:spPr>
      </p:pic>
      <p:sp>
        <p:nvSpPr>
          <p:cNvPr id="9" name="object 4"/>
          <p:cNvSpPr txBox="1"/>
          <p:nvPr/>
        </p:nvSpPr>
        <p:spPr>
          <a:xfrm>
            <a:off x="3019260" y="4714968"/>
            <a:ext cx="2977515" cy="125034"/>
          </a:xfrm>
          <a:prstGeom prst="rect">
            <a:avLst/>
          </a:prstGeom>
        </p:spPr>
        <p:txBody>
          <a:bodyPr vert="horz" wrap="square" lIns="0" tIns="9525" rIns="0" bIns="0" rtlCol="0">
            <a:spAutoFit/>
          </a:bodyPr>
          <a:lstStyle/>
          <a:p>
            <a:pPr marL="9525">
              <a:spcBef>
                <a:spcPts val="75"/>
              </a:spcBef>
            </a:pPr>
            <a:r>
              <a:rPr sz="750" spc="-8" dirty="0"/>
              <a:t>https://docs.oracle.com/javase/tutorial/java/javaOO/accesscontrol.html</a:t>
            </a:r>
            <a:endParaRPr sz="750" dirty="0"/>
          </a:p>
        </p:txBody>
      </p:sp>
      <p:sp>
        <p:nvSpPr>
          <p:cNvPr id="2" name="TextBox 1">
            <a:extLst>
              <a:ext uri="{FF2B5EF4-FFF2-40B4-BE49-F238E27FC236}">
                <a16:creationId xmlns:a16="http://schemas.microsoft.com/office/drawing/2014/main" id="{CA63CB74-D41E-EC7E-A41F-D586BE6187B5}"/>
              </a:ext>
            </a:extLst>
          </p:cNvPr>
          <p:cNvSpPr txBox="1"/>
          <p:nvPr/>
        </p:nvSpPr>
        <p:spPr>
          <a:xfrm>
            <a:off x="3275856" y="4909808"/>
            <a:ext cx="4590510" cy="219291"/>
          </a:xfrm>
          <a:prstGeom prst="rect">
            <a:avLst/>
          </a:prstGeom>
          <a:noFill/>
        </p:spPr>
        <p:txBody>
          <a:bodyPr wrap="square" rtlCol="0">
            <a:spAutoFit/>
          </a:bodyPr>
          <a:lstStyle/>
          <a:p>
            <a:pPr algn="r"/>
            <a:r>
              <a:rPr lang="en-GB" sz="825" dirty="0">
                <a:solidFill>
                  <a:schemeClr val="bg1"/>
                </a:solidFill>
                <a:latin typeface="Eras Medium ITC" panose="020B0602030504020804" pitchFamily="34" charset="0"/>
              </a:rPr>
              <a:t>School Of Computer Science, AI and Electronic</a:t>
            </a:r>
          </a:p>
        </p:txBody>
      </p:sp>
    </p:spTree>
    <p:extLst>
      <p:ext uri="{BB962C8B-B14F-4D97-AF65-F5344CB8AC3E}">
        <p14:creationId xmlns:p14="http://schemas.microsoft.com/office/powerpoint/2010/main" val="3176164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sz="2700" spc="-105" dirty="0">
                <a:solidFill>
                  <a:schemeClr val="bg1"/>
                </a:solidFill>
                <a:latin typeface="Georgia" panose="02040502050405020303" pitchFamily="18" charset="0"/>
              </a:rPr>
              <a:t>Java</a:t>
            </a:r>
            <a:r>
              <a:rPr lang="en-GB" sz="2700" spc="-4" dirty="0">
                <a:solidFill>
                  <a:schemeClr val="bg1"/>
                </a:solidFill>
                <a:latin typeface="Georgia" panose="02040502050405020303" pitchFamily="18" charset="0"/>
              </a:rPr>
              <a:t> </a:t>
            </a:r>
            <a:r>
              <a:rPr lang="en-GB" sz="2700" spc="98" dirty="0">
                <a:solidFill>
                  <a:schemeClr val="bg1"/>
                </a:solidFill>
                <a:latin typeface="Georgia" panose="02040502050405020303" pitchFamily="18" charset="0"/>
              </a:rPr>
              <a:t>-</a:t>
            </a:r>
            <a:r>
              <a:rPr lang="en-GB" sz="2700" spc="-4" dirty="0">
                <a:solidFill>
                  <a:schemeClr val="bg1"/>
                </a:solidFill>
                <a:latin typeface="Georgia" panose="02040502050405020303" pitchFamily="18" charset="0"/>
              </a:rPr>
              <a:t> </a:t>
            </a:r>
            <a:r>
              <a:rPr lang="en-GB" sz="2700" spc="-8" dirty="0">
                <a:solidFill>
                  <a:schemeClr val="bg1"/>
                </a:solidFill>
                <a:latin typeface="Georgia" panose="02040502050405020303" pitchFamily="18" charset="0"/>
              </a:rPr>
              <a:t>methods</a:t>
            </a:r>
            <a:endParaRPr lang="en-US" altLang="en-US" sz="2700" dirty="0">
              <a:solidFill>
                <a:schemeClr val="bg1"/>
              </a:solidFill>
              <a:latin typeface="Georgia" panose="02040502050405020303" pitchFamily="18" charset="0"/>
            </a:endParaRPr>
          </a:p>
        </p:txBody>
      </p:sp>
      <p:sp>
        <p:nvSpPr>
          <p:cNvPr id="139267" name="Rectangle 3"/>
          <p:cNvSpPr>
            <a:spLocks noGrp="1" noChangeArrowheads="1"/>
          </p:cNvSpPr>
          <p:nvPr>
            <p:ph idx="4294967295"/>
          </p:nvPr>
        </p:nvSpPr>
        <p:spPr>
          <a:xfrm>
            <a:off x="0" y="2414588"/>
            <a:ext cx="9144000" cy="2728912"/>
          </a:xfrm>
        </p:spPr>
        <p:txBody>
          <a:bodyPr/>
          <a:lstStyle/>
          <a:p>
            <a:pPr marL="351949" indent="-215741">
              <a:lnSpc>
                <a:spcPts val="1248"/>
              </a:lnSpc>
              <a:spcBef>
                <a:spcPts val="75"/>
              </a:spcBef>
              <a:buFont typeface="Arial"/>
              <a:buChar char="-"/>
              <a:tabLst>
                <a:tab pos="351949" algn="l"/>
              </a:tabLst>
            </a:pPr>
            <a:endParaRPr lang="en-GB" sz="1500" spc="-8" dirty="0">
              <a:latin typeface="Courier New"/>
              <a:cs typeface="Courier New"/>
            </a:endParaRPr>
          </a:p>
          <a:p>
            <a:pPr marL="351949" indent="-215741">
              <a:lnSpc>
                <a:spcPts val="1248"/>
              </a:lnSpc>
              <a:spcBef>
                <a:spcPts val="75"/>
              </a:spcBef>
              <a:buFont typeface="Arial"/>
              <a:buChar char="-"/>
              <a:tabLst>
                <a:tab pos="351949" algn="l"/>
              </a:tabLst>
            </a:pPr>
            <a:r>
              <a:rPr lang="en-GB" sz="1500" spc="-8" dirty="0" err="1">
                <a:latin typeface="Courier New"/>
                <a:cs typeface="Courier New"/>
              </a:rPr>
              <a:t>AccessModifier</a:t>
            </a:r>
            <a:r>
              <a:rPr lang="en-GB" sz="1500" spc="-184" dirty="0">
                <a:latin typeface="Courier New"/>
                <a:cs typeface="Courier New"/>
              </a:rPr>
              <a:t> </a:t>
            </a:r>
            <a:r>
              <a:rPr lang="en-GB" sz="1500" dirty="0"/>
              <a:t>-</a:t>
            </a:r>
            <a:r>
              <a:rPr lang="en-GB" sz="1500" spc="-15" dirty="0"/>
              <a:t> </a:t>
            </a:r>
            <a:r>
              <a:rPr lang="en-GB" sz="1500" dirty="0"/>
              <a:t>used</a:t>
            </a:r>
            <a:r>
              <a:rPr lang="en-GB" sz="1500" spc="-4" dirty="0"/>
              <a:t> </a:t>
            </a:r>
            <a:r>
              <a:rPr lang="en-GB" sz="1500" dirty="0"/>
              <a:t>to</a:t>
            </a:r>
            <a:r>
              <a:rPr lang="en-GB" sz="1500" spc="-8" dirty="0"/>
              <a:t> </a:t>
            </a:r>
            <a:r>
              <a:rPr lang="en-GB" sz="1500" dirty="0"/>
              <a:t>control</a:t>
            </a:r>
            <a:r>
              <a:rPr lang="en-GB" sz="1500" spc="-8" dirty="0"/>
              <a:t> </a:t>
            </a:r>
            <a:r>
              <a:rPr lang="en-GB" sz="1500" dirty="0"/>
              <a:t>the</a:t>
            </a:r>
            <a:r>
              <a:rPr lang="en-GB" sz="1500" spc="-8" dirty="0"/>
              <a:t> </a:t>
            </a:r>
            <a:r>
              <a:rPr lang="en-GB" sz="1500" dirty="0"/>
              <a:t>visibility</a:t>
            </a:r>
            <a:r>
              <a:rPr lang="en-GB" sz="1500" spc="-8" dirty="0"/>
              <a:t> </a:t>
            </a:r>
            <a:r>
              <a:rPr lang="en-GB" sz="1500" dirty="0"/>
              <a:t>of</a:t>
            </a:r>
            <a:r>
              <a:rPr lang="en-GB" sz="1500" spc="-4" dirty="0"/>
              <a:t> </a:t>
            </a:r>
            <a:r>
              <a:rPr lang="en-GB" sz="1500" dirty="0"/>
              <a:t>a</a:t>
            </a:r>
            <a:r>
              <a:rPr lang="en-GB" sz="1500" spc="-8" dirty="0"/>
              <a:t> method</a:t>
            </a:r>
            <a:endParaRPr lang="en-GB" sz="1500" dirty="0"/>
          </a:p>
          <a:p>
            <a:pPr marL="351949" indent="-215741">
              <a:lnSpc>
                <a:spcPts val="1238"/>
              </a:lnSpc>
              <a:buFont typeface="Arial"/>
              <a:buChar char="-"/>
              <a:tabLst>
                <a:tab pos="351949" algn="l"/>
              </a:tabLst>
            </a:pPr>
            <a:endParaRPr lang="en-GB" sz="1500" spc="-8" dirty="0">
              <a:latin typeface="Courier New"/>
              <a:cs typeface="Courier New"/>
            </a:endParaRPr>
          </a:p>
          <a:p>
            <a:pPr marL="351949" indent="-215741">
              <a:lnSpc>
                <a:spcPts val="1238"/>
              </a:lnSpc>
              <a:buFont typeface="Arial"/>
              <a:buChar char="-"/>
              <a:tabLst>
                <a:tab pos="351949" algn="l"/>
              </a:tabLst>
            </a:pPr>
            <a:r>
              <a:rPr lang="en-GB" sz="1500" spc="-8" dirty="0" err="1">
                <a:latin typeface="Courier New"/>
                <a:cs typeface="Courier New"/>
              </a:rPr>
              <a:t>ReturnType</a:t>
            </a:r>
            <a:r>
              <a:rPr lang="en-GB" sz="1500" spc="-229" dirty="0">
                <a:latin typeface="Courier New"/>
                <a:cs typeface="Courier New"/>
              </a:rPr>
              <a:t> </a:t>
            </a:r>
            <a:r>
              <a:rPr lang="en-GB" sz="1500" dirty="0"/>
              <a:t>-</a:t>
            </a:r>
            <a:r>
              <a:rPr lang="en-GB" sz="1500" spc="-15" dirty="0"/>
              <a:t> </a:t>
            </a:r>
            <a:r>
              <a:rPr lang="en-GB" sz="1500" dirty="0"/>
              <a:t>used</a:t>
            </a:r>
            <a:r>
              <a:rPr lang="en-GB" sz="1500" spc="-11" dirty="0"/>
              <a:t> </a:t>
            </a:r>
            <a:r>
              <a:rPr lang="en-GB" sz="1500" dirty="0"/>
              <a:t>to</a:t>
            </a:r>
            <a:r>
              <a:rPr lang="en-GB" sz="1500" spc="-8" dirty="0"/>
              <a:t> </a:t>
            </a:r>
            <a:r>
              <a:rPr lang="en-GB" sz="1500" dirty="0"/>
              <a:t>declare</a:t>
            </a:r>
            <a:r>
              <a:rPr lang="en-GB" sz="1500" spc="-8" dirty="0"/>
              <a:t> </a:t>
            </a:r>
            <a:r>
              <a:rPr lang="en-GB" sz="1500" dirty="0"/>
              <a:t>what</a:t>
            </a:r>
            <a:r>
              <a:rPr lang="en-GB" sz="1500" spc="-8" dirty="0"/>
              <a:t> </a:t>
            </a:r>
            <a:r>
              <a:rPr lang="en-GB" sz="1500" dirty="0"/>
              <a:t>type</a:t>
            </a:r>
            <a:r>
              <a:rPr lang="en-GB" sz="1500" spc="-11" dirty="0"/>
              <a:t> </a:t>
            </a:r>
            <a:r>
              <a:rPr lang="en-GB" sz="1500" dirty="0"/>
              <a:t>of</a:t>
            </a:r>
            <a:r>
              <a:rPr lang="en-GB" sz="1500" spc="-8" dirty="0"/>
              <a:t> </a:t>
            </a:r>
            <a:r>
              <a:rPr lang="en-GB" sz="1500" dirty="0"/>
              <a:t>data</a:t>
            </a:r>
            <a:r>
              <a:rPr lang="en-GB" sz="1500" spc="-8" dirty="0"/>
              <a:t> </a:t>
            </a:r>
            <a:r>
              <a:rPr lang="en-GB" sz="1500" dirty="0"/>
              <a:t>this</a:t>
            </a:r>
            <a:r>
              <a:rPr lang="en-GB" sz="1500" spc="-8" dirty="0"/>
              <a:t> </a:t>
            </a:r>
            <a:r>
              <a:rPr lang="en-GB" sz="1500" dirty="0"/>
              <a:t>method</a:t>
            </a:r>
            <a:r>
              <a:rPr lang="en-GB" sz="1500" spc="-11" dirty="0"/>
              <a:t> </a:t>
            </a:r>
            <a:r>
              <a:rPr lang="en-GB" sz="1500" dirty="0"/>
              <a:t>returns</a:t>
            </a:r>
            <a:r>
              <a:rPr lang="en-GB" sz="1500" spc="-8" dirty="0"/>
              <a:t>    </a:t>
            </a:r>
            <a:r>
              <a:rPr lang="en-GB" sz="1500" dirty="0"/>
              <a:t>(void</a:t>
            </a:r>
            <a:r>
              <a:rPr lang="en-GB" sz="1500" spc="-8" dirty="0"/>
              <a:t> </a:t>
            </a:r>
            <a:r>
              <a:rPr lang="en-GB" sz="1500" dirty="0"/>
              <a:t>returns</a:t>
            </a:r>
            <a:r>
              <a:rPr lang="en-GB" sz="1500" spc="-8" dirty="0"/>
              <a:t> nothing)</a:t>
            </a:r>
            <a:endParaRPr lang="en-GB" sz="1500" dirty="0"/>
          </a:p>
          <a:p>
            <a:pPr marL="351949" indent="-215741">
              <a:lnSpc>
                <a:spcPts val="1238"/>
              </a:lnSpc>
              <a:buFont typeface="Arial"/>
              <a:buChar char="-"/>
              <a:tabLst>
                <a:tab pos="351949" algn="l"/>
              </a:tabLst>
            </a:pPr>
            <a:endParaRPr lang="en-GB" sz="1500" spc="-8" dirty="0">
              <a:latin typeface="Courier New"/>
              <a:cs typeface="Courier New"/>
            </a:endParaRPr>
          </a:p>
          <a:p>
            <a:pPr marL="351949" indent="-215741">
              <a:lnSpc>
                <a:spcPts val="1238"/>
              </a:lnSpc>
              <a:buFont typeface="Arial"/>
              <a:buChar char="-"/>
              <a:tabLst>
                <a:tab pos="351949" algn="l"/>
              </a:tabLst>
            </a:pPr>
            <a:r>
              <a:rPr lang="en-GB" sz="1500" spc="-8" dirty="0" err="1">
                <a:latin typeface="Courier New"/>
                <a:cs typeface="Courier New"/>
              </a:rPr>
              <a:t>MethodName</a:t>
            </a:r>
            <a:r>
              <a:rPr lang="en-GB" sz="1500" spc="-236" dirty="0">
                <a:latin typeface="Courier New"/>
                <a:cs typeface="Courier New"/>
              </a:rPr>
              <a:t> </a:t>
            </a:r>
            <a:r>
              <a:rPr lang="en-GB" sz="1500" dirty="0"/>
              <a:t>-</a:t>
            </a:r>
            <a:r>
              <a:rPr lang="en-GB" sz="1500" spc="-4" dirty="0"/>
              <a:t> </a:t>
            </a:r>
            <a:r>
              <a:rPr lang="en-GB" sz="1500" dirty="0"/>
              <a:t>used to</a:t>
            </a:r>
            <a:r>
              <a:rPr lang="en-GB" sz="1500" spc="-4" dirty="0"/>
              <a:t> </a:t>
            </a:r>
            <a:r>
              <a:rPr lang="en-GB" sz="1500" dirty="0"/>
              <a:t>name</a:t>
            </a:r>
            <a:r>
              <a:rPr lang="en-GB" sz="1500" spc="-4" dirty="0"/>
              <a:t> </a:t>
            </a:r>
            <a:r>
              <a:rPr lang="en-GB" sz="1500" dirty="0"/>
              <a:t>the </a:t>
            </a:r>
            <a:r>
              <a:rPr lang="en-GB" sz="1500" spc="-8" dirty="0"/>
              <a:t>method</a:t>
            </a:r>
            <a:endParaRPr lang="en-GB" sz="1500" dirty="0"/>
          </a:p>
          <a:p>
            <a:pPr marL="351949" indent="-215741">
              <a:lnSpc>
                <a:spcPts val="1248"/>
              </a:lnSpc>
              <a:buFont typeface="Arial"/>
              <a:buChar char="-"/>
              <a:tabLst>
                <a:tab pos="351949" algn="l"/>
              </a:tabLst>
            </a:pPr>
            <a:endParaRPr lang="en-GB" sz="1500" dirty="0">
              <a:latin typeface="Courier New"/>
              <a:cs typeface="Courier New"/>
            </a:endParaRPr>
          </a:p>
          <a:p>
            <a:pPr marL="351949" indent="-215741">
              <a:lnSpc>
                <a:spcPts val="1248"/>
              </a:lnSpc>
              <a:buFont typeface="Arial"/>
              <a:buChar char="-"/>
              <a:tabLst>
                <a:tab pos="351949" algn="l"/>
              </a:tabLst>
            </a:pPr>
            <a:r>
              <a:rPr lang="en-GB" sz="1500" dirty="0">
                <a:latin typeface="Courier New"/>
                <a:cs typeface="Courier New"/>
              </a:rPr>
              <a:t>optional</a:t>
            </a:r>
            <a:r>
              <a:rPr lang="en-GB" sz="1500" spc="-26" dirty="0">
                <a:latin typeface="Courier New"/>
                <a:cs typeface="Courier New"/>
              </a:rPr>
              <a:t> </a:t>
            </a:r>
            <a:r>
              <a:rPr lang="en-GB" sz="1500" dirty="0">
                <a:latin typeface="Courier New"/>
                <a:cs typeface="Courier New"/>
              </a:rPr>
              <a:t>parameter</a:t>
            </a:r>
            <a:r>
              <a:rPr lang="en-GB" sz="1500" spc="-19" dirty="0">
                <a:latin typeface="Courier New"/>
                <a:cs typeface="Courier New"/>
              </a:rPr>
              <a:t> </a:t>
            </a:r>
            <a:r>
              <a:rPr lang="en-GB" sz="1500" dirty="0">
                <a:latin typeface="Courier New"/>
                <a:cs typeface="Courier New"/>
              </a:rPr>
              <a:t>list</a:t>
            </a:r>
            <a:r>
              <a:rPr lang="en-GB" sz="1500" spc="-90" dirty="0">
                <a:latin typeface="Courier New"/>
                <a:cs typeface="Courier New"/>
              </a:rPr>
              <a:t> </a:t>
            </a:r>
            <a:r>
              <a:rPr lang="en-GB" sz="1500" dirty="0"/>
              <a:t>-</a:t>
            </a:r>
            <a:r>
              <a:rPr lang="en-GB" sz="1500" spc="-11" dirty="0"/>
              <a:t> </a:t>
            </a:r>
            <a:r>
              <a:rPr lang="en-GB" sz="1500" dirty="0"/>
              <a:t>can</a:t>
            </a:r>
            <a:r>
              <a:rPr lang="en-GB" sz="1500" spc="-11" dirty="0"/>
              <a:t> </a:t>
            </a:r>
            <a:r>
              <a:rPr lang="en-GB" sz="1500" dirty="0"/>
              <a:t>have</a:t>
            </a:r>
            <a:r>
              <a:rPr lang="en-GB" sz="1500" spc="-11" dirty="0"/>
              <a:t> </a:t>
            </a:r>
            <a:r>
              <a:rPr lang="en-GB" sz="1500" dirty="0"/>
              <a:t>0</a:t>
            </a:r>
            <a:r>
              <a:rPr lang="en-GB" sz="1500" spc="-8" dirty="0"/>
              <a:t> </a:t>
            </a:r>
            <a:r>
              <a:rPr lang="en-GB" sz="1500" dirty="0"/>
              <a:t>to</a:t>
            </a:r>
            <a:r>
              <a:rPr lang="en-GB" sz="1500" spc="-11" dirty="0"/>
              <a:t> </a:t>
            </a:r>
            <a:r>
              <a:rPr lang="en-GB" sz="1500" dirty="0"/>
              <a:t>n</a:t>
            </a:r>
            <a:r>
              <a:rPr lang="en-GB" sz="1500" spc="-11" dirty="0"/>
              <a:t> </a:t>
            </a:r>
            <a:r>
              <a:rPr lang="en-GB" sz="1500" dirty="0"/>
              <a:t>types</a:t>
            </a:r>
            <a:r>
              <a:rPr lang="en-GB" sz="1500" spc="-11" dirty="0"/>
              <a:t> </a:t>
            </a:r>
            <a:r>
              <a:rPr lang="en-GB" sz="1500" dirty="0"/>
              <a:t>of</a:t>
            </a:r>
            <a:r>
              <a:rPr lang="en-GB" sz="1500" spc="-8" dirty="0"/>
              <a:t> parameters</a:t>
            </a:r>
            <a:endParaRPr lang="en-GB" sz="1500" dirty="0"/>
          </a:p>
          <a:p>
            <a:pPr>
              <a:lnSpc>
                <a:spcPct val="100000"/>
              </a:lnSpc>
              <a:spcBef>
                <a:spcPts val="68"/>
              </a:spcBef>
            </a:pPr>
            <a:endParaRPr lang="en-GB" sz="1500" dirty="0"/>
          </a:p>
          <a:p>
            <a:pPr marL="9525" marR="42863">
              <a:lnSpc>
                <a:spcPts val="1238"/>
              </a:lnSpc>
            </a:pPr>
            <a:r>
              <a:rPr lang="en-GB" sz="1500" dirty="0"/>
              <a:t>There</a:t>
            </a:r>
            <a:r>
              <a:rPr lang="en-GB" sz="1500" spc="-15" dirty="0"/>
              <a:t> </a:t>
            </a:r>
            <a:r>
              <a:rPr lang="en-GB" sz="1500" dirty="0"/>
              <a:t>is</a:t>
            </a:r>
            <a:r>
              <a:rPr lang="en-GB" sz="1500" spc="-11" dirty="0"/>
              <a:t> </a:t>
            </a:r>
            <a:r>
              <a:rPr lang="en-GB" sz="1500" dirty="0"/>
              <a:t>a</a:t>
            </a:r>
            <a:r>
              <a:rPr lang="en-GB" sz="1500" spc="-11" dirty="0"/>
              <a:t> </a:t>
            </a:r>
            <a:r>
              <a:rPr lang="en-GB" sz="1500" dirty="0"/>
              <a:t>special</a:t>
            </a:r>
            <a:r>
              <a:rPr lang="en-GB" sz="1500" spc="-11" dirty="0"/>
              <a:t> </a:t>
            </a:r>
            <a:r>
              <a:rPr lang="en-GB" sz="1500" dirty="0"/>
              <a:t>type</a:t>
            </a:r>
            <a:r>
              <a:rPr lang="en-GB" sz="1500" spc="-11" dirty="0"/>
              <a:t> </a:t>
            </a:r>
            <a:r>
              <a:rPr lang="en-GB" sz="1500" dirty="0"/>
              <a:t>of</a:t>
            </a:r>
            <a:r>
              <a:rPr lang="en-GB" sz="1500" spc="-11" dirty="0"/>
              <a:t> </a:t>
            </a:r>
            <a:r>
              <a:rPr lang="en-GB" sz="1500" dirty="0"/>
              <a:t>method</a:t>
            </a:r>
            <a:r>
              <a:rPr lang="en-GB" sz="1500" spc="-11" dirty="0"/>
              <a:t> </a:t>
            </a:r>
            <a:r>
              <a:rPr lang="en-GB" sz="1500" dirty="0"/>
              <a:t>called</a:t>
            </a:r>
            <a:r>
              <a:rPr lang="en-GB" sz="1500" spc="-11" dirty="0"/>
              <a:t> </a:t>
            </a:r>
            <a:r>
              <a:rPr lang="en-GB" sz="1500" dirty="0"/>
              <a:t>the</a:t>
            </a:r>
            <a:r>
              <a:rPr lang="en-GB" sz="1500" spc="-8" dirty="0"/>
              <a:t> </a:t>
            </a:r>
            <a:r>
              <a:rPr lang="en-GB" sz="1500" spc="-8" dirty="0">
                <a:latin typeface="Courier New"/>
                <a:cs typeface="Courier New"/>
              </a:rPr>
              <a:t>constructor</a:t>
            </a:r>
            <a:r>
              <a:rPr lang="en-GB" sz="1500" spc="-506" dirty="0">
                <a:latin typeface="Courier New"/>
                <a:cs typeface="Courier New"/>
              </a:rPr>
              <a:t> </a:t>
            </a:r>
            <a:r>
              <a:rPr lang="en-GB" sz="1500" dirty="0"/>
              <a:t>,</a:t>
            </a:r>
            <a:r>
              <a:rPr lang="en-GB" sz="1500" spc="-11" dirty="0"/>
              <a:t> </a:t>
            </a:r>
            <a:r>
              <a:rPr lang="en-GB" sz="1500" dirty="0"/>
              <a:t>which</a:t>
            </a:r>
            <a:r>
              <a:rPr lang="en-GB" sz="1500" spc="-11" dirty="0"/>
              <a:t> </a:t>
            </a:r>
            <a:r>
              <a:rPr lang="en-GB" sz="1500" dirty="0"/>
              <a:t>can</a:t>
            </a:r>
            <a:r>
              <a:rPr lang="en-GB" sz="1500" spc="-11" dirty="0"/>
              <a:t> </a:t>
            </a:r>
            <a:r>
              <a:rPr lang="en-GB" sz="1500" dirty="0"/>
              <a:t>be</a:t>
            </a:r>
            <a:r>
              <a:rPr lang="en-GB" sz="1500" spc="-11" dirty="0"/>
              <a:t> </a:t>
            </a:r>
            <a:r>
              <a:rPr lang="en-GB" sz="1500" dirty="0"/>
              <a:t>called</a:t>
            </a:r>
            <a:r>
              <a:rPr lang="en-GB" sz="1500" spc="-11" dirty="0"/>
              <a:t> </a:t>
            </a:r>
            <a:r>
              <a:rPr lang="en-GB" sz="1500" dirty="0"/>
              <a:t>when</a:t>
            </a:r>
            <a:r>
              <a:rPr lang="en-GB" sz="1500" spc="-11" dirty="0"/>
              <a:t> </a:t>
            </a:r>
            <a:r>
              <a:rPr lang="en-GB" sz="1500" dirty="0"/>
              <a:t>an</a:t>
            </a:r>
            <a:r>
              <a:rPr lang="en-GB" sz="1500" spc="-11" dirty="0"/>
              <a:t> </a:t>
            </a:r>
            <a:r>
              <a:rPr lang="en-GB" sz="1500" spc="-8" dirty="0"/>
              <a:t>object </a:t>
            </a:r>
            <a:r>
              <a:rPr lang="en-GB" sz="1500" dirty="0"/>
              <a:t>needs</a:t>
            </a:r>
            <a:r>
              <a:rPr lang="en-GB" sz="1500" spc="-8" dirty="0"/>
              <a:t> </a:t>
            </a:r>
            <a:r>
              <a:rPr lang="en-GB" sz="1500" dirty="0"/>
              <a:t>to</a:t>
            </a:r>
            <a:r>
              <a:rPr lang="en-GB" sz="1500" spc="-8" dirty="0"/>
              <a:t> </a:t>
            </a:r>
            <a:r>
              <a:rPr lang="en-GB" sz="1500" dirty="0"/>
              <a:t>be</a:t>
            </a:r>
            <a:r>
              <a:rPr lang="en-GB" sz="1500" spc="-4" dirty="0"/>
              <a:t> </a:t>
            </a:r>
            <a:r>
              <a:rPr lang="en-GB" sz="1500" dirty="0"/>
              <a:t>created</a:t>
            </a:r>
            <a:r>
              <a:rPr lang="en-GB" sz="1500" spc="-8" dirty="0"/>
              <a:t> </a:t>
            </a:r>
            <a:r>
              <a:rPr lang="en-GB" sz="1500" dirty="0"/>
              <a:t>using</a:t>
            </a:r>
            <a:r>
              <a:rPr lang="en-GB" sz="1500" spc="-4" dirty="0"/>
              <a:t> </a:t>
            </a:r>
            <a:r>
              <a:rPr lang="en-GB" sz="1500" dirty="0">
                <a:latin typeface="Courier New"/>
                <a:cs typeface="Courier New"/>
              </a:rPr>
              <a:t>new</a:t>
            </a:r>
            <a:r>
              <a:rPr lang="en-GB" sz="1500" dirty="0"/>
              <a:t>.</a:t>
            </a:r>
            <a:r>
              <a:rPr lang="en-GB" sz="1500" spc="-4" dirty="0"/>
              <a:t> </a:t>
            </a:r>
            <a:r>
              <a:rPr lang="en-GB" sz="1500" dirty="0"/>
              <a:t>Java</a:t>
            </a:r>
            <a:r>
              <a:rPr lang="en-GB" sz="1500" spc="-8" dirty="0"/>
              <a:t> </a:t>
            </a:r>
            <a:r>
              <a:rPr lang="en-GB" sz="1500" dirty="0"/>
              <a:t>has </a:t>
            </a:r>
            <a:r>
              <a:rPr lang="en-GB" i="1" dirty="0">
                <a:solidFill>
                  <a:srgbClr val="FFFFFF"/>
                </a:solidFill>
              </a:rPr>
              <a:t>no</a:t>
            </a:r>
            <a:r>
              <a:rPr lang="en-GB" i="1" spc="-8" dirty="0">
                <a:solidFill>
                  <a:srgbClr val="FFFFFF"/>
                </a:solidFill>
              </a:rPr>
              <a:t> </a:t>
            </a:r>
            <a:r>
              <a:rPr lang="en-GB" dirty="0">
                <a:solidFill>
                  <a:srgbClr val="FFFFFF"/>
                </a:solidFill>
              </a:rPr>
              <a:t>concept</a:t>
            </a:r>
            <a:r>
              <a:rPr lang="en-GB" spc="-4" dirty="0">
                <a:solidFill>
                  <a:srgbClr val="FFFFFF"/>
                </a:solidFill>
              </a:rPr>
              <a:t> </a:t>
            </a:r>
            <a:r>
              <a:rPr lang="en-GB" dirty="0">
                <a:solidFill>
                  <a:srgbClr val="FFFFFF"/>
                </a:solidFill>
              </a:rPr>
              <a:t>of</a:t>
            </a:r>
            <a:r>
              <a:rPr lang="en-GB" spc="4" dirty="0">
                <a:solidFill>
                  <a:srgbClr val="FFFFFF"/>
                </a:solidFill>
              </a:rPr>
              <a:t> </a:t>
            </a:r>
            <a:r>
              <a:rPr lang="en-GB" spc="-8" dirty="0">
                <a:solidFill>
                  <a:srgbClr val="FFFFFF"/>
                </a:solidFill>
                <a:latin typeface="Courier New"/>
                <a:cs typeface="Courier New"/>
              </a:rPr>
              <a:t>destructor</a:t>
            </a:r>
            <a:r>
              <a:rPr lang="en-GB" spc="-229" dirty="0">
                <a:solidFill>
                  <a:srgbClr val="FFFFFF"/>
                </a:solidFill>
                <a:latin typeface="Courier New"/>
                <a:cs typeface="Courier New"/>
              </a:rPr>
              <a:t> </a:t>
            </a:r>
            <a:r>
              <a:rPr lang="en-GB" spc="-8" dirty="0">
                <a:solidFill>
                  <a:srgbClr val="FFFFFF"/>
                </a:solidFill>
              </a:rPr>
              <a:t>methods.</a:t>
            </a:r>
            <a:endParaRPr lang="en-GB" dirty="0"/>
          </a:p>
        </p:txBody>
      </p:sp>
      <p:pic>
        <p:nvPicPr>
          <p:cNvPr id="7" name="object 3"/>
          <p:cNvPicPr/>
          <p:nvPr/>
        </p:nvPicPr>
        <p:blipFill>
          <a:blip r:embed="rId2" cstate="print"/>
          <a:stretch>
            <a:fillRect/>
          </a:stretch>
        </p:blipFill>
        <p:spPr>
          <a:xfrm>
            <a:off x="472110" y="1223702"/>
            <a:ext cx="6945832" cy="914398"/>
          </a:xfrm>
          <a:prstGeom prst="rect">
            <a:avLst/>
          </a:prstGeom>
        </p:spPr>
      </p:pic>
    </p:spTree>
    <p:extLst>
      <p:ext uri="{BB962C8B-B14F-4D97-AF65-F5344CB8AC3E}">
        <p14:creationId xmlns:p14="http://schemas.microsoft.com/office/powerpoint/2010/main" val="778150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a:spLocks noGrp="1"/>
          </p:cNvSpPr>
          <p:nvPr>
            <p:ph type="title"/>
          </p:nvPr>
        </p:nvSpPr>
        <p:spPr>
          <a:xfrm>
            <a:off x="311700" y="170820"/>
            <a:ext cx="8520600" cy="437940"/>
          </a:xfrm>
          <a:prstGeom prst="rect">
            <a:avLst/>
          </a:prstGeom>
        </p:spPr>
        <p:txBody>
          <a:bodyPr spcFirstLastPara="1" vert="horz" wrap="square" lIns="0" tIns="9525" rIns="0" bIns="0" rtlCol="0" anchor="t" anchorCtr="0">
            <a:spAutoFit/>
          </a:bodyPr>
          <a:lstStyle/>
          <a:p>
            <a:pPr marL="9525">
              <a:spcBef>
                <a:spcPts val="75"/>
              </a:spcBef>
            </a:pPr>
            <a:r>
              <a:rPr sz="2700" spc="-105" dirty="0">
                <a:solidFill>
                  <a:schemeClr val="bg1"/>
                </a:solidFill>
                <a:latin typeface="Georgia" panose="02040502050405020303" pitchFamily="18" charset="0"/>
              </a:rPr>
              <a:t>Java</a:t>
            </a:r>
            <a:r>
              <a:rPr sz="2700" spc="-26" dirty="0">
                <a:solidFill>
                  <a:schemeClr val="bg1"/>
                </a:solidFill>
                <a:latin typeface="Georgia" panose="02040502050405020303" pitchFamily="18" charset="0"/>
              </a:rPr>
              <a:t> </a:t>
            </a:r>
            <a:r>
              <a:rPr sz="2700" spc="98" dirty="0">
                <a:solidFill>
                  <a:schemeClr val="bg1"/>
                </a:solidFill>
                <a:latin typeface="Georgia" panose="02040502050405020303" pitchFamily="18" charset="0"/>
              </a:rPr>
              <a:t>-</a:t>
            </a:r>
            <a:r>
              <a:rPr sz="2700" spc="-94" dirty="0">
                <a:solidFill>
                  <a:schemeClr val="bg1"/>
                </a:solidFill>
                <a:latin typeface="Georgia" panose="02040502050405020303" pitchFamily="18" charset="0"/>
              </a:rPr>
              <a:t> </a:t>
            </a:r>
            <a:r>
              <a:rPr sz="2700" dirty="0">
                <a:solidFill>
                  <a:schemeClr val="bg1"/>
                </a:solidFill>
                <a:latin typeface="Georgia" panose="02040502050405020303" pitchFamily="18" charset="0"/>
              </a:rPr>
              <a:t>class</a:t>
            </a:r>
            <a:r>
              <a:rPr sz="2700" spc="-60" dirty="0">
                <a:solidFill>
                  <a:schemeClr val="bg1"/>
                </a:solidFill>
                <a:latin typeface="Georgia" panose="02040502050405020303" pitchFamily="18" charset="0"/>
              </a:rPr>
              <a:t> </a:t>
            </a:r>
            <a:r>
              <a:rPr sz="2700" spc="-15" dirty="0">
                <a:solidFill>
                  <a:schemeClr val="bg1"/>
                </a:solidFill>
                <a:latin typeface="Georgia" panose="02040502050405020303" pitchFamily="18" charset="0"/>
              </a:rPr>
              <a:t>and</a:t>
            </a:r>
            <a:r>
              <a:rPr sz="2700" spc="-60" dirty="0">
                <a:solidFill>
                  <a:schemeClr val="bg1"/>
                </a:solidFill>
                <a:latin typeface="Georgia" panose="02040502050405020303" pitchFamily="18" charset="0"/>
              </a:rPr>
              <a:t> </a:t>
            </a:r>
            <a:r>
              <a:rPr sz="2700" spc="-8" dirty="0">
                <a:solidFill>
                  <a:schemeClr val="bg1"/>
                </a:solidFill>
                <a:latin typeface="Georgia" panose="02040502050405020303" pitchFamily="18" charset="0"/>
              </a:rPr>
              <a:t>method</a:t>
            </a:r>
          </a:p>
        </p:txBody>
      </p:sp>
      <p:pic>
        <p:nvPicPr>
          <p:cNvPr id="8" name="object 3"/>
          <p:cNvPicPr/>
          <p:nvPr/>
        </p:nvPicPr>
        <p:blipFill>
          <a:blip r:embed="rId2" cstate="print"/>
          <a:stretch>
            <a:fillRect/>
          </a:stretch>
        </p:blipFill>
        <p:spPr>
          <a:xfrm>
            <a:off x="239443" y="1156018"/>
            <a:ext cx="3402377" cy="2150907"/>
          </a:xfrm>
          <a:prstGeom prst="rect">
            <a:avLst/>
          </a:prstGeom>
        </p:spPr>
      </p:pic>
      <p:pic>
        <p:nvPicPr>
          <p:cNvPr id="9" name="object 4"/>
          <p:cNvPicPr/>
          <p:nvPr/>
        </p:nvPicPr>
        <p:blipFill>
          <a:blip r:embed="rId3" cstate="print"/>
          <a:stretch>
            <a:fillRect/>
          </a:stretch>
        </p:blipFill>
        <p:spPr>
          <a:xfrm>
            <a:off x="2384757" y="3679524"/>
            <a:ext cx="4374486" cy="567074"/>
          </a:xfrm>
          <a:prstGeom prst="rect">
            <a:avLst/>
          </a:prstGeom>
        </p:spPr>
      </p:pic>
    </p:spTree>
    <p:extLst>
      <p:ext uri="{BB962C8B-B14F-4D97-AF65-F5344CB8AC3E}">
        <p14:creationId xmlns:p14="http://schemas.microsoft.com/office/powerpoint/2010/main" val="254634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sz="2400" spc="-105" dirty="0">
                <a:solidFill>
                  <a:schemeClr val="bg1"/>
                </a:solidFill>
                <a:latin typeface="Georgia" panose="02040502050405020303" pitchFamily="18" charset="0"/>
              </a:rPr>
              <a:t>Java</a:t>
            </a:r>
            <a:r>
              <a:rPr lang="en-GB" sz="2400" spc="53" dirty="0">
                <a:solidFill>
                  <a:schemeClr val="bg1"/>
                </a:solidFill>
                <a:latin typeface="Georgia" panose="02040502050405020303" pitchFamily="18" charset="0"/>
              </a:rPr>
              <a:t> </a:t>
            </a:r>
            <a:r>
              <a:rPr lang="en-GB" sz="2400" spc="98" dirty="0">
                <a:solidFill>
                  <a:schemeClr val="bg1"/>
                </a:solidFill>
                <a:latin typeface="Georgia" panose="02040502050405020303" pitchFamily="18" charset="0"/>
              </a:rPr>
              <a:t>-</a:t>
            </a:r>
            <a:r>
              <a:rPr lang="en-GB" sz="2400" spc="53" dirty="0">
                <a:solidFill>
                  <a:schemeClr val="bg1"/>
                </a:solidFill>
                <a:latin typeface="Georgia" panose="02040502050405020303" pitchFamily="18" charset="0"/>
              </a:rPr>
              <a:t> </a:t>
            </a:r>
            <a:r>
              <a:rPr lang="en-GB" sz="2400" dirty="0">
                <a:solidFill>
                  <a:schemeClr val="bg1"/>
                </a:solidFill>
                <a:latin typeface="Georgia" panose="02040502050405020303" pitchFamily="18" charset="0"/>
              </a:rPr>
              <a:t>conditional,</a:t>
            </a:r>
            <a:r>
              <a:rPr lang="en-GB" sz="2400" spc="53" dirty="0">
                <a:solidFill>
                  <a:schemeClr val="bg1"/>
                </a:solidFill>
                <a:latin typeface="Georgia" panose="02040502050405020303" pitchFamily="18" charset="0"/>
              </a:rPr>
              <a:t> </a:t>
            </a:r>
            <a:r>
              <a:rPr lang="en-GB" sz="2400" dirty="0">
                <a:solidFill>
                  <a:schemeClr val="bg1"/>
                </a:solidFill>
                <a:latin typeface="Georgia" panose="02040502050405020303" pitchFamily="18" charset="0"/>
              </a:rPr>
              <a:t>iteration,</a:t>
            </a:r>
            <a:r>
              <a:rPr lang="en-GB" sz="2400" spc="53" dirty="0">
                <a:solidFill>
                  <a:schemeClr val="bg1"/>
                </a:solidFill>
                <a:latin typeface="Georgia" panose="02040502050405020303" pitchFamily="18" charset="0"/>
              </a:rPr>
              <a:t> </a:t>
            </a:r>
            <a:r>
              <a:rPr lang="en-GB" sz="2400" spc="-15" dirty="0">
                <a:solidFill>
                  <a:schemeClr val="bg1"/>
                </a:solidFill>
                <a:latin typeface="Georgia" panose="02040502050405020303" pitchFamily="18" charset="0"/>
              </a:rPr>
              <a:t>and</a:t>
            </a:r>
            <a:r>
              <a:rPr lang="en-GB" sz="2400" spc="53" dirty="0">
                <a:solidFill>
                  <a:schemeClr val="bg1"/>
                </a:solidFill>
                <a:latin typeface="Georgia" panose="02040502050405020303" pitchFamily="18" charset="0"/>
              </a:rPr>
              <a:t> </a:t>
            </a:r>
            <a:r>
              <a:rPr lang="en-GB" sz="2400" spc="-8" dirty="0">
                <a:solidFill>
                  <a:schemeClr val="bg1"/>
                </a:solidFill>
                <a:latin typeface="Georgia" panose="02040502050405020303" pitchFamily="18" charset="0"/>
              </a:rPr>
              <a:t>arrays</a:t>
            </a:r>
            <a:endParaRPr lang="en-US" altLang="en-US" sz="2400" dirty="0">
              <a:solidFill>
                <a:schemeClr val="bg1"/>
              </a:solidFill>
              <a:latin typeface="Georgia" panose="02040502050405020303" pitchFamily="18" charset="0"/>
            </a:endParaRPr>
          </a:p>
        </p:txBody>
      </p:sp>
      <p:sp>
        <p:nvSpPr>
          <p:cNvPr id="7" name="object 3"/>
          <p:cNvSpPr txBox="1"/>
          <p:nvPr/>
        </p:nvSpPr>
        <p:spPr>
          <a:xfrm>
            <a:off x="113016" y="1019726"/>
            <a:ext cx="8902972" cy="805990"/>
          </a:xfrm>
          <a:prstGeom prst="rect">
            <a:avLst/>
          </a:prstGeom>
        </p:spPr>
        <p:txBody>
          <a:bodyPr vert="horz" wrap="square" lIns="0" tIns="9525" rIns="0" bIns="0" rtlCol="0">
            <a:spAutoFit/>
          </a:bodyPr>
          <a:lstStyle/>
          <a:p>
            <a:pPr marL="234791" marR="241459" indent="-225743">
              <a:lnSpc>
                <a:spcPct val="114599"/>
              </a:lnSpc>
              <a:spcBef>
                <a:spcPts val="75"/>
              </a:spcBef>
              <a:buChar char="-"/>
              <a:tabLst>
                <a:tab pos="234791" algn="l"/>
              </a:tabLst>
            </a:pPr>
            <a:r>
              <a:rPr sz="1500" spc="-15" dirty="0">
                <a:latin typeface="Georgia"/>
                <a:cs typeface="Georgia"/>
              </a:rPr>
              <a:t>These</a:t>
            </a:r>
            <a:r>
              <a:rPr sz="1500" spc="-68" dirty="0">
                <a:latin typeface="Georgia"/>
                <a:cs typeface="Georgia"/>
              </a:rPr>
              <a:t> </a:t>
            </a:r>
            <a:r>
              <a:rPr sz="1500" spc="-34" dirty="0">
                <a:latin typeface="Georgia"/>
                <a:cs typeface="Georgia"/>
              </a:rPr>
              <a:t>are</a:t>
            </a:r>
            <a:r>
              <a:rPr sz="1500" spc="-49" dirty="0">
                <a:latin typeface="Georgia"/>
                <a:cs typeface="Georgia"/>
              </a:rPr>
              <a:t> </a:t>
            </a:r>
            <a:r>
              <a:rPr sz="1500" spc="-15" dirty="0">
                <a:latin typeface="Georgia"/>
                <a:cs typeface="Georgia"/>
              </a:rPr>
              <a:t>all</a:t>
            </a:r>
            <a:r>
              <a:rPr sz="1500" spc="-60" dirty="0">
                <a:latin typeface="Georgia"/>
                <a:cs typeface="Georgia"/>
              </a:rPr>
              <a:t> </a:t>
            </a:r>
            <a:r>
              <a:rPr sz="1500" spc="-23" dirty="0">
                <a:latin typeface="Georgia"/>
                <a:cs typeface="Georgia"/>
              </a:rPr>
              <a:t>really</a:t>
            </a:r>
            <a:r>
              <a:rPr sz="1500" spc="-38" dirty="0">
                <a:latin typeface="Georgia"/>
                <a:cs typeface="Georgia"/>
              </a:rPr>
              <a:t> </a:t>
            </a:r>
            <a:r>
              <a:rPr sz="1500" spc="-41" dirty="0">
                <a:latin typeface="Georgia"/>
                <a:cs typeface="Georgia"/>
              </a:rPr>
              <a:t>similar </a:t>
            </a:r>
            <a:r>
              <a:rPr sz="1500" dirty="0">
                <a:latin typeface="Georgia"/>
                <a:cs typeface="Georgia"/>
              </a:rPr>
              <a:t>to</a:t>
            </a:r>
            <a:r>
              <a:rPr sz="1500" spc="-41" dirty="0">
                <a:latin typeface="Georgia"/>
                <a:cs typeface="Georgia"/>
              </a:rPr>
              <a:t> </a:t>
            </a:r>
            <a:r>
              <a:rPr sz="1500" dirty="0">
                <a:latin typeface="Georgia"/>
                <a:cs typeface="Georgia"/>
              </a:rPr>
              <a:t>how</a:t>
            </a:r>
            <a:r>
              <a:rPr sz="1500" spc="-41" dirty="0">
                <a:latin typeface="Georgia"/>
                <a:cs typeface="Georgia"/>
              </a:rPr>
              <a:t> </a:t>
            </a:r>
            <a:r>
              <a:rPr sz="1500" spc="-90" dirty="0">
                <a:latin typeface="Georgia"/>
                <a:cs typeface="Georgia"/>
              </a:rPr>
              <a:t>C/C++</a:t>
            </a:r>
            <a:r>
              <a:rPr sz="1500" spc="11" dirty="0">
                <a:latin typeface="Georgia"/>
                <a:cs typeface="Georgia"/>
              </a:rPr>
              <a:t> </a:t>
            </a:r>
            <a:r>
              <a:rPr sz="1500" spc="-30" dirty="0">
                <a:latin typeface="Georgia"/>
                <a:cs typeface="Georgia"/>
              </a:rPr>
              <a:t>does</a:t>
            </a:r>
            <a:r>
              <a:rPr sz="1500" spc="-41" dirty="0">
                <a:latin typeface="Georgia"/>
                <a:cs typeface="Georgia"/>
              </a:rPr>
              <a:t> </a:t>
            </a:r>
            <a:r>
              <a:rPr sz="1500" spc="-45" dirty="0">
                <a:latin typeface="Georgia"/>
                <a:cs typeface="Georgia"/>
              </a:rPr>
              <a:t>things,</a:t>
            </a:r>
            <a:r>
              <a:rPr sz="1500" spc="-38" dirty="0">
                <a:latin typeface="Georgia"/>
                <a:cs typeface="Georgia"/>
              </a:rPr>
              <a:t> </a:t>
            </a:r>
            <a:r>
              <a:rPr sz="1500" dirty="0">
                <a:latin typeface="Georgia"/>
                <a:cs typeface="Georgia"/>
              </a:rPr>
              <a:t>so</a:t>
            </a:r>
            <a:r>
              <a:rPr sz="1500" spc="-41" dirty="0">
                <a:latin typeface="Georgia"/>
                <a:cs typeface="Georgia"/>
              </a:rPr>
              <a:t> </a:t>
            </a:r>
            <a:r>
              <a:rPr sz="1500" dirty="0">
                <a:latin typeface="Georgia"/>
                <a:cs typeface="Georgia"/>
              </a:rPr>
              <a:t>we</a:t>
            </a:r>
            <a:r>
              <a:rPr sz="1500" spc="-41" dirty="0">
                <a:latin typeface="Georgia"/>
                <a:cs typeface="Georgia"/>
              </a:rPr>
              <a:t> </a:t>
            </a:r>
            <a:r>
              <a:rPr sz="1500" spc="-19" dirty="0">
                <a:latin typeface="Georgia"/>
                <a:cs typeface="Georgia"/>
              </a:rPr>
              <a:t>don’t</a:t>
            </a:r>
            <a:r>
              <a:rPr sz="1500" spc="-38" dirty="0">
                <a:latin typeface="Georgia"/>
                <a:cs typeface="Georgia"/>
              </a:rPr>
              <a:t> </a:t>
            </a:r>
            <a:r>
              <a:rPr sz="1500" spc="-34" dirty="0">
                <a:latin typeface="Georgia"/>
                <a:cs typeface="Georgia"/>
              </a:rPr>
              <a:t>need</a:t>
            </a:r>
            <a:r>
              <a:rPr sz="1500" spc="-41" dirty="0">
                <a:latin typeface="Georgia"/>
                <a:cs typeface="Georgia"/>
              </a:rPr>
              <a:t> </a:t>
            </a:r>
            <a:r>
              <a:rPr sz="1500" dirty="0">
                <a:latin typeface="Georgia"/>
                <a:cs typeface="Georgia"/>
              </a:rPr>
              <a:t>to</a:t>
            </a:r>
            <a:r>
              <a:rPr sz="1500" spc="-41" dirty="0">
                <a:latin typeface="Georgia"/>
                <a:cs typeface="Georgia"/>
              </a:rPr>
              <a:t> </a:t>
            </a:r>
            <a:r>
              <a:rPr sz="1500" dirty="0">
                <a:latin typeface="Georgia"/>
                <a:cs typeface="Georgia"/>
              </a:rPr>
              <a:t>go</a:t>
            </a:r>
            <a:r>
              <a:rPr sz="1500" spc="-41" dirty="0">
                <a:latin typeface="Georgia"/>
                <a:cs typeface="Georgia"/>
              </a:rPr>
              <a:t> </a:t>
            </a:r>
            <a:r>
              <a:rPr sz="1500" spc="-19" dirty="0">
                <a:latin typeface="Georgia"/>
                <a:cs typeface="Georgia"/>
              </a:rPr>
              <a:t>in </a:t>
            </a:r>
            <a:r>
              <a:rPr sz="1500" spc="-8" dirty="0">
                <a:latin typeface="Georgia"/>
                <a:cs typeface="Georgia"/>
              </a:rPr>
              <a:t>depth.</a:t>
            </a:r>
            <a:endParaRPr sz="1500" dirty="0">
              <a:latin typeface="Georgia"/>
              <a:cs typeface="Georgia"/>
            </a:endParaRPr>
          </a:p>
          <a:p>
            <a:pPr marL="234791" marR="338613" indent="-225743">
              <a:lnSpc>
                <a:spcPct val="114599"/>
              </a:lnSpc>
              <a:buChar char="-"/>
              <a:tabLst>
                <a:tab pos="234791" algn="l"/>
              </a:tabLst>
            </a:pPr>
            <a:r>
              <a:rPr sz="1500" dirty="0">
                <a:latin typeface="Georgia"/>
                <a:cs typeface="Georgia"/>
              </a:rPr>
              <a:t>If</a:t>
            </a:r>
            <a:r>
              <a:rPr sz="1500" spc="-45" dirty="0">
                <a:latin typeface="Georgia"/>
                <a:cs typeface="Georgia"/>
              </a:rPr>
              <a:t> </a:t>
            </a:r>
            <a:r>
              <a:rPr sz="1500" spc="-15" dirty="0">
                <a:latin typeface="Georgia"/>
                <a:cs typeface="Georgia"/>
              </a:rPr>
              <a:t>you’ve</a:t>
            </a:r>
            <a:r>
              <a:rPr sz="1500" spc="-41" dirty="0">
                <a:latin typeface="Georgia"/>
                <a:cs typeface="Georgia"/>
              </a:rPr>
              <a:t> </a:t>
            </a:r>
            <a:r>
              <a:rPr sz="1500" spc="-38" dirty="0">
                <a:latin typeface="Georgia"/>
                <a:cs typeface="Georgia"/>
              </a:rPr>
              <a:t>used</a:t>
            </a:r>
            <a:r>
              <a:rPr sz="1500" spc="-41" dirty="0">
                <a:latin typeface="Georgia"/>
                <a:cs typeface="Georgia"/>
              </a:rPr>
              <a:t> </a:t>
            </a:r>
            <a:r>
              <a:rPr sz="1500" spc="-19" dirty="0">
                <a:latin typeface="Georgia"/>
                <a:cs typeface="Georgia"/>
              </a:rPr>
              <a:t>any</a:t>
            </a:r>
            <a:r>
              <a:rPr sz="1500" spc="-41" dirty="0">
                <a:latin typeface="Georgia"/>
                <a:cs typeface="Georgia"/>
              </a:rPr>
              <a:t> </a:t>
            </a:r>
            <a:r>
              <a:rPr sz="1500" spc="-30" dirty="0">
                <a:latin typeface="Georgia"/>
                <a:cs typeface="Georgia"/>
              </a:rPr>
              <a:t>sort</a:t>
            </a:r>
            <a:r>
              <a:rPr sz="1500" spc="-41" dirty="0">
                <a:latin typeface="Georgia"/>
                <a:cs typeface="Georgia"/>
              </a:rPr>
              <a:t> </a:t>
            </a:r>
            <a:r>
              <a:rPr sz="1500" dirty="0">
                <a:latin typeface="Georgia"/>
                <a:cs typeface="Georgia"/>
              </a:rPr>
              <a:t>of</a:t>
            </a:r>
            <a:r>
              <a:rPr sz="1500" spc="-45" dirty="0">
                <a:latin typeface="Georgia"/>
                <a:cs typeface="Georgia"/>
              </a:rPr>
              <a:t> </a:t>
            </a:r>
            <a:r>
              <a:rPr sz="1500" spc="-38" dirty="0">
                <a:latin typeface="Georgia"/>
                <a:cs typeface="Georgia"/>
              </a:rPr>
              <a:t>these</a:t>
            </a:r>
            <a:r>
              <a:rPr sz="1500" spc="-41" dirty="0">
                <a:latin typeface="Georgia"/>
                <a:cs typeface="Georgia"/>
              </a:rPr>
              <a:t> statements</a:t>
            </a:r>
            <a:r>
              <a:rPr sz="1500" spc="-38" dirty="0">
                <a:latin typeface="Georgia"/>
                <a:cs typeface="Georgia"/>
              </a:rPr>
              <a:t> </a:t>
            </a:r>
            <a:r>
              <a:rPr sz="1500" dirty="0">
                <a:latin typeface="Georgia"/>
                <a:cs typeface="Georgia"/>
              </a:rPr>
              <a:t>in</a:t>
            </a:r>
            <a:r>
              <a:rPr sz="1500" spc="-45" dirty="0">
                <a:latin typeface="Georgia"/>
                <a:cs typeface="Georgia"/>
              </a:rPr>
              <a:t> </a:t>
            </a:r>
            <a:r>
              <a:rPr sz="1500" spc="-34" dirty="0">
                <a:latin typeface="Georgia"/>
                <a:cs typeface="Georgia"/>
              </a:rPr>
              <a:t>another</a:t>
            </a:r>
            <a:r>
              <a:rPr sz="1500" spc="-41" dirty="0">
                <a:latin typeface="Georgia"/>
                <a:cs typeface="Georgia"/>
              </a:rPr>
              <a:t> programming </a:t>
            </a:r>
            <a:r>
              <a:rPr sz="1500" spc="-38" dirty="0">
                <a:latin typeface="Georgia"/>
                <a:cs typeface="Georgia"/>
              </a:rPr>
              <a:t>language, </a:t>
            </a:r>
            <a:r>
              <a:rPr sz="1500" spc="-34" dirty="0">
                <a:latin typeface="Georgia"/>
                <a:cs typeface="Georgia"/>
              </a:rPr>
              <a:t>chances</a:t>
            </a:r>
            <a:r>
              <a:rPr sz="1500" spc="-49" dirty="0">
                <a:latin typeface="Georgia"/>
                <a:cs typeface="Georgia"/>
              </a:rPr>
              <a:t> </a:t>
            </a:r>
            <a:r>
              <a:rPr sz="1500" spc="-34" dirty="0">
                <a:latin typeface="Georgia"/>
                <a:cs typeface="Georgia"/>
              </a:rPr>
              <a:t>are</a:t>
            </a:r>
            <a:r>
              <a:rPr sz="1500" spc="-49" dirty="0">
                <a:latin typeface="Georgia"/>
                <a:cs typeface="Georgia"/>
              </a:rPr>
              <a:t> </a:t>
            </a:r>
            <a:r>
              <a:rPr sz="1500" spc="-8" dirty="0">
                <a:latin typeface="Georgia"/>
                <a:cs typeface="Georgia"/>
              </a:rPr>
              <a:t>you’ll</a:t>
            </a:r>
            <a:r>
              <a:rPr sz="1500" spc="-75" dirty="0">
                <a:latin typeface="Georgia"/>
                <a:cs typeface="Georgia"/>
              </a:rPr>
              <a:t> </a:t>
            </a:r>
            <a:r>
              <a:rPr sz="1500" spc="-8" dirty="0">
                <a:latin typeface="Georgia"/>
                <a:cs typeface="Georgia"/>
              </a:rPr>
              <a:t>pick</a:t>
            </a:r>
            <a:r>
              <a:rPr sz="1500" spc="-75" dirty="0">
                <a:latin typeface="Georgia"/>
                <a:cs typeface="Georgia"/>
              </a:rPr>
              <a:t> </a:t>
            </a:r>
            <a:r>
              <a:rPr sz="1500" spc="-23" dirty="0">
                <a:latin typeface="Georgia"/>
                <a:cs typeface="Georgia"/>
              </a:rPr>
              <a:t>this</a:t>
            </a:r>
            <a:r>
              <a:rPr sz="1500" spc="-49" dirty="0">
                <a:latin typeface="Georgia"/>
                <a:cs typeface="Georgia"/>
              </a:rPr>
              <a:t> </a:t>
            </a:r>
            <a:r>
              <a:rPr sz="1500" dirty="0">
                <a:latin typeface="Georgia"/>
                <a:cs typeface="Georgia"/>
              </a:rPr>
              <a:t>up</a:t>
            </a:r>
            <a:r>
              <a:rPr sz="1500" spc="-45" dirty="0">
                <a:latin typeface="Georgia"/>
                <a:cs typeface="Georgia"/>
              </a:rPr>
              <a:t> </a:t>
            </a:r>
            <a:r>
              <a:rPr sz="1500" dirty="0">
                <a:latin typeface="Georgia"/>
                <a:cs typeface="Georgia"/>
              </a:rPr>
              <a:t>in</a:t>
            </a:r>
            <a:r>
              <a:rPr sz="1500" spc="-49" dirty="0">
                <a:latin typeface="Georgia"/>
                <a:cs typeface="Georgia"/>
              </a:rPr>
              <a:t> </a:t>
            </a:r>
            <a:r>
              <a:rPr sz="1500" spc="-105" dirty="0">
                <a:latin typeface="Georgia"/>
                <a:cs typeface="Georgia"/>
              </a:rPr>
              <a:t>Java</a:t>
            </a:r>
            <a:r>
              <a:rPr sz="1500" spc="11" dirty="0">
                <a:latin typeface="Georgia"/>
                <a:cs typeface="Georgia"/>
              </a:rPr>
              <a:t> </a:t>
            </a:r>
            <a:r>
              <a:rPr sz="1500" spc="-23" dirty="0">
                <a:latin typeface="Georgia"/>
                <a:cs typeface="Georgia"/>
              </a:rPr>
              <a:t>really</a:t>
            </a:r>
            <a:r>
              <a:rPr sz="1500" spc="-45" dirty="0">
                <a:latin typeface="Georgia"/>
                <a:cs typeface="Georgia"/>
              </a:rPr>
              <a:t> </a:t>
            </a:r>
            <a:r>
              <a:rPr sz="1500" spc="-8" dirty="0">
                <a:latin typeface="Georgia"/>
                <a:cs typeface="Georgia"/>
              </a:rPr>
              <a:t>easily.</a:t>
            </a:r>
            <a:endParaRPr sz="1500" dirty="0">
              <a:latin typeface="Georgia"/>
              <a:cs typeface="Georgia"/>
            </a:endParaRPr>
          </a:p>
        </p:txBody>
      </p:sp>
      <p:sp>
        <p:nvSpPr>
          <p:cNvPr id="3" name="TextBox 2"/>
          <p:cNvSpPr txBox="1"/>
          <p:nvPr/>
        </p:nvSpPr>
        <p:spPr>
          <a:xfrm>
            <a:off x="3783259" y="2011792"/>
            <a:ext cx="2292629" cy="253916"/>
          </a:xfrm>
          <a:prstGeom prst="rect">
            <a:avLst/>
          </a:prstGeom>
          <a:noFill/>
        </p:spPr>
        <p:txBody>
          <a:bodyPr wrap="square" rtlCol="0">
            <a:spAutoFit/>
          </a:bodyPr>
          <a:lstStyle/>
          <a:p>
            <a:r>
              <a:rPr lang="en-GB" sz="1050" b="1" dirty="0">
                <a:latin typeface="Georgia" panose="02040502050405020303" pitchFamily="18" charset="0"/>
              </a:rPr>
              <a:t>if else Syntax in Java </a:t>
            </a:r>
          </a:p>
        </p:txBody>
      </p:sp>
      <p:pic>
        <p:nvPicPr>
          <p:cNvPr id="4" name="Picture 3"/>
          <p:cNvPicPr>
            <a:picLocks noChangeAspect="1"/>
          </p:cNvPicPr>
          <p:nvPr/>
        </p:nvPicPr>
        <p:blipFill>
          <a:blip r:embed="rId2"/>
          <a:stretch>
            <a:fillRect/>
          </a:stretch>
        </p:blipFill>
        <p:spPr>
          <a:xfrm>
            <a:off x="325910" y="1825716"/>
            <a:ext cx="2950369" cy="757000"/>
          </a:xfrm>
          <a:prstGeom prst="rect">
            <a:avLst/>
          </a:prstGeom>
        </p:spPr>
      </p:pic>
      <p:pic>
        <p:nvPicPr>
          <p:cNvPr id="8" name="Picture 7"/>
          <p:cNvPicPr>
            <a:picLocks noChangeAspect="1"/>
          </p:cNvPicPr>
          <p:nvPr/>
        </p:nvPicPr>
        <p:blipFill>
          <a:blip r:embed="rId3"/>
          <a:stretch>
            <a:fillRect/>
          </a:stretch>
        </p:blipFill>
        <p:spPr>
          <a:xfrm>
            <a:off x="318805" y="2705883"/>
            <a:ext cx="2936158" cy="621506"/>
          </a:xfrm>
          <a:prstGeom prst="rect">
            <a:avLst/>
          </a:prstGeom>
        </p:spPr>
      </p:pic>
      <p:pic>
        <p:nvPicPr>
          <p:cNvPr id="9" name="Picture 8"/>
          <p:cNvPicPr>
            <a:picLocks noChangeAspect="1"/>
          </p:cNvPicPr>
          <p:nvPr/>
        </p:nvPicPr>
        <p:blipFill>
          <a:blip r:embed="rId4"/>
          <a:stretch>
            <a:fillRect/>
          </a:stretch>
        </p:blipFill>
        <p:spPr>
          <a:xfrm>
            <a:off x="311700" y="3394220"/>
            <a:ext cx="2936158" cy="667739"/>
          </a:xfrm>
          <a:prstGeom prst="rect">
            <a:avLst/>
          </a:prstGeom>
        </p:spPr>
      </p:pic>
      <p:sp>
        <p:nvSpPr>
          <p:cNvPr id="10" name="TextBox 9"/>
          <p:cNvSpPr txBox="1"/>
          <p:nvPr/>
        </p:nvSpPr>
        <p:spPr>
          <a:xfrm>
            <a:off x="3783259" y="3640665"/>
            <a:ext cx="2477671" cy="253916"/>
          </a:xfrm>
          <a:prstGeom prst="rect">
            <a:avLst/>
          </a:prstGeom>
          <a:noFill/>
        </p:spPr>
        <p:txBody>
          <a:bodyPr wrap="square" rtlCol="0">
            <a:spAutoFit/>
          </a:bodyPr>
          <a:lstStyle/>
          <a:p>
            <a:r>
              <a:rPr lang="en-GB" sz="1050" b="1" dirty="0">
                <a:latin typeface="Georgia" panose="02040502050405020303" pitchFamily="18" charset="0"/>
              </a:rPr>
              <a:t>Java while loop Syntax</a:t>
            </a:r>
          </a:p>
        </p:txBody>
      </p:sp>
      <p:sp>
        <p:nvSpPr>
          <p:cNvPr id="11" name="TextBox 10"/>
          <p:cNvSpPr txBox="1"/>
          <p:nvPr/>
        </p:nvSpPr>
        <p:spPr>
          <a:xfrm>
            <a:off x="3783259" y="2807078"/>
            <a:ext cx="2052228" cy="253916"/>
          </a:xfrm>
          <a:prstGeom prst="rect">
            <a:avLst/>
          </a:prstGeom>
          <a:noFill/>
        </p:spPr>
        <p:txBody>
          <a:bodyPr wrap="square" rtlCol="0">
            <a:spAutoFit/>
          </a:bodyPr>
          <a:lstStyle/>
          <a:p>
            <a:r>
              <a:rPr lang="en-GB" sz="1050" b="1" dirty="0">
                <a:latin typeface="Georgia" panose="02040502050405020303" pitchFamily="18" charset="0"/>
              </a:rPr>
              <a:t>Java for loop Syntax</a:t>
            </a:r>
          </a:p>
        </p:txBody>
      </p:sp>
      <p:pic>
        <p:nvPicPr>
          <p:cNvPr id="12" name="Picture 11"/>
          <p:cNvPicPr>
            <a:picLocks noChangeAspect="1"/>
          </p:cNvPicPr>
          <p:nvPr/>
        </p:nvPicPr>
        <p:blipFill>
          <a:blip r:embed="rId5"/>
          <a:stretch>
            <a:fillRect/>
          </a:stretch>
        </p:blipFill>
        <p:spPr>
          <a:xfrm>
            <a:off x="325910" y="4195622"/>
            <a:ext cx="2936158" cy="300038"/>
          </a:xfrm>
          <a:prstGeom prst="rect">
            <a:avLst/>
          </a:prstGeom>
        </p:spPr>
      </p:pic>
      <p:pic>
        <p:nvPicPr>
          <p:cNvPr id="13" name="Picture 12"/>
          <p:cNvPicPr>
            <a:picLocks noChangeAspect="1"/>
          </p:cNvPicPr>
          <p:nvPr/>
        </p:nvPicPr>
        <p:blipFill>
          <a:blip r:embed="rId6"/>
          <a:stretch>
            <a:fillRect/>
          </a:stretch>
        </p:blipFill>
        <p:spPr>
          <a:xfrm>
            <a:off x="311700" y="4629323"/>
            <a:ext cx="2950368" cy="335756"/>
          </a:xfrm>
          <a:prstGeom prst="rect">
            <a:avLst/>
          </a:prstGeom>
        </p:spPr>
      </p:pic>
      <p:sp>
        <p:nvSpPr>
          <p:cNvPr id="14" name="TextBox 13"/>
          <p:cNvSpPr txBox="1"/>
          <p:nvPr/>
        </p:nvSpPr>
        <p:spPr>
          <a:xfrm>
            <a:off x="3783259" y="4232868"/>
            <a:ext cx="3516896" cy="276999"/>
          </a:xfrm>
          <a:prstGeom prst="rect">
            <a:avLst/>
          </a:prstGeom>
          <a:noFill/>
        </p:spPr>
        <p:txBody>
          <a:bodyPr wrap="square" rtlCol="0">
            <a:spAutoFit/>
          </a:bodyPr>
          <a:lstStyle/>
          <a:p>
            <a:r>
              <a:rPr lang="en-GB" sz="1200" b="1" dirty="0"/>
              <a:t>Syntax for declaring a one-dimensional array</a:t>
            </a:r>
            <a:endParaRPr lang="en-GB" sz="1200" dirty="0"/>
          </a:p>
        </p:txBody>
      </p:sp>
      <p:sp>
        <p:nvSpPr>
          <p:cNvPr id="15" name="TextBox 14"/>
          <p:cNvSpPr txBox="1"/>
          <p:nvPr/>
        </p:nvSpPr>
        <p:spPr>
          <a:xfrm>
            <a:off x="3783259" y="4658701"/>
            <a:ext cx="3953182" cy="276999"/>
          </a:xfrm>
          <a:prstGeom prst="rect">
            <a:avLst/>
          </a:prstGeom>
          <a:noFill/>
        </p:spPr>
        <p:txBody>
          <a:bodyPr wrap="square" rtlCol="0">
            <a:spAutoFit/>
          </a:bodyPr>
          <a:lstStyle/>
          <a:p>
            <a:r>
              <a:rPr lang="en-GB" sz="1200" b="1" dirty="0"/>
              <a:t>Syntax for declaring a multi-dimensional array</a:t>
            </a:r>
            <a:endParaRPr lang="en-GB" sz="1200" dirty="0"/>
          </a:p>
        </p:txBody>
      </p:sp>
    </p:spTree>
    <p:extLst>
      <p:ext uri="{BB962C8B-B14F-4D97-AF65-F5344CB8AC3E}">
        <p14:creationId xmlns:p14="http://schemas.microsoft.com/office/powerpoint/2010/main" val="2803908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sz="2700" spc="-105" dirty="0">
                <a:solidFill>
                  <a:srgbClr val="7030A0"/>
                </a:solidFill>
                <a:latin typeface="Georgia" panose="02040502050405020303" pitchFamily="18" charset="0"/>
              </a:rPr>
              <a:t>Java</a:t>
            </a:r>
            <a:r>
              <a:rPr lang="en-GB" sz="2700" spc="-4" dirty="0">
                <a:solidFill>
                  <a:srgbClr val="7030A0"/>
                </a:solidFill>
                <a:latin typeface="Georgia" panose="02040502050405020303" pitchFamily="18" charset="0"/>
              </a:rPr>
              <a:t> </a:t>
            </a:r>
            <a:r>
              <a:rPr lang="en-GB" sz="2700" spc="98" dirty="0">
                <a:solidFill>
                  <a:srgbClr val="7030A0"/>
                </a:solidFill>
                <a:latin typeface="Georgia" panose="02040502050405020303" pitchFamily="18" charset="0"/>
              </a:rPr>
              <a:t>-</a:t>
            </a:r>
            <a:r>
              <a:rPr lang="en-GB" sz="2700" spc="-4" dirty="0">
                <a:solidFill>
                  <a:srgbClr val="7030A0"/>
                </a:solidFill>
                <a:latin typeface="Georgia" panose="02040502050405020303" pitchFamily="18" charset="0"/>
              </a:rPr>
              <a:t> </a:t>
            </a:r>
            <a:r>
              <a:rPr lang="en-GB" sz="2700" spc="-8" dirty="0">
                <a:solidFill>
                  <a:srgbClr val="7030A0"/>
                </a:solidFill>
                <a:latin typeface="Georgia" panose="02040502050405020303" pitchFamily="18" charset="0"/>
              </a:rPr>
              <a:t>inheritance</a:t>
            </a:r>
            <a:endParaRPr lang="en-US" altLang="en-US" sz="2700" dirty="0">
              <a:solidFill>
                <a:srgbClr val="7030A0"/>
              </a:solidFill>
              <a:latin typeface="Georgia" panose="02040502050405020303" pitchFamily="18" charset="0"/>
            </a:endParaRPr>
          </a:p>
        </p:txBody>
      </p:sp>
      <p:pic>
        <p:nvPicPr>
          <p:cNvPr id="7" name="object 3"/>
          <p:cNvPicPr/>
          <p:nvPr/>
        </p:nvPicPr>
        <p:blipFill>
          <a:blip r:embed="rId2" cstate="print"/>
          <a:stretch>
            <a:fillRect/>
          </a:stretch>
        </p:blipFill>
        <p:spPr>
          <a:xfrm>
            <a:off x="406323" y="1039979"/>
            <a:ext cx="5018431" cy="574063"/>
          </a:xfrm>
          <a:prstGeom prst="rect">
            <a:avLst/>
          </a:prstGeom>
        </p:spPr>
      </p:pic>
      <p:sp>
        <p:nvSpPr>
          <p:cNvPr id="8" name="object 4"/>
          <p:cNvSpPr txBox="1"/>
          <p:nvPr/>
        </p:nvSpPr>
        <p:spPr>
          <a:xfrm>
            <a:off x="102742" y="1699840"/>
            <a:ext cx="9041258" cy="792076"/>
          </a:xfrm>
          <a:prstGeom prst="rect">
            <a:avLst/>
          </a:prstGeom>
        </p:spPr>
        <p:txBody>
          <a:bodyPr vert="horz" wrap="square" lIns="0" tIns="17145" rIns="0" bIns="0" rtlCol="0">
            <a:spAutoFit/>
          </a:bodyPr>
          <a:lstStyle/>
          <a:p>
            <a:pPr marL="225266" marR="3810" indent="-216218">
              <a:lnSpc>
                <a:spcPts val="1238"/>
              </a:lnSpc>
              <a:spcBef>
                <a:spcPts val="400"/>
              </a:spcBef>
              <a:buChar char="-"/>
              <a:tabLst>
                <a:tab pos="225266" algn="l"/>
              </a:tabLst>
            </a:pPr>
            <a:r>
              <a:rPr sz="1500" dirty="0"/>
              <a:t>Inheritance</a:t>
            </a:r>
            <a:r>
              <a:rPr sz="1500" spc="-15" dirty="0"/>
              <a:t> </a:t>
            </a:r>
            <a:r>
              <a:rPr sz="1500" dirty="0"/>
              <a:t>is</a:t>
            </a:r>
            <a:r>
              <a:rPr sz="1500" spc="-11" dirty="0"/>
              <a:t> </a:t>
            </a:r>
            <a:r>
              <a:rPr sz="1500" dirty="0"/>
              <a:t>the</a:t>
            </a:r>
            <a:r>
              <a:rPr sz="1500" spc="-11" dirty="0"/>
              <a:t> </a:t>
            </a:r>
            <a:r>
              <a:rPr sz="1500" dirty="0"/>
              <a:t>process</a:t>
            </a:r>
            <a:r>
              <a:rPr sz="1500" spc="-15" dirty="0"/>
              <a:t> </a:t>
            </a:r>
            <a:r>
              <a:rPr sz="1500" dirty="0"/>
              <a:t>of</a:t>
            </a:r>
            <a:r>
              <a:rPr sz="1500" spc="-11" dirty="0"/>
              <a:t> </a:t>
            </a:r>
            <a:r>
              <a:rPr sz="1500" dirty="0"/>
              <a:t>one</a:t>
            </a:r>
            <a:r>
              <a:rPr sz="1500" spc="-11" dirty="0"/>
              <a:t> </a:t>
            </a:r>
            <a:r>
              <a:rPr sz="1500" dirty="0"/>
              <a:t>class</a:t>
            </a:r>
            <a:r>
              <a:rPr sz="1500" spc="-15" dirty="0"/>
              <a:t> </a:t>
            </a:r>
            <a:r>
              <a:rPr sz="1500" dirty="0"/>
              <a:t>inheriting</a:t>
            </a:r>
            <a:r>
              <a:rPr sz="1500" spc="-11" dirty="0"/>
              <a:t> </a:t>
            </a:r>
            <a:r>
              <a:rPr sz="1500" dirty="0"/>
              <a:t>the</a:t>
            </a:r>
            <a:r>
              <a:rPr sz="1500" spc="-11" dirty="0"/>
              <a:t> </a:t>
            </a:r>
            <a:r>
              <a:rPr sz="1500" dirty="0"/>
              <a:t>features</a:t>
            </a:r>
            <a:r>
              <a:rPr sz="1500" spc="-15" dirty="0"/>
              <a:t> </a:t>
            </a:r>
            <a:r>
              <a:rPr sz="1500" dirty="0"/>
              <a:t>(fields</a:t>
            </a:r>
            <a:r>
              <a:rPr sz="1500" spc="-11" dirty="0"/>
              <a:t> </a:t>
            </a:r>
            <a:r>
              <a:rPr sz="1500" dirty="0"/>
              <a:t>and</a:t>
            </a:r>
            <a:r>
              <a:rPr sz="1500" spc="-11" dirty="0"/>
              <a:t> </a:t>
            </a:r>
            <a:r>
              <a:rPr sz="1500" dirty="0"/>
              <a:t>methods)</a:t>
            </a:r>
            <a:r>
              <a:rPr sz="1500" spc="-15" dirty="0"/>
              <a:t> </a:t>
            </a:r>
            <a:r>
              <a:rPr sz="1500" spc="-19" dirty="0"/>
              <a:t>of </a:t>
            </a:r>
            <a:r>
              <a:rPr sz="1500" dirty="0"/>
              <a:t>another</a:t>
            </a:r>
            <a:r>
              <a:rPr sz="1500" spc="-4" dirty="0"/>
              <a:t> </a:t>
            </a:r>
            <a:r>
              <a:rPr sz="1500" spc="-8" dirty="0"/>
              <a:t>class</a:t>
            </a:r>
            <a:endParaRPr sz="1500" dirty="0"/>
          </a:p>
          <a:p>
            <a:pPr marL="225266" indent="-215741">
              <a:lnSpc>
                <a:spcPts val="1189"/>
              </a:lnSpc>
              <a:spcBef>
                <a:spcPts val="400"/>
              </a:spcBef>
              <a:buChar char="-"/>
              <a:tabLst>
                <a:tab pos="225266" algn="l"/>
              </a:tabLst>
            </a:pPr>
            <a:r>
              <a:rPr sz="1500" dirty="0"/>
              <a:t>A</a:t>
            </a:r>
            <a:r>
              <a:rPr sz="1500" spc="-11" dirty="0"/>
              <a:t> </a:t>
            </a:r>
            <a:r>
              <a:rPr sz="1500" dirty="0"/>
              <a:t>class</a:t>
            </a:r>
            <a:r>
              <a:rPr sz="1500" spc="-8" dirty="0"/>
              <a:t> </a:t>
            </a:r>
            <a:r>
              <a:rPr sz="1500" dirty="0"/>
              <a:t>can</a:t>
            </a:r>
            <a:r>
              <a:rPr sz="1500" spc="-11" dirty="0"/>
              <a:t> </a:t>
            </a:r>
            <a:r>
              <a:rPr sz="1500" dirty="0"/>
              <a:t>only</a:t>
            </a:r>
            <a:r>
              <a:rPr sz="1500" spc="-8" dirty="0"/>
              <a:t> </a:t>
            </a:r>
            <a:r>
              <a:rPr sz="1500" i="1" dirty="0"/>
              <a:t>inherit</a:t>
            </a:r>
            <a:r>
              <a:rPr sz="1500" i="1" spc="-8" dirty="0"/>
              <a:t> </a:t>
            </a:r>
            <a:r>
              <a:rPr sz="1500" dirty="0"/>
              <a:t>from</a:t>
            </a:r>
            <a:r>
              <a:rPr sz="1500" spc="-8" dirty="0"/>
              <a:t> </a:t>
            </a:r>
            <a:r>
              <a:rPr sz="1500" b="1" dirty="0"/>
              <a:t>one</a:t>
            </a:r>
            <a:r>
              <a:rPr sz="1500" b="1" spc="-11" dirty="0"/>
              <a:t> </a:t>
            </a:r>
            <a:r>
              <a:rPr sz="1500" dirty="0"/>
              <a:t>other</a:t>
            </a:r>
            <a:r>
              <a:rPr sz="1500" spc="-8" dirty="0"/>
              <a:t> </a:t>
            </a:r>
            <a:r>
              <a:rPr sz="1500" spc="-15" dirty="0"/>
              <a:t>class</a:t>
            </a:r>
            <a:endParaRPr sz="1500" dirty="0"/>
          </a:p>
          <a:p>
            <a:pPr marL="225266" indent="-215741">
              <a:lnSpc>
                <a:spcPts val="1238"/>
              </a:lnSpc>
              <a:spcBef>
                <a:spcPts val="400"/>
              </a:spcBef>
              <a:buChar char="-"/>
              <a:tabLst>
                <a:tab pos="225266" algn="l"/>
              </a:tabLst>
            </a:pPr>
            <a:r>
              <a:rPr sz="1500" dirty="0"/>
              <a:t>A</a:t>
            </a:r>
            <a:r>
              <a:rPr sz="1500" spc="-11" dirty="0"/>
              <a:t> </a:t>
            </a:r>
            <a:r>
              <a:rPr sz="1500" dirty="0"/>
              <a:t>class</a:t>
            </a:r>
            <a:r>
              <a:rPr sz="1500" spc="-11" dirty="0"/>
              <a:t> </a:t>
            </a:r>
            <a:r>
              <a:rPr sz="1500" dirty="0"/>
              <a:t>can</a:t>
            </a:r>
            <a:r>
              <a:rPr sz="1500" spc="-8" dirty="0"/>
              <a:t> </a:t>
            </a:r>
            <a:r>
              <a:rPr sz="1500" dirty="0"/>
              <a:t>be</a:t>
            </a:r>
            <a:r>
              <a:rPr sz="1500" spc="-8" dirty="0"/>
              <a:t> </a:t>
            </a:r>
            <a:r>
              <a:rPr sz="1500" i="1" dirty="0"/>
              <a:t>inherited</a:t>
            </a:r>
            <a:r>
              <a:rPr sz="1500" i="1" spc="-8" dirty="0"/>
              <a:t> </a:t>
            </a:r>
            <a:r>
              <a:rPr sz="1500" dirty="0"/>
              <a:t>by</a:t>
            </a:r>
            <a:r>
              <a:rPr sz="1500" spc="-11" dirty="0"/>
              <a:t> </a:t>
            </a:r>
            <a:r>
              <a:rPr sz="1500" dirty="0"/>
              <a:t>any</a:t>
            </a:r>
            <a:r>
              <a:rPr sz="1500" spc="-8" dirty="0"/>
              <a:t> </a:t>
            </a:r>
            <a:r>
              <a:rPr sz="1500" dirty="0"/>
              <a:t>number</a:t>
            </a:r>
            <a:r>
              <a:rPr sz="1500" spc="-11" dirty="0"/>
              <a:t> </a:t>
            </a:r>
            <a:r>
              <a:rPr sz="1500" dirty="0"/>
              <a:t>of</a:t>
            </a:r>
            <a:r>
              <a:rPr sz="1500" spc="-8" dirty="0"/>
              <a:t> classes</a:t>
            </a:r>
            <a:endParaRPr sz="1500" dirty="0"/>
          </a:p>
          <a:p>
            <a:pPr marL="225266" indent="-215741">
              <a:lnSpc>
                <a:spcPts val="1248"/>
              </a:lnSpc>
              <a:spcBef>
                <a:spcPts val="400"/>
              </a:spcBef>
              <a:buChar char="-"/>
              <a:tabLst>
                <a:tab pos="225266" algn="l"/>
              </a:tabLst>
            </a:pPr>
            <a:r>
              <a:rPr sz="1500" dirty="0"/>
              <a:t>So,</a:t>
            </a:r>
            <a:r>
              <a:rPr sz="1500" spc="-23" dirty="0"/>
              <a:t> </a:t>
            </a:r>
            <a:r>
              <a:rPr sz="1500" dirty="0"/>
              <a:t>a</a:t>
            </a:r>
            <a:r>
              <a:rPr sz="1500" spc="-11" dirty="0"/>
              <a:t> </a:t>
            </a:r>
            <a:r>
              <a:rPr sz="1500" dirty="0"/>
              <a:t>child</a:t>
            </a:r>
            <a:r>
              <a:rPr sz="1500" spc="-11" dirty="0"/>
              <a:t> </a:t>
            </a:r>
            <a:r>
              <a:rPr sz="1500" dirty="0"/>
              <a:t>can</a:t>
            </a:r>
            <a:r>
              <a:rPr sz="1500" spc="-11" dirty="0"/>
              <a:t> </a:t>
            </a:r>
            <a:r>
              <a:rPr sz="1500" dirty="0"/>
              <a:t>have</a:t>
            </a:r>
            <a:r>
              <a:rPr sz="1500" spc="-15" dirty="0"/>
              <a:t> </a:t>
            </a:r>
            <a:r>
              <a:rPr sz="1500" dirty="0"/>
              <a:t>only</a:t>
            </a:r>
            <a:r>
              <a:rPr sz="1500" spc="-11" dirty="0"/>
              <a:t> </a:t>
            </a:r>
            <a:r>
              <a:rPr sz="1500" dirty="0"/>
              <a:t>one</a:t>
            </a:r>
            <a:r>
              <a:rPr sz="1500" spc="-11" dirty="0"/>
              <a:t> </a:t>
            </a:r>
            <a:r>
              <a:rPr sz="1500" dirty="0"/>
              <a:t>parent,</a:t>
            </a:r>
            <a:r>
              <a:rPr sz="1500" spc="-11" dirty="0"/>
              <a:t> </a:t>
            </a:r>
            <a:r>
              <a:rPr sz="1500" dirty="0"/>
              <a:t>but</a:t>
            </a:r>
            <a:r>
              <a:rPr sz="1500" spc="-11" dirty="0"/>
              <a:t> </a:t>
            </a:r>
            <a:r>
              <a:rPr sz="1500" dirty="0"/>
              <a:t>a</a:t>
            </a:r>
            <a:r>
              <a:rPr sz="1500" spc="-15" dirty="0"/>
              <a:t> </a:t>
            </a:r>
            <a:r>
              <a:rPr sz="1500" dirty="0"/>
              <a:t>parent</a:t>
            </a:r>
            <a:r>
              <a:rPr sz="1500" spc="-11" dirty="0"/>
              <a:t> </a:t>
            </a:r>
            <a:r>
              <a:rPr sz="1500" dirty="0"/>
              <a:t>can</a:t>
            </a:r>
            <a:r>
              <a:rPr sz="1500" spc="-11" dirty="0"/>
              <a:t> </a:t>
            </a:r>
            <a:r>
              <a:rPr sz="1500" dirty="0"/>
              <a:t>have</a:t>
            </a:r>
            <a:r>
              <a:rPr sz="1500" spc="-11" dirty="0"/>
              <a:t> </a:t>
            </a:r>
            <a:r>
              <a:rPr sz="1500" dirty="0"/>
              <a:t>many</a:t>
            </a:r>
            <a:r>
              <a:rPr sz="1500" spc="-11" dirty="0"/>
              <a:t> </a:t>
            </a:r>
            <a:r>
              <a:rPr sz="1500" spc="-8" dirty="0"/>
              <a:t>children</a:t>
            </a:r>
            <a:endParaRPr sz="1500" dirty="0"/>
          </a:p>
        </p:txBody>
      </p:sp>
      <p:pic>
        <p:nvPicPr>
          <p:cNvPr id="9" name="object 2"/>
          <p:cNvPicPr/>
          <p:nvPr/>
        </p:nvPicPr>
        <p:blipFill>
          <a:blip r:embed="rId3" cstate="print"/>
          <a:stretch>
            <a:fillRect/>
          </a:stretch>
        </p:blipFill>
        <p:spPr>
          <a:xfrm>
            <a:off x="212939" y="2570362"/>
            <a:ext cx="2484277" cy="2469141"/>
          </a:xfrm>
          <a:prstGeom prst="rect">
            <a:avLst/>
          </a:prstGeom>
        </p:spPr>
      </p:pic>
      <p:pic>
        <p:nvPicPr>
          <p:cNvPr id="10" name="object 3"/>
          <p:cNvPicPr/>
          <p:nvPr/>
        </p:nvPicPr>
        <p:blipFill>
          <a:blip r:embed="rId4" cstate="print"/>
          <a:stretch>
            <a:fillRect/>
          </a:stretch>
        </p:blipFill>
        <p:spPr>
          <a:xfrm>
            <a:off x="3068804" y="3912927"/>
            <a:ext cx="3714974" cy="900860"/>
          </a:xfrm>
          <a:prstGeom prst="rect">
            <a:avLst/>
          </a:prstGeom>
        </p:spPr>
      </p:pic>
    </p:spTree>
    <p:extLst>
      <p:ext uri="{BB962C8B-B14F-4D97-AF65-F5344CB8AC3E}">
        <p14:creationId xmlns:p14="http://schemas.microsoft.com/office/powerpoint/2010/main" val="2060845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sz="2700" spc="-105" dirty="0">
                <a:solidFill>
                  <a:schemeClr val="bg1"/>
                </a:solidFill>
                <a:latin typeface="Georgia" panose="02040502050405020303" pitchFamily="18" charset="0"/>
              </a:rPr>
              <a:t>Java</a:t>
            </a:r>
            <a:r>
              <a:rPr lang="en-GB" sz="2700" spc="56" dirty="0">
                <a:solidFill>
                  <a:schemeClr val="bg1"/>
                </a:solidFill>
                <a:latin typeface="Georgia" panose="02040502050405020303" pitchFamily="18" charset="0"/>
              </a:rPr>
              <a:t> </a:t>
            </a:r>
            <a:r>
              <a:rPr lang="en-GB" sz="2700" spc="98" dirty="0">
                <a:solidFill>
                  <a:schemeClr val="bg1"/>
                </a:solidFill>
                <a:latin typeface="Georgia" panose="02040502050405020303" pitchFamily="18" charset="0"/>
              </a:rPr>
              <a:t>-</a:t>
            </a:r>
            <a:r>
              <a:rPr lang="en-GB" sz="2700" spc="60" dirty="0">
                <a:solidFill>
                  <a:schemeClr val="bg1"/>
                </a:solidFill>
                <a:latin typeface="Georgia" panose="02040502050405020303" pitchFamily="18" charset="0"/>
              </a:rPr>
              <a:t> </a:t>
            </a:r>
            <a:r>
              <a:rPr lang="en-GB" sz="2700" dirty="0">
                <a:solidFill>
                  <a:schemeClr val="bg1"/>
                </a:solidFill>
                <a:latin typeface="Georgia" panose="02040502050405020303" pitchFamily="18" charset="0"/>
              </a:rPr>
              <a:t>abstract</a:t>
            </a:r>
            <a:r>
              <a:rPr lang="en-GB" sz="2700" spc="60" dirty="0">
                <a:solidFill>
                  <a:schemeClr val="bg1"/>
                </a:solidFill>
                <a:latin typeface="Georgia" panose="02040502050405020303" pitchFamily="18" charset="0"/>
              </a:rPr>
              <a:t> </a:t>
            </a:r>
            <a:r>
              <a:rPr lang="en-GB" sz="2700" spc="-15" dirty="0">
                <a:solidFill>
                  <a:schemeClr val="bg1"/>
                </a:solidFill>
                <a:latin typeface="Georgia" panose="02040502050405020303" pitchFamily="18" charset="0"/>
              </a:rPr>
              <a:t>and</a:t>
            </a:r>
            <a:r>
              <a:rPr lang="en-GB" sz="2700" spc="56" dirty="0">
                <a:solidFill>
                  <a:schemeClr val="bg1"/>
                </a:solidFill>
                <a:latin typeface="Georgia" panose="02040502050405020303" pitchFamily="18" charset="0"/>
              </a:rPr>
              <a:t> </a:t>
            </a:r>
            <a:r>
              <a:rPr lang="en-GB" sz="2700" dirty="0">
                <a:solidFill>
                  <a:schemeClr val="bg1"/>
                </a:solidFill>
                <a:latin typeface="Georgia" panose="02040502050405020303" pitchFamily="18" charset="0"/>
              </a:rPr>
              <a:t>interface</a:t>
            </a:r>
            <a:r>
              <a:rPr lang="en-GB" sz="2700" spc="60" dirty="0">
                <a:solidFill>
                  <a:schemeClr val="bg1"/>
                </a:solidFill>
                <a:latin typeface="Georgia" panose="02040502050405020303" pitchFamily="18" charset="0"/>
              </a:rPr>
              <a:t> </a:t>
            </a:r>
            <a:r>
              <a:rPr lang="en-GB" sz="2700" spc="-15" dirty="0">
                <a:solidFill>
                  <a:schemeClr val="bg1"/>
                </a:solidFill>
                <a:latin typeface="Georgia" panose="02040502050405020303" pitchFamily="18" charset="0"/>
              </a:rPr>
              <a:t>classes</a:t>
            </a:r>
            <a:endParaRPr lang="en-US" altLang="en-US" sz="2700" dirty="0">
              <a:solidFill>
                <a:schemeClr val="bg1"/>
              </a:solidFill>
              <a:latin typeface="Georgia" panose="02040502050405020303" pitchFamily="18" charset="0"/>
            </a:endParaRPr>
          </a:p>
        </p:txBody>
      </p:sp>
      <p:sp>
        <p:nvSpPr>
          <p:cNvPr id="8" name="object 3"/>
          <p:cNvSpPr txBox="1"/>
          <p:nvPr/>
        </p:nvSpPr>
        <p:spPr>
          <a:xfrm>
            <a:off x="0" y="894443"/>
            <a:ext cx="6696744" cy="701955"/>
          </a:xfrm>
          <a:prstGeom prst="rect">
            <a:avLst/>
          </a:prstGeom>
        </p:spPr>
        <p:txBody>
          <a:bodyPr vert="horz" wrap="square" lIns="0" tIns="50006" rIns="0" bIns="0" rtlCol="0">
            <a:spAutoFit/>
          </a:bodyPr>
          <a:lstStyle/>
          <a:p>
            <a:pPr marL="234315" indent="-224790">
              <a:spcBef>
                <a:spcPts val="394"/>
              </a:spcBef>
              <a:buChar char="-"/>
              <a:tabLst>
                <a:tab pos="234315" algn="l"/>
              </a:tabLst>
            </a:pPr>
            <a:r>
              <a:rPr sz="1500" spc="-26" dirty="0">
                <a:latin typeface="Georgia"/>
                <a:cs typeface="Georgia"/>
              </a:rPr>
              <a:t>Abstract</a:t>
            </a:r>
            <a:r>
              <a:rPr sz="1500" spc="-34" dirty="0">
                <a:latin typeface="Georgia"/>
                <a:cs typeface="Georgia"/>
              </a:rPr>
              <a:t> </a:t>
            </a:r>
            <a:r>
              <a:rPr sz="1500" spc="-8" dirty="0">
                <a:latin typeface="Georgia"/>
                <a:cs typeface="Georgia"/>
              </a:rPr>
              <a:t>classes:</a:t>
            </a:r>
            <a:endParaRPr sz="1500" dirty="0">
              <a:latin typeface="Georgia"/>
              <a:cs typeface="Georgia"/>
            </a:endParaRPr>
          </a:p>
          <a:p>
            <a:pPr marL="577215" lvl="1" indent="-212884">
              <a:spcBef>
                <a:spcPts val="248"/>
              </a:spcBef>
              <a:buChar char="-"/>
              <a:tabLst>
                <a:tab pos="577215" algn="l"/>
              </a:tabLst>
            </a:pPr>
            <a:r>
              <a:rPr sz="1200" spc="-19" dirty="0">
                <a:latin typeface="Georgia"/>
                <a:cs typeface="Georgia"/>
              </a:rPr>
              <a:t>cannot</a:t>
            </a:r>
            <a:r>
              <a:rPr sz="1200" spc="-23" dirty="0">
                <a:latin typeface="Georgia"/>
                <a:cs typeface="Georgia"/>
              </a:rPr>
              <a:t> </a:t>
            </a:r>
            <a:r>
              <a:rPr sz="1200" dirty="0">
                <a:latin typeface="Georgia"/>
                <a:cs typeface="Georgia"/>
              </a:rPr>
              <a:t>be</a:t>
            </a:r>
            <a:r>
              <a:rPr sz="1200" spc="-23" dirty="0">
                <a:latin typeface="Georgia"/>
                <a:cs typeface="Georgia"/>
              </a:rPr>
              <a:t> </a:t>
            </a:r>
            <a:r>
              <a:rPr sz="1200" spc="-38" dirty="0">
                <a:latin typeface="Georgia"/>
                <a:cs typeface="Georgia"/>
              </a:rPr>
              <a:t>instantiated,</a:t>
            </a:r>
            <a:r>
              <a:rPr sz="1200" spc="-23" dirty="0">
                <a:latin typeface="Georgia"/>
                <a:cs typeface="Georgia"/>
              </a:rPr>
              <a:t> </a:t>
            </a:r>
            <a:r>
              <a:rPr sz="1200" spc="-8" dirty="0">
                <a:latin typeface="Georgia"/>
                <a:cs typeface="Georgia"/>
              </a:rPr>
              <a:t>but</a:t>
            </a:r>
            <a:r>
              <a:rPr sz="1200" spc="-23" dirty="0">
                <a:latin typeface="Georgia"/>
                <a:cs typeface="Georgia"/>
              </a:rPr>
              <a:t> </a:t>
            </a:r>
            <a:r>
              <a:rPr sz="1200" spc="-15" dirty="0">
                <a:latin typeface="Georgia"/>
                <a:cs typeface="Georgia"/>
              </a:rPr>
              <a:t>can</a:t>
            </a:r>
            <a:r>
              <a:rPr sz="1200" spc="-23" dirty="0">
                <a:latin typeface="Georgia"/>
                <a:cs typeface="Georgia"/>
              </a:rPr>
              <a:t> </a:t>
            </a:r>
            <a:r>
              <a:rPr sz="1200" spc="-19" dirty="0">
                <a:latin typeface="Georgia"/>
                <a:cs typeface="Georgia"/>
              </a:rPr>
              <a:t>contain </a:t>
            </a:r>
            <a:r>
              <a:rPr sz="1200" spc="-34" dirty="0">
                <a:latin typeface="Georgia"/>
                <a:cs typeface="Georgia"/>
              </a:rPr>
              <a:t>implementation</a:t>
            </a:r>
            <a:r>
              <a:rPr sz="1200" spc="-23" dirty="0">
                <a:latin typeface="Georgia"/>
                <a:cs typeface="Georgia"/>
              </a:rPr>
              <a:t> </a:t>
            </a:r>
            <a:r>
              <a:rPr sz="1200" dirty="0">
                <a:latin typeface="Georgia"/>
                <a:cs typeface="Georgia"/>
              </a:rPr>
              <a:t>of</a:t>
            </a:r>
            <a:r>
              <a:rPr sz="1200" spc="-23" dirty="0">
                <a:latin typeface="Georgia"/>
                <a:cs typeface="Georgia"/>
              </a:rPr>
              <a:t> </a:t>
            </a:r>
            <a:r>
              <a:rPr sz="1200" spc="-19" dirty="0">
                <a:latin typeface="Georgia"/>
                <a:cs typeface="Georgia"/>
              </a:rPr>
              <a:t>fields</a:t>
            </a:r>
            <a:r>
              <a:rPr sz="1200" spc="-23" dirty="0">
                <a:latin typeface="Georgia"/>
                <a:cs typeface="Georgia"/>
              </a:rPr>
              <a:t> </a:t>
            </a:r>
            <a:r>
              <a:rPr sz="1200" spc="-30" dirty="0">
                <a:latin typeface="Georgia"/>
                <a:cs typeface="Georgia"/>
              </a:rPr>
              <a:t>and</a:t>
            </a:r>
            <a:r>
              <a:rPr sz="1200" spc="-23" dirty="0">
                <a:latin typeface="Georgia"/>
                <a:cs typeface="Georgia"/>
              </a:rPr>
              <a:t> </a:t>
            </a:r>
            <a:r>
              <a:rPr sz="1200" spc="-8" dirty="0">
                <a:latin typeface="Georgia"/>
                <a:cs typeface="Georgia"/>
              </a:rPr>
              <a:t>methods</a:t>
            </a:r>
            <a:endParaRPr sz="1200" dirty="0">
              <a:latin typeface="Georgia"/>
              <a:cs typeface="Georgia"/>
            </a:endParaRPr>
          </a:p>
          <a:p>
            <a:pPr marL="577215" lvl="1" indent="-212884">
              <a:spcBef>
                <a:spcPts val="203"/>
              </a:spcBef>
              <a:buChar char="-"/>
              <a:tabLst>
                <a:tab pos="577215" algn="l"/>
              </a:tabLst>
            </a:pPr>
            <a:r>
              <a:rPr sz="1200" spc="-15" dirty="0">
                <a:latin typeface="Georgia"/>
                <a:cs typeface="Georgia"/>
              </a:rPr>
              <a:t>can</a:t>
            </a:r>
            <a:r>
              <a:rPr sz="1200" spc="-49" dirty="0">
                <a:latin typeface="Georgia"/>
                <a:cs typeface="Georgia"/>
              </a:rPr>
              <a:t> </a:t>
            </a:r>
            <a:r>
              <a:rPr sz="1200" spc="-8" dirty="0">
                <a:latin typeface="Georgia"/>
                <a:cs typeface="Georgia"/>
              </a:rPr>
              <a:t>only</a:t>
            </a:r>
            <a:r>
              <a:rPr sz="1200" spc="-30" dirty="0">
                <a:latin typeface="Georgia"/>
                <a:cs typeface="Georgia"/>
              </a:rPr>
              <a:t> </a:t>
            </a:r>
            <a:r>
              <a:rPr sz="1200" dirty="0">
                <a:latin typeface="Georgia"/>
                <a:cs typeface="Georgia"/>
              </a:rPr>
              <a:t>be</a:t>
            </a:r>
            <a:r>
              <a:rPr sz="1200" spc="-19" dirty="0">
                <a:latin typeface="Georgia"/>
                <a:cs typeface="Georgia"/>
              </a:rPr>
              <a:t> </a:t>
            </a:r>
            <a:r>
              <a:rPr sz="1200" spc="-26" dirty="0">
                <a:latin typeface="Georgia"/>
                <a:cs typeface="Georgia"/>
              </a:rPr>
              <a:t>inherited</a:t>
            </a:r>
            <a:r>
              <a:rPr sz="1200" spc="-19" dirty="0">
                <a:latin typeface="Georgia"/>
                <a:cs typeface="Georgia"/>
              </a:rPr>
              <a:t> </a:t>
            </a:r>
            <a:r>
              <a:rPr sz="1200" dirty="0">
                <a:latin typeface="Georgia"/>
                <a:cs typeface="Georgia"/>
              </a:rPr>
              <a:t>(by</a:t>
            </a:r>
            <a:r>
              <a:rPr sz="1200" spc="-23" dirty="0">
                <a:latin typeface="Georgia"/>
                <a:cs typeface="Georgia"/>
              </a:rPr>
              <a:t> using</a:t>
            </a:r>
            <a:r>
              <a:rPr sz="1200" spc="-26" dirty="0">
                <a:latin typeface="Georgia"/>
                <a:cs typeface="Georgia"/>
              </a:rPr>
              <a:t> </a:t>
            </a:r>
            <a:r>
              <a:rPr sz="1200" spc="-8" dirty="0">
                <a:latin typeface="Courier New"/>
                <a:cs typeface="Courier New"/>
              </a:rPr>
              <a:t>extends</a:t>
            </a:r>
            <a:r>
              <a:rPr sz="1200" spc="-289" dirty="0">
                <a:latin typeface="Courier New"/>
                <a:cs typeface="Courier New"/>
              </a:rPr>
              <a:t> </a:t>
            </a:r>
            <a:r>
              <a:rPr sz="1200" spc="-8" dirty="0">
                <a:latin typeface="Georgia"/>
                <a:cs typeface="Georgia"/>
              </a:rPr>
              <a:t>keyword)</a:t>
            </a:r>
            <a:endParaRPr lang="en-GB" sz="1200" spc="-8" dirty="0">
              <a:latin typeface="Georgia"/>
              <a:cs typeface="Georgia"/>
            </a:endParaRPr>
          </a:p>
        </p:txBody>
      </p:sp>
      <p:pic>
        <p:nvPicPr>
          <p:cNvPr id="2" name="Picture 1"/>
          <p:cNvPicPr>
            <a:picLocks noChangeAspect="1"/>
          </p:cNvPicPr>
          <p:nvPr/>
        </p:nvPicPr>
        <p:blipFill>
          <a:blip r:embed="rId2"/>
          <a:stretch>
            <a:fillRect/>
          </a:stretch>
        </p:blipFill>
        <p:spPr>
          <a:xfrm>
            <a:off x="230244" y="1559543"/>
            <a:ext cx="3456470" cy="1007269"/>
          </a:xfrm>
          <a:prstGeom prst="rect">
            <a:avLst/>
          </a:prstGeom>
        </p:spPr>
      </p:pic>
      <p:pic>
        <p:nvPicPr>
          <p:cNvPr id="9" name="Picture 8"/>
          <p:cNvPicPr>
            <a:picLocks noChangeAspect="1"/>
          </p:cNvPicPr>
          <p:nvPr/>
        </p:nvPicPr>
        <p:blipFill>
          <a:blip r:embed="rId3"/>
          <a:stretch>
            <a:fillRect/>
          </a:stretch>
        </p:blipFill>
        <p:spPr>
          <a:xfrm>
            <a:off x="214659" y="2566812"/>
            <a:ext cx="3450431" cy="1943100"/>
          </a:xfrm>
          <a:prstGeom prst="rect">
            <a:avLst/>
          </a:prstGeom>
        </p:spPr>
      </p:pic>
      <p:pic>
        <p:nvPicPr>
          <p:cNvPr id="12" name="Picture 11"/>
          <p:cNvPicPr>
            <a:picLocks noChangeAspect="1"/>
          </p:cNvPicPr>
          <p:nvPr/>
        </p:nvPicPr>
        <p:blipFill>
          <a:blip r:embed="rId4"/>
          <a:stretch>
            <a:fillRect/>
          </a:stretch>
        </p:blipFill>
        <p:spPr>
          <a:xfrm>
            <a:off x="214660" y="4557712"/>
            <a:ext cx="3450431" cy="585788"/>
          </a:xfrm>
          <a:prstGeom prst="rect">
            <a:avLst/>
          </a:prstGeom>
        </p:spPr>
      </p:pic>
      <p:sp>
        <p:nvSpPr>
          <p:cNvPr id="15" name="TextBox 14"/>
          <p:cNvSpPr txBox="1"/>
          <p:nvPr/>
        </p:nvSpPr>
        <p:spPr>
          <a:xfrm>
            <a:off x="4389551" y="1714631"/>
            <a:ext cx="2497554" cy="253916"/>
          </a:xfrm>
          <a:prstGeom prst="rect">
            <a:avLst/>
          </a:prstGeom>
          <a:noFill/>
        </p:spPr>
        <p:txBody>
          <a:bodyPr wrap="square" rtlCol="0">
            <a:spAutoFit/>
          </a:bodyPr>
          <a:lstStyle/>
          <a:p>
            <a:r>
              <a:rPr lang="en-GB" sz="1050" dirty="0">
                <a:latin typeface="Georgia" panose="02040502050405020303" pitchFamily="18" charset="0"/>
              </a:rPr>
              <a:t>This definition of abstract class</a:t>
            </a:r>
          </a:p>
        </p:txBody>
      </p:sp>
      <p:sp>
        <p:nvSpPr>
          <p:cNvPr id="16" name="TextBox 15"/>
          <p:cNvSpPr txBox="1"/>
          <p:nvPr/>
        </p:nvSpPr>
        <p:spPr>
          <a:xfrm>
            <a:off x="3906667" y="3012731"/>
            <a:ext cx="4127724" cy="253916"/>
          </a:xfrm>
          <a:prstGeom prst="rect">
            <a:avLst/>
          </a:prstGeom>
          <a:noFill/>
        </p:spPr>
        <p:txBody>
          <a:bodyPr wrap="square" rtlCol="0">
            <a:spAutoFit/>
          </a:bodyPr>
          <a:lstStyle/>
          <a:p>
            <a:r>
              <a:rPr lang="en-GB" sz="1050" dirty="0">
                <a:latin typeface="Georgia" panose="02040502050405020303" pitchFamily="18" charset="0"/>
              </a:rPr>
              <a:t>Example on how to use abstract class in java program</a:t>
            </a:r>
          </a:p>
        </p:txBody>
      </p:sp>
    </p:spTree>
    <p:extLst>
      <p:ext uri="{BB962C8B-B14F-4D97-AF65-F5344CB8AC3E}">
        <p14:creationId xmlns:p14="http://schemas.microsoft.com/office/powerpoint/2010/main" val="903895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p:cNvSpPr txBox="1"/>
          <p:nvPr/>
        </p:nvSpPr>
        <p:spPr>
          <a:xfrm>
            <a:off x="251520" y="1054496"/>
            <a:ext cx="8892480" cy="3882313"/>
          </a:xfrm>
          <a:prstGeom prst="rect">
            <a:avLst/>
          </a:prstGeom>
        </p:spPr>
        <p:txBody>
          <a:bodyPr vert="horz" wrap="square" lIns="0" tIns="50006" rIns="0" bIns="0" rtlCol="0">
            <a:spAutoFit/>
          </a:bodyPr>
          <a:lstStyle/>
          <a:p>
            <a:pPr marL="9525">
              <a:spcBef>
                <a:spcPts val="191"/>
              </a:spcBef>
              <a:tabLst>
                <a:tab pos="234315" algn="l"/>
              </a:tabLst>
            </a:pPr>
            <a:r>
              <a:rPr lang="en-GB" sz="1500" spc="-38" dirty="0">
                <a:latin typeface="Georgia"/>
                <a:cs typeface="Georgia"/>
              </a:rPr>
              <a:t>- </a:t>
            </a:r>
            <a:r>
              <a:rPr sz="1500" spc="-38" dirty="0">
                <a:latin typeface="Georgia"/>
                <a:cs typeface="Georgia"/>
              </a:rPr>
              <a:t>Interface</a:t>
            </a:r>
            <a:r>
              <a:rPr sz="1500" spc="-30" dirty="0">
                <a:latin typeface="Georgia"/>
                <a:cs typeface="Georgia"/>
              </a:rPr>
              <a:t> </a:t>
            </a:r>
            <a:r>
              <a:rPr sz="1500" spc="-8" dirty="0">
                <a:latin typeface="Georgia"/>
                <a:cs typeface="Georgia"/>
              </a:rPr>
              <a:t>classes:</a:t>
            </a:r>
            <a:endParaRPr sz="1500" dirty="0">
              <a:latin typeface="Georgia"/>
              <a:cs typeface="Georgia"/>
            </a:endParaRPr>
          </a:p>
          <a:p>
            <a:pPr marL="577215" lvl="1" indent="-212884">
              <a:spcBef>
                <a:spcPts val="248"/>
              </a:spcBef>
              <a:buChar char="-"/>
              <a:tabLst>
                <a:tab pos="577215" algn="l"/>
              </a:tabLst>
            </a:pPr>
            <a:r>
              <a:rPr sz="1200" spc="-19" dirty="0">
                <a:latin typeface="Georgia"/>
                <a:cs typeface="Georgia"/>
              </a:rPr>
              <a:t>cannot</a:t>
            </a:r>
            <a:r>
              <a:rPr sz="1200" spc="-23" dirty="0">
                <a:latin typeface="Georgia"/>
                <a:cs typeface="Georgia"/>
              </a:rPr>
              <a:t> </a:t>
            </a:r>
            <a:r>
              <a:rPr sz="1200" dirty="0">
                <a:latin typeface="Georgia"/>
                <a:cs typeface="Georgia"/>
              </a:rPr>
              <a:t>be</a:t>
            </a:r>
            <a:r>
              <a:rPr sz="1200" spc="-23" dirty="0">
                <a:latin typeface="Georgia"/>
                <a:cs typeface="Georgia"/>
              </a:rPr>
              <a:t> </a:t>
            </a:r>
            <a:r>
              <a:rPr sz="1200" spc="-38" dirty="0">
                <a:latin typeface="Georgia"/>
                <a:cs typeface="Georgia"/>
              </a:rPr>
              <a:t>instantiated,</a:t>
            </a:r>
            <a:r>
              <a:rPr sz="1200" spc="-19" dirty="0">
                <a:latin typeface="Georgia"/>
                <a:cs typeface="Georgia"/>
              </a:rPr>
              <a:t> </a:t>
            </a:r>
            <a:r>
              <a:rPr sz="1200" spc="-30" dirty="0">
                <a:latin typeface="Georgia"/>
                <a:cs typeface="Georgia"/>
              </a:rPr>
              <a:t>and</a:t>
            </a:r>
            <a:r>
              <a:rPr sz="1200" spc="-23" dirty="0">
                <a:latin typeface="Georgia"/>
                <a:cs typeface="Georgia"/>
              </a:rPr>
              <a:t> </a:t>
            </a:r>
            <a:r>
              <a:rPr sz="1200" spc="-19" dirty="0">
                <a:latin typeface="Georgia"/>
                <a:cs typeface="Georgia"/>
              </a:rPr>
              <a:t>cannot</a:t>
            </a:r>
            <a:r>
              <a:rPr sz="1200" spc="-23" dirty="0">
                <a:latin typeface="Georgia"/>
                <a:cs typeface="Georgia"/>
              </a:rPr>
              <a:t> </a:t>
            </a:r>
            <a:r>
              <a:rPr sz="1200" spc="-19" dirty="0">
                <a:latin typeface="Georgia"/>
                <a:cs typeface="Georgia"/>
              </a:rPr>
              <a:t>contain </a:t>
            </a:r>
            <a:r>
              <a:rPr sz="1200" spc="-15" dirty="0">
                <a:latin typeface="Georgia"/>
                <a:cs typeface="Georgia"/>
              </a:rPr>
              <a:t>any</a:t>
            </a:r>
            <a:r>
              <a:rPr sz="1200" spc="-23" dirty="0">
                <a:latin typeface="Georgia"/>
                <a:cs typeface="Georgia"/>
              </a:rPr>
              <a:t> </a:t>
            </a:r>
            <a:r>
              <a:rPr sz="1200" spc="-34" dirty="0">
                <a:latin typeface="Georgia"/>
                <a:cs typeface="Georgia"/>
              </a:rPr>
              <a:t>implementation</a:t>
            </a:r>
            <a:r>
              <a:rPr sz="1200" spc="-23" dirty="0">
                <a:latin typeface="Georgia"/>
                <a:cs typeface="Georgia"/>
              </a:rPr>
              <a:t> </a:t>
            </a:r>
            <a:r>
              <a:rPr sz="1200" spc="-8" dirty="0">
                <a:latin typeface="Georgia"/>
                <a:cs typeface="Georgia"/>
              </a:rPr>
              <a:t>details</a:t>
            </a:r>
            <a:endParaRPr sz="1200" dirty="0">
              <a:latin typeface="Georgia"/>
              <a:cs typeface="Georgia"/>
            </a:endParaRPr>
          </a:p>
          <a:p>
            <a:pPr marL="577215" lvl="1" indent="-212884">
              <a:spcBef>
                <a:spcPts val="203"/>
              </a:spcBef>
              <a:buChar char="-"/>
              <a:tabLst>
                <a:tab pos="577215" algn="l"/>
              </a:tabLst>
            </a:pPr>
            <a:r>
              <a:rPr sz="1200" spc="-26" dirty="0">
                <a:latin typeface="Georgia"/>
                <a:cs typeface="Georgia"/>
              </a:rPr>
              <a:t>used </a:t>
            </a:r>
            <a:r>
              <a:rPr sz="1200" dirty="0">
                <a:latin typeface="Georgia"/>
                <a:cs typeface="Georgia"/>
              </a:rPr>
              <a:t>to</a:t>
            </a:r>
            <a:r>
              <a:rPr sz="1200" spc="-26" dirty="0">
                <a:latin typeface="Georgia"/>
                <a:cs typeface="Georgia"/>
              </a:rPr>
              <a:t> </a:t>
            </a:r>
            <a:r>
              <a:rPr sz="1200" spc="-19" dirty="0">
                <a:latin typeface="Georgia"/>
                <a:cs typeface="Georgia"/>
              </a:rPr>
              <a:t>specify</a:t>
            </a:r>
            <a:r>
              <a:rPr sz="1200" spc="-26" dirty="0">
                <a:latin typeface="Georgia"/>
                <a:cs typeface="Georgia"/>
              </a:rPr>
              <a:t> </a:t>
            </a:r>
            <a:r>
              <a:rPr sz="1200" dirty="0">
                <a:latin typeface="Georgia"/>
                <a:cs typeface="Georgia"/>
              </a:rPr>
              <a:t>a</a:t>
            </a:r>
            <a:r>
              <a:rPr sz="1200" spc="-26" dirty="0">
                <a:latin typeface="Georgia"/>
                <a:cs typeface="Georgia"/>
              </a:rPr>
              <a:t> “contract” </a:t>
            </a:r>
            <a:r>
              <a:rPr sz="1200" dirty="0">
                <a:latin typeface="Georgia"/>
                <a:cs typeface="Georgia"/>
              </a:rPr>
              <a:t>or</a:t>
            </a:r>
            <a:r>
              <a:rPr sz="1200" spc="-26" dirty="0">
                <a:latin typeface="Georgia"/>
                <a:cs typeface="Georgia"/>
              </a:rPr>
              <a:t> “blueprint” </a:t>
            </a:r>
            <a:r>
              <a:rPr sz="1200" dirty="0">
                <a:latin typeface="Georgia"/>
                <a:cs typeface="Georgia"/>
              </a:rPr>
              <a:t>of</a:t>
            </a:r>
            <a:r>
              <a:rPr sz="1200" spc="-26" dirty="0">
                <a:latin typeface="Georgia"/>
                <a:cs typeface="Georgia"/>
              </a:rPr>
              <a:t> </a:t>
            </a:r>
            <a:r>
              <a:rPr sz="1200" spc="-15" dirty="0">
                <a:latin typeface="Georgia"/>
                <a:cs typeface="Georgia"/>
              </a:rPr>
              <a:t>what</a:t>
            </a:r>
            <a:r>
              <a:rPr sz="1200" spc="-26" dirty="0">
                <a:latin typeface="Georgia"/>
                <a:cs typeface="Georgia"/>
              </a:rPr>
              <a:t> </a:t>
            </a:r>
            <a:r>
              <a:rPr sz="1200" spc="-30" dirty="0">
                <a:latin typeface="Georgia"/>
                <a:cs typeface="Georgia"/>
              </a:rPr>
              <a:t>methods</a:t>
            </a:r>
            <a:r>
              <a:rPr sz="1200" spc="-26" dirty="0">
                <a:latin typeface="Georgia"/>
                <a:cs typeface="Georgia"/>
              </a:rPr>
              <a:t> </a:t>
            </a:r>
            <a:r>
              <a:rPr sz="1200" dirty="0">
                <a:latin typeface="Georgia"/>
                <a:cs typeface="Georgia"/>
              </a:rPr>
              <a:t>a</a:t>
            </a:r>
            <a:r>
              <a:rPr sz="1200" spc="-26" dirty="0">
                <a:latin typeface="Georgia"/>
                <a:cs typeface="Georgia"/>
              </a:rPr>
              <a:t> </a:t>
            </a:r>
            <a:r>
              <a:rPr sz="1200" spc="-34" dirty="0">
                <a:latin typeface="Georgia"/>
                <a:cs typeface="Georgia"/>
              </a:rPr>
              <a:t>class</a:t>
            </a:r>
            <a:r>
              <a:rPr sz="1200" spc="-26" dirty="0">
                <a:latin typeface="Georgia"/>
                <a:cs typeface="Georgia"/>
              </a:rPr>
              <a:t> </a:t>
            </a:r>
            <a:r>
              <a:rPr sz="1200" spc="-15" dirty="0">
                <a:latin typeface="Georgia"/>
                <a:cs typeface="Georgia"/>
              </a:rPr>
              <a:t>can</a:t>
            </a:r>
            <a:r>
              <a:rPr sz="1200" spc="-26" dirty="0">
                <a:latin typeface="Georgia"/>
                <a:cs typeface="Georgia"/>
              </a:rPr>
              <a:t> </a:t>
            </a:r>
            <a:r>
              <a:rPr sz="1200" spc="-8" dirty="0">
                <a:latin typeface="Georgia"/>
                <a:cs typeface="Georgia"/>
              </a:rPr>
              <a:t>implement</a:t>
            </a:r>
            <a:endParaRPr sz="1200" dirty="0">
              <a:latin typeface="Georgia"/>
              <a:cs typeface="Georgia"/>
            </a:endParaRPr>
          </a:p>
          <a:p>
            <a:pPr marL="577215" lvl="1" indent="-212884">
              <a:spcBef>
                <a:spcPts val="203"/>
              </a:spcBef>
              <a:buChar char="-"/>
              <a:tabLst>
                <a:tab pos="577215" algn="l"/>
              </a:tabLst>
            </a:pPr>
            <a:r>
              <a:rPr sz="1200" spc="-15" dirty="0">
                <a:latin typeface="Georgia"/>
                <a:cs typeface="Georgia"/>
              </a:rPr>
              <a:t>can</a:t>
            </a:r>
            <a:r>
              <a:rPr sz="1200" spc="-49" dirty="0">
                <a:latin typeface="Georgia"/>
                <a:cs typeface="Georgia"/>
              </a:rPr>
              <a:t> </a:t>
            </a:r>
            <a:r>
              <a:rPr sz="1200" spc="-8" dirty="0">
                <a:latin typeface="Georgia"/>
                <a:cs typeface="Georgia"/>
              </a:rPr>
              <a:t>only</a:t>
            </a:r>
            <a:r>
              <a:rPr sz="1200" spc="-15" dirty="0">
                <a:latin typeface="Georgia"/>
                <a:cs typeface="Georgia"/>
              </a:rPr>
              <a:t> </a:t>
            </a:r>
            <a:r>
              <a:rPr sz="1200" dirty="0">
                <a:latin typeface="Georgia"/>
                <a:cs typeface="Georgia"/>
              </a:rPr>
              <a:t>be</a:t>
            </a:r>
            <a:r>
              <a:rPr sz="1200" spc="-15" dirty="0">
                <a:latin typeface="Georgia"/>
                <a:cs typeface="Georgia"/>
              </a:rPr>
              <a:t> </a:t>
            </a:r>
            <a:r>
              <a:rPr sz="1200" spc="-34" dirty="0">
                <a:latin typeface="Georgia"/>
                <a:cs typeface="Georgia"/>
              </a:rPr>
              <a:t>implemented</a:t>
            </a:r>
            <a:r>
              <a:rPr sz="1200" spc="-15" dirty="0">
                <a:latin typeface="Georgia"/>
                <a:cs typeface="Georgia"/>
              </a:rPr>
              <a:t> </a:t>
            </a:r>
            <a:r>
              <a:rPr sz="1200" dirty="0">
                <a:latin typeface="Georgia"/>
                <a:cs typeface="Georgia"/>
              </a:rPr>
              <a:t>(by</a:t>
            </a:r>
            <a:r>
              <a:rPr sz="1200" spc="-15" dirty="0">
                <a:latin typeface="Georgia"/>
                <a:cs typeface="Georgia"/>
              </a:rPr>
              <a:t> </a:t>
            </a:r>
            <a:r>
              <a:rPr sz="1200" spc="-23" dirty="0">
                <a:latin typeface="Georgia"/>
                <a:cs typeface="Georgia"/>
              </a:rPr>
              <a:t>using </a:t>
            </a:r>
            <a:r>
              <a:rPr sz="1200" spc="-8" dirty="0">
                <a:latin typeface="Courier New"/>
                <a:cs typeface="Courier New"/>
              </a:rPr>
              <a:t>implements</a:t>
            </a:r>
            <a:r>
              <a:rPr sz="1200" spc="-255" dirty="0">
                <a:latin typeface="Courier New"/>
                <a:cs typeface="Courier New"/>
              </a:rPr>
              <a:t> </a:t>
            </a:r>
            <a:r>
              <a:rPr sz="1200" spc="-8" dirty="0">
                <a:latin typeface="Georgia"/>
                <a:cs typeface="Georgia"/>
              </a:rPr>
              <a:t>keyword)</a:t>
            </a:r>
            <a:endParaRPr lang="en-GB" sz="1200" spc="-8" dirty="0">
              <a:latin typeface="Georgia"/>
              <a:cs typeface="Georgia"/>
            </a:endParaRPr>
          </a:p>
          <a:p>
            <a:pPr marL="364331" lvl="1">
              <a:spcBef>
                <a:spcPts val="203"/>
              </a:spcBef>
              <a:tabLst>
                <a:tab pos="577215" algn="l"/>
              </a:tabLst>
            </a:pPr>
            <a:endParaRPr lang="en-GB" sz="1050" dirty="0">
              <a:latin typeface="Georgia"/>
              <a:cs typeface="Georgia"/>
            </a:endParaRPr>
          </a:p>
          <a:p>
            <a:pPr marL="364331" lvl="1">
              <a:spcBef>
                <a:spcPts val="203"/>
              </a:spcBef>
              <a:tabLst>
                <a:tab pos="577215" algn="l"/>
              </a:tabLst>
            </a:pPr>
            <a:endParaRPr lang="en-GB" sz="1050" dirty="0">
              <a:latin typeface="Georgia"/>
              <a:cs typeface="Georgia"/>
            </a:endParaRPr>
          </a:p>
          <a:p>
            <a:pPr marL="364331" lvl="1">
              <a:spcBef>
                <a:spcPts val="203"/>
              </a:spcBef>
              <a:tabLst>
                <a:tab pos="577215" algn="l"/>
              </a:tabLst>
            </a:pPr>
            <a:endParaRPr lang="en-GB" sz="1050" dirty="0">
              <a:latin typeface="Georgia"/>
              <a:cs typeface="Georgia"/>
            </a:endParaRPr>
          </a:p>
          <a:p>
            <a:pPr marL="364331" lvl="1">
              <a:spcBef>
                <a:spcPts val="203"/>
              </a:spcBef>
              <a:tabLst>
                <a:tab pos="577215" algn="l"/>
              </a:tabLst>
            </a:pPr>
            <a:endParaRPr lang="en-GB" sz="1050" dirty="0">
              <a:latin typeface="Georgia"/>
              <a:cs typeface="Georgia"/>
            </a:endParaRPr>
          </a:p>
          <a:p>
            <a:pPr marL="364331" lvl="1">
              <a:spcBef>
                <a:spcPts val="203"/>
              </a:spcBef>
              <a:tabLst>
                <a:tab pos="577215" algn="l"/>
              </a:tabLst>
            </a:pPr>
            <a:endParaRPr lang="en-GB" sz="1050" dirty="0">
              <a:latin typeface="Georgia"/>
              <a:cs typeface="Georgia"/>
            </a:endParaRPr>
          </a:p>
          <a:p>
            <a:pPr marL="364331" lvl="1">
              <a:spcBef>
                <a:spcPts val="203"/>
              </a:spcBef>
              <a:tabLst>
                <a:tab pos="577215" algn="l"/>
              </a:tabLst>
            </a:pPr>
            <a:endParaRPr sz="1050" dirty="0">
              <a:latin typeface="Georgia"/>
              <a:cs typeface="Georgia"/>
            </a:endParaRPr>
          </a:p>
          <a:p>
            <a:pPr marL="234315" indent="-224790">
              <a:spcBef>
                <a:spcPts val="191"/>
              </a:spcBef>
              <a:buChar char="-"/>
              <a:tabLst>
                <a:tab pos="234315" algn="l"/>
              </a:tabLst>
            </a:pPr>
            <a:endParaRPr lang="en-GB" sz="1500" dirty="0">
              <a:latin typeface="Georgia"/>
              <a:cs typeface="Georgia"/>
            </a:endParaRPr>
          </a:p>
          <a:p>
            <a:pPr marL="234315" indent="-224790">
              <a:spcBef>
                <a:spcPts val="191"/>
              </a:spcBef>
              <a:buChar char="-"/>
              <a:tabLst>
                <a:tab pos="234315" algn="l"/>
              </a:tabLst>
            </a:pPr>
            <a:endParaRPr lang="en-GB" sz="1500" dirty="0">
              <a:latin typeface="Georgia"/>
              <a:cs typeface="Georgia"/>
            </a:endParaRPr>
          </a:p>
          <a:p>
            <a:pPr marL="234315" indent="-224790">
              <a:spcBef>
                <a:spcPts val="191"/>
              </a:spcBef>
              <a:buChar char="-"/>
              <a:tabLst>
                <a:tab pos="234315" algn="l"/>
              </a:tabLst>
            </a:pPr>
            <a:endParaRPr lang="en-GB" sz="1500" dirty="0">
              <a:latin typeface="Georgia"/>
              <a:cs typeface="Georgia"/>
            </a:endParaRPr>
          </a:p>
          <a:p>
            <a:pPr marL="234315" indent="-224790">
              <a:spcBef>
                <a:spcPts val="191"/>
              </a:spcBef>
              <a:buChar char="-"/>
              <a:tabLst>
                <a:tab pos="234315" algn="l"/>
              </a:tabLst>
            </a:pPr>
            <a:endParaRPr lang="en-GB" sz="1500" dirty="0">
              <a:latin typeface="Georgia"/>
              <a:cs typeface="Georgia"/>
            </a:endParaRPr>
          </a:p>
          <a:p>
            <a:pPr marL="234315" indent="-224790">
              <a:spcBef>
                <a:spcPts val="191"/>
              </a:spcBef>
              <a:buChar char="-"/>
              <a:tabLst>
                <a:tab pos="234315" algn="l"/>
              </a:tabLst>
            </a:pPr>
            <a:endParaRPr lang="en-GB" sz="1500" dirty="0">
              <a:latin typeface="Georgia"/>
              <a:cs typeface="Georgia"/>
            </a:endParaRPr>
          </a:p>
          <a:p>
            <a:pPr marL="234315" indent="-224790">
              <a:spcBef>
                <a:spcPts val="191"/>
              </a:spcBef>
              <a:buChar char="-"/>
              <a:tabLst>
                <a:tab pos="234315" algn="l"/>
              </a:tabLst>
            </a:pPr>
            <a:endParaRPr lang="en-GB" sz="750" dirty="0">
              <a:latin typeface="Georgia"/>
              <a:cs typeface="Georgia"/>
            </a:endParaRPr>
          </a:p>
          <a:p>
            <a:pPr marL="234315" indent="-224790">
              <a:spcBef>
                <a:spcPts val="191"/>
              </a:spcBef>
              <a:buChar char="-"/>
              <a:tabLst>
                <a:tab pos="234315" algn="l"/>
              </a:tabLst>
            </a:pPr>
            <a:endParaRPr lang="en-GB" sz="750" dirty="0">
              <a:latin typeface="Georgia"/>
              <a:cs typeface="Georgia"/>
            </a:endParaRPr>
          </a:p>
          <a:p>
            <a:pPr marL="9525">
              <a:spcBef>
                <a:spcPts val="191"/>
              </a:spcBef>
              <a:tabLst>
                <a:tab pos="234315" algn="l"/>
              </a:tabLst>
            </a:pPr>
            <a:endParaRPr lang="en-GB" sz="750" dirty="0">
              <a:latin typeface="Georgia"/>
              <a:cs typeface="Georgia"/>
            </a:endParaRPr>
          </a:p>
          <a:p>
            <a:pPr marL="9525">
              <a:spcBef>
                <a:spcPts val="191"/>
              </a:spcBef>
              <a:tabLst>
                <a:tab pos="234315" algn="l"/>
              </a:tabLst>
            </a:pPr>
            <a:endParaRPr lang="en-GB" sz="750" dirty="0">
              <a:latin typeface="Georgia"/>
              <a:cs typeface="Georgia"/>
            </a:endParaRPr>
          </a:p>
        </p:txBody>
      </p:sp>
      <p:sp>
        <p:nvSpPr>
          <p:cNvPr id="9" name="Rectangle 2"/>
          <p:cNvSpPr>
            <a:spLocks noGrp="1" noChangeArrowheads="1"/>
          </p:cNvSpPr>
          <p:nvPr>
            <p:ph type="title"/>
          </p:nvPr>
        </p:nvSpPr>
        <p:spPr/>
        <p:txBody>
          <a:bodyPr/>
          <a:lstStyle/>
          <a:p>
            <a:r>
              <a:rPr lang="en-GB" sz="2700" spc="-105" dirty="0">
                <a:solidFill>
                  <a:schemeClr val="bg1"/>
                </a:solidFill>
                <a:latin typeface="Georgia" panose="02040502050405020303" pitchFamily="18" charset="0"/>
              </a:rPr>
              <a:t>Java</a:t>
            </a:r>
            <a:r>
              <a:rPr lang="en-GB" sz="2700" spc="56" dirty="0">
                <a:solidFill>
                  <a:schemeClr val="bg1"/>
                </a:solidFill>
                <a:latin typeface="Georgia" panose="02040502050405020303" pitchFamily="18" charset="0"/>
              </a:rPr>
              <a:t> </a:t>
            </a:r>
            <a:r>
              <a:rPr lang="en-GB" sz="2700" spc="98" dirty="0">
                <a:solidFill>
                  <a:schemeClr val="bg1"/>
                </a:solidFill>
                <a:latin typeface="Georgia" panose="02040502050405020303" pitchFamily="18" charset="0"/>
              </a:rPr>
              <a:t>-</a:t>
            </a:r>
            <a:r>
              <a:rPr lang="en-GB" sz="2700" spc="60" dirty="0">
                <a:solidFill>
                  <a:schemeClr val="bg1"/>
                </a:solidFill>
                <a:latin typeface="Georgia" panose="02040502050405020303" pitchFamily="18" charset="0"/>
              </a:rPr>
              <a:t> </a:t>
            </a:r>
            <a:r>
              <a:rPr lang="en-GB" sz="2700" dirty="0">
                <a:solidFill>
                  <a:schemeClr val="bg1"/>
                </a:solidFill>
                <a:latin typeface="Georgia" panose="02040502050405020303" pitchFamily="18" charset="0"/>
              </a:rPr>
              <a:t>abstract</a:t>
            </a:r>
            <a:r>
              <a:rPr lang="en-GB" sz="2700" spc="60" dirty="0">
                <a:solidFill>
                  <a:schemeClr val="bg1"/>
                </a:solidFill>
                <a:latin typeface="Georgia" panose="02040502050405020303" pitchFamily="18" charset="0"/>
              </a:rPr>
              <a:t> </a:t>
            </a:r>
            <a:r>
              <a:rPr lang="en-GB" sz="2700" spc="-15" dirty="0">
                <a:solidFill>
                  <a:schemeClr val="bg1"/>
                </a:solidFill>
                <a:latin typeface="Georgia" panose="02040502050405020303" pitchFamily="18" charset="0"/>
              </a:rPr>
              <a:t>and</a:t>
            </a:r>
            <a:r>
              <a:rPr lang="en-GB" sz="2700" spc="56" dirty="0">
                <a:solidFill>
                  <a:schemeClr val="bg1"/>
                </a:solidFill>
                <a:latin typeface="Georgia" panose="02040502050405020303" pitchFamily="18" charset="0"/>
              </a:rPr>
              <a:t> </a:t>
            </a:r>
            <a:r>
              <a:rPr lang="en-GB" sz="2700" dirty="0">
                <a:solidFill>
                  <a:schemeClr val="bg1"/>
                </a:solidFill>
                <a:latin typeface="Georgia" panose="02040502050405020303" pitchFamily="18" charset="0"/>
              </a:rPr>
              <a:t>interface</a:t>
            </a:r>
            <a:r>
              <a:rPr lang="en-GB" sz="2700" spc="60" dirty="0">
                <a:solidFill>
                  <a:schemeClr val="bg1"/>
                </a:solidFill>
                <a:latin typeface="Georgia" panose="02040502050405020303" pitchFamily="18" charset="0"/>
              </a:rPr>
              <a:t> </a:t>
            </a:r>
            <a:r>
              <a:rPr lang="en-GB" sz="2700" spc="-15" dirty="0">
                <a:solidFill>
                  <a:schemeClr val="bg1"/>
                </a:solidFill>
                <a:latin typeface="Georgia" panose="02040502050405020303" pitchFamily="18" charset="0"/>
              </a:rPr>
              <a:t>classes</a:t>
            </a:r>
            <a:endParaRPr lang="en-US" altLang="en-US" sz="2700" dirty="0">
              <a:solidFill>
                <a:schemeClr val="bg1"/>
              </a:solidFill>
              <a:latin typeface="Georgia" panose="02040502050405020303" pitchFamily="18" charset="0"/>
            </a:endParaRPr>
          </a:p>
        </p:txBody>
      </p:sp>
      <p:pic>
        <p:nvPicPr>
          <p:cNvPr id="2" name="Picture 1"/>
          <p:cNvPicPr>
            <a:picLocks noChangeAspect="1"/>
          </p:cNvPicPr>
          <p:nvPr/>
        </p:nvPicPr>
        <p:blipFill>
          <a:blip r:embed="rId2"/>
          <a:stretch>
            <a:fillRect/>
          </a:stretch>
        </p:blipFill>
        <p:spPr>
          <a:xfrm>
            <a:off x="428666" y="2050670"/>
            <a:ext cx="2920203" cy="757238"/>
          </a:xfrm>
          <a:prstGeom prst="rect">
            <a:avLst/>
          </a:prstGeom>
        </p:spPr>
      </p:pic>
      <p:pic>
        <p:nvPicPr>
          <p:cNvPr id="3" name="Picture 2"/>
          <p:cNvPicPr>
            <a:picLocks noChangeAspect="1"/>
          </p:cNvPicPr>
          <p:nvPr/>
        </p:nvPicPr>
        <p:blipFill>
          <a:blip r:embed="rId3"/>
          <a:stretch>
            <a:fillRect/>
          </a:stretch>
        </p:blipFill>
        <p:spPr>
          <a:xfrm>
            <a:off x="398500" y="2842146"/>
            <a:ext cx="2950369" cy="664369"/>
          </a:xfrm>
          <a:prstGeom prst="rect">
            <a:avLst/>
          </a:prstGeom>
        </p:spPr>
      </p:pic>
      <p:pic>
        <p:nvPicPr>
          <p:cNvPr id="4" name="Picture 3"/>
          <p:cNvPicPr>
            <a:picLocks noChangeAspect="1"/>
          </p:cNvPicPr>
          <p:nvPr/>
        </p:nvPicPr>
        <p:blipFill>
          <a:blip r:embed="rId4"/>
          <a:stretch>
            <a:fillRect/>
          </a:stretch>
        </p:blipFill>
        <p:spPr>
          <a:xfrm>
            <a:off x="471569" y="3518875"/>
            <a:ext cx="2980668" cy="1296144"/>
          </a:xfrm>
          <a:prstGeom prst="rect">
            <a:avLst/>
          </a:prstGeom>
        </p:spPr>
      </p:pic>
      <p:sp>
        <p:nvSpPr>
          <p:cNvPr id="11" name="TextBox 10"/>
          <p:cNvSpPr txBox="1"/>
          <p:nvPr/>
        </p:nvSpPr>
        <p:spPr>
          <a:xfrm>
            <a:off x="4509684" y="2408246"/>
            <a:ext cx="2160240" cy="253916"/>
          </a:xfrm>
          <a:prstGeom prst="rect">
            <a:avLst/>
          </a:prstGeom>
          <a:noFill/>
        </p:spPr>
        <p:txBody>
          <a:bodyPr wrap="square" rtlCol="0">
            <a:spAutoFit/>
          </a:bodyPr>
          <a:lstStyle/>
          <a:p>
            <a:r>
              <a:rPr lang="en-GB" sz="1050" b="1" dirty="0">
                <a:latin typeface="Georgia" panose="02040502050405020303" pitchFamily="18" charset="0"/>
              </a:rPr>
              <a:t>Java Interface Syntax</a:t>
            </a:r>
          </a:p>
        </p:txBody>
      </p:sp>
      <p:sp>
        <p:nvSpPr>
          <p:cNvPr id="12" name="TextBox 11"/>
          <p:cNvSpPr txBox="1"/>
          <p:nvPr/>
        </p:nvSpPr>
        <p:spPr>
          <a:xfrm>
            <a:off x="4509684" y="2981850"/>
            <a:ext cx="2322258" cy="253916"/>
          </a:xfrm>
          <a:prstGeom prst="rect">
            <a:avLst/>
          </a:prstGeom>
          <a:noFill/>
        </p:spPr>
        <p:txBody>
          <a:bodyPr wrap="square" rtlCol="0">
            <a:spAutoFit/>
          </a:bodyPr>
          <a:lstStyle/>
          <a:p>
            <a:r>
              <a:rPr lang="en-GB" sz="1050" b="1" dirty="0">
                <a:latin typeface="Georgia" panose="02040502050405020303" pitchFamily="18" charset="0"/>
              </a:rPr>
              <a:t> Declare the Interface</a:t>
            </a:r>
          </a:p>
        </p:txBody>
      </p:sp>
      <p:sp>
        <p:nvSpPr>
          <p:cNvPr id="13" name="TextBox 12"/>
          <p:cNvSpPr txBox="1"/>
          <p:nvPr/>
        </p:nvSpPr>
        <p:spPr>
          <a:xfrm>
            <a:off x="4389165" y="4039989"/>
            <a:ext cx="2484276" cy="253916"/>
          </a:xfrm>
          <a:prstGeom prst="rect">
            <a:avLst/>
          </a:prstGeom>
          <a:noFill/>
        </p:spPr>
        <p:txBody>
          <a:bodyPr wrap="square" rtlCol="0">
            <a:spAutoFit/>
          </a:bodyPr>
          <a:lstStyle/>
          <a:p>
            <a:r>
              <a:rPr lang="en-GB" sz="1050" b="1" dirty="0">
                <a:latin typeface="Georgia" panose="02040502050405020303" pitchFamily="18" charset="0"/>
              </a:rPr>
              <a:t>Implement the Interface</a:t>
            </a:r>
          </a:p>
        </p:txBody>
      </p:sp>
    </p:spTree>
    <p:extLst>
      <p:ext uri="{BB962C8B-B14F-4D97-AF65-F5344CB8AC3E}">
        <p14:creationId xmlns:p14="http://schemas.microsoft.com/office/powerpoint/2010/main" val="732511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GB"/>
          </a:p>
        </p:txBody>
      </p:sp>
      <p:sp>
        <p:nvSpPr>
          <p:cNvPr id="4" name="TextBox 3"/>
          <p:cNvSpPr txBox="1"/>
          <p:nvPr/>
        </p:nvSpPr>
        <p:spPr>
          <a:xfrm>
            <a:off x="2347645" y="2239766"/>
            <a:ext cx="4448710" cy="646331"/>
          </a:xfrm>
          <a:prstGeom prst="rect">
            <a:avLst/>
          </a:prstGeom>
          <a:noFill/>
        </p:spPr>
        <p:txBody>
          <a:bodyPr wrap="square" rtlCol="0">
            <a:spAutoFit/>
          </a:bodyPr>
          <a:lstStyle/>
          <a:p>
            <a:r>
              <a:rPr lang="en-GB" sz="3600" dirty="0"/>
              <a:t>Any Questions?</a:t>
            </a:r>
          </a:p>
        </p:txBody>
      </p:sp>
    </p:spTree>
    <p:extLst>
      <p:ext uri="{BB962C8B-B14F-4D97-AF65-F5344CB8AC3E}">
        <p14:creationId xmlns:p14="http://schemas.microsoft.com/office/powerpoint/2010/main" val="2669917326"/>
      </p:ext>
    </p:extLst>
  </p:cSld>
  <p:clrMapOvr>
    <a:masterClrMapping/>
  </p:clrMapOvr>
</p:sld>
</file>

<file path=ppt/theme/theme1.xml><?xml version="1.0" encoding="utf-8"?>
<a:theme xmlns:a="http://schemas.openxmlformats.org/drawingml/2006/main"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6988</TotalTime>
  <Words>1332</Words>
  <Application>Microsoft Office PowerPoint</Application>
  <PresentationFormat>On-screen Show (16:9)</PresentationFormat>
  <Paragraphs>202</Paragraphs>
  <Slides>27</Slides>
  <Notes>3</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Eras Medium ITC</vt:lpstr>
      <vt:lpstr>Lucida Bright</vt:lpstr>
      <vt:lpstr>Arial</vt:lpstr>
      <vt:lpstr>Georgia</vt:lpstr>
      <vt:lpstr>Calibri</vt:lpstr>
      <vt:lpstr>Courier New</vt:lpstr>
      <vt:lpstr>Lucida Sans Unicode</vt:lpstr>
      <vt:lpstr>Roboto</vt:lpstr>
      <vt:lpstr>Lucida Sans</vt:lpstr>
      <vt:lpstr>GDT master</vt:lpstr>
      <vt:lpstr>Mobile Application Development (COS7025-B)    Introduction</vt:lpstr>
      <vt:lpstr>Teaching Staff!</vt:lpstr>
      <vt:lpstr>Learning Activities</vt:lpstr>
      <vt:lpstr>Learning Activities</vt:lpstr>
      <vt:lpstr>What is this module about?</vt:lpstr>
      <vt:lpstr>Lecture (some) Topics</vt:lpstr>
      <vt:lpstr>Lab (some) Exercises </vt:lpstr>
      <vt:lpstr>Assessment</vt:lpstr>
      <vt:lpstr>Module Policy</vt:lpstr>
      <vt:lpstr>What I Expect From You</vt:lpstr>
      <vt:lpstr>Existing Work @ Bradford</vt:lpstr>
      <vt:lpstr>Job Application Management</vt:lpstr>
      <vt:lpstr>Eye Tracking Software</vt:lpstr>
      <vt:lpstr>Chemistry App</vt:lpstr>
      <vt:lpstr>PowerPoint Presentation</vt:lpstr>
      <vt:lpstr>Android Studio + Java</vt:lpstr>
      <vt:lpstr>PowerPoint Presentation</vt:lpstr>
      <vt:lpstr>Java - Data types and variables</vt:lpstr>
      <vt:lpstr>Java - Primitives</vt:lpstr>
      <vt:lpstr>Java - access modifiers</vt:lpstr>
      <vt:lpstr>Java - methods</vt:lpstr>
      <vt:lpstr>Java - class and method</vt:lpstr>
      <vt:lpstr>Java - conditional, iteration, and arrays</vt:lpstr>
      <vt:lpstr>Java - inheritance</vt:lpstr>
      <vt:lpstr>Java - abstract and interface classes</vt:lpstr>
      <vt:lpstr>Java - abstract and interface classes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is everything?</dc:title>
  <dc:creator>karimadmin</dc:creator>
  <cp:lastModifiedBy>Karim Sadik</cp:lastModifiedBy>
  <cp:revision>17</cp:revision>
  <dcterms:modified xsi:type="dcterms:W3CDTF">2025-09-22T08:50:20Z</dcterms:modified>
</cp:coreProperties>
</file>