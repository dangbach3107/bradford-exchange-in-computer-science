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05" r:id="rId3"/>
    <p:sldId id="406" r:id="rId4"/>
    <p:sldId id="449" r:id="rId5"/>
    <p:sldId id="407" r:id="rId6"/>
    <p:sldId id="450" r:id="rId7"/>
    <p:sldId id="451" r:id="rId8"/>
    <p:sldId id="452" r:id="rId9"/>
    <p:sldId id="483" r:id="rId10"/>
    <p:sldId id="453" r:id="rId11"/>
    <p:sldId id="454" r:id="rId12"/>
    <p:sldId id="455" r:id="rId13"/>
    <p:sldId id="456" r:id="rId14"/>
    <p:sldId id="457" r:id="rId15"/>
    <p:sldId id="458" r:id="rId16"/>
    <p:sldId id="459" r:id="rId17"/>
    <p:sldId id="460" r:id="rId18"/>
    <p:sldId id="461" r:id="rId19"/>
    <p:sldId id="462" r:id="rId20"/>
    <p:sldId id="484" r:id="rId21"/>
    <p:sldId id="463" r:id="rId22"/>
    <p:sldId id="464" r:id="rId23"/>
    <p:sldId id="465" r:id="rId24"/>
    <p:sldId id="466" r:id="rId25"/>
    <p:sldId id="467" r:id="rId26"/>
    <p:sldId id="408" r:id="rId27"/>
    <p:sldId id="468" r:id="rId28"/>
    <p:sldId id="478" r:id="rId29"/>
    <p:sldId id="469" r:id="rId30"/>
    <p:sldId id="479" r:id="rId31"/>
    <p:sldId id="470" r:id="rId32"/>
    <p:sldId id="471" r:id="rId33"/>
    <p:sldId id="472" r:id="rId34"/>
    <p:sldId id="473" r:id="rId35"/>
    <p:sldId id="474" r:id="rId36"/>
    <p:sldId id="434" r:id="rId37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25/07/2025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25/07/2025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25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package-summary.html" TargetMode="External"/><Relationship Id="rId2" Type="http://schemas.openxmlformats.org/officeDocument/2006/relationships/hyperlink" Target="https://developer.android.com/reference/android/database/Cursor.html" TargetMode="Externa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12RhjfetP8" TargetMode="Externa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hyperlink" Target="https://console.firebase.google.com/" TargetMode="External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firebase.google.com/docs/android/setup" TargetMode="Externa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ndroid/android_php_mysql.htm" TargetMode="External"/><Relationship Id="rId2" Type="http://schemas.openxmlformats.org/officeDocument/2006/relationships/hyperlink" Target="https://firebase.google.com/docs/auth/android/start" TargetMode="External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content/Context.html#getCacheDir()" TargetMode="External"/><Relationship Id="rId2" Type="http://schemas.openxmlformats.org/officeDocument/2006/relationships/hyperlink" Target="https://developer.android.com/reference/android/content/Context.html#getFilesDir()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developer.android.com/sdk/api_diff/24/changes/pkg_java.io.html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os/Environment.html#DIRECTORY_RINGTONES" TargetMode="External"/><Relationship Id="rId2" Type="http://schemas.openxmlformats.org/officeDocument/2006/relationships/hyperlink" Target="https://developer.android.com/reference/android/os/Environment.html#DIRECTORY_ALARMS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developer.android.com/reference/android/os/Environment.html" TargetMode="External"/><Relationship Id="rId5" Type="http://schemas.openxmlformats.org/officeDocument/2006/relationships/hyperlink" Target="https://developer.android.com/reference/android/os/Environment.html#DIRECTORY_DOWNLOADS" TargetMode="External"/><Relationship Id="rId4" Type="http://schemas.openxmlformats.org/officeDocument/2006/relationships/hyperlink" Target="https://developer.android.com/reference/android/os/Environment.html#DIRECTORY_DOCUMENTS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os/Environment.html#getExternalStoragePublicDirectory(java.lang.String)" TargetMode="Externa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36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GB" altLang="en-US" dirty="0">
                <a:solidFill>
                  <a:srgbClr val="0081BE"/>
                </a:solidFill>
                <a:ea typeface="MS PGothic" charset="-128"/>
                <a:cs typeface="ＭＳ Ｐゴシック" charset="-128"/>
              </a:rPr>
              <a:t>Working with Databases</a:t>
            </a:r>
            <a:endParaRPr lang="es-ES" altLang="en-US" sz="3600" dirty="0">
              <a:solidFill>
                <a:srgbClr val="0081BE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0" y="6337300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25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#7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55B40-594C-87A4-67E1-018DC8F2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B490B-786A-691E-A082-ABCA10D53D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</a:t>
            </a:fld>
            <a:endParaRPr lang="en"/>
          </a:p>
        </p:txBody>
      </p:sp>
      <p:sp>
        <p:nvSpPr>
          <p:cNvPr id="6" name="Google Shape;488;p94">
            <a:extLst>
              <a:ext uri="{FF2B5EF4-FFF2-40B4-BE49-F238E27FC236}">
                <a16:creationId xmlns:a16="http://schemas.microsoft.com/office/drawing/2014/main" id="{FB4163B3-F9C3-376B-F66E-7D6BBA661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6193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34D242-DCBB-49E2-D96C-CBE8EDDAC919}"/>
              </a:ext>
            </a:extLst>
          </p:cNvPr>
          <p:cNvSpPr txBox="1">
            <a:spLocks/>
          </p:cNvSpPr>
          <p:nvPr/>
        </p:nvSpPr>
        <p:spPr bwMode="auto">
          <a:xfrm>
            <a:off x="200472" y="1772816"/>
            <a:ext cx="9433048" cy="189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Understand the basics of SQLite storage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Understand how to use SQLite in your own applications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Understand the querying and other data management support in SQLite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Understand the basic of Firebase Database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/>
              <a:t>Understand the basic of Android File System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718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F66F-72FE-2F2E-089F-D64B3C9B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0A63-AC8F-89AE-3D59-82A74DBC6F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702B255-10E7-F963-AAC6-8EBF1F9B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What is SQLite?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F3C1B0-811E-6346-28FA-B4B48D114A7D}"/>
              </a:ext>
            </a:extLst>
          </p:cNvPr>
          <p:cNvSpPr txBox="1"/>
          <p:nvPr/>
        </p:nvSpPr>
        <p:spPr>
          <a:xfrm>
            <a:off x="0" y="1163966"/>
            <a:ext cx="990600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Embedded SQL engine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Not a client/server architecture (as opposed to most SQL-based engines)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dirty="0"/>
              <a:t>Accessed via function calls from the application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dirty="0"/>
              <a:t>Process that wants to access the database reads and writes directly from the  database files on a disk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dirty="0"/>
              <a:t>What are the advantages?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–"/>
              <a:defRPr/>
            </a:pPr>
            <a:r>
              <a:rPr lang="en-US" altLang="en-US" sz="1600" dirty="0"/>
              <a:t>No separate server process to install, setup, configure etc.</a:t>
            </a:r>
            <a:endParaRPr lang="en-US" sz="1600" b="0" i="0" u="none" strike="noStrike" baseline="0" dirty="0">
              <a:solidFill>
                <a:srgbClr val="000000"/>
              </a:solidFill>
              <a:latin typeface="CMSS1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CMSS10"/>
              </a:rPr>
              <a:t>SQLite is a tiny powerful database engine. Besides Android, it can be found in:</a:t>
            </a:r>
          </a:p>
          <a:p>
            <a:pPr marL="800100" lvl="1" indent="-342900">
              <a:buFont typeface="+mj-lt"/>
              <a:buAutoNum type="arabicPeriod"/>
            </a:pPr>
            <a:endParaRPr lang="en-GB" sz="9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Apple iPhone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Symbian phones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Mozilla Firefox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Skype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PHP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Adobe AIR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Mac OS 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latin typeface="Georgia" panose="02040502050405020303" pitchFamily="18" charset="0"/>
              </a:rPr>
              <a:t>Solaris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0" i="0" u="none" strike="noStrike" baseline="0" dirty="0">
                <a:latin typeface="Georgia" panose="02040502050405020303" pitchFamily="18" charset="0"/>
              </a:rPr>
              <a:t>many others...</a:t>
            </a:r>
            <a:endParaRPr lang="en-GB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573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4724-1063-7E16-8809-37E3B195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A32D0-8C51-9776-291B-0FF9275AF0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0ACBD0-B6E1-E57B-77A9-F32B443D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</a:rPr>
              <a:t>SQLite – Zero configuration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AEEB36-FBC0-4261-5AA8-0394B71F9418}"/>
              </a:ext>
            </a:extLst>
          </p:cNvPr>
          <p:cNvSpPr txBox="1">
            <a:spLocks/>
          </p:cNvSpPr>
          <p:nvPr/>
        </p:nvSpPr>
        <p:spPr bwMode="auto">
          <a:xfrm>
            <a:off x="2364" y="1196181"/>
            <a:ext cx="9770557" cy="223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Does not need to be installed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No setup procedure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No server process that needs to be started, stopped etc.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1800" dirty="0"/>
              <a:t>No configuration 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5A7A7-13D7-C88B-9005-0A33EC894C1B}"/>
              </a:ext>
            </a:extLst>
          </p:cNvPr>
          <p:cNvSpPr txBox="1"/>
          <p:nvPr/>
        </p:nvSpPr>
        <p:spPr>
          <a:xfrm>
            <a:off x="0" y="3933955"/>
            <a:ext cx="9905999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u="none" strike="noStrike" baseline="0" dirty="0">
                <a:latin typeface="Georgia" panose="02040502050405020303" pitchFamily="18" charset="0"/>
              </a:rPr>
              <a:t>It's free.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Georgia" panose="02040502050405020303" pitchFamily="18" charset="0"/>
              </a:rPr>
              <a:t>It's small. The current version is about 150KB.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Georgia" panose="02040502050405020303" pitchFamily="18" charset="0"/>
              </a:rPr>
              <a:t>It requires no setup or administration. There is no server, no </a:t>
            </a:r>
            <a:r>
              <a:rPr lang="en-US" b="0" i="0" u="none" strike="noStrike" baseline="0" dirty="0" err="1">
                <a:latin typeface="Georgia" panose="02040502050405020303" pitchFamily="18" charset="0"/>
              </a:rPr>
              <a:t>config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0" i="0" u="none" strike="noStrike" baseline="0" dirty="0">
                <a:latin typeface="Georgia" panose="02040502050405020303" pitchFamily="18" charset="0"/>
              </a:rPr>
              <a:t>file, and no need for a database administrator.</a:t>
            </a:r>
          </a:p>
          <a:p>
            <a:pPr algn="l"/>
            <a:endParaRPr lang="en-US" sz="1100" b="0" i="0" u="none" strike="noStrike" baseline="0" dirty="0">
              <a:latin typeface="CMSS10"/>
            </a:endParaRPr>
          </a:p>
          <a:p>
            <a:pPr algn="l"/>
            <a:r>
              <a:rPr lang="en-US" sz="1800" b="0" i="0" u="none" strike="noStrike" baseline="0" dirty="0">
                <a:latin typeface="Georgia" panose="02040502050405020303" pitchFamily="18" charset="0"/>
              </a:rPr>
              <a:t>A SQLite database is just a file. You can take that file, move it around,</a:t>
            </a:r>
            <a:r>
              <a:rPr lang="en-US" sz="1800" b="0" i="0" u="none" strike="noStrike" dirty="0">
                <a:latin typeface="Georgia" panose="02040502050405020303" pitchFamily="18" charset="0"/>
              </a:rPr>
              <a:t> </a:t>
            </a:r>
            <a:r>
              <a:rPr lang="en-US" sz="1800" b="0" i="0" u="none" strike="noStrike" baseline="0" dirty="0">
                <a:latin typeface="Georgia" panose="02040502050405020303" pitchFamily="18" charset="0"/>
              </a:rPr>
              <a:t>and even copy it to another system.</a:t>
            </a:r>
          </a:p>
          <a:p>
            <a:pPr algn="l"/>
            <a:endParaRPr lang="en-US" sz="1000" b="0" i="0" u="none" strike="noStrike" baseline="0" dirty="0">
              <a:latin typeface="CMSS10"/>
            </a:endParaRPr>
          </a:p>
          <a:p>
            <a:pPr algn="l"/>
            <a:r>
              <a:rPr lang="en-US" sz="2000" b="0" i="0" u="none" strike="noStrike" baseline="0" dirty="0">
                <a:latin typeface="Georgia" panose="02040502050405020303" pitchFamily="18" charset="0"/>
              </a:rPr>
              <a:t>Android stores it in the </a:t>
            </a:r>
            <a:r>
              <a:rPr lang="en-US" sz="2000" b="1" i="1" u="none" strike="noStrike" baseline="0" dirty="0">
                <a:latin typeface="Georgia" panose="02040502050405020303" pitchFamily="18" charset="0"/>
              </a:rPr>
              <a:t>/data/data/</a:t>
            </a:r>
            <a:r>
              <a:rPr lang="en-US" sz="2000" b="1" i="1" u="none" strike="noStrike" baseline="0" dirty="0" err="1">
                <a:latin typeface="Georgia" panose="02040502050405020303" pitchFamily="18" charset="0"/>
              </a:rPr>
              <a:t>packagename</a:t>
            </a:r>
            <a:r>
              <a:rPr lang="en-US" sz="2000" b="1" i="1" u="none" strike="noStrike" baseline="0" dirty="0">
                <a:latin typeface="Georgia" panose="02040502050405020303" pitchFamily="18" charset="0"/>
              </a:rPr>
              <a:t>/databases </a:t>
            </a:r>
            <a:r>
              <a:rPr lang="en-US" sz="2000" b="0" i="0" u="none" strike="noStrike" baseline="0" dirty="0">
                <a:latin typeface="Georgia" panose="02040502050405020303" pitchFamily="18" charset="0"/>
              </a:rPr>
              <a:t>directory.</a:t>
            </a:r>
            <a:endParaRPr lang="en-GB" sz="2000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753B83-A683-82E7-C0A6-D7EECF2F0748}"/>
              </a:ext>
            </a:extLst>
          </p:cNvPr>
          <p:cNvSpPr txBox="1"/>
          <p:nvPr/>
        </p:nvSpPr>
        <p:spPr>
          <a:xfrm>
            <a:off x="2576736" y="3408952"/>
            <a:ext cx="5382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Advantages of SQLite</a:t>
            </a:r>
            <a:endParaRPr lang="en-GB" sz="2800" b="1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73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358A-B79A-61C0-6DE5-7B74CC9F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68CDB-6A14-0E53-380D-CDA27DCB8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D102F-7E00-2CE0-2FDB-6C4BDF1A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What is a Database Server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5480A-5C54-1D58-EA6A-D47C4DCFAC2B}"/>
              </a:ext>
            </a:extLst>
          </p:cNvPr>
          <p:cNvSpPr/>
          <p:nvPr/>
        </p:nvSpPr>
        <p:spPr>
          <a:xfrm>
            <a:off x="128464" y="1412776"/>
            <a:ext cx="9001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/>
              <a:t>Is a server which receives requests from clients requiring access to data in a database (this could be read or write)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22BC8-4012-CB08-EA04-2A9FD8D7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04" y="2830413"/>
            <a:ext cx="6264696" cy="284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1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C32D-DDAF-54C8-A281-6ACA29D9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EDB7-6605-DFC3-1D43-239E8C021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74351A-F5B6-F546-7321-92FD165C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Relational Databases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580D1D-F867-C24F-2077-AEFC53889DB9}"/>
              </a:ext>
            </a:extLst>
          </p:cNvPr>
          <p:cNvSpPr/>
          <p:nvPr/>
        </p:nvSpPr>
        <p:spPr>
          <a:xfrm>
            <a:off x="130101" y="1339999"/>
            <a:ext cx="5758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/>
              <a:t>Everything organised into tables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26EFB8E1-9A94-1DEB-0D3D-6DB9CA1D4279}"/>
              </a:ext>
            </a:extLst>
          </p:cNvPr>
          <p:cNvGrpSpPr>
            <a:grpSpLocks/>
          </p:cNvGrpSpPr>
          <p:nvPr/>
        </p:nvGrpSpPr>
        <p:grpSpPr bwMode="auto">
          <a:xfrm>
            <a:off x="2648744" y="2420863"/>
            <a:ext cx="5821362" cy="1355725"/>
            <a:chOff x="1655" y="1344"/>
            <a:chExt cx="3667" cy="854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DC4D3A4D-1E82-2A64-6E70-662F37A1AA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" y="1346"/>
              <a:ext cx="3659" cy="850"/>
              <a:chOff x="1659" y="1346"/>
              <a:chExt cx="3659" cy="850"/>
            </a:xfrm>
          </p:grpSpPr>
          <p:grpSp>
            <p:nvGrpSpPr>
              <p:cNvPr id="12" name="Group 6">
                <a:extLst>
                  <a:ext uri="{FF2B5EF4-FFF2-40B4-BE49-F238E27FC236}">
                    <a16:creationId xmlns:a16="http://schemas.microsoft.com/office/drawing/2014/main" id="{8D90AE8D-EB26-061C-F181-5FC6412FD0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1346"/>
                <a:ext cx="1184" cy="207"/>
                <a:chOff x="1659" y="1346"/>
                <a:chExt cx="1184" cy="207"/>
              </a:xfrm>
            </p:grpSpPr>
            <p:sp>
              <p:nvSpPr>
                <p:cNvPr id="58" name="Rectangle 7">
                  <a:extLst>
                    <a:ext uri="{FF2B5EF4-FFF2-40B4-BE49-F238E27FC236}">
                      <a16:creationId xmlns:a16="http://schemas.microsoft.com/office/drawing/2014/main" id="{459B9A74-FC6E-215D-6AEC-C1AFBB16DC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4" y="1346"/>
                  <a:ext cx="1072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 b="1" dirty="0" err="1">
                      <a:solidFill>
                        <a:srgbClr val="000000"/>
                      </a:solidFill>
                    </a:rPr>
                    <a:t>Book_Title</a:t>
                  </a:r>
                  <a:endParaRPr lang="en-US" altLang="en-US" sz="14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" name="Rectangle 8">
                  <a:extLst>
                    <a:ext uri="{FF2B5EF4-FFF2-40B4-BE49-F238E27FC236}">
                      <a16:creationId xmlns:a16="http://schemas.microsoft.com/office/drawing/2014/main" id="{CCE69ACC-A8E7-6B15-CFCD-4EFC78999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1346"/>
                  <a:ext cx="1184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3" name="Group 9">
                <a:extLst>
                  <a:ext uri="{FF2B5EF4-FFF2-40B4-BE49-F238E27FC236}">
                    <a16:creationId xmlns:a16="http://schemas.microsoft.com/office/drawing/2014/main" id="{C9C03D7B-4C82-EF58-AFB8-164BF15F48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9" y="1346"/>
                <a:ext cx="787" cy="207"/>
                <a:chOff x="2849" y="1346"/>
                <a:chExt cx="787" cy="207"/>
              </a:xfrm>
            </p:grpSpPr>
            <p:sp>
              <p:nvSpPr>
                <p:cNvPr id="56" name="Rectangle 10">
                  <a:extLst>
                    <a:ext uri="{FF2B5EF4-FFF2-40B4-BE49-F238E27FC236}">
                      <a16:creationId xmlns:a16="http://schemas.microsoft.com/office/drawing/2014/main" id="{48E99C76-86C1-B591-EE31-AD1174FA82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5" y="1346"/>
                  <a:ext cx="67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 b="1" dirty="0">
                      <a:solidFill>
                        <a:srgbClr val="000000"/>
                      </a:solidFill>
                    </a:rPr>
                    <a:t>Authors</a:t>
                  </a:r>
                </a:p>
              </p:txBody>
            </p:sp>
            <p:sp>
              <p:nvSpPr>
                <p:cNvPr id="57" name="Rectangle 11">
                  <a:extLst>
                    <a:ext uri="{FF2B5EF4-FFF2-40B4-BE49-F238E27FC236}">
                      <a16:creationId xmlns:a16="http://schemas.microsoft.com/office/drawing/2014/main" id="{6A6E3D2F-C904-5022-71EC-87D5ABD65B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" y="1346"/>
                  <a:ext cx="787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4" name="Group 12">
                <a:extLst>
                  <a:ext uri="{FF2B5EF4-FFF2-40B4-BE49-F238E27FC236}">
                    <a16:creationId xmlns:a16="http://schemas.microsoft.com/office/drawing/2014/main" id="{06684495-5F92-4DC8-0940-EBE699CF61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1346"/>
                <a:ext cx="1019" cy="207"/>
                <a:chOff x="3644" y="1346"/>
                <a:chExt cx="1019" cy="207"/>
              </a:xfrm>
            </p:grpSpPr>
            <p:sp>
              <p:nvSpPr>
                <p:cNvPr id="54" name="Rectangle 13">
                  <a:extLst>
                    <a:ext uri="{FF2B5EF4-FFF2-40B4-BE49-F238E27FC236}">
                      <a16:creationId xmlns:a16="http://schemas.microsoft.com/office/drawing/2014/main" id="{0574F4DB-F5E1-0DDC-6B68-5F7A02E83D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9" y="1346"/>
                  <a:ext cx="964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600" b="1" dirty="0">
                      <a:solidFill>
                        <a:srgbClr val="000000"/>
                      </a:solidFill>
                    </a:rPr>
                    <a:t>Published date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6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Rectangle 14">
                  <a:extLst>
                    <a:ext uri="{FF2B5EF4-FFF2-40B4-BE49-F238E27FC236}">
                      <a16:creationId xmlns:a16="http://schemas.microsoft.com/office/drawing/2014/main" id="{B6665EFA-2254-148F-9AE5-2163D44DE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346"/>
                  <a:ext cx="986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5" name="Group 15">
                <a:extLst>
                  <a:ext uri="{FF2B5EF4-FFF2-40B4-BE49-F238E27FC236}">
                    <a16:creationId xmlns:a16="http://schemas.microsoft.com/office/drawing/2014/main" id="{F2A08D02-F903-6B74-AC59-726AB12434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7" y="1346"/>
                <a:ext cx="681" cy="207"/>
                <a:chOff x="4637" y="1346"/>
                <a:chExt cx="681" cy="207"/>
              </a:xfrm>
            </p:grpSpPr>
            <p:sp>
              <p:nvSpPr>
                <p:cNvPr id="52" name="Rectangle 16">
                  <a:extLst>
                    <a:ext uri="{FF2B5EF4-FFF2-40B4-BE49-F238E27FC236}">
                      <a16:creationId xmlns:a16="http://schemas.microsoft.com/office/drawing/2014/main" id="{08950354-4409-83D4-CCF7-CAF6B971D8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2" y="1346"/>
                  <a:ext cx="569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 b="1" dirty="0">
                      <a:solidFill>
                        <a:srgbClr val="000000"/>
                      </a:solidFill>
                    </a:rPr>
                    <a:t>Price</a:t>
                  </a:r>
                </a:p>
              </p:txBody>
            </p:sp>
            <p:sp>
              <p:nvSpPr>
                <p:cNvPr id="53" name="Rectangle 17">
                  <a:extLst>
                    <a:ext uri="{FF2B5EF4-FFF2-40B4-BE49-F238E27FC236}">
                      <a16:creationId xmlns:a16="http://schemas.microsoft.com/office/drawing/2014/main" id="{8AA22E96-5A7B-D080-3E63-5114F3BE58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7" y="1346"/>
                  <a:ext cx="681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6" name="Group 18">
                <a:extLst>
                  <a:ext uri="{FF2B5EF4-FFF2-40B4-BE49-F238E27FC236}">
                    <a16:creationId xmlns:a16="http://schemas.microsoft.com/office/drawing/2014/main" id="{867488CC-8A7D-DE66-723C-5930CA1807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1560"/>
                <a:ext cx="1184" cy="207"/>
                <a:chOff x="1659" y="1560"/>
                <a:chExt cx="1184" cy="207"/>
              </a:xfrm>
            </p:grpSpPr>
            <p:sp>
              <p:nvSpPr>
                <p:cNvPr id="50" name="Rectangle 19">
                  <a:extLst>
                    <a:ext uri="{FF2B5EF4-FFF2-40B4-BE49-F238E27FC236}">
                      <a16:creationId xmlns:a16="http://schemas.microsoft.com/office/drawing/2014/main" id="{FB24A645-F637-E63B-9CA4-9175EB7D46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4" y="1560"/>
                  <a:ext cx="1072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Relational Databases 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" name="Rectangle 20">
                  <a:extLst>
                    <a:ext uri="{FF2B5EF4-FFF2-40B4-BE49-F238E27FC236}">
                      <a16:creationId xmlns:a16="http://schemas.microsoft.com/office/drawing/2014/main" id="{7DA015A6-8478-8382-67FA-FB0AB84A3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1560"/>
                  <a:ext cx="1184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7" name="Group 21">
                <a:extLst>
                  <a:ext uri="{FF2B5EF4-FFF2-40B4-BE49-F238E27FC236}">
                    <a16:creationId xmlns:a16="http://schemas.microsoft.com/office/drawing/2014/main" id="{1C5FA6C4-43D4-F804-5BBD-FB7A5E8CA7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9" y="1560"/>
                <a:ext cx="787" cy="207"/>
                <a:chOff x="2849" y="1560"/>
                <a:chExt cx="787" cy="207"/>
              </a:xfrm>
            </p:grpSpPr>
            <p:sp>
              <p:nvSpPr>
                <p:cNvPr id="48" name="Rectangle 22">
                  <a:extLst>
                    <a:ext uri="{FF2B5EF4-FFF2-40B4-BE49-F238E27FC236}">
                      <a16:creationId xmlns:a16="http://schemas.microsoft.com/office/drawing/2014/main" id="{DEA68156-2360-E378-4137-8A9B85C6A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5" y="1560"/>
                  <a:ext cx="67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BEA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9" name="Rectangle 23">
                  <a:extLst>
                    <a:ext uri="{FF2B5EF4-FFF2-40B4-BE49-F238E27FC236}">
                      <a16:creationId xmlns:a16="http://schemas.microsoft.com/office/drawing/2014/main" id="{2BCDCA36-A313-D23E-C6D2-204838C211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" y="1560"/>
                  <a:ext cx="787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8" name="Group 24">
                <a:extLst>
                  <a:ext uri="{FF2B5EF4-FFF2-40B4-BE49-F238E27FC236}">
                    <a16:creationId xmlns:a16="http://schemas.microsoft.com/office/drawing/2014/main" id="{A29F5329-71EE-75FD-FEFB-66CE04CEB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1560"/>
                <a:ext cx="986" cy="207"/>
                <a:chOff x="3644" y="1560"/>
                <a:chExt cx="986" cy="207"/>
              </a:xfrm>
            </p:grpSpPr>
            <p:sp>
              <p:nvSpPr>
                <p:cNvPr id="46" name="Rectangle 25">
                  <a:extLst>
                    <a:ext uri="{FF2B5EF4-FFF2-40B4-BE49-F238E27FC236}">
                      <a16:creationId xmlns:a16="http://schemas.microsoft.com/office/drawing/2014/main" id="{0D5088AA-CB4D-CB77-4E56-18961A8E36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9" y="1560"/>
                  <a:ext cx="874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2000.5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" name="Rectangle 26">
                  <a:extLst>
                    <a:ext uri="{FF2B5EF4-FFF2-40B4-BE49-F238E27FC236}">
                      <a16:creationId xmlns:a16="http://schemas.microsoft.com/office/drawing/2014/main" id="{A0135CFD-5AB4-E479-FEDA-170482BA1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560"/>
                  <a:ext cx="986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9" name="Group 27">
                <a:extLst>
                  <a:ext uri="{FF2B5EF4-FFF2-40B4-BE49-F238E27FC236}">
                    <a16:creationId xmlns:a16="http://schemas.microsoft.com/office/drawing/2014/main" id="{00543A10-BBC2-BBB1-3F0C-FE81DAEE7F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7" y="1560"/>
                <a:ext cx="681" cy="207"/>
                <a:chOff x="4637" y="1560"/>
                <a:chExt cx="681" cy="207"/>
              </a:xfrm>
            </p:grpSpPr>
            <p:sp>
              <p:nvSpPr>
                <p:cNvPr id="44" name="Rectangle 28">
                  <a:extLst>
                    <a:ext uri="{FF2B5EF4-FFF2-40B4-BE49-F238E27FC236}">
                      <a16:creationId xmlns:a16="http://schemas.microsoft.com/office/drawing/2014/main" id="{9648ACB1-D3BF-9A20-F796-30B014B2D2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2" y="1560"/>
                  <a:ext cx="569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12.35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5" name="Rectangle 29">
                  <a:extLst>
                    <a:ext uri="{FF2B5EF4-FFF2-40B4-BE49-F238E27FC236}">
                      <a16:creationId xmlns:a16="http://schemas.microsoft.com/office/drawing/2014/main" id="{144ED20C-5FE7-FFF0-673D-7EA492D216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7" y="1560"/>
                  <a:ext cx="681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0" name="Group 30">
                <a:extLst>
                  <a:ext uri="{FF2B5EF4-FFF2-40B4-BE49-F238E27FC236}">
                    <a16:creationId xmlns:a16="http://schemas.microsoft.com/office/drawing/2014/main" id="{56E841DD-F63F-D9AC-B22C-44976F6B6A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1774"/>
                <a:ext cx="1184" cy="207"/>
                <a:chOff x="1659" y="1774"/>
                <a:chExt cx="1184" cy="207"/>
              </a:xfrm>
            </p:grpSpPr>
            <p:sp>
              <p:nvSpPr>
                <p:cNvPr id="42" name="Rectangle 31">
                  <a:extLst>
                    <a:ext uri="{FF2B5EF4-FFF2-40B4-BE49-F238E27FC236}">
                      <a16:creationId xmlns:a16="http://schemas.microsoft.com/office/drawing/2014/main" id="{112B784A-43FE-E90B-6428-E6704E464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4" y="1774"/>
                  <a:ext cx="1072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Java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3" name="Rectangle 32">
                  <a:extLst>
                    <a:ext uri="{FF2B5EF4-FFF2-40B4-BE49-F238E27FC236}">
                      <a16:creationId xmlns:a16="http://schemas.microsoft.com/office/drawing/2014/main" id="{49F395BD-3B2D-5FD6-0794-D617D0432F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1774"/>
                  <a:ext cx="1184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1" name="Group 33">
                <a:extLst>
                  <a:ext uri="{FF2B5EF4-FFF2-40B4-BE49-F238E27FC236}">
                    <a16:creationId xmlns:a16="http://schemas.microsoft.com/office/drawing/2014/main" id="{6EA2FB40-3EEE-CC99-E503-4CD40D512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9" y="1774"/>
                <a:ext cx="787" cy="207"/>
                <a:chOff x="2849" y="1774"/>
                <a:chExt cx="787" cy="207"/>
              </a:xfrm>
            </p:grpSpPr>
            <p:sp>
              <p:nvSpPr>
                <p:cNvPr id="40" name="Rectangle 34">
                  <a:extLst>
                    <a:ext uri="{FF2B5EF4-FFF2-40B4-BE49-F238E27FC236}">
                      <a16:creationId xmlns:a16="http://schemas.microsoft.com/office/drawing/2014/main" id="{394EAAE9-4B11-555B-142D-B16097D2F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5" y="1774"/>
                  <a:ext cx="67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EFH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" name="Rectangle 35">
                  <a:extLst>
                    <a:ext uri="{FF2B5EF4-FFF2-40B4-BE49-F238E27FC236}">
                      <a16:creationId xmlns:a16="http://schemas.microsoft.com/office/drawing/2014/main" id="{75AB13C5-29E2-6DC5-A9DE-C708907FA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" y="1774"/>
                  <a:ext cx="787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2" name="Group 36">
                <a:extLst>
                  <a:ext uri="{FF2B5EF4-FFF2-40B4-BE49-F238E27FC236}">
                    <a16:creationId xmlns:a16="http://schemas.microsoft.com/office/drawing/2014/main" id="{02487CBE-CC3E-C919-494B-97B3F5BF05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1774"/>
                <a:ext cx="986" cy="207"/>
                <a:chOff x="3644" y="1774"/>
                <a:chExt cx="986" cy="207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A3EC8D0B-E3D5-FA30-9892-408B321CAC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9" y="1774"/>
                  <a:ext cx="874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2001.2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519AC75-CF2B-F6E9-A3CE-58D0DE6EC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774"/>
                  <a:ext cx="986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3" name="Group 39">
                <a:extLst>
                  <a:ext uri="{FF2B5EF4-FFF2-40B4-BE49-F238E27FC236}">
                    <a16:creationId xmlns:a16="http://schemas.microsoft.com/office/drawing/2014/main" id="{8DECAF32-FEF3-1920-44F0-B0EC1C673C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7" y="1774"/>
                <a:ext cx="681" cy="207"/>
                <a:chOff x="4637" y="1774"/>
                <a:chExt cx="681" cy="207"/>
              </a:xfrm>
            </p:grpSpPr>
            <p:sp>
              <p:nvSpPr>
                <p:cNvPr id="36" name="Rectangle 40">
                  <a:extLst>
                    <a:ext uri="{FF2B5EF4-FFF2-40B4-BE49-F238E27FC236}">
                      <a16:creationId xmlns:a16="http://schemas.microsoft.com/office/drawing/2014/main" id="{7516EAD2-9284-53FF-F6EE-AD2DE46AF4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2" y="1774"/>
                  <a:ext cx="569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16.50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" name="Rectangle 41">
                  <a:extLst>
                    <a:ext uri="{FF2B5EF4-FFF2-40B4-BE49-F238E27FC236}">
                      <a16:creationId xmlns:a16="http://schemas.microsoft.com/office/drawing/2014/main" id="{F54F7614-8313-FCF3-F2C5-CB8B4A4E81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7" y="1774"/>
                  <a:ext cx="681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4" name="Group 42">
                <a:extLst>
                  <a:ext uri="{FF2B5EF4-FFF2-40B4-BE49-F238E27FC236}">
                    <a16:creationId xmlns:a16="http://schemas.microsoft.com/office/drawing/2014/main" id="{CA4FF801-DB5D-CAEC-2D8E-B0450309F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1989"/>
                <a:ext cx="1184" cy="207"/>
                <a:chOff x="1659" y="1989"/>
                <a:chExt cx="1184" cy="207"/>
              </a:xfrm>
            </p:grpSpPr>
            <p:sp>
              <p:nvSpPr>
                <p:cNvPr id="34" name="Rectangle 43">
                  <a:extLst>
                    <a:ext uri="{FF2B5EF4-FFF2-40B4-BE49-F238E27FC236}">
                      <a16:creationId xmlns:a16="http://schemas.microsoft.com/office/drawing/2014/main" id="{A053CBBF-AE0B-0041-71E5-5E8550688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4" y="1989"/>
                  <a:ext cx="1072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" name="Rectangle 44">
                  <a:extLst>
                    <a:ext uri="{FF2B5EF4-FFF2-40B4-BE49-F238E27FC236}">
                      <a16:creationId xmlns:a16="http://schemas.microsoft.com/office/drawing/2014/main" id="{BE07AB10-DB95-73D8-4FD6-DE039431A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1989"/>
                  <a:ext cx="1184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5" name="Group 45">
                <a:extLst>
                  <a:ext uri="{FF2B5EF4-FFF2-40B4-BE49-F238E27FC236}">
                    <a16:creationId xmlns:a16="http://schemas.microsoft.com/office/drawing/2014/main" id="{34C40E9D-0658-6C98-92A2-291481D62B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9" y="1989"/>
                <a:ext cx="787" cy="207"/>
                <a:chOff x="2849" y="1989"/>
                <a:chExt cx="787" cy="207"/>
              </a:xfrm>
            </p:grpSpPr>
            <p:sp>
              <p:nvSpPr>
                <p:cNvPr id="32" name="Rectangle 46">
                  <a:extLst>
                    <a:ext uri="{FF2B5EF4-FFF2-40B4-BE49-F238E27FC236}">
                      <a16:creationId xmlns:a16="http://schemas.microsoft.com/office/drawing/2014/main" id="{A8A780E2-8F05-25C6-FE79-B1A3128111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5" y="1989"/>
                  <a:ext cx="67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" name="Rectangle 47">
                  <a:extLst>
                    <a:ext uri="{FF2B5EF4-FFF2-40B4-BE49-F238E27FC236}">
                      <a16:creationId xmlns:a16="http://schemas.microsoft.com/office/drawing/2014/main" id="{0CC21A97-4E99-45EA-5253-B71006772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" y="1989"/>
                  <a:ext cx="787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6" name="Group 48">
                <a:extLst>
                  <a:ext uri="{FF2B5EF4-FFF2-40B4-BE49-F238E27FC236}">
                    <a16:creationId xmlns:a16="http://schemas.microsoft.com/office/drawing/2014/main" id="{F76CDEF4-D49C-9535-FB37-BF98F7AD50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1989"/>
                <a:ext cx="986" cy="207"/>
                <a:chOff x="3644" y="1989"/>
                <a:chExt cx="986" cy="207"/>
              </a:xfrm>
            </p:grpSpPr>
            <p:sp>
              <p:nvSpPr>
                <p:cNvPr id="30" name="Rectangle 49">
                  <a:extLst>
                    <a:ext uri="{FF2B5EF4-FFF2-40B4-BE49-F238E27FC236}">
                      <a16:creationId xmlns:a16="http://schemas.microsoft.com/office/drawing/2014/main" id="{149B0EB0-ABAA-0EC7-2612-8FA638143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9" y="1989"/>
                  <a:ext cx="874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" name="Rectangle 50">
                  <a:extLst>
                    <a:ext uri="{FF2B5EF4-FFF2-40B4-BE49-F238E27FC236}">
                      <a16:creationId xmlns:a16="http://schemas.microsoft.com/office/drawing/2014/main" id="{ADF6B3CF-4C98-107F-BD96-A330D647C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4" y="1989"/>
                  <a:ext cx="986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27" name="Group 51">
                <a:extLst>
                  <a:ext uri="{FF2B5EF4-FFF2-40B4-BE49-F238E27FC236}">
                    <a16:creationId xmlns:a16="http://schemas.microsoft.com/office/drawing/2014/main" id="{69D70673-17E5-F1A6-1761-4877CA6672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7" y="1989"/>
                <a:ext cx="681" cy="207"/>
                <a:chOff x="4637" y="1989"/>
                <a:chExt cx="681" cy="207"/>
              </a:xfrm>
            </p:grpSpPr>
            <p:sp>
              <p:nvSpPr>
                <p:cNvPr id="28" name="Rectangle 52">
                  <a:extLst>
                    <a:ext uri="{FF2B5EF4-FFF2-40B4-BE49-F238E27FC236}">
                      <a16:creationId xmlns:a16="http://schemas.microsoft.com/office/drawing/2014/main" id="{B4371BD7-DB3B-0F8C-8662-0E3CC172E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2" y="1989"/>
                  <a:ext cx="569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" name="Rectangle 53">
                  <a:extLst>
                    <a:ext uri="{FF2B5EF4-FFF2-40B4-BE49-F238E27FC236}">
                      <a16:creationId xmlns:a16="http://schemas.microsoft.com/office/drawing/2014/main" id="{89740838-741C-D548-CFBE-DB285CBC24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7" y="1989"/>
                  <a:ext cx="681" cy="207"/>
                </a:xfrm>
                <a:prstGeom prst="rect">
                  <a:avLst/>
                </a:prstGeom>
                <a:noFill/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1" name="Rectangle 54">
              <a:extLst>
                <a:ext uri="{FF2B5EF4-FFF2-40B4-BE49-F238E27FC236}">
                  <a16:creationId xmlns:a16="http://schemas.microsoft.com/office/drawing/2014/main" id="{4BFF5086-338E-DC8F-3BC0-D9C4090E9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1344"/>
              <a:ext cx="3667" cy="854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60" name="Group 55">
            <a:extLst>
              <a:ext uri="{FF2B5EF4-FFF2-40B4-BE49-F238E27FC236}">
                <a16:creationId xmlns:a16="http://schemas.microsoft.com/office/drawing/2014/main" id="{CDA39D11-DBBD-3749-63F8-0DCDD86D653B}"/>
              </a:ext>
            </a:extLst>
          </p:cNvPr>
          <p:cNvGrpSpPr>
            <a:grpSpLocks/>
          </p:cNvGrpSpPr>
          <p:nvPr/>
        </p:nvGrpSpPr>
        <p:grpSpPr bwMode="auto">
          <a:xfrm>
            <a:off x="2648744" y="4221088"/>
            <a:ext cx="5894387" cy="1428750"/>
            <a:chOff x="1655" y="2478"/>
            <a:chExt cx="3713" cy="900"/>
          </a:xfrm>
        </p:grpSpPr>
        <p:grpSp>
          <p:nvGrpSpPr>
            <p:cNvPr id="61" name="Group 56">
              <a:extLst>
                <a:ext uri="{FF2B5EF4-FFF2-40B4-BE49-F238E27FC236}">
                  <a16:creationId xmlns:a16="http://schemas.microsoft.com/office/drawing/2014/main" id="{915B8C63-A7E2-7028-4CD3-821B8FC5F6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9" y="2480"/>
              <a:ext cx="3705" cy="896"/>
              <a:chOff x="1659" y="2480"/>
              <a:chExt cx="3705" cy="896"/>
            </a:xfrm>
          </p:grpSpPr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988407F2-6FDE-BDB3-723A-3ACD154FC6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2480"/>
                <a:ext cx="1199" cy="219"/>
                <a:chOff x="1659" y="2480"/>
                <a:chExt cx="1199" cy="219"/>
              </a:xfrm>
            </p:grpSpPr>
            <p:sp>
              <p:nvSpPr>
                <p:cNvPr id="109" name="Rectangle 58">
                  <a:extLst>
                    <a:ext uri="{FF2B5EF4-FFF2-40B4-BE49-F238E27FC236}">
                      <a16:creationId xmlns:a16="http://schemas.microsoft.com/office/drawing/2014/main" id="{96F01AAB-D7FE-D99C-B2AE-200306A65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2480"/>
                  <a:ext cx="10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400" b="1" dirty="0">
                      <a:solidFill>
                        <a:srgbClr val="000000"/>
                      </a:solidFill>
                    </a:rPr>
                    <a:t>Name</a:t>
                  </a:r>
                </a:p>
              </p:txBody>
            </p:sp>
            <p:sp>
              <p:nvSpPr>
                <p:cNvPr id="110" name="Rectangle 59">
                  <a:extLst>
                    <a:ext uri="{FF2B5EF4-FFF2-40B4-BE49-F238E27FC236}">
                      <a16:creationId xmlns:a16="http://schemas.microsoft.com/office/drawing/2014/main" id="{AD189094-F53A-A0ED-27FD-D2D1255EC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2480"/>
                  <a:ext cx="119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4" name="Group 60">
                <a:extLst>
                  <a:ext uri="{FF2B5EF4-FFF2-40B4-BE49-F238E27FC236}">
                    <a16:creationId xmlns:a16="http://schemas.microsoft.com/office/drawing/2014/main" id="{8B42CFB9-7700-48F3-F21B-15200D5043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5" y="2480"/>
                <a:ext cx="797" cy="219"/>
                <a:chOff x="2865" y="2480"/>
                <a:chExt cx="797" cy="219"/>
              </a:xfrm>
            </p:grpSpPr>
            <p:sp>
              <p:nvSpPr>
                <p:cNvPr id="107" name="Rectangle 61">
                  <a:extLst>
                    <a:ext uri="{FF2B5EF4-FFF2-40B4-BE49-F238E27FC236}">
                      <a16:creationId xmlns:a16="http://schemas.microsoft.com/office/drawing/2014/main" id="{23FD28D8-8F1E-7FDE-DDC7-6DA87CBE10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1" y="2480"/>
                  <a:ext cx="684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 b="1" dirty="0">
                      <a:solidFill>
                        <a:srgbClr val="000000"/>
                      </a:solidFill>
                    </a:rPr>
                    <a:t>Address</a:t>
                  </a:r>
                </a:p>
              </p:txBody>
            </p:sp>
            <p:sp>
              <p:nvSpPr>
                <p:cNvPr id="108" name="Rectangle 62">
                  <a:extLst>
                    <a:ext uri="{FF2B5EF4-FFF2-40B4-BE49-F238E27FC236}">
                      <a16:creationId xmlns:a16="http://schemas.microsoft.com/office/drawing/2014/main" id="{DC06E5D3-1706-6D70-86CE-A7F70AD63E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5" y="2480"/>
                  <a:ext cx="797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5" name="Group 63">
                <a:extLst>
                  <a:ext uri="{FF2B5EF4-FFF2-40B4-BE49-F238E27FC236}">
                    <a16:creationId xmlns:a16="http://schemas.microsoft.com/office/drawing/2014/main" id="{295B1FB5-0C4B-6B0E-73B8-5DA5A75A2E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8" y="2480"/>
                <a:ext cx="998" cy="219"/>
                <a:chOff x="3668" y="2480"/>
                <a:chExt cx="998" cy="219"/>
              </a:xfrm>
            </p:grpSpPr>
            <p:sp>
              <p:nvSpPr>
                <p:cNvPr id="105" name="Rectangle 64">
                  <a:extLst>
                    <a:ext uri="{FF2B5EF4-FFF2-40B4-BE49-F238E27FC236}">
                      <a16:creationId xmlns:a16="http://schemas.microsoft.com/office/drawing/2014/main" id="{931CE523-403A-185D-E17D-1B955FDB6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5" y="2480"/>
                  <a:ext cx="8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 b="1" dirty="0">
                      <a:solidFill>
                        <a:srgbClr val="000000"/>
                      </a:solidFill>
                    </a:rPr>
                    <a:t>Telephone</a:t>
                  </a:r>
                </a:p>
              </p:txBody>
            </p:sp>
            <p:sp>
              <p:nvSpPr>
                <p:cNvPr id="106" name="Rectangle 65">
                  <a:extLst>
                    <a:ext uri="{FF2B5EF4-FFF2-40B4-BE49-F238E27FC236}">
                      <a16:creationId xmlns:a16="http://schemas.microsoft.com/office/drawing/2014/main" id="{FC2B34C3-E09E-F5C0-8A05-5C4570EFA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8" y="2480"/>
                  <a:ext cx="998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6" name="Group 66">
                <a:extLst>
                  <a:ext uri="{FF2B5EF4-FFF2-40B4-BE49-F238E27FC236}">
                    <a16:creationId xmlns:a16="http://schemas.microsoft.com/office/drawing/2014/main" id="{B54216BE-5138-4BAE-D20A-8F1E324E7D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5" y="2480"/>
                <a:ext cx="689" cy="219"/>
                <a:chOff x="4675" y="2480"/>
                <a:chExt cx="689" cy="219"/>
              </a:xfrm>
            </p:grpSpPr>
            <p:sp>
              <p:nvSpPr>
                <p:cNvPr id="103" name="Rectangle 67">
                  <a:extLst>
                    <a:ext uri="{FF2B5EF4-FFF2-40B4-BE49-F238E27FC236}">
                      <a16:creationId xmlns:a16="http://schemas.microsoft.com/office/drawing/2014/main" id="{2547AAB9-195B-930E-DC63-FE45543991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1" y="2480"/>
                  <a:ext cx="577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" name="Rectangle 68">
                  <a:extLst>
                    <a:ext uri="{FF2B5EF4-FFF2-40B4-BE49-F238E27FC236}">
                      <a16:creationId xmlns:a16="http://schemas.microsoft.com/office/drawing/2014/main" id="{C3E29F8B-5FA1-C92E-A014-F242663283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" y="2480"/>
                  <a:ext cx="68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7" name="Group 69">
                <a:extLst>
                  <a:ext uri="{FF2B5EF4-FFF2-40B4-BE49-F238E27FC236}">
                    <a16:creationId xmlns:a16="http://schemas.microsoft.com/office/drawing/2014/main" id="{571EA945-EB3F-D049-9581-F62B8BC236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2705"/>
                <a:ext cx="1199" cy="219"/>
                <a:chOff x="1659" y="2705"/>
                <a:chExt cx="1199" cy="219"/>
              </a:xfrm>
            </p:grpSpPr>
            <p:sp>
              <p:nvSpPr>
                <p:cNvPr id="101" name="Rectangle 70">
                  <a:extLst>
                    <a:ext uri="{FF2B5EF4-FFF2-40B4-BE49-F238E27FC236}">
                      <a16:creationId xmlns:a16="http://schemas.microsoft.com/office/drawing/2014/main" id="{31C7CFB2-09B4-192B-A1F5-AB62121E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2705"/>
                  <a:ext cx="10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400">
                      <a:solidFill>
                        <a:srgbClr val="000000"/>
                      </a:solidFill>
                    </a:rPr>
                    <a:t>Eric</a:t>
                  </a:r>
                </a:p>
              </p:txBody>
            </p:sp>
            <p:sp>
              <p:nvSpPr>
                <p:cNvPr id="102" name="Rectangle 71">
                  <a:extLst>
                    <a:ext uri="{FF2B5EF4-FFF2-40B4-BE49-F238E27FC236}">
                      <a16:creationId xmlns:a16="http://schemas.microsoft.com/office/drawing/2014/main" id="{9D71645F-94D8-F274-53B5-176F38A2A9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2705"/>
                  <a:ext cx="119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8" name="Group 72">
                <a:extLst>
                  <a:ext uri="{FF2B5EF4-FFF2-40B4-BE49-F238E27FC236}">
                    <a16:creationId xmlns:a16="http://schemas.microsoft.com/office/drawing/2014/main" id="{39899AA0-F590-A968-8D71-CAC548FA89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5" y="2705"/>
                <a:ext cx="797" cy="219"/>
                <a:chOff x="2865" y="2705"/>
                <a:chExt cx="797" cy="219"/>
              </a:xfrm>
            </p:grpSpPr>
            <p:sp>
              <p:nvSpPr>
                <p:cNvPr id="99" name="Rectangle 73">
                  <a:extLst>
                    <a:ext uri="{FF2B5EF4-FFF2-40B4-BE49-F238E27FC236}">
                      <a16:creationId xmlns:a16="http://schemas.microsoft.com/office/drawing/2014/main" id="{C7CE6CCF-781F-CF43-DD4C-CDDD884580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1" y="2705"/>
                  <a:ext cx="684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Leeds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0" name="Rectangle 74">
                  <a:extLst>
                    <a:ext uri="{FF2B5EF4-FFF2-40B4-BE49-F238E27FC236}">
                      <a16:creationId xmlns:a16="http://schemas.microsoft.com/office/drawing/2014/main" id="{46CC62C0-F446-3DF0-D4DE-9FAF4FF777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5" y="2705"/>
                  <a:ext cx="797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69" name="Group 75">
                <a:extLst>
                  <a:ext uri="{FF2B5EF4-FFF2-40B4-BE49-F238E27FC236}">
                    <a16:creationId xmlns:a16="http://schemas.microsoft.com/office/drawing/2014/main" id="{1C829ACD-4628-9CAF-96ED-F11A87A0F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8" y="2705"/>
                <a:ext cx="998" cy="219"/>
                <a:chOff x="3668" y="2705"/>
                <a:chExt cx="998" cy="219"/>
              </a:xfrm>
            </p:grpSpPr>
            <p:sp>
              <p:nvSpPr>
                <p:cNvPr id="97" name="Rectangle 76">
                  <a:extLst>
                    <a:ext uri="{FF2B5EF4-FFF2-40B4-BE49-F238E27FC236}">
                      <a16:creationId xmlns:a16="http://schemas.microsoft.com/office/drawing/2014/main" id="{4F81CF56-2422-3687-772B-0274A1AA8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5" y="2705"/>
                  <a:ext cx="8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0113-</a:t>
                  </a:r>
                </a:p>
              </p:txBody>
            </p:sp>
            <p:sp>
              <p:nvSpPr>
                <p:cNvPr id="98" name="Rectangle 77">
                  <a:extLst>
                    <a:ext uri="{FF2B5EF4-FFF2-40B4-BE49-F238E27FC236}">
                      <a16:creationId xmlns:a16="http://schemas.microsoft.com/office/drawing/2014/main" id="{9381CB4B-6778-0C11-1181-82C357F31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8" y="2705"/>
                  <a:ext cx="998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oup 78">
                <a:extLst>
                  <a:ext uri="{FF2B5EF4-FFF2-40B4-BE49-F238E27FC236}">
                    <a16:creationId xmlns:a16="http://schemas.microsoft.com/office/drawing/2014/main" id="{19BCC8AA-EFEE-0C0D-5637-0B9261EE11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5" y="2705"/>
                <a:ext cx="689" cy="219"/>
                <a:chOff x="4675" y="2705"/>
                <a:chExt cx="689" cy="219"/>
              </a:xfrm>
            </p:grpSpPr>
            <p:sp>
              <p:nvSpPr>
                <p:cNvPr id="95" name="Rectangle 79">
                  <a:extLst>
                    <a:ext uri="{FF2B5EF4-FFF2-40B4-BE49-F238E27FC236}">
                      <a16:creationId xmlns:a16="http://schemas.microsoft.com/office/drawing/2014/main" id="{CBB15376-4040-EE55-49AE-D9BC59B0CC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1" y="2705"/>
                  <a:ext cx="577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" name="Rectangle 80">
                  <a:extLst>
                    <a:ext uri="{FF2B5EF4-FFF2-40B4-BE49-F238E27FC236}">
                      <a16:creationId xmlns:a16="http://schemas.microsoft.com/office/drawing/2014/main" id="{62020B8F-1B19-B93B-229A-2E8F338A33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" y="2705"/>
                  <a:ext cx="68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1" name="Group 81">
                <a:extLst>
                  <a:ext uri="{FF2B5EF4-FFF2-40B4-BE49-F238E27FC236}">
                    <a16:creationId xmlns:a16="http://schemas.microsoft.com/office/drawing/2014/main" id="{54E772F3-39DB-EDE6-3D65-D7AB29973C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2931"/>
                <a:ext cx="1199" cy="219"/>
                <a:chOff x="1659" y="2931"/>
                <a:chExt cx="1199" cy="219"/>
              </a:xfrm>
            </p:grpSpPr>
            <p:sp>
              <p:nvSpPr>
                <p:cNvPr id="93" name="Rectangle 82">
                  <a:extLst>
                    <a:ext uri="{FF2B5EF4-FFF2-40B4-BE49-F238E27FC236}">
                      <a16:creationId xmlns:a16="http://schemas.microsoft.com/office/drawing/2014/main" id="{620D446B-F486-0DF6-4942-5CE6FD2E7F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2931"/>
                  <a:ext cx="10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400">
                      <a:solidFill>
                        <a:srgbClr val="000000"/>
                      </a:solidFill>
                    </a:rPr>
                    <a:t>Peter</a:t>
                  </a:r>
                </a:p>
              </p:txBody>
            </p:sp>
            <p:sp>
              <p:nvSpPr>
                <p:cNvPr id="94" name="Rectangle 83">
                  <a:extLst>
                    <a:ext uri="{FF2B5EF4-FFF2-40B4-BE49-F238E27FC236}">
                      <a16:creationId xmlns:a16="http://schemas.microsoft.com/office/drawing/2014/main" id="{3C2D5041-227F-A4F1-CC5E-332AA0451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2931"/>
                  <a:ext cx="119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2" name="Group 84">
                <a:extLst>
                  <a:ext uri="{FF2B5EF4-FFF2-40B4-BE49-F238E27FC236}">
                    <a16:creationId xmlns:a16="http://schemas.microsoft.com/office/drawing/2014/main" id="{6BAC6500-7C67-E8C8-F14B-3E98A7F89B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5" y="2931"/>
                <a:ext cx="797" cy="219"/>
                <a:chOff x="2865" y="2931"/>
                <a:chExt cx="797" cy="219"/>
              </a:xfrm>
            </p:grpSpPr>
            <p:sp>
              <p:nvSpPr>
                <p:cNvPr id="91" name="Rectangle 85">
                  <a:extLst>
                    <a:ext uri="{FF2B5EF4-FFF2-40B4-BE49-F238E27FC236}">
                      <a16:creationId xmlns:a16="http://schemas.microsoft.com/office/drawing/2014/main" id="{70F801CC-04CC-EB5E-AF62-7B02CBE61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1" y="2931"/>
                  <a:ext cx="684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Bradford</a:t>
                  </a:r>
                </a:p>
              </p:txBody>
            </p:sp>
            <p:sp>
              <p:nvSpPr>
                <p:cNvPr id="92" name="Rectangle 86">
                  <a:extLst>
                    <a:ext uri="{FF2B5EF4-FFF2-40B4-BE49-F238E27FC236}">
                      <a16:creationId xmlns:a16="http://schemas.microsoft.com/office/drawing/2014/main" id="{5275DA76-638B-A18D-EB12-7D124BCD9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5" y="2931"/>
                  <a:ext cx="797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3" name="Group 87">
                <a:extLst>
                  <a:ext uri="{FF2B5EF4-FFF2-40B4-BE49-F238E27FC236}">
                    <a16:creationId xmlns:a16="http://schemas.microsoft.com/office/drawing/2014/main" id="{B1883663-58FB-B8C0-130F-9FE0DF611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8" y="2931"/>
                <a:ext cx="998" cy="219"/>
                <a:chOff x="3668" y="2931"/>
                <a:chExt cx="998" cy="219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2F7507F-73E3-E54F-E775-C725075C0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5" y="2931"/>
                  <a:ext cx="8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</a:rPr>
                    <a:t>01274-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US" altLang="en-US" sz="1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4CD2D6B9-F252-EA83-2A20-C30875F313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8" y="2931"/>
                  <a:ext cx="998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4" name="Group 90">
                <a:extLst>
                  <a:ext uri="{FF2B5EF4-FFF2-40B4-BE49-F238E27FC236}">
                    <a16:creationId xmlns:a16="http://schemas.microsoft.com/office/drawing/2014/main" id="{7982F237-CA01-7E33-8C01-EC8978EA49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5" y="2931"/>
                <a:ext cx="689" cy="219"/>
                <a:chOff x="4675" y="2931"/>
                <a:chExt cx="689" cy="219"/>
              </a:xfrm>
            </p:grpSpPr>
            <p:sp>
              <p:nvSpPr>
                <p:cNvPr id="87" name="Rectangle 91">
                  <a:extLst>
                    <a:ext uri="{FF2B5EF4-FFF2-40B4-BE49-F238E27FC236}">
                      <a16:creationId xmlns:a16="http://schemas.microsoft.com/office/drawing/2014/main" id="{677987D6-3599-0F06-E5D9-C521FC6C2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1" y="2931"/>
                  <a:ext cx="577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88" name="Rectangle 92">
                  <a:extLst>
                    <a:ext uri="{FF2B5EF4-FFF2-40B4-BE49-F238E27FC236}">
                      <a16:creationId xmlns:a16="http://schemas.microsoft.com/office/drawing/2014/main" id="{D944E319-7181-7D62-D6A5-A40798642C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" y="2931"/>
                  <a:ext cx="68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5" name="Group 93">
                <a:extLst>
                  <a:ext uri="{FF2B5EF4-FFF2-40B4-BE49-F238E27FC236}">
                    <a16:creationId xmlns:a16="http://schemas.microsoft.com/office/drawing/2014/main" id="{157E58C9-D23D-9A37-9609-70312006A7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9" y="3157"/>
                <a:ext cx="1199" cy="219"/>
                <a:chOff x="1659" y="3157"/>
                <a:chExt cx="1199" cy="219"/>
              </a:xfrm>
            </p:grpSpPr>
            <p:sp>
              <p:nvSpPr>
                <p:cNvPr id="85" name="Rectangle 94">
                  <a:extLst>
                    <a:ext uri="{FF2B5EF4-FFF2-40B4-BE49-F238E27FC236}">
                      <a16:creationId xmlns:a16="http://schemas.microsoft.com/office/drawing/2014/main" id="{F4DFFD1D-8CBF-DBFF-EBAC-AA964A651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3157"/>
                  <a:ext cx="10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6" name="Rectangle 95">
                  <a:extLst>
                    <a:ext uri="{FF2B5EF4-FFF2-40B4-BE49-F238E27FC236}">
                      <a16:creationId xmlns:a16="http://schemas.microsoft.com/office/drawing/2014/main" id="{1C16B9EB-2E17-9C18-AC8B-05484CCDB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9" y="3157"/>
                  <a:ext cx="119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6" name="Group 96">
                <a:extLst>
                  <a:ext uri="{FF2B5EF4-FFF2-40B4-BE49-F238E27FC236}">
                    <a16:creationId xmlns:a16="http://schemas.microsoft.com/office/drawing/2014/main" id="{D2F6C66D-48C5-96E5-2044-BC960201FB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5" y="3157"/>
                <a:ext cx="797" cy="219"/>
                <a:chOff x="2865" y="3157"/>
                <a:chExt cx="797" cy="219"/>
              </a:xfrm>
            </p:grpSpPr>
            <p:sp>
              <p:nvSpPr>
                <p:cNvPr id="83" name="Rectangle 97">
                  <a:extLst>
                    <a:ext uri="{FF2B5EF4-FFF2-40B4-BE49-F238E27FC236}">
                      <a16:creationId xmlns:a16="http://schemas.microsoft.com/office/drawing/2014/main" id="{1DBD0F39-0246-ED68-0C9E-36B0A524E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1" y="3157"/>
                  <a:ext cx="684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" name="Rectangle 98">
                  <a:extLst>
                    <a:ext uri="{FF2B5EF4-FFF2-40B4-BE49-F238E27FC236}">
                      <a16:creationId xmlns:a16="http://schemas.microsoft.com/office/drawing/2014/main" id="{8C24D3CC-4B4E-6F2B-3D4E-F0C847FFCB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5" y="3157"/>
                  <a:ext cx="797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7" name="Group 99">
                <a:extLst>
                  <a:ext uri="{FF2B5EF4-FFF2-40B4-BE49-F238E27FC236}">
                    <a16:creationId xmlns:a16="http://schemas.microsoft.com/office/drawing/2014/main" id="{6F43BE41-4476-7925-4884-3CD2CF3E3A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8" y="3157"/>
                <a:ext cx="998" cy="219"/>
                <a:chOff x="3668" y="3157"/>
                <a:chExt cx="998" cy="219"/>
              </a:xfrm>
            </p:grpSpPr>
            <p:sp>
              <p:nvSpPr>
                <p:cNvPr id="81" name="Rectangle 100">
                  <a:extLst>
                    <a:ext uri="{FF2B5EF4-FFF2-40B4-BE49-F238E27FC236}">
                      <a16:creationId xmlns:a16="http://schemas.microsoft.com/office/drawing/2014/main" id="{E30A83F5-1D73-39BD-38D3-D69FEC7A8D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5" y="3157"/>
                  <a:ext cx="886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2" name="Rectangle 101">
                  <a:extLst>
                    <a:ext uri="{FF2B5EF4-FFF2-40B4-BE49-F238E27FC236}">
                      <a16:creationId xmlns:a16="http://schemas.microsoft.com/office/drawing/2014/main" id="{673B91E4-3596-E010-3480-3CAE86BCE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8" y="3157"/>
                  <a:ext cx="998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8" name="Group 102">
                <a:extLst>
                  <a:ext uri="{FF2B5EF4-FFF2-40B4-BE49-F238E27FC236}">
                    <a16:creationId xmlns:a16="http://schemas.microsoft.com/office/drawing/2014/main" id="{21662EE3-D989-5B6B-71B7-1BDCC9D370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5" y="3157"/>
                <a:ext cx="689" cy="219"/>
                <a:chOff x="4675" y="3157"/>
                <a:chExt cx="689" cy="219"/>
              </a:xfrm>
            </p:grpSpPr>
            <p:sp>
              <p:nvSpPr>
                <p:cNvPr id="79" name="Rectangle 103">
                  <a:extLst>
                    <a:ext uri="{FF2B5EF4-FFF2-40B4-BE49-F238E27FC236}">
                      <a16:creationId xmlns:a16="http://schemas.microsoft.com/office/drawing/2014/main" id="{58444C6D-21C9-8550-2BCD-A0D355E7A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31" y="3157"/>
                  <a:ext cx="577" cy="2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tabLst>
                      <a:tab pos="0" algn="l"/>
                      <a:tab pos="447675" algn="l"/>
                      <a:tab pos="896938" algn="l"/>
                      <a:tab pos="1346200" algn="l"/>
                      <a:tab pos="1795463" algn="l"/>
                      <a:tab pos="2244725" algn="l"/>
                      <a:tab pos="2693988" algn="l"/>
                      <a:tab pos="3143250" algn="l"/>
                      <a:tab pos="3592513" algn="l"/>
                      <a:tab pos="4041775" algn="l"/>
                      <a:tab pos="4491038" algn="l"/>
                      <a:tab pos="4940300" algn="l"/>
                      <a:tab pos="5389563" algn="l"/>
                      <a:tab pos="5838825" algn="l"/>
                      <a:tab pos="6288088" algn="l"/>
                      <a:tab pos="6737350" algn="l"/>
                      <a:tab pos="7186613" algn="l"/>
                      <a:tab pos="7635875" algn="l"/>
                      <a:tab pos="8085138" algn="l"/>
                      <a:tab pos="8534400" algn="l"/>
                      <a:tab pos="8983663" algn="l"/>
                    </a:tabLst>
                    <a:defRPr sz="240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algn="just" eaLnBrk="1" hangingPunct="1">
                    <a:buClrTx/>
                    <a:buFontTx/>
                    <a:buNone/>
                  </a:pPr>
                  <a:r>
                    <a:rPr lang="en-GB" altLang="en-US" sz="10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just" eaLnBrk="1" hangingPunct="1">
                    <a:buClrTx/>
                    <a:buFontTx/>
                    <a:buNone/>
                  </a:pPr>
                  <a:endParaRPr lang="en-GB" altLang="en-US" sz="10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0" name="Rectangle 104">
                  <a:extLst>
                    <a:ext uri="{FF2B5EF4-FFF2-40B4-BE49-F238E27FC236}">
                      <a16:creationId xmlns:a16="http://schemas.microsoft.com/office/drawing/2014/main" id="{85F58CD8-8B76-C6A6-D0B6-E342E719F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" y="3157"/>
                  <a:ext cx="689" cy="219"/>
                </a:xfrm>
                <a:prstGeom prst="rect">
                  <a:avLst/>
                </a:prstGeom>
                <a:noFill/>
                <a:ln w="9360" cap="sq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62" name="Rectangle 105">
              <a:extLst>
                <a:ext uri="{FF2B5EF4-FFF2-40B4-BE49-F238E27FC236}">
                  <a16:creationId xmlns:a16="http://schemas.microsoft.com/office/drawing/2014/main" id="{D8687329-0A2A-2D58-FBEB-6D3F184A5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478"/>
              <a:ext cx="3713" cy="900"/>
            </a:xfrm>
            <a:prstGeom prst="rect">
              <a:avLst/>
            </a:prstGeom>
            <a:noFill/>
            <a:ln w="9360" cap="sq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1" name="Text Box 2">
            <a:extLst>
              <a:ext uri="{FF2B5EF4-FFF2-40B4-BE49-F238E27FC236}">
                <a16:creationId xmlns:a16="http://schemas.microsoft.com/office/drawing/2014/main" id="{1631ADAB-454B-4127-1CEB-6399D9A19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81" y="2688996"/>
            <a:ext cx="7772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609600" indent="-598488"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ts val="800"/>
              </a:spcBef>
              <a:buClrTx/>
              <a:buFontTx/>
              <a:buNone/>
            </a:pPr>
            <a:r>
              <a:rPr lang="en-GB" altLang="en-US" dirty="0">
                <a:solidFill>
                  <a:srgbClr val="3333CD"/>
                </a:solidFill>
              </a:rPr>
              <a:t>Books:</a:t>
            </a: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57B206AF-604F-E1F4-5164-EC63134B9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7" y="4217914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609600" indent="-598488"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609600" algn="l"/>
                <a:tab pos="1057275" algn="l"/>
                <a:tab pos="1506538" algn="l"/>
                <a:tab pos="1955800" algn="l"/>
                <a:tab pos="2405063" algn="l"/>
                <a:tab pos="2854325" algn="l"/>
                <a:tab pos="3303588" algn="l"/>
                <a:tab pos="3752850" algn="l"/>
                <a:tab pos="4202113" algn="l"/>
                <a:tab pos="4651375" algn="l"/>
                <a:tab pos="5100638" algn="l"/>
                <a:tab pos="5549900" algn="l"/>
                <a:tab pos="5999163" algn="l"/>
                <a:tab pos="6448425" algn="l"/>
                <a:tab pos="6897688" algn="l"/>
                <a:tab pos="7346950" algn="l"/>
                <a:tab pos="7796213" algn="l"/>
                <a:tab pos="8245475" algn="l"/>
                <a:tab pos="8694738" algn="l"/>
                <a:tab pos="9144000" algn="l"/>
                <a:tab pos="9593263" algn="l"/>
              </a:tabLst>
              <a:defRPr sz="240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</a:pPr>
            <a:r>
              <a:rPr lang="en-GB" altLang="en-US" sz="2800" dirty="0">
                <a:solidFill>
                  <a:srgbClr val="3333CD"/>
                </a:solidFill>
              </a:rPr>
              <a:t>Readers</a:t>
            </a:r>
            <a:r>
              <a:rPr lang="en-GB" altLang="en-US" sz="2800" dirty="0">
                <a:solidFill>
                  <a:srgbClr val="00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9807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 additive="repl"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B95A-BD27-CAFF-3569-5FC624DA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AC83-F136-5F91-95FF-B04F43403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8BC97-1D50-2C80-461D-BC19148E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Accessing Databases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36A72-0465-8561-24A3-740C1FD8DE32}"/>
              </a:ext>
            </a:extLst>
          </p:cNvPr>
          <p:cNvSpPr/>
          <p:nvPr/>
        </p:nvSpPr>
        <p:spPr>
          <a:xfrm>
            <a:off x="56456" y="1328425"/>
            <a:ext cx="8435478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Georgia" panose="02040502050405020303" pitchFamily="18" charset="0"/>
              </a:rPr>
              <a:t>SQL (Structured Query Language) is used. </a:t>
            </a:r>
          </a:p>
          <a:p>
            <a:endParaRPr lang="en-GB" sz="1050" dirty="0"/>
          </a:p>
          <a:p>
            <a:r>
              <a:rPr lang="en-GB" dirty="0"/>
              <a:t>The main variations are: </a:t>
            </a:r>
          </a:p>
          <a:p>
            <a:endParaRPr lang="en-GB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Transact SQL (T-SQL). Used by Microsoft SQL Server and Sybase. The two have very few differences.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PL-SQL. Used in Oracle.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ANSI SQL. Parts of it adopted by commercial and public domain products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2626EB-17A6-DF73-32E5-8367E61CBF90}"/>
              </a:ext>
            </a:extLst>
          </p:cNvPr>
          <p:cNvSpPr/>
          <p:nvPr/>
        </p:nvSpPr>
        <p:spPr>
          <a:xfrm>
            <a:off x="128464" y="3890074"/>
            <a:ext cx="29081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2"/>
                </a:solidFill>
              </a:rPr>
              <a:t>SQL Datatypes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311D5-D3CF-45F1-4725-8D1CDC20C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100" y="3923746"/>
            <a:ext cx="4900629" cy="224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72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EFA3-7031-582C-DAD9-827CEF25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9D305-AAA7-057E-75B0-1B8BA848D5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93D228-AB6C-CD2B-9E74-0541CE14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SQL Statements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5F74B-AA65-0194-821C-EEA4EF485C7A}"/>
              </a:ext>
            </a:extLst>
          </p:cNvPr>
          <p:cNvSpPr/>
          <p:nvPr/>
        </p:nvSpPr>
        <p:spPr>
          <a:xfrm>
            <a:off x="21366" y="1196752"/>
            <a:ext cx="85146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Four main categories: 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CREATE and INSERT (create a table, put values into it) 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SELECT (query the database about data matching certain criteria) 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UPDATE (to change the values in existing rows) 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DELETE and DROP (to delete </a:t>
            </a:r>
            <a:r>
              <a:rPr lang="en-GB" sz="2200" dirty="0" err="1"/>
              <a:t>speci</a:t>
            </a:r>
            <a:r>
              <a:rPr lang="en-GB" sz="2200" dirty="0"/>
              <a:t> c rows or tables)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5275E-A0A1-CEF3-F42B-A1B88C17A389}"/>
              </a:ext>
            </a:extLst>
          </p:cNvPr>
          <p:cNvSpPr/>
          <p:nvPr/>
        </p:nvSpPr>
        <p:spPr>
          <a:xfrm>
            <a:off x="21366" y="4219517"/>
            <a:ext cx="363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The CREATE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A76AD-C141-1224-2E76-DE4CB35D45CB}"/>
              </a:ext>
            </a:extLst>
          </p:cNvPr>
          <p:cNvSpPr/>
          <p:nvPr/>
        </p:nvSpPr>
        <p:spPr>
          <a:xfrm>
            <a:off x="128464" y="4935411"/>
            <a:ext cx="4499586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Syntax: </a:t>
            </a:r>
          </a:p>
          <a:p>
            <a:endParaRPr lang="en-GB" sz="1050" dirty="0"/>
          </a:p>
          <a:p>
            <a:r>
              <a:rPr lang="en-GB" dirty="0"/>
              <a:t>CREATE TABLE </a:t>
            </a:r>
            <a:r>
              <a:rPr lang="en-GB" dirty="0" err="1"/>
              <a:t>tablename</a:t>
            </a:r>
            <a:r>
              <a:rPr lang="en-GB" dirty="0"/>
              <a:t>( </a:t>
            </a:r>
            <a:r>
              <a:rPr lang="en-GB" dirty="0" err="1"/>
              <a:t>colName</a:t>
            </a:r>
            <a:r>
              <a:rPr lang="en-GB" dirty="0"/>
              <a:t> </a:t>
            </a:r>
            <a:r>
              <a:rPr lang="en-GB" dirty="0" err="1"/>
              <a:t>dataType</a:t>
            </a:r>
            <a:r>
              <a:rPr lang="en-GB" dirty="0"/>
              <a:t> </a:t>
            </a:r>
          </a:p>
          <a:p>
            <a:r>
              <a:rPr lang="en-GB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0C1E7-1F63-E68B-32D8-D5A09634C8E9}"/>
              </a:ext>
            </a:extLst>
          </p:cNvPr>
          <p:cNvSpPr/>
          <p:nvPr/>
        </p:nvSpPr>
        <p:spPr>
          <a:xfrm>
            <a:off x="5191566" y="4666106"/>
            <a:ext cx="449958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Example: </a:t>
            </a:r>
          </a:p>
          <a:p>
            <a:endParaRPr lang="en-GB" sz="1000" dirty="0"/>
          </a:p>
          <a:p>
            <a:r>
              <a:rPr lang="en-GB" dirty="0"/>
              <a:t>CREATE TABLE Person ( name VARCHAR(100), age INTEGER, address VARCHAR(100))</a:t>
            </a:r>
          </a:p>
        </p:txBody>
      </p:sp>
    </p:spTree>
    <p:extLst>
      <p:ext uri="{BB962C8B-B14F-4D97-AF65-F5344CB8AC3E}">
        <p14:creationId xmlns:p14="http://schemas.microsoft.com/office/powerpoint/2010/main" val="876898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DFB2-AB7C-ED40-70B8-84169460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DD83F-1B8D-67E5-6B28-82FC0A418F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1908F1-1001-072A-344F-1B3E8810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SQL Statements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8D7B08-2D99-BBA0-1F74-4E1D3B7F1B44}"/>
              </a:ext>
            </a:extLst>
          </p:cNvPr>
          <p:cNvSpPr/>
          <p:nvPr/>
        </p:nvSpPr>
        <p:spPr>
          <a:xfrm>
            <a:off x="54232" y="1360728"/>
            <a:ext cx="29642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The INSERT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70926C-1CC6-DA82-FE81-E4BE09E7FA60}"/>
              </a:ext>
            </a:extLst>
          </p:cNvPr>
          <p:cNvSpPr/>
          <p:nvPr/>
        </p:nvSpPr>
        <p:spPr>
          <a:xfrm>
            <a:off x="156677" y="1825135"/>
            <a:ext cx="4536504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Syntax: </a:t>
            </a:r>
          </a:p>
          <a:p>
            <a:endParaRPr lang="en-GB" sz="1000" dirty="0"/>
          </a:p>
          <a:p>
            <a:r>
              <a:rPr lang="en-GB" dirty="0"/>
              <a:t>INSERT INTO </a:t>
            </a:r>
            <a:r>
              <a:rPr lang="en-GB" dirty="0" err="1"/>
              <a:t>tablename</a:t>
            </a:r>
            <a:r>
              <a:rPr lang="en-GB" dirty="0"/>
              <a:t> (colName1, colName2, colName3 ...) </a:t>
            </a:r>
          </a:p>
          <a:p>
            <a:endParaRPr lang="en-GB" sz="900" dirty="0"/>
          </a:p>
          <a:p>
            <a:r>
              <a:rPr lang="en-GB" dirty="0"/>
              <a:t>VALUES (value1, value2, value3, ...)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95F157-A05B-9A73-E7ED-BBECAC090A73}"/>
              </a:ext>
            </a:extLst>
          </p:cNvPr>
          <p:cNvSpPr/>
          <p:nvPr/>
        </p:nvSpPr>
        <p:spPr>
          <a:xfrm>
            <a:off x="4693181" y="178582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Example:</a:t>
            </a:r>
          </a:p>
          <a:p>
            <a:r>
              <a:rPr lang="en-GB" sz="900" dirty="0"/>
              <a:t> </a:t>
            </a:r>
          </a:p>
          <a:p>
            <a:r>
              <a:rPr lang="en-GB" dirty="0"/>
              <a:t>INSERT INTO Person (name, age, address) </a:t>
            </a:r>
          </a:p>
          <a:p>
            <a:endParaRPr lang="en-GB" sz="900" dirty="0"/>
          </a:p>
          <a:p>
            <a:r>
              <a:rPr lang="en-GB" dirty="0"/>
              <a:t>VALUES ( John Smith, 26, London), ( Tom Bubble, 34, York),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6C8B0-5B68-44FF-4016-9F54704954D9}"/>
              </a:ext>
            </a:extLst>
          </p:cNvPr>
          <p:cNvSpPr/>
          <p:nvPr/>
        </p:nvSpPr>
        <p:spPr>
          <a:xfrm>
            <a:off x="344950" y="3761862"/>
            <a:ext cx="3036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The SELECT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76D4B0-E40E-955E-705E-0587A26B0ED8}"/>
              </a:ext>
            </a:extLst>
          </p:cNvPr>
          <p:cNvSpPr/>
          <p:nvPr/>
        </p:nvSpPr>
        <p:spPr>
          <a:xfrm>
            <a:off x="344950" y="4341874"/>
            <a:ext cx="40236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Syntax: </a:t>
            </a:r>
          </a:p>
          <a:p>
            <a:endParaRPr lang="en-GB" sz="900" dirty="0"/>
          </a:p>
          <a:p>
            <a:r>
              <a:rPr lang="en-GB" b="1" i="1" dirty="0"/>
              <a:t>SELECT</a:t>
            </a:r>
            <a:r>
              <a:rPr lang="en-GB" dirty="0"/>
              <a:t> Name1, Name2, Name3 ... </a:t>
            </a:r>
          </a:p>
          <a:p>
            <a:endParaRPr lang="en-GB" sz="900" dirty="0"/>
          </a:p>
          <a:p>
            <a:r>
              <a:rPr lang="en-GB" b="1" i="1" dirty="0"/>
              <a:t>FROM</a:t>
            </a:r>
            <a:r>
              <a:rPr lang="en-GB" dirty="0"/>
              <a:t> tablename1, tablename2, ... </a:t>
            </a:r>
          </a:p>
          <a:p>
            <a:endParaRPr lang="en-GB" sz="900" dirty="0"/>
          </a:p>
          <a:p>
            <a:r>
              <a:rPr lang="en-GB" b="1" i="1" dirty="0"/>
              <a:t>WHERE</a:t>
            </a:r>
            <a:r>
              <a:rPr lang="en-GB" dirty="0"/>
              <a:t> conditions </a:t>
            </a:r>
          </a:p>
          <a:p>
            <a:endParaRPr lang="en-GB" sz="900" dirty="0"/>
          </a:p>
          <a:p>
            <a:r>
              <a:rPr lang="en-GB" b="1" i="1" dirty="0"/>
              <a:t>ORDER BY </a:t>
            </a:r>
            <a:r>
              <a:rPr lang="en-GB" dirty="0" err="1"/>
              <a:t>colNames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1D66AE-5122-17B8-95C7-74AAFEB19E7E}"/>
              </a:ext>
            </a:extLst>
          </p:cNvPr>
          <p:cNvSpPr/>
          <p:nvPr/>
        </p:nvSpPr>
        <p:spPr>
          <a:xfrm>
            <a:off x="4512653" y="4006210"/>
            <a:ext cx="4752528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Example: </a:t>
            </a:r>
          </a:p>
          <a:p>
            <a:endParaRPr lang="en-GB" sz="900" dirty="0"/>
          </a:p>
          <a:p>
            <a:r>
              <a:rPr lang="en-GB" sz="1600" b="1" i="1" dirty="0"/>
              <a:t>SELECT</a:t>
            </a:r>
            <a:r>
              <a:rPr lang="en-GB" sz="1600" dirty="0"/>
              <a:t> Person.name, </a:t>
            </a:r>
            <a:r>
              <a:rPr lang="en-GB" sz="1600" dirty="0" err="1"/>
              <a:t>Person.address</a:t>
            </a:r>
            <a:r>
              <a:rPr lang="en-GB" sz="1600" dirty="0"/>
              <a:t>, </a:t>
            </a:r>
            <a:r>
              <a:rPr lang="en-GB" sz="1600" dirty="0" err="1"/>
              <a:t>ListensTo.music_group_name</a:t>
            </a:r>
            <a:r>
              <a:rPr lang="en-GB" sz="1600" dirty="0"/>
              <a:t> </a:t>
            </a:r>
          </a:p>
          <a:p>
            <a:r>
              <a:rPr lang="en-GB" sz="1600" b="1" i="1" dirty="0"/>
              <a:t>FROM</a:t>
            </a:r>
            <a:r>
              <a:rPr lang="en-GB" sz="1600" dirty="0"/>
              <a:t> Person, </a:t>
            </a:r>
            <a:r>
              <a:rPr lang="en-GB" sz="1600" dirty="0" err="1"/>
              <a:t>ListensTo</a:t>
            </a:r>
            <a:r>
              <a:rPr lang="en-GB" sz="1600" dirty="0"/>
              <a:t> </a:t>
            </a:r>
          </a:p>
          <a:p>
            <a:r>
              <a:rPr lang="en-GB" sz="1600" b="1" i="1" dirty="0"/>
              <a:t>WHERE</a:t>
            </a:r>
            <a:r>
              <a:rPr lang="en-GB" sz="1600" dirty="0"/>
              <a:t> </a:t>
            </a:r>
            <a:r>
              <a:rPr lang="en-GB" sz="1600" dirty="0" err="1"/>
              <a:t>ListensTo.music-group_name</a:t>
            </a:r>
            <a:r>
              <a:rPr lang="en-GB" sz="1600" dirty="0"/>
              <a:t> IN (Beatles, Popstars) AND Person.name = </a:t>
            </a:r>
            <a:r>
              <a:rPr lang="en-GB" sz="1600" dirty="0" err="1"/>
              <a:t>ListensTo.person_name</a:t>
            </a:r>
            <a:r>
              <a:rPr lang="en-GB" sz="1600" dirty="0"/>
              <a:t> AND </a:t>
            </a:r>
            <a:r>
              <a:rPr lang="en-GB" sz="1600" dirty="0" err="1"/>
              <a:t>Person.address</a:t>
            </a:r>
            <a:r>
              <a:rPr lang="en-GB" sz="1600" dirty="0"/>
              <a:t> = London</a:t>
            </a:r>
          </a:p>
        </p:txBody>
      </p:sp>
    </p:spTree>
    <p:extLst>
      <p:ext uri="{BB962C8B-B14F-4D97-AF65-F5344CB8AC3E}">
        <p14:creationId xmlns:p14="http://schemas.microsoft.com/office/powerpoint/2010/main" val="195062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26C-D815-7FDE-FDD2-42206C4B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21DB0-CC98-5397-14F9-E0C7F4DC8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DE00EE-F626-5EE1-C520-1697688D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02" y="188640"/>
            <a:ext cx="9230650" cy="763600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SQL Statements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CF8B7-492B-DADA-AD78-81E6854216CC}"/>
              </a:ext>
            </a:extLst>
          </p:cNvPr>
          <p:cNvSpPr/>
          <p:nvPr/>
        </p:nvSpPr>
        <p:spPr>
          <a:xfrm>
            <a:off x="182023" y="1438425"/>
            <a:ext cx="30606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The UPDATE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F015A-056B-0C34-771D-4777D9B43A2E}"/>
              </a:ext>
            </a:extLst>
          </p:cNvPr>
          <p:cNvSpPr/>
          <p:nvPr/>
        </p:nvSpPr>
        <p:spPr>
          <a:xfrm>
            <a:off x="469744" y="1881429"/>
            <a:ext cx="47702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Syntax: </a:t>
            </a:r>
          </a:p>
          <a:p>
            <a:endParaRPr lang="en-GB" dirty="0"/>
          </a:p>
          <a:p>
            <a:r>
              <a:rPr lang="en-GB" b="1" i="1" dirty="0"/>
              <a:t>UPDATE</a:t>
            </a:r>
            <a:r>
              <a:rPr lang="en-GB" dirty="0"/>
              <a:t> </a:t>
            </a:r>
            <a:r>
              <a:rPr lang="en-GB" dirty="0" err="1"/>
              <a:t>tablename</a:t>
            </a:r>
            <a:r>
              <a:rPr lang="en-GB" dirty="0"/>
              <a:t> </a:t>
            </a:r>
          </a:p>
          <a:p>
            <a:r>
              <a:rPr lang="en-GB" b="1" i="1" dirty="0"/>
              <a:t>SET</a:t>
            </a:r>
            <a:r>
              <a:rPr lang="en-GB" dirty="0"/>
              <a:t> colName1=value1, colName2=value2 ... </a:t>
            </a:r>
            <a:r>
              <a:rPr lang="en-GB" b="1" i="1" dirty="0"/>
              <a:t>WHERE</a:t>
            </a:r>
            <a:r>
              <a:rPr lang="en-GB" dirty="0"/>
              <a:t> </a:t>
            </a:r>
            <a:r>
              <a:rPr lang="en-GB" dirty="0" err="1"/>
              <a:t>colNamei</a:t>
            </a:r>
            <a:r>
              <a:rPr lang="en-GB" dirty="0"/>
              <a:t> </a:t>
            </a:r>
            <a:r>
              <a:rPr lang="en-GB" dirty="0" err="1"/>
              <a:t>someOperator</a:t>
            </a:r>
            <a:r>
              <a:rPr lang="en-GB" dirty="0"/>
              <a:t> </a:t>
            </a:r>
            <a:r>
              <a:rPr lang="en-GB" dirty="0" err="1"/>
              <a:t>valuei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DE337-59C3-CB1E-DD7C-E8AD4E2ED87F}"/>
              </a:ext>
            </a:extLst>
          </p:cNvPr>
          <p:cNvSpPr/>
          <p:nvPr/>
        </p:nvSpPr>
        <p:spPr>
          <a:xfrm>
            <a:off x="5546111" y="183853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Example: </a:t>
            </a:r>
          </a:p>
          <a:p>
            <a:endParaRPr lang="en-GB" dirty="0"/>
          </a:p>
          <a:p>
            <a:r>
              <a:rPr lang="en-GB" b="1" dirty="0"/>
              <a:t>UPDATE</a:t>
            </a:r>
            <a:r>
              <a:rPr lang="en-GB" dirty="0"/>
              <a:t> Person </a:t>
            </a:r>
          </a:p>
          <a:p>
            <a:r>
              <a:rPr lang="en-GB" b="1" dirty="0"/>
              <a:t>SET</a:t>
            </a:r>
            <a:r>
              <a:rPr lang="en-GB" dirty="0"/>
              <a:t> age = 25, address=‘Bradford’</a:t>
            </a:r>
          </a:p>
          <a:p>
            <a:r>
              <a:rPr lang="en-GB" dirty="0"/>
              <a:t> </a:t>
            </a:r>
            <a:r>
              <a:rPr lang="en-GB" b="1" dirty="0"/>
              <a:t>WHERE</a:t>
            </a:r>
            <a:r>
              <a:rPr lang="en-GB" dirty="0"/>
              <a:t> name = ‘John Smith’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8F781-967D-1AE2-9473-5E72CA5A3C37}"/>
              </a:ext>
            </a:extLst>
          </p:cNvPr>
          <p:cNvSpPr/>
          <p:nvPr/>
        </p:nvSpPr>
        <p:spPr>
          <a:xfrm>
            <a:off x="213874" y="3879002"/>
            <a:ext cx="45145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The DELETE and DROP Statements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73BBDA-7B6A-E475-DD9F-84DBDBEB68BA}"/>
              </a:ext>
            </a:extLst>
          </p:cNvPr>
          <p:cNvSpPr/>
          <p:nvPr/>
        </p:nvSpPr>
        <p:spPr>
          <a:xfrm>
            <a:off x="381000" y="443711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Syntax: </a:t>
            </a:r>
          </a:p>
          <a:p>
            <a:endParaRPr lang="en-GB" dirty="0"/>
          </a:p>
          <a:p>
            <a:r>
              <a:rPr lang="en-GB" b="1" i="1" dirty="0"/>
              <a:t>DELETE FROM </a:t>
            </a:r>
            <a:r>
              <a:rPr lang="en-GB" dirty="0" err="1"/>
              <a:t>tablename</a:t>
            </a:r>
            <a:r>
              <a:rPr lang="en-GB" dirty="0"/>
              <a:t> </a:t>
            </a:r>
          </a:p>
          <a:p>
            <a:r>
              <a:rPr lang="en-GB" b="1" i="1" dirty="0"/>
              <a:t>WHERE</a:t>
            </a:r>
            <a:r>
              <a:rPr lang="en-GB" dirty="0"/>
              <a:t> </a:t>
            </a:r>
            <a:r>
              <a:rPr lang="en-GB" dirty="0" err="1"/>
              <a:t>colNamei</a:t>
            </a:r>
            <a:r>
              <a:rPr lang="en-GB" dirty="0"/>
              <a:t> </a:t>
            </a:r>
            <a:r>
              <a:rPr lang="en-GB" dirty="0" err="1"/>
              <a:t>someoperator</a:t>
            </a:r>
            <a:r>
              <a:rPr lang="en-GB" dirty="0"/>
              <a:t> </a:t>
            </a:r>
            <a:r>
              <a:rPr lang="en-GB" dirty="0" err="1"/>
              <a:t>valuei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5B30D-4E66-59C8-FC1F-F20CF104FF08}"/>
              </a:ext>
            </a:extLst>
          </p:cNvPr>
          <p:cNvSpPr/>
          <p:nvPr/>
        </p:nvSpPr>
        <p:spPr>
          <a:xfrm>
            <a:off x="4729479" y="4263723"/>
            <a:ext cx="5043442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Example: </a:t>
            </a:r>
          </a:p>
          <a:p>
            <a:endParaRPr lang="en-GB" sz="1000" dirty="0"/>
          </a:p>
          <a:p>
            <a:r>
              <a:rPr lang="en-GB" b="1" dirty="0"/>
              <a:t>DELETE FROM </a:t>
            </a:r>
            <a:r>
              <a:rPr lang="en-GB" dirty="0"/>
              <a:t>Person </a:t>
            </a:r>
          </a:p>
          <a:p>
            <a:r>
              <a:rPr lang="en-GB" b="1" dirty="0"/>
              <a:t>WHERE</a:t>
            </a:r>
            <a:r>
              <a:rPr lang="en-GB" dirty="0"/>
              <a:t> name = ‘John Smith’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rows corresponding to John Smith are deleted.</a:t>
            </a:r>
          </a:p>
        </p:txBody>
      </p:sp>
    </p:spTree>
    <p:extLst>
      <p:ext uri="{BB962C8B-B14F-4D97-AF65-F5344CB8AC3E}">
        <p14:creationId xmlns:p14="http://schemas.microsoft.com/office/powerpoint/2010/main" val="113098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2642-6F48-579B-2321-8F877E05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A47B-414F-01A6-8E4B-A38C95265F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1CDAFE-160B-0F10-7EA3-AEAB76EB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bg1"/>
                </a:solidFill>
              </a:rPr>
              <a:t>An example of Creating a Table in SQLite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C288B-5423-8601-03C4-8C5336F470B2}"/>
              </a:ext>
            </a:extLst>
          </p:cNvPr>
          <p:cNvSpPr/>
          <p:nvPr/>
        </p:nvSpPr>
        <p:spPr>
          <a:xfrm>
            <a:off x="117326" y="1510214"/>
            <a:ext cx="9788674" cy="480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>
                <a:latin typeface="Georgia" panose="02040502050405020303" pitchFamily="18" charset="0"/>
              </a:rPr>
              <a:t>create table </a:t>
            </a:r>
            <a:r>
              <a:rPr lang="en-GB" sz="2200" dirty="0" err="1">
                <a:latin typeface="Georgia" panose="02040502050405020303" pitchFamily="18" charset="0"/>
              </a:rPr>
              <a:t>mytable</a:t>
            </a:r>
            <a:r>
              <a:rPr lang="en-GB" sz="2200" dirty="0">
                <a:latin typeface="Georgia" panose="02040502050405020303" pitchFamily="18" charset="0"/>
              </a:rPr>
              <a:t> ( </a:t>
            </a:r>
            <a:r>
              <a:rPr lang="en-GB" sz="2200" b="1" i="1" dirty="0">
                <a:latin typeface="Georgia" panose="02040502050405020303" pitchFamily="18" charset="0"/>
              </a:rPr>
              <a:t>_id </a:t>
            </a:r>
            <a:r>
              <a:rPr lang="en-GB" sz="2200" dirty="0">
                <a:latin typeface="Georgia" panose="02040502050405020303" pitchFamily="18" charset="0"/>
              </a:rPr>
              <a:t>integer primary key auto-increment, </a:t>
            </a:r>
          </a:p>
          <a:p>
            <a:pPr lvl="5"/>
            <a:r>
              <a:rPr lang="en-GB" sz="2200" dirty="0">
                <a:latin typeface="Georgia" panose="02040502050405020303" pitchFamily="18" charset="0"/>
              </a:rPr>
              <a:t>name text, </a:t>
            </a:r>
          </a:p>
          <a:p>
            <a:pPr lvl="5"/>
            <a:r>
              <a:rPr lang="en-GB" sz="2200" dirty="0">
                <a:latin typeface="Georgia" panose="02040502050405020303" pitchFamily="18" charset="0"/>
              </a:rPr>
              <a:t>phone text ); 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200" dirty="0"/>
              <a:t>One of the columns is designated as the </a:t>
            </a:r>
            <a:r>
              <a:rPr lang="en-GB" sz="2200" b="1" i="1" dirty="0"/>
              <a:t>PRIMARY KEY</a:t>
            </a:r>
            <a:r>
              <a:rPr lang="en-GB" sz="2200" dirty="0"/>
              <a:t>, a number that uniquely identifies the row.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05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200" b="1" i="1" dirty="0"/>
              <a:t>AUTO-INCREMENT</a:t>
            </a:r>
            <a:r>
              <a:rPr lang="en-GB" sz="2200" dirty="0"/>
              <a:t> means that the database will add 1 to the key for every record to make sure its unique.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/>
              <a:t>By convention, the first column is always called </a:t>
            </a:r>
            <a:r>
              <a:rPr lang="en-GB" sz="2200" b="1" dirty="0"/>
              <a:t>_id</a:t>
            </a:r>
            <a:r>
              <a:rPr lang="en-GB" sz="2200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200" dirty="0"/>
              <a:t>Unlike most databases, in SQLite the column types are just hints. If you try to store </a:t>
            </a:r>
            <a:r>
              <a:rPr lang="en-GB" sz="2200" i="1" dirty="0"/>
              <a:t>a string in an integer </a:t>
            </a:r>
            <a:r>
              <a:rPr lang="en-GB" sz="2200" dirty="0"/>
              <a:t>column, or vice versa, it will just work with no complaints</a:t>
            </a:r>
          </a:p>
        </p:txBody>
      </p:sp>
    </p:spTree>
    <p:extLst>
      <p:ext uri="{BB962C8B-B14F-4D97-AF65-F5344CB8AC3E}">
        <p14:creationId xmlns:p14="http://schemas.microsoft.com/office/powerpoint/2010/main" val="54745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B393-99AF-1359-F617-4DC4C92E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7C271-9164-98C1-997A-F14E0700AE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0145ED-96AF-D865-A812-6B201768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Building the SQLite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1FAAB-CEB5-FEC7-2B8A-A8657A1AD356}"/>
              </a:ext>
            </a:extLst>
          </p:cNvPr>
          <p:cNvSpPr/>
          <p:nvPr/>
        </p:nvSpPr>
        <p:spPr>
          <a:xfrm>
            <a:off x="152011" y="1317121"/>
            <a:ext cx="9620910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sz="2000" b="1" dirty="0"/>
              <a:t>Check if the database exists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If it does not, create it, create the tables and populate them with initial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If it does, open it, check what version it is.</a:t>
            </a:r>
          </a:p>
          <a:p>
            <a:pPr lvl="1"/>
            <a:r>
              <a:rPr lang="en-GB" sz="9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sz="2000" b="1" dirty="0"/>
              <a:t>If the database is an old version, upgrade it to a newer version. </a:t>
            </a:r>
          </a:p>
          <a:p>
            <a:endParaRPr lang="en-GB" sz="1050" dirty="0"/>
          </a:p>
          <a:p>
            <a:r>
              <a:rPr lang="en-GB" sz="2000" dirty="0"/>
              <a:t>The above steps are facilitated by using the </a:t>
            </a:r>
            <a:r>
              <a:rPr lang="en-GB" sz="2000" b="1" i="1" dirty="0" err="1"/>
              <a:t>SQLiteOpenHelper</a:t>
            </a:r>
            <a:r>
              <a:rPr lang="en-GB" sz="2000" dirty="0"/>
              <a:t> class.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E5E416-1592-1449-5AE3-D1FEC6401A2A}"/>
              </a:ext>
            </a:extLst>
          </p:cNvPr>
          <p:cNvSpPr txBox="1">
            <a:spLocks/>
          </p:cNvSpPr>
          <p:nvPr/>
        </p:nvSpPr>
        <p:spPr bwMode="auto">
          <a:xfrm>
            <a:off x="152011" y="3280612"/>
            <a:ext cx="9486763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8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Class  =  </a:t>
            </a:r>
            <a:r>
              <a:rPr lang="en-US" altLang="en-US" sz="2800" dirty="0" err="1">
                <a:solidFill>
                  <a:schemeClr val="accent2"/>
                </a:solidFill>
                <a:latin typeface="Georgia" charset="0"/>
                <a:ea typeface="MS PGothic" charset="-128"/>
              </a:rPr>
              <a:t>android.database.sqlite</a:t>
            </a:r>
            <a:endParaRPr lang="en-US" altLang="en-US" sz="2800" dirty="0">
              <a:solidFill>
                <a:schemeClr val="accent2"/>
              </a:solidFill>
              <a:latin typeface="Georgia" charset="0"/>
              <a:ea typeface="MS PGothic" charset="-128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C7765E-9FE3-4966-7C86-41ACD2A14D48}"/>
              </a:ext>
            </a:extLst>
          </p:cNvPr>
          <p:cNvSpPr txBox="1">
            <a:spLocks/>
          </p:cNvSpPr>
          <p:nvPr/>
        </p:nvSpPr>
        <p:spPr bwMode="auto">
          <a:xfrm>
            <a:off x="-129361" y="3929641"/>
            <a:ext cx="10183654" cy="263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48" indent="0">
              <a:buNone/>
            </a:pPr>
            <a:r>
              <a:rPr lang="en-US" altLang="en-US" sz="1600" dirty="0">
                <a:latin typeface="Lucida Sans Unicode" charset="0"/>
                <a:ea typeface="MS PGothic" charset="-128"/>
                <a:cs typeface="Lucida Sans Unicode" charset="0"/>
              </a:rPr>
              <a:t>Contains the SQLite database management classes that an application would use to manage its own private database.</a:t>
            </a:r>
          </a:p>
          <a:p>
            <a:pPr marL="82548" indent="0">
              <a:buNone/>
            </a:pPr>
            <a:r>
              <a:rPr lang="en-US" altLang="en-US" sz="1600" dirty="0">
                <a:latin typeface="Lucida Sans Unicode" charset="0"/>
                <a:ea typeface="MS PGothic" charset="-128"/>
                <a:cs typeface="Lucida Sans Unicode" charset="0"/>
              </a:rPr>
              <a:t>Some of the classes that you will use regularly: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altLang="en-US" sz="1400" b="1" i="1" dirty="0" err="1"/>
              <a:t>SQLiteCursor</a:t>
            </a:r>
            <a:r>
              <a:rPr lang="en-US" altLang="en-US" sz="1400" dirty="0"/>
              <a:t> - A Cursor implementation that exposes results from a query on a </a:t>
            </a:r>
            <a:r>
              <a:rPr lang="en-US" altLang="en-US" sz="1400" dirty="0" err="1"/>
              <a:t>SQLiteDatabase</a:t>
            </a:r>
            <a:r>
              <a:rPr lang="en-US" altLang="en-US" sz="1400" dirty="0"/>
              <a:t>. 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altLang="en-US" sz="1400" b="1" i="1" dirty="0" err="1"/>
              <a:t>SQLiteDatabase</a:t>
            </a:r>
            <a:r>
              <a:rPr lang="en-US" altLang="en-US" sz="1400" dirty="0"/>
              <a:t> - Exposes methods to manage a SQLite database. 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altLang="en-US" sz="1400" b="1" i="1" dirty="0" err="1"/>
              <a:t>SQLiteOpenHelper</a:t>
            </a:r>
            <a:r>
              <a:rPr lang="en-US" altLang="en-US" sz="1400" dirty="0"/>
              <a:t> - A helper class to manage database creation and version management.</a:t>
            </a:r>
            <a:endParaRPr lang="en-US" alt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134658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D8C5-0A12-CA29-B72D-4A7D2332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BCFB5-9B26-012E-0170-3F9372B4F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86556B4-B429-AAA6-11FC-8BC1C435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Building the SQLite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439DF5-36CD-B010-8004-54BE9C3FAAC6}"/>
              </a:ext>
            </a:extLst>
          </p:cNvPr>
          <p:cNvSpPr txBox="1">
            <a:spLocks/>
          </p:cNvSpPr>
          <p:nvPr/>
        </p:nvSpPr>
        <p:spPr bwMode="auto">
          <a:xfrm>
            <a:off x="-5716" y="2164602"/>
            <a:ext cx="9778637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Contains the methods for:</a:t>
            </a:r>
          </a:p>
          <a:p>
            <a:pPr lvl="1"/>
            <a:r>
              <a:rPr lang="en-US" altLang="en-US" sz="1800" dirty="0">
                <a:latin typeface="Lucida Sans Unicode" charset="0"/>
                <a:ea typeface="MS PGothic" charset="-128"/>
                <a:cs typeface="Lucida Sans Unicode" charset="0"/>
              </a:rPr>
              <a:t> creating, opening, closing, inserting, updating, deleting and querying an SQLite database</a:t>
            </a:r>
          </a:p>
          <a:p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These methods are similar to JDBC but more method oriented than what we see with JDBC (remember there is not a RDBMS server running) </a:t>
            </a:r>
          </a:p>
          <a:p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Bookmark this:</a:t>
            </a:r>
          </a:p>
          <a:p>
            <a:pPr lvl="1"/>
            <a:r>
              <a:rPr lang="en-US" altLang="en-US" sz="1600" dirty="0">
                <a:latin typeface="Lucida Sans Unicode" charset="0"/>
                <a:cs typeface="Lucida Sans Unicode" charset="0"/>
                <a:hlinkClick r:id="rId2"/>
              </a:rPr>
              <a:t>https://developer.android.com/reference/android/database/Cursor.html</a:t>
            </a:r>
            <a:r>
              <a:rPr lang="en-US" altLang="en-US" sz="1600" dirty="0">
                <a:latin typeface="Lucida Sans Unicode" charset="0"/>
                <a:cs typeface="Lucida Sans Unicode" charset="0"/>
              </a:rPr>
              <a:t> </a:t>
            </a:r>
          </a:p>
          <a:p>
            <a:pPr lvl="1"/>
            <a:r>
              <a:rPr lang="en-US" altLang="en-US" sz="1600" dirty="0">
                <a:latin typeface="Lucida Sans Unicode" charset="0"/>
                <a:cs typeface="Lucida Sans Unicode" charset="0"/>
                <a:hlinkClick r:id="rId3"/>
              </a:rPr>
              <a:t>https://developer.android.com/reference/android/database/package-summary.html</a:t>
            </a:r>
            <a:r>
              <a:rPr lang="en-US" altLang="en-US" sz="1600" dirty="0">
                <a:latin typeface="Lucida Sans Unicode" charset="0"/>
                <a:cs typeface="Lucida Sans Unicode" charset="0"/>
              </a:rPr>
              <a:t> </a:t>
            </a:r>
          </a:p>
          <a:p>
            <a:pPr lvl="1"/>
            <a:endParaRPr lang="en-US" altLang="en-US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90AE7EA-07DE-5B46-BA35-02F5D6A3D453}"/>
              </a:ext>
            </a:extLst>
          </p:cNvPr>
          <p:cNvSpPr txBox="1">
            <a:spLocks/>
          </p:cNvSpPr>
          <p:nvPr/>
        </p:nvSpPr>
        <p:spPr bwMode="auto">
          <a:xfrm>
            <a:off x="401125" y="1383552"/>
            <a:ext cx="9103749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32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Class  =  </a:t>
            </a:r>
            <a:r>
              <a:rPr lang="en-US" altLang="en-US" sz="3200" dirty="0" err="1">
                <a:solidFill>
                  <a:schemeClr val="accent2"/>
                </a:solidFill>
                <a:latin typeface="Georgia" charset="0"/>
                <a:ea typeface="MS PGothic" charset="-128"/>
              </a:rPr>
              <a:t>android.database.sqlite</a:t>
            </a:r>
            <a:endParaRPr lang="en-US" altLang="en-US" sz="3200" dirty="0">
              <a:solidFill>
                <a:schemeClr val="accent2"/>
              </a:solidFill>
              <a:latin typeface="Georgia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904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B303-7111-3DBF-0350-2BBD8980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D045E-C588-1963-23C2-B92E76769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48E962-0D6A-59C2-3CA1-11FDC746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Building the SQLite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D2D5C9-3931-4BBD-DC94-1806BC0CF7CE}"/>
              </a:ext>
            </a:extLst>
          </p:cNvPr>
          <p:cNvSpPr txBox="1">
            <a:spLocks/>
          </p:cNvSpPr>
          <p:nvPr/>
        </p:nvSpPr>
        <p:spPr bwMode="auto">
          <a:xfrm>
            <a:off x="0" y="1815097"/>
            <a:ext cx="9906000" cy="87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48" indent="0">
              <a:buNone/>
            </a:pP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This method will open an existing database or create one in the application data area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B72CCB4F-BBA6-475D-3E41-508A2628C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2" y="2802753"/>
            <a:ext cx="9723828" cy="305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import </a:t>
            </a:r>
            <a:r>
              <a:rPr lang="en-US" altLang="en-US" sz="1800" b="1" dirty="0" err="1"/>
              <a:t>android.database.sqlite.SQLiteDatabase</a:t>
            </a:r>
            <a:r>
              <a:rPr lang="en-US" altLang="en-US" sz="1800" b="1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 err="1"/>
              <a:t>SQLiteDatabase</a:t>
            </a:r>
            <a:r>
              <a:rPr lang="en-US" altLang="en-US" sz="1800" b="1" dirty="0"/>
              <a:t>  </a:t>
            </a:r>
            <a:r>
              <a:rPr lang="en-US" altLang="en-US" sz="1800" b="1" dirty="0" err="1"/>
              <a:t>db</a:t>
            </a:r>
            <a:r>
              <a:rPr lang="en-US" altLang="en-US" sz="1800" b="1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B050"/>
                </a:solidFill>
              </a:rPr>
              <a:t>//first </a:t>
            </a:r>
            <a:r>
              <a:rPr lang="en-US" altLang="en-US" sz="1200" dirty="0" err="1">
                <a:solidFill>
                  <a:srgbClr val="00B050"/>
                </a:solidFill>
              </a:rPr>
              <a:t>param</a:t>
            </a:r>
            <a:r>
              <a:rPr lang="en-US" altLang="en-US" sz="1200" dirty="0">
                <a:solidFill>
                  <a:srgbClr val="00B050"/>
                </a:solidFill>
              </a:rPr>
              <a:t> = name of database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B050"/>
                </a:solidFill>
              </a:rPr>
              <a:t>//second </a:t>
            </a:r>
            <a:r>
              <a:rPr lang="en-US" altLang="en-US" sz="1200" dirty="0" err="1">
                <a:solidFill>
                  <a:srgbClr val="00B050"/>
                </a:solidFill>
              </a:rPr>
              <a:t>param</a:t>
            </a:r>
            <a:r>
              <a:rPr lang="en-US" altLang="en-US" sz="1200" dirty="0">
                <a:solidFill>
                  <a:srgbClr val="00B050"/>
                </a:solidFill>
              </a:rPr>
              <a:t> = </a:t>
            </a:r>
            <a:r>
              <a:rPr lang="en-US" sz="1200" dirty="0">
                <a:solidFill>
                  <a:srgbClr val="00B050"/>
                </a:solidFill>
              </a:rPr>
              <a:t>indicates that the database file can only be accessed by //the calling application or all applications sharing the same user ID</a:t>
            </a:r>
            <a:endParaRPr lang="en-US" altLang="en-US" sz="12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800" b="1" dirty="0" err="1"/>
              <a:t>db</a:t>
            </a:r>
            <a:r>
              <a:rPr lang="en-US" sz="1800" b="1" dirty="0"/>
              <a:t>=</a:t>
            </a:r>
            <a:r>
              <a:rPr lang="en-US" sz="1800" b="1" dirty="0" err="1"/>
              <a:t>openOrCreateDatabase</a:t>
            </a:r>
            <a:r>
              <a:rPr lang="en-US" sz="1800" b="1" dirty="0"/>
              <a:t>("</a:t>
            </a:r>
            <a:r>
              <a:rPr lang="en-US" sz="1800" b="1" i="1" dirty="0" err="1"/>
              <a:t>StudentDB</a:t>
            </a:r>
            <a:r>
              <a:rPr lang="en-US" sz="1800" b="1" dirty="0"/>
              <a:t>", </a:t>
            </a:r>
            <a:r>
              <a:rPr lang="en-US" sz="1800" b="1" dirty="0" err="1"/>
              <a:t>Context.MODE_PRIVATE</a:t>
            </a:r>
            <a:r>
              <a:rPr lang="en-US" sz="1800" b="1" dirty="0"/>
              <a:t>,);</a:t>
            </a:r>
          </a:p>
          <a:p>
            <a:pPr>
              <a:buNone/>
            </a:pPr>
            <a:endParaRPr lang="en-US" sz="1800" dirty="0"/>
          </a:p>
          <a:p>
            <a:pPr>
              <a:spcBef>
                <a:spcPct val="0"/>
              </a:spcBef>
              <a:buNone/>
            </a:pPr>
            <a:r>
              <a:rPr lang="en-US" sz="1200" dirty="0">
                <a:solidFill>
                  <a:srgbClr val="00B050"/>
                </a:solidFill>
              </a:rPr>
              <a:t>//</a:t>
            </a:r>
            <a:r>
              <a:rPr lang="en-US" sz="1200" dirty="0" err="1">
                <a:solidFill>
                  <a:srgbClr val="00B050"/>
                </a:solidFill>
              </a:rPr>
              <a:t>execSQL</a:t>
            </a:r>
            <a:r>
              <a:rPr lang="en-US" sz="1200" dirty="0">
                <a:solidFill>
                  <a:srgbClr val="00B050"/>
                </a:solidFill>
              </a:rPr>
              <a:t> executes any </a:t>
            </a:r>
            <a:r>
              <a:rPr lang="en-US" sz="1200" dirty="0" err="1">
                <a:solidFill>
                  <a:srgbClr val="00B050"/>
                </a:solidFill>
              </a:rPr>
              <a:t>sql</a:t>
            </a:r>
            <a:r>
              <a:rPr lang="en-US" sz="1200" dirty="0">
                <a:solidFill>
                  <a:srgbClr val="00B050"/>
                </a:solidFill>
              </a:rPr>
              <a:t> command</a:t>
            </a:r>
          </a:p>
          <a:p>
            <a:pPr>
              <a:buNone/>
            </a:pPr>
            <a:r>
              <a:rPr lang="en-US" sz="1800" b="1" dirty="0" err="1"/>
              <a:t>db.execSQL</a:t>
            </a:r>
            <a:r>
              <a:rPr lang="en-US" sz="1800" b="1" dirty="0"/>
              <a:t>("CREATE TABLE IF NOT EXISTS student(</a:t>
            </a:r>
            <a:r>
              <a:rPr lang="en-US" sz="1800" b="1" i="1" dirty="0" err="1"/>
              <a:t>uob_no</a:t>
            </a:r>
            <a:r>
              <a:rPr lang="en-US" sz="1800" b="1" i="1" dirty="0"/>
              <a:t> </a:t>
            </a:r>
            <a:r>
              <a:rPr lang="en-US" sz="1800" b="1" dirty="0" err="1"/>
              <a:t>VARCHAR,</a:t>
            </a:r>
            <a:r>
              <a:rPr lang="en-US" sz="1800" b="1" i="1" dirty="0" err="1"/>
              <a:t>name</a:t>
            </a:r>
            <a:r>
              <a:rPr lang="en-US" sz="1800" b="1" dirty="0"/>
              <a:t> </a:t>
            </a:r>
            <a:r>
              <a:rPr lang="en-US" sz="1800" b="1" dirty="0" err="1"/>
              <a:t>VARCHAR,</a:t>
            </a:r>
            <a:r>
              <a:rPr lang="en-US" sz="1800" b="1" i="1" dirty="0" err="1"/>
              <a:t>marks</a:t>
            </a:r>
            <a:r>
              <a:rPr lang="en-US" sz="1800" b="1" dirty="0"/>
              <a:t> VARCHAR);");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7289A8-E003-7331-DBC9-A59F0BFF12BB}"/>
              </a:ext>
            </a:extLst>
          </p:cNvPr>
          <p:cNvSpPr txBox="1">
            <a:spLocks/>
          </p:cNvSpPr>
          <p:nvPr/>
        </p:nvSpPr>
        <p:spPr bwMode="auto">
          <a:xfrm>
            <a:off x="182172" y="1309047"/>
            <a:ext cx="10300913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Option 1: </a:t>
            </a:r>
            <a:r>
              <a:rPr lang="en-US" altLang="en-US" sz="2400" i="1" dirty="0" err="1">
                <a:solidFill>
                  <a:schemeClr val="accent2"/>
                </a:solidFill>
                <a:latin typeface="Georgia" charset="0"/>
                <a:ea typeface="MS PGothic" charset="-128"/>
              </a:rPr>
              <a:t>openOrCreateDatabase</a:t>
            </a:r>
            <a:r>
              <a:rPr lang="en-US" altLang="en-US" sz="2400" i="1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09630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9019-E913-876E-7961-E8D422DD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FD76B-CEED-BF8A-8C01-59A614206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47799B-2EAB-F985-CC91-9FAA6441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Building the SQLite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3531B0-4189-F09A-9C75-2D24CDDBE314}"/>
              </a:ext>
            </a:extLst>
          </p:cNvPr>
          <p:cNvSpPr txBox="1">
            <a:spLocks/>
          </p:cNvSpPr>
          <p:nvPr/>
        </p:nvSpPr>
        <p:spPr bwMode="auto">
          <a:xfrm>
            <a:off x="24409" y="1363545"/>
            <a:ext cx="9649071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0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Option 2: </a:t>
            </a:r>
            <a:r>
              <a:rPr lang="en-US" sz="2000" i="1" dirty="0" err="1">
                <a:solidFill>
                  <a:schemeClr val="accent2"/>
                </a:solidFill>
              </a:rPr>
              <a:t>SQLiteOpenHelper</a:t>
            </a:r>
            <a:endParaRPr lang="en-US" altLang="en-US" sz="2000" i="1" dirty="0">
              <a:solidFill>
                <a:schemeClr val="accent2"/>
              </a:solidFill>
              <a:latin typeface="Georgia" charset="0"/>
              <a:ea typeface="MS PGothic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551CA9-08DB-F514-DD2E-1B87F23C4F83}"/>
              </a:ext>
            </a:extLst>
          </p:cNvPr>
          <p:cNvSpPr txBox="1">
            <a:spLocks/>
          </p:cNvSpPr>
          <p:nvPr/>
        </p:nvSpPr>
        <p:spPr bwMode="auto">
          <a:xfrm>
            <a:off x="24409" y="1884190"/>
            <a:ext cx="9857183" cy="485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40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3800" dirty="0"/>
              <a:t>Public class </a:t>
            </a:r>
            <a:r>
              <a:rPr lang="en-US" sz="3800" b="1" i="1" dirty="0" err="1"/>
              <a:t>DatabaseOpenHelper</a:t>
            </a:r>
            <a:r>
              <a:rPr lang="en-US" sz="3800" dirty="0"/>
              <a:t> extends </a:t>
            </a:r>
            <a:r>
              <a:rPr lang="en-US" sz="3800" b="1" i="1" dirty="0" err="1"/>
              <a:t>SQLiteOpenHelper</a:t>
            </a:r>
            <a:r>
              <a:rPr lang="en-US" sz="3800" dirty="0"/>
              <a:t> {</a:t>
            </a:r>
          </a:p>
          <a:p>
            <a:pPr marL="0" indent="0">
              <a:buFont typeface="Arial" charset="0"/>
              <a:buNone/>
            </a:pPr>
            <a:r>
              <a:rPr lang="en-US" sz="4500" dirty="0"/>
              <a:t>final private static String </a:t>
            </a:r>
            <a:r>
              <a:rPr lang="en-US" sz="4500" b="1" i="1" dirty="0"/>
              <a:t>CREATE_DB </a:t>
            </a:r>
            <a:r>
              <a:rPr lang="en-US" sz="4500" i="1" dirty="0"/>
              <a:t>= "CREATE TABLE IF NOT EXISTS student (</a:t>
            </a:r>
            <a:r>
              <a:rPr lang="en-US" sz="4500" i="1" dirty="0" err="1"/>
              <a:t>uob_no</a:t>
            </a:r>
            <a:r>
              <a:rPr lang="en-US" sz="4500" i="1" dirty="0"/>
              <a:t> </a:t>
            </a:r>
            <a:r>
              <a:rPr lang="en-US" sz="4500" i="1" dirty="0" err="1"/>
              <a:t>VARCHAR,name</a:t>
            </a:r>
            <a:r>
              <a:rPr lang="en-US" sz="4500" i="1" dirty="0"/>
              <a:t> </a:t>
            </a:r>
            <a:r>
              <a:rPr lang="en-US" sz="4500" i="1" dirty="0" err="1"/>
              <a:t>VARCHAR,marks</a:t>
            </a:r>
            <a:r>
              <a:rPr lang="en-US" sz="4500" i="1" dirty="0"/>
              <a:t> VARCHAR)";</a:t>
            </a:r>
          </a:p>
          <a:p>
            <a:pPr marL="0" indent="0">
              <a:buFont typeface="Arial" charset="0"/>
              <a:buNone/>
            </a:pPr>
            <a:endParaRPr lang="en-US" sz="2100" dirty="0"/>
          </a:p>
          <a:p>
            <a:pPr marL="0" indent="0">
              <a:buFont typeface="Arial" charset="0"/>
              <a:buNone/>
            </a:pPr>
            <a:r>
              <a:rPr lang="en-US" sz="3500" dirty="0"/>
              <a:t>//”student” = name of the database; 1 = version of the </a:t>
            </a:r>
            <a:r>
              <a:rPr lang="en-US" sz="3500" dirty="0" err="1"/>
              <a:t>db</a:t>
            </a:r>
            <a:r>
              <a:rPr lang="en-US" sz="3500" dirty="0"/>
              <a:t>; </a:t>
            </a:r>
          </a:p>
          <a:p>
            <a:pPr marL="0" indent="0">
              <a:buFont typeface="Arial" charset="0"/>
              <a:buNone/>
            </a:pPr>
            <a:r>
              <a:rPr lang="en-US" sz="3800" dirty="0"/>
              <a:t>           </a:t>
            </a:r>
            <a:r>
              <a:rPr lang="en-US" sz="3800" b="1" i="1" dirty="0"/>
              <a:t>public </a:t>
            </a:r>
            <a:r>
              <a:rPr lang="en-US" sz="3800" b="1" i="1" dirty="0" err="1"/>
              <a:t>DatabaseOpenHelper</a:t>
            </a:r>
            <a:r>
              <a:rPr lang="en-US" sz="3800" b="1" i="1" dirty="0"/>
              <a:t> (Context context) {</a:t>
            </a:r>
          </a:p>
          <a:p>
            <a:pPr marL="0" indent="0">
              <a:buFont typeface="Arial" charset="0"/>
              <a:buNone/>
            </a:pPr>
            <a:r>
              <a:rPr lang="en-US" sz="3800" b="1" i="1" dirty="0"/>
              <a:t>		super(context, "student", null, 1);</a:t>
            </a:r>
          </a:p>
          <a:p>
            <a:pPr marL="0" indent="0">
              <a:buFont typeface="Arial" charset="0"/>
              <a:buNone/>
            </a:pPr>
            <a:r>
              <a:rPr lang="en-US" sz="3800" b="1" i="1" dirty="0"/>
              <a:t>	}</a:t>
            </a:r>
            <a:endParaRPr lang="en-US" sz="3800" dirty="0"/>
          </a:p>
          <a:p>
            <a:pPr marL="0" indent="0">
              <a:buFont typeface="Arial" charset="0"/>
              <a:buNone/>
            </a:pPr>
            <a:r>
              <a:rPr lang="en-US" sz="3800" dirty="0"/>
              <a:t>	</a:t>
            </a:r>
            <a:r>
              <a:rPr lang="en-US" sz="3800" b="1" i="1" dirty="0"/>
              <a:t>@Override</a:t>
            </a:r>
          </a:p>
          <a:p>
            <a:pPr marL="0" indent="0">
              <a:buFont typeface="Arial" charset="0"/>
              <a:buNone/>
            </a:pPr>
            <a:r>
              <a:rPr lang="en-US" sz="3800" b="1" i="1" dirty="0"/>
              <a:t>	public void </a:t>
            </a:r>
            <a:r>
              <a:rPr lang="en-US" sz="3800" b="1" i="1" dirty="0" err="1"/>
              <a:t>onCreate</a:t>
            </a:r>
            <a:r>
              <a:rPr lang="en-US" sz="3800" b="1" i="1" dirty="0"/>
              <a:t>(</a:t>
            </a:r>
            <a:r>
              <a:rPr lang="en-US" sz="3800" b="1" i="1" dirty="0" err="1"/>
              <a:t>SQLiteDatabase</a:t>
            </a:r>
            <a:r>
              <a:rPr lang="en-US" sz="3800" b="1" i="1" dirty="0"/>
              <a:t> </a:t>
            </a:r>
            <a:r>
              <a:rPr lang="en-US" sz="3800" b="1" i="1" dirty="0" err="1"/>
              <a:t>db</a:t>
            </a:r>
            <a:r>
              <a:rPr lang="en-US" sz="3800" b="1" i="1" dirty="0"/>
              <a:t>) {</a:t>
            </a:r>
          </a:p>
          <a:p>
            <a:pPr marL="0" indent="0">
              <a:buFont typeface="Arial" charset="0"/>
              <a:buNone/>
            </a:pPr>
            <a:r>
              <a:rPr lang="en-US" sz="3800" b="1" i="1" dirty="0"/>
              <a:t>		</a:t>
            </a:r>
            <a:r>
              <a:rPr lang="en-US" sz="3800" b="1" i="1" dirty="0" err="1"/>
              <a:t>db.execSQL</a:t>
            </a:r>
            <a:r>
              <a:rPr lang="en-US" sz="3800" b="1" i="1" dirty="0"/>
              <a:t>(CREATE_DB);</a:t>
            </a:r>
          </a:p>
          <a:p>
            <a:pPr marL="0" indent="0">
              <a:buFont typeface="Arial" charset="0"/>
              <a:buNone/>
            </a:pPr>
            <a:r>
              <a:rPr lang="en-US" sz="3800" b="1" i="1" dirty="0"/>
              <a:t>	}</a:t>
            </a:r>
            <a:endParaRPr lang="en-US" sz="3800" dirty="0"/>
          </a:p>
          <a:p>
            <a:pPr marL="0" indent="0">
              <a:buFont typeface="Arial" charset="0"/>
              <a:buNone/>
            </a:pPr>
            <a:r>
              <a:rPr lang="en-US" sz="3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083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A85B-32C8-F0FB-C520-64D89B63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2ED9-EB99-4E75-F8BA-BBD1AB3DDB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09BE0E2-25C1-C29D-E934-3CAD68D2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Building the SQLite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01752F-0920-4D46-AAEA-FE8ACFE8F7FA}"/>
              </a:ext>
            </a:extLst>
          </p:cNvPr>
          <p:cNvSpPr txBox="1">
            <a:spLocks/>
          </p:cNvSpPr>
          <p:nvPr/>
        </p:nvSpPr>
        <p:spPr bwMode="auto">
          <a:xfrm>
            <a:off x="-29547" y="1423814"/>
            <a:ext cx="9649071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0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Option 2: </a:t>
            </a:r>
            <a:r>
              <a:rPr lang="en-US" sz="2000" i="1" dirty="0" err="1">
                <a:solidFill>
                  <a:schemeClr val="accent2"/>
                </a:solidFill>
              </a:rPr>
              <a:t>SQLiteOpenHelper</a:t>
            </a:r>
            <a:endParaRPr lang="en-US" altLang="en-US" sz="2000" i="1" dirty="0">
              <a:solidFill>
                <a:schemeClr val="accent2"/>
              </a:solidFill>
              <a:latin typeface="Georgia" charset="0"/>
              <a:ea typeface="MS PGothic" charset="-12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CEE031-CC82-7B6F-F5D8-A06C7FD8A217}"/>
              </a:ext>
            </a:extLst>
          </p:cNvPr>
          <p:cNvSpPr txBox="1">
            <a:spLocks/>
          </p:cNvSpPr>
          <p:nvPr/>
        </p:nvSpPr>
        <p:spPr bwMode="auto">
          <a:xfrm>
            <a:off x="240736" y="2204864"/>
            <a:ext cx="9378787" cy="331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/>
              <a:t>Then your controller class will have..</a:t>
            </a:r>
          </a:p>
          <a:p>
            <a:pPr marL="0" indent="0">
              <a:buFont typeface="Arial" charset="0"/>
              <a:buNone/>
            </a:pPr>
            <a:endParaRPr lang="en-US" sz="1050" dirty="0"/>
          </a:p>
          <a:p>
            <a:pPr marL="0" indent="0">
              <a:buFont typeface="Arial" charset="0"/>
              <a:buNone/>
            </a:pPr>
            <a:r>
              <a:rPr lang="en-US" sz="2000" b="1" i="1" dirty="0" err="1"/>
              <a:t>DatabaseOpenHelper</a:t>
            </a:r>
            <a:r>
              <a:rPr lang="en-US" sz="2200" dirty="0"/>
              <a:t> </a:t>
            </a:r>
            <a:r>
              <a:rPr lang="en-US" sz="2000" u="sng" dirty="0" err="1"/>
              <a:t>sqLiteProjHelper</a:t>
            </a:r>
            <a:r>
              <a:rPr lang="en-US" sz="2200" u="sng" dirty="0"/>
              <a:t> = </a:t>
            </a:r>
            <a:r>
              <a:rPr lang="en-US" sz="2000" b="1" u="sng" dirty="0"/>
              <a:t>new </a:t>
            </a:r>
            <a:r>
              <a:rPr lang="en-US" sz="2000" b="1" i="1" dirty="0" err="1"/>
              <a:t>DatabaseOpenHelper</a:t>
            </a:r>
            <a:r>
              <a:rPr lang="en-US" sz="2000" b="1" i="1" dirty="0"/>
              <a:t>(this)</a:t>
            </a:r>
            <a:r>
              <a:rPr lang="en-US" sz="2000" b="1" i="1" u="sng" dirty="0"/>
              <a:t>;</a:t>
            </a:r>
            <a:endParaRPr lang="en-US" sz="2000" b="1" i="1" dirty="0"/>
          </a:p>
          <a:p>
            <a:pPr marL="0" indent="0">
              <a:buFont typeface="Arial" charset="0"/>
              <a:buNone/>
            </a:pPr>
            <a:endParaRPr lang="en-US" sz="1100" dirty="0"/>
          </a:p>
          <a:p>
            <a:pPr marL="0" indent="0">
              <a:buFont typeface="Arial" charset="0"/>
              <a:buNone/>
            </a:pPr>
            <a:r>
              <a:rPr lang="en-US" sz="2200" dirty="0" err="1"/>
              <a:t>db</a:t>
            </a:r>
            <a:r>
              <a:rPr lang="en-US" sz="2200" dirty="0"/>
              <a:t> = </a:t>
            </a:r>
            <a:r>
              <a:rPr lang="en-US" sz="2200" b="1" i="1" dirty="0" err="1"/>
              <a:t>sqLiteProjHelper</a:t>
            </a:r>
            <a:r>
              <a:rPr lang="en-US" sz="2200" dirty="0" err="1"/>
              <a:t>.getWritableDatabase</a:t>
            </a:r>
            <a:r>
              <a:rPr lang="en-US" sz="22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20467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4D26-BEF7-C5F7-0384-70015914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93A4E-100A-C7CC-4959-5FAD6A2573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B7D393-F47F-E600-B7F7-839D28A0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</a:rPr>
              <a:t>Creating Tables in SQLite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3A82E5-6C2C-66A1-4279-2BFB347E6BCC}"/>
              </a:ext>
            </a:extLst>
          </p:cNvPr>
          <p:cNvSpPr txBox="1">
            <a:spLocks/>
          </p:cNvSpPr>
          <p:nvPr/>
        </p:nvSpPr>
        <p:spPr bwMode="auto">
          <a:xfrm>
            <a:off x="128464" y="1340768"/>
            <a:ext cx="960701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/>
              <a:t>Create a static string containing the SQLite CREATE statement, use the execSQL( ) method to execute it.</a:t>
            </a:r>
            <a:endParaRPr lang="en-US" alt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ABA34D3E-D110-5BBF-A2B2-5A96D745E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3" y="2708920"/>
            <a:ext cx="964445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ea typeface="Lucida Sans Unicode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1400" i="1" dirty="0">
                <a:ea typeface="Lucida Sans Unicode" charset="0"/>
              </a:rPr>
              <a:t>String query = "CREATE TABLE IF NOT EXISTS student (</a:t>
            </a:r>
            <a:r>
              <a:rPr lang="en-US" sz="1400" i="1" dirty="0" err="1">
                <a:ea typeface="Lucida Sans Unicode" charset="0"/>
              </a:rPr>
              <a:t>uob_no</a:t>
            </a:r>
            <a:r>
              <a:rPr lang="en-US" sz="1400" i="1" dirty="0">
                <a:ea typeface="Lucida Sans Unicode" charset="0"/>
              </a:rPr>
              <a:t> </a:t>
            </a:r>
            <a:r>
              <a:rPr lang="en-US" sz="1400" i="1" dirty="0" err="1">
                <a:ea typeface="Lucida Sans Unicode" charset="0"/>
              </a:rPr>
              <a:t>VARCHAR,name</a:t>
            </a:r>
            <a:r>
              <a:rPr lang="en-US" sz="1400" i="1" dirty="0">
                <a:ea typeface="Lucida Sans Unicode" charset="0"/>
              </a:rPr>
              <a:t> </a:t>
            </a:r>
            <a:r>
              <a:rPr lang="en-US" sz="1400" i="1" dirty="0" err="1">
                <a:ea typeface="Lucida Sans Unicode" charset="0"/>
              </a:rPr>
              <a:t>VARCHAR,marks</a:t>
            </a:r>
            <a:r>
              <a:rPr lang="en-US" sz="1400" i="1" dirty="0">
                <a:ea typeface="Lucida Sans Unicode" charset="0"/>
              </a:rPr>
              <a:t> VARCHAR)";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ea typeface="Lucida Sans Unicode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ea typeface="Lucida Sans Unicode" charset="0"/>
              </a:rPr>
              <a:t>String query = "CREAT TABLE   authors (id  INTEGER PRIMARY KEY AUTOINCREMENT,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ea typeface="Lucida Sans Unicode" charset="0"/>
              </a:rPr>
              <a:t>                                         </a:t>
            </a:r>
            <a:r>
              <a:rPr lang="en-US" altLang="en-US" sz="1400" dirty="0" err="1">
                <a:ea typeface="Lucida Sans Unicode" charset="0"/>
              </a:rPr>
              <a:t>fname</a:t>
            </a:r>
            <a:r>
              <a:rPr lang="en-US" altLang="en-US" sz="1400" dirty="0">
                <a:ea typeface="Lucida Sans Unicode" charset="0"/>
              </a:rPr>
              <a:t>  TEXT,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>
                <a:ea typeface="Lucida Sans Unicode" charset="0"/>
              </a:rPr>
              <a:t>                                          </a:t>
            </a:r>
            <a:r>
              <a:rPr lang="en-US" altLang="en-US" sz="1400" dirty="0" err="1">
                <a:ea typeface="Lucida Sans Unicode" charset="0"/>
              </a:rPr>
              <a:t>lname</a:t>
            </a:r>
            <a:r>
              <a:rPr lang="en-US" altLang="en-US" sz="1400" dirty="0">
                <a:ea typeface="Lucida Sans Unicode" charset="0"/>
              </a:rPr>
              <a:t>  TEXT);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ea typeface="Lucida Sans Unicode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ea typeface="Lucida Sans Unicode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400" b="1" dirty="0" err="1">
                <a:ea typeface="Lucida Sans Unicode" charset="0"/>
              </a:rPr>
              <a:t>myDatabase.execSQL</a:t>
            </a:r>
            <a:r>
              <a:rPr lang="en-US" altLang="en-US" sz="1400" dirty="0">
                <a:ea typeface="Lucida Sans Unicode" charset="0"/>
              </a:rPr>
              <a:t>(query);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ea typeface="Lucida Sans Unicode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4644CE-E43D-B50D-9116-4274D2FB954F}"/>
              </a:ext>
            </a:extLst>
          </p:cNvPr>
          <p:cNvSpPr/>
          <p:nvPr/>
        </p:nvSpPr>
        <p:spPr>
          <a:xfrm>
            <a:off x="1388095" y="5784795"/>
            <a:ext cx="64806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https://www.youtube.com/watch?v=312RhjfetP8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32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BA8B-14F6-AF7F-5B71-C03E1E55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FCD9-2084-F296-AE43-33FEE10BB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2A52A2-3CD1-EC53-B805-B0FD7D66246D}"/>
              </a:ext>
            </a:extLst>
          </p:cNvPr>
          <p:cNvSpPr/>
          <p:nvPr/>
        </p:nvSpPr>
        <p:spPr>
          <a:xfrm>
            <a:off x="223163" y="1390160"/>
            <a:ext cx="19046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insert( )</a:t>
            </a:r>
            <a:endParaRPr lang="en-GB" sz="3200" b="1" dirty="0">
              <a:solidFill>
                <a:schemeClr val="accent2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E056A5-DDB5-C290-67DB-7EBE4B336B60}"/>
              </a:ext>
            </a:extLst>
          </p:cNvPr>
          <p:cNvSpPr txBox="1">
            <a:spLocks/>
          </p:cNvSpPr>
          <p:nvPr/>
        </p:nvSpPr>
        <p:spPr bwMode="auto">
          <a:xfrm>
            <a:off x="34753" y="2280421"/>
            <a:ext cx="8991600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>
                <a:latin typeface="Lucida Sans Unicode" charset="0"/>
                <a:ea typeface="MS PGothic" charset="-128"/>
                <a:cs typeface="Lucida Sans Unicode" charset="0"/>
              </a:rPr>
              <a:t>long  insert(String table, String nullColumnHack, ContentValues values)</a:t>
            </a:r>
            <a:endParaRPr lang="en-US" altLang="en-US" sz="1800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AB2A4-E4E3-9F4C-487C-B0D92AE10A18}"/>
              </a:ext>
            </a:extLst>
          </p:cNvPr>
          <p:cNvSpPr txBox="1"/>
          <p:nvPr/>
        </p:nvSpPr>
        <p:spPr>
          <a:xfrm>
            <a:off x="271481" y="3228832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1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14072696-C4D1-365D-1E41-B944818EA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713" y="3037859"/>
            <a:ext cx="68580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latin typeface="Calibri" charset="0"/>
                <a:ea typeface="Calibri" charset="0"/>
                <a:cs typeface="Calibri" charset="0"/>
              </a:rPr>
              <a:t>import  </a:t>
            </a:r>
            <a:r>
              <a:rPr lang="en-US" altLang="en-US" sz="2000" b="1" i="1" dirty="0" err="1">
                <a:latin typeface="Calibri" charset="0"/>
                <a:ea typeface="Calibri" charset="0"/>
                <a:cs typeface="Calibri" charset="0"/>
              </a:rPr>
              <a:t>android.content.ContentValues</a:t>
            </a:r>
            <a:r>
              <a:rPr lang="en-US" altLang="en-US" sz="2000" b="1" i="1" dirty="0">
                <a:latin typeface="Calibri" charset="0"/>
                <a:ea typeface="Calibri" charset="0"/>
                <a:cs typeface="Calibri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dirty="0">
              <a:latin typeface="Calibri" charset="0"/>
              <a:ea typeface="Calibri" charset="0"/>
              <a:cs typeface="Calibri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 err="1">
                <a:latin typeface="Calibri" charset="0"/>
                <a:ea typeface="Calibri" charset="0"/>
                <a:cs typeface="Calibri" charset="0"/>
              </a:rPr>
              <a:t>ContentValues</a:t>
            </a:r>
            <a:r>
              <a:rPr lang="en-US" altLang="en-US" sz="1800" dirty="0">
                <a:latin typeface="Calibri" charset="0"/>
                <a:ea typeface="Calibri" charset="0"/>
                <a:cs typeface="Calibri" charset="0"/>
              </a:rPr>
              <a:t>  values = </a:t>
            </a:r>
            <a:r>
              <a:rPr lang="en-US" altLang="en-US" sz="1800" b="1" i="1" dirty="0">
                <a:latin typeface="Calibri" charset="0"/>
                <a:ea typeface="Calibri" charset="0"/>
                <a:cs typeface="Calibri" charset="0"/>
              </a:rPr>
              <a:t>new</a:t>
            </a:r>
            <a:r>
              <a:rPr lang="en-US" altLang="en-US" sz="1800" dirty="0">
                <a:latin typeface="Calibri" charset="0"/>
                <a:ea typeface="Calibri" charset="0"/>
                <a:cs typeface="Calibri" charset="0"/>
              </a:rPr>
              <a:t>  </a:t>
            </a:r>
            <a:r>
              <a:rPr lang="en-US" altLang="en-US" sz="1800" b="1" i="1" dirty="0" err="1">
                <a:latin typeface="Calibri" charset="0"/>
                <a:ea typeface="Calibri" charset="0"/>
                <a:cs typeface="Calibri" charset="0"/>
              </a:rPr>
              <a:t>ContentValues</a:t>
            </a:r>
            <a:r>
              <a:rPr lang="en-US" altLang="en-US" sz="1800" b="1" i="1" dirty="0">
                <a:latin typeface="Calibri" charset="0"/>
                <a:ea typeface="Calibri" charset="0"/>
                <a:cs typeface="Calibri" charset="0"/>
              </a:rPr>
              <a:t>( 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libri" charset="0"/>
                <a:ea typeface="Calibri" charset="0"/>
                <a:cs typeface="Calibri" charset="0"/>
              </a:rPr>
              <a:t>values.put</a:t>
            </a:r>
            <a:r>
              <a:rPr lang="en-US" altLang="en-US" sz="1800" dirty="0">
                <a:latin typeface="Calibri" charset="0"/>
                <a:ea typeface="Calibri" charset="0"/>
                <a:cs typeface="Calibri" charset="0"/>
              </a:rPr>
              <a:t>(”id" , ”1");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libri" charset="0"/>
                <a:ea typeface="Calibri" charset="0"/>
                <a:cs typeface="Calibri" charset="0"/>
              </a:rPr>
              <a:t>values.put</a:t>
            </a:r>
            <a:r>
              <a:rPr lang="en-US" altLang="en-US" sz="1800" dirty="0">
                <a:latin typeface="Calibri" charset="0"/>
                <a:ea typeface="Calibri" charset="0"/>
                <a:cs typeface="Calibri" charset="0"/>
              </a:rPr>
              <a:t>(”name" , ”Mike");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libri" charset="0"/>
                <a:ea typeface="Calibri" charset="0"/>
                <a:cs typeface="Calibri" charset="0"/>
              </a:rPr>
              <a:t>myDatabase.insert</a:t>
            </a:r>
            <a:r>
              <a:rPr lang="en-US" altLang="en-US" sz="1800" dirty="0">
                <a:latin typeface="Calibri" charset="0"/>
                <a:ea typeface="Calibri" charset="0"/>
                <a:cs typeface="Calibri" charset="0"/>
              </a:rPr>
              <a:t>(”student" , "" , values);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4B5CF-1A42-BC02-3EC5-6D78609A9ABC}"/>
              </a:ext>
            </a:extLst>
          </p:cNvPr>
          <p:cNvSpPr txBox="1"/>
          <p:nvPr/>
        </p:nvSpPr>
        <p:spPr>
          <a:xfrm>
            <a:off x="223163" y="5611886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6E85B-2AC9-009F-643E-D973B323DC7C}"/>
              </a:ext>
            </a:extLst>
          </p:cNvPr>
          <p:cNvSpPr txBox="1"/>
          <p:nvPr/>
        </p:nvSpPr>
        <p:spPr>
          <a:xfrm>
            <a:off x="1762689" y="5661248"/>
            <a:ext cx="665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ea typeface="Calibri" charset="0"/>
                <a:cs typeface="Calibri" charset="0"/>
              </a:rPr>
              <a:t>db.execSQL</a:t>
            </a:r>
            <a:r>
              <a:rPr lang="en-US" dirty="0">
                <a:ea typeface="Calibri" charset="0"/>
                <a:cs typeface="Calibri" charset="0"/>
              </a:rPr>
              <a:t>("INSERT INTO student VALUES (‘1’,’Mike’, ‘100’</a:t>
            </a:r>
            <a:r>
              <a:rPr lang="fr-FR" dirty="0">
                <a:ea typeface="Calibri" charset="0"/>
                <a:cs typeface="Calibri" charset="0"/>
              </a:rPr>
              <a:t>);</a:t>
            </a:r>
            <a:endParaRPr lang="en-US" dirty="0">
              <a:ea typeface="Calibri" charset="0"/>
              <a:cs typeface="Calibri" charset="0"/>
            </a:endParaRP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0C0CA3F0-F7D8-2795-7EE1-AC2D5492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</a:rPr>
              <a:t>Creating Tables in SQLite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91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775C6-E2E4-4701-5C0A-20D756EB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094E-EFDC-66F2-125D-8669F4C87B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5F259B-DAD9-5E9D-5FEF-538E46ECC3BE}"/>
              </a:ext>
            </a:extLst>
          </p:cNvPr>
          <p:cNvSpPr txBox="1">
            <a:spLocks/>
          </p:cNvSpPr>
          <p:nvPr/>
        </p:nvSpPr>
        <p:spPr bwMode="auto">
          <a:xfrm>
            <a:off x="76622" y="1345325"/>
            <a:ext cx="848518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3200" dirty="0">
                <a:solidFill>
                  <a:schemeClr val="accent2"/>
                </a:solidFill>
                <a:latin typeface="Georgia" charset="0"/>
                <a:ea typeface="MS PGothic" charset="-128"/>
              </a:rPr>
              <a:t>update( 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A6467-7E0A-551A-D71A-723F3C4E45A1}"/>
              </a:ext>
            </a:extLst>
          </p:cNvPr>
          <p:cNvSpPr txBox="1">
            <a:spLocks/>
          </p:cNvSpPr>
          <p:nvPr/>
        </p:nvSpPr>
        <p:spPr bwMode="auto">
          <a:xfrm>
            <a:off x="76622" y="2016188"/>
            <a:ext cx="905741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int  update(String table, </a:t>
            </a:r>
            <a:r>
              <a:rPr lang="en-US" altLang="en-US" sz="2000" dirty="0" err="1">
                <a:latin typeface="Lucida Sans Unicode" charset="0"/>
                <a:ea typeface="MS PGothic" charset="-128"/>
                <a:cs typeface="Lucida Sans Unicode" charset="0"/>
              </a:rPr>
              <a:t>ContentValues</a:t>
            </a: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 values, String </a:t>
            </a:r>
            <a:r>
              <a:rPr lang="en-US" altLang="en-US" sz="2000" dirty="0" err="1">
                <a:latin typeface="Lucida Sans Unicode" charset="0"/>
                <a:ea typeface="MS PGothic" charset="-128"/>
                <a:cs typeface="Lucida Sans Unicode" charset="0"/>
              </a:rPr>
              <a:t>whereClause</a:t>
            </a: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, String[ ] </a:t>
            </a:r>
            <a:r>
              <a:rPr lang="en-US" altLang="en-US" sz="2000" dirty="0" err="1">
                <a:latin typeface="Lucida Sans Unicode" charset="0"/>
                <a:ea typeface="MS PGothic" charset="-128"/>
                <a:cs typeface="Lucida Sans Unicode" charset="0"/>
              </a:rPr>
              <a:t>whereArgs</a:t>
            </a: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A0FDA-9031-35E1-B8A7-F30E3F57DDA1}"/>
              </a:ext>
            </a:extLst>
          </p:cNvPr>
          <p:cNvSpPr txBox="1"/>
          <p:nvPr/>
        </p:nvSpPr>
        <p:spPr>
          <a:xfrm>
            <a:off x="416496" y="3504741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66D56-BF79-449D-3DF9-19012D2338D7}"/>
              </a:ext>
            </a:extLst>
          </p:cNvPr>
          <p:cNvSpPr txBox="1"/>
          <p:nvPr/>
        </p:nvSpPr>
        <p:spPr>
          <a:xfrm>
            <a:off x="344746" y="5303556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2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28AA4DDC-D88E-FD2B-F426-D56E68BE6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664" y="3429000"/>
            <a:ext cx="856672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 err="1">
                <a:latin typeface="Georgia" panose="02040502050405020303" pitchFamily="18" charset="0"/>
                <a:ea typeface="Calibri" charset="0"/>
                <a:cs typeface="Calibri" charset="0"/>
              </a:rPr>
              <a:t>ContentValues</a:t>
            </a: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  values = </a:t>
            </a:r>
            <a:r>
              <a:rPr lang="en-US" altLang="en-US" sz="1800" b="1" i="1" dirty="0">
                <a:latin typeface="Georgia" panose="02040502050405020303" pitchFamily="18" charset="0"/>
                <a:ea typeface="Calibri" charset="0"/>
                <a:cs typeface="Calibri" charset="0"/>
              </a:rPr>
              <a:t>new </a:t>
            </a:r>
            <a:r>
              <a:rPr lang="en-US" altLang="en-US" sz="1800" b="1" i="1" dirty="0" err="1">
                <a:latin typeface="Georgia" panose="02040502050405020303" pitchFamily="18" charset="0"/>
                <a:ea typeface="Calibri" charset="0"/>
                <a:cs typeface="Calibri" charset="0"/>
              </a:rPr>
              <a:t>ContentValues</a:t>
            </a:r>
            <a:r>
              <a:rPr lang="en-US" altLang="en-US" sz="1800" b="1" i="1" dirty="0">
                <a:latin typeface="Georgia" panose="02040502050405020303" pitchFamily="18" charset="0"/>
                <a:ea typeface="Calibri" charset="0"/>
                <a:cs typeface="Calibri" charset="0"/>
              </a:rPr>
              <a:t>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 </a:t>
            </a:r>
            <a:r>
              <a:rPr lang="en-US" altLang="en-US" sz="1800" dirty="0" err="1">
                <a:latin typeface="Georgia" panose="02040502050405020303" pitchFamily="18" charset="0"/>
                <a:ea typeface="Calibri" charset="0"/>
                <a:cs typeface="Calibri" charset="0"/>
              </a:rPr>
              <a:t>values.put</a:t>
            </a: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(”name" , “Mark”);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 </a:t>
            </a:r>
            <a:r>
              <a:rPr lang="en-US" altLang="en-US" sz="1800" dirty="0" err="1">
                <a:latin typeface="Georgia" panose="02040502050405020303" pitchFamily="18" charset="0"/>
                <a:ea typeface="Calibri" charset="0"/>
                <a:cs typeface="Calibri" charset="0"/>
              </a:rPr>
              <a:t>myDatabase.update</a:t>
            </a: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(”student" ,  values , {”</a:t>
            </a:r>
            <a:r>
              <a:rPr lang="en-US" altLang="en-US" sz="1800" dirty="0" err="1">
                <a:latin typeface="Georgia" panose="02040502050405020303" pitchFamily="18" charset="0"/>
                <a:ea typeface="Calibri" charset="0"/>
                <a:cs typeface="Calibri" charset="0"/>
              </a:rPr>
              <a:t>uob_no</a:t>
            </a:r>
            <a:r>
              <a:rPr lang="en-US" altLang="en-US" sz="1800" dirty="0">
                <a:latin typeface="Georgia" panose="02040502050405020303" pitchFamily="18" charset="0"/>
                <a:ea typeface="Calibri" charset="0"/>
                <a:cs typeface="Calibri" charset="0"/>
              </a:rPr>
              <a:t>=?" , “10” } );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D33299-8463-0B69-CD08-A550538E6FC2}"/>
              </a:ext>
            </a:extLst>
          </p:cNvPr>
          <p:cNvSpPr/>
          <p:nvPr/>
        </p:nvSpPr>
        <p:spPr>
          <a:xfrm>
            <a:off x="989960" y="5395893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3F7F5F"/>
              </a:solidFill>
              <a:latin typeface="Monaco" charset="0"/>
            </a:endParaRPr>
          </a:p>
          <a:p>
            <a:endParaRPr lang="en-US" dirty="0">
              <a:solidFill>
                <a:srgbClr val="3F7F5F"/>
              </a:solidFill>
              <a:latin typeface="Monaco" charset="0"/>
            </a:endParaRPr>
          </a:p>
          <a:p>
            <a:r>
              <a:rPr lang="en-US" dirty="0" err="1">
                <a:solidFill>
                  <a:srgbClr val="0000C0"/>
                </a:solidFill>
                <a:latin typeface="Georgia" panose="02040502050405020303" pitchFamily="18" charset="0"/>
                <a:ea typeface="Calibri" charset="0"/>
                <a:cs typeface="Calibri" charset="0"/>
              </a:rPr>
              <a:t>db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  <a:ea typeface="Calibri" charset="0"/>
                <a:cs typeface="Calibri" charset="0"/>
              </a:rPr>
              <a:t>.execSQL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  <a:ea typeface="Calibri" charset="0"/>
                <a:cs typeface="Calibri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Georgia" panose="02040502050405020303" pitchFamily="18" charset="0"/>
                <a:ea typeface="Calibri" charset="0"/>
                <a:cs typeface="Calibri" charset="0"/>
              </a:rPr>
              <a:t>"UPDATE student SET name= “Mark </a:t>
            </a:r>
            <a:r>
              <a:rPr lang="it-IT" dirty="0">
                <a:solidFill>
                  <a:srgbClr val="2A00FF"/>
                </a:solidFill>
                <a:latin typeface="Georgia" panose="02040502050405020303" pitchFamily="18" charset="0"/>
                <a:ea typeface="Calibri" charset="0"/>
                <a:cs typeface="Calibri" charset="0"/>
              </a:rPr>
              <a:t>WHERE uob_no=‘10’);</a:t>
            </a:r>
            <a:endParaRPr lang="en-US" dirty="0">
              <a:latin typeface="Georgia" panose="02040502050405020303" pitchFamily="18" charset="0"/>
              <a:ea typeface="Calibri" charset="0"/>
              <a:cs typeface="Calibri" charset="0"/>
            </a:endParaRPr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7051C46A-02A0-0482-10BC-0C925504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</a:rPr>
              <a:t>Creating Tables in SQLite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55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3271-F432-88B5-0C37-F7D65F75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7A15B-C60B-4CC2-D995-BA33F72228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B269697F-83EE-C292-F4AA-A86C037D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</a:rPr>
              <a:t>Creating Tables in SQLite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D85B5-5D8B-5943-C3BA-C113FA0865D0}"/>
              </a:ext>
            </a:extLst>
          </p:cNvPr>
          <p:cNvSpPr txBox="1">
            <a:spLocks/>
          </p:cNvSpPr>
          <p:nvPr/>
        </p:nvSpPr>
        <p:spPr bwMode="auto">
          <a:xfrm>
            <a:off x="92968" y="1314113"/>
            <a:ext cx="848518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3200">
                <a:solidFill>
                  <a:schemeClr val="accent2"/>
                </a:solidFill>
                <a:latin typeface="Georgia" charset="0"/>
                <a:ea typeface="MS PGothic" charset="-128"/>
              </a:rPr>
              <a:t>delete( )</a:t>
            </a:r>
            <a:endParaRPr lang="en-US" altLang="en-US" sz="3200" dirty="0">
              <a:solidFill>
                <a:schemeClr val="accent2"/>
              </a:solidFill>
              <a:latin typeface="Georgia" charset="0"/>
              <a:ea typeface="MS PGothic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F811-394C-16C3-7D06-27DE9DF55AD7}"/>
              </a:ext>
            </a:extLst>
          </p:cNvPr>
          <p:cNvSpPr txBox="1">
            <a:spLocks/>
          </p:cNvSpPr>
          <p:nvPr/>
        </p:nvSpPr>
        <p:spPr bwMode="auto">
          <a:xfrm>
            <a:off x="92968" y="2178209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>
                <a:latin typeface="Lucida Sans Unicode" charset="0"/>
                <a:ea typeface="MS PGothic" charset="-128"/>
                <a:cs typeface="Lucida Sans Unicode" charset="0"/>
              </a:rPr>
              <a:t>int  delete(String table, String whereClause, String[] whereArgs)</a:t>
            </a:r>
          </a:p>
          <a:p>
            <a:endParaRPr lang="en-US" altLang="en-US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B15C2-32B5-6966-9268-0FFE6D54B0C8}"/>
              </a:ext>
            </a:extLst>
          </p:cNvPr>
          <p:cNvSpPr txBox="1"/>
          <p:nvPr/>
        </p:nvSpPr>
        <p:spPr>
          <a:xfrm>
            <a:off x="437456" y="3296801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9DB5D-2A98-3A68-C3F2-86BD14246002}"/>
              </a:ext>
            </a:extLst>
          </p:cNvPr>
          <p:cNvSpPr txBox="1"/>
          <p:nvPr/>
        </p:nvSpPr>
        <p:spPr>
          <a:xfrm>
            <a:off x="398748" y="5113769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Option 2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22D09BF-E04F-5F2F-5088-F8E6A0E51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68" y="3717565"/>
            <a:ext cx="792088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Lucida Sans Unicode" charset="0"/>
                <a:ea typeface="MS PGothic" charset="-128"/>
                <a:cs typeface="Lucida Sans Unicode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Calibri" charset="0"/>
                <a:ea typeface="Calibri" charset="0"/>
                <a:cs typeface="Calibri" charset="0"/>
              </a:rPr>
              <a:t>myDatabase.delete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(”student" , “WHERE”, ”</a:t>
            </a:r>
            <a:r>
              <a:rPr lang="en-US" altLang="en-US" dirty="0" err="1">
                <a:latin typeface="Calibri" charset="0"/>
                <a:ea typeface="Calibri" charset="0"/>
                <a:cs typeface="Calibri" charset="0"/>
              </a:rPr>
              <a:t>uob_no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=?" , “10”) 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latin typeface="Times New Roman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78F43-1F5F-C993-31BC-DCEC22BD191A}"/>
              </a:ext>
            </a:extLst>
          </p:cNvPr>
          <p:cNvSpPr/>
          <p:nvPr/>
        </p:nvSpPr>
        <p:spPr>
          <a:xfrm>
            <a:off x="1208584" y="5642254"/>
            <a:ext cx="8139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C0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db</a:t>
            </a:r>
            <a:r>
              <a:rPr lang="en-US" sz="2000" dirty="0" err="1">
                <a:solidFill>
                  <a:srgbClr val="000000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.execSQL</a:t>
            </a:r>
            <a:r>
              <a:rPr lang="en-US" sz="2000" dirty="0">
                <a:solidFill>
                  <a:srgbClr val="000000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(</a:t>
            </a:r>
            <a:r>
              <a:rPr lang="en-US" sz="2000" dirty="0">
                <a:solidFill>
                  <a:srgbClr val="2A00FF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"DELETE FROM student WHERE </a:t>
            </a:r>
            <a:r>
              <a:rPr lang="en-US" sz="2000" dirty="0" err="1">
                <a:solidFill>
                  <a:srgbClr val="2A00FF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uob_no</a:t>
            </a:r>
            <a:r>
              <a:rPr lang="en-US" sz="2000" dirty="0">
                <a:solidFill>
                  <a:srgbClr val="2A00FF"/>
                </a:solidFill>
                <a:highlight>
                  <a:srgbClr val="E8F2FE"/>
                </a:highlight>
                <a:ea typeface="Calibri" charset="0"/>
                <a:cs typeface="Calibri" charset="0"/>
              </a:rPr>
              <a:t>=“10”)</a:t>
            </a:r>
            <a:endParaRPr lang="en-US" sz="2000" dirty="0"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46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3F7C-E108-B4AB-9F53-FF94089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DBFA3-A7BA-F1D3-21E4-46D0CF9E9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5732428-2BE9-8FF4-5686-81262ECD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Query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7967FC-C816-B689-D64C-7E5D042A4276}"/>
              </a:ext>
            </a:extLst>
          </p:cNvPr>
          <p:cNvSpPr txBox="1">
            <a:spLocks/>
          </p:cNvSpPr>
          <p:nvPr/>
        </p:nvSpPr>
        <p:spPr bwMode="auto">
          <a:xfrm>
            <a:off x="2091" y="1689482"/>
            <a:ext cx="9770830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48" indent="0">
              <a:buNone/>
            </a:pPr>
            <a:r>
              <a:rPr lang="en-US" sz="2000" b="1" dirty="0"/>
              <a:t>Cursor</a:t>
            </a:r>
            <a:r>
              <a:rPr lang="en-US" sz="2000" dirty="0"/>
              <a:t> c= </a:t>
            </a:r>
            <a:r>
              <a:rPr lang="en-US" sz="2000" b="1" i="1" dirty="0" err="1"/>
              <a:t>db.rawQuery</a:t>
            </a:r>
            <a:r>
              <a:rPr lang="en-US" sz="2000" dirty="0"/>
              <a:t>(</a:t>
            </a:r>
            <a:r>
              <a:rPr lang="en-US" sz="2000" b="1" dirty="0"/>
              <a:t>"SELECT * FROM student”</a:t>
            </a:r>
            <a:r>
              <a:rPr lang="en-US" sz="2000" dirty="0"/>
              <a:t>);</a:t>
            </a:r>
            <a:br>
              <a:rPr lang="en-US" dirty="0"/>
            </a:br>
            <a:endParaRPr lang="en-US" dirty="0"/>
          </a:p>
          <a:p>
            <a:pPr marL="82548" indent="0">
              <a:buNone/>
            </a:pPr>
            <a:r>
              <a:rPr lang="en-US" sz="2000" b="1" dirty="0"/>
              <a:t>Cursor</a:t>
            </a:r>
            <a:r>
              <a:rPr lang="en-US" sz="2000" dirty="0"/>
              <a:t> c= </a:t>
            </a:r>
            <a:r>
              <a:rPr lang="en-US" sz="2000" b="1" i="1" dirty="0" err="1"/>
              <a:t>db.rawQuery</a:t>
            </a:r>
            <a:r>
              <a:rPr lang="en-US" sz="2000" dirty="0"/>
              <a:t>(</a:t>
            </a:r>
            <a:r>
              <a:rPr lang="en-US" sz="2000" b="1" dirty="0"/>
              <a:t>"SELECT * FROM student WHERE </a:t>
            </a:r>
            <a:r>
              <a:rPr lang="en-US" sz="2000" b="1" dirty="0" err="1"/>
              <a:t>uob_no</a:t>
            </a:r>
            <a:r>
              <a:rPr lang="en-US" sz="2000" b="1" dirty="0"/>
              <a:t>=“1111”</a:t>
            </a:r>
            <a:r>
              <a:rPr lang="en-US" sz="2000" dirty="0"/>
              <a:t>);</a:t>
            </a:r>
          </a:p>
          <a:p>
            <a:endParaRPr lang="en-US" dirty="0"/>
          </a:p>
          <a:p>
            <a:pPr marL="0" indent="0">
              <a:buFont typeface="Arial" charset="0"/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27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179F-90DB-3B1B-F062-6C7FB7EF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679B0D-C1A8-D4B5-B775-7421B979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Few useful methods of Cursor class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0D0E01-86B6-CFB0-1176-E9B1A3012EFA}"/>
              </a:ext>
            </a:extLst>
          </p:cNvPr>
          <p:cNvSpPr txBox="1">
            <a:spLocks/>
          </p:cNvSpPr>
          <p:nvPr/>
        </p:nvSpPr>
        <p:spPr bwMode="auto">
          <a:xfrm>
            <a:off x="200472" y="1340768"/>
            <a:ext cx="9367853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/>
              <a:t>Cursor c;</a:t>
            </a:r>
          </a:p>
          <a:p>
            <a:pPr marL="0" indent="0">
              <a:buFont typeface="Arial" charset="0"/>
              <a:buNone/>
            </a:pPr>
            <a:endParaRPr lang="en-US" sz="2000"/>
          </a:p>
          <a:p>
            <a:pPr marL="0" indent="0">
              <a:buFont typeface="Arial" charset="0"/>
              <a:buNone/>
            </a:pPr>
            <a:r>
              <a:rPr lang="en-US" sz="2000"/>
              <a:t>If (</a:t>
            </a:r>
            <a:r>
              <a:rPr lang="en-US" sz="2000" b="1" i="1"/>
              <a:t>c.getCount()</a:t>
            </a:r>
            <a:r>
              <a:rPr lang="en-US" sz="2000"/>
              <a:t>==0) { //get the count of rows returned for a query }</a:t>
            </a:r>
          </a:p>
          <a:p>
            <a:pPr marL="0" indent="0">
              <a:buFont typeface="Arial" charset="0"/>
              <a:buNone/>
            </a:pPr>
            <a:endParaRPr lang="en-US" sz="2000"/>
          </a:p>
          <a:p>
            <a:pPr marL="0" indent="0">
              <a:buFont typeface="Arial" charset="0"/>
              <a:buNone/>
            </a:pPr>
            <a:r>
              <a:rPr lang="en-US" sz="2000" b="1" i="1"/>
              <a:t> while (c.moveToNext()) </a:t>
            </a:r>
            <a:r>
              <a:rPr lang="en-US" sz="2000"/>
              <a:t>{  //go through all the returned rows for a query }</a:t>
            </a:r>
          </a:p>
          <a:p>
            <a:pPr marL="0" indent="0">
              <a:buFont typeface="Arial" charset="0"/>
              <a:buNone/>
            </a:pPr>
            <a:endParaRPr lang="en-US" sz="2000"/>
          </a:p>
          <a:p>
            <a:pPr marL="0" indent="0">
              <a:buFont typeface="Arial" charset="0"/>
              <a:buNone/>
            </a:pPr>
            <a:r>
              <a:rPr lang="en-US" sz="2000"/>
              <a:t>If (</a:t>
            </a:r>
            <a:r>
              <a:rPr lang="en-US" sz="2000" b="1" i="1"/>
              <a:t>c.moveToNext()) </a:t>
            </a:r>
            <a:r>
              <a:rPr lang="en-US" sz="2000"/>
              <a:t>{ //does it at least have one record returned? }</a:t>
            </a:r>
          </a:p>
          <a:p>
            <a:pPr marL="0" indent="0">
              <a:buFont typeface="Arial" charset="0"/>
              <a:buNone/>
            </a:pPr>
            <a:endParaRPr lang="en-US" b="1"/>
          </a:p>
          <a:p>
            <a:pPr marL="0" indent="0">
              <a:buFont typeface="Arial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2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688EF-01BC-E576-161E-C688AA13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1207B-7B6A-5441-5CBC-B32995AC8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077E55-1635-2E7A-1171-9764EE94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an index?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AD77DF-6448-FFE3-1985-BAE33CD4542E}"/>
              </a:ext>
            </a:extLst>
          </p:cNvPr>
          <p:cNvSpPr txBox="1">
            <a:spLocks/>
          </p:cNvSpPr>
          <p:nvPr/>
        </p:nvSpPr>
        <p:spPr bwMode="auto">
          <a:xfrm>
            <a:off x="0" y="1484784"/>
            <a:ext cx="9906000" cy="4467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/>
              <a:t>db.execSQL</a:t>
            </a:r>
            <a:r>
              <a:rPr lang="en-US" sz="3200" dirty="0"/>
              <a:t>("CREATE TABLE IF NOT EXISTS student(</a:t>
            </a:r>
            <a:r>
              <a:rPr lang="en-US" sz="3200" dirty="0" err="1"/>
              <a:t>uob_no</a:t>
            </a:r>
            <a:r>
              <a:rPr lang="en-US" sz="3200" dirty="0"/>
              <a:t> VARCHAR, name VARCHAR, marks VARCHAR);");</a:t>
            </a:r>
          </a:p>
          <a:p>
            <a:endParaRPr lang="en-US" dirty="0"/>
          </a:p>
          <a:p>
            <a:r>
              <a:rPr lang="en-US" dirty="0"/>
              <a:t>To:</a:t>
            </a:r>
          </a:p>
          <a:p>
            <a:endParaRPr lang="en-US" dirty="0"/>
          </a:p>
          <a:p>
            <a:r>
              <a:rPr lang="en-US" sz="3200" dirty="0" err="1"/>
              <a:t>db.execSQL</a:t>
            </a:r>
            <a:r>
              <a:rPr lang="en-US" sz="3200" dirty="0"/>
              <a:t>("CREATE TABLE IF NOT EXISTS </a:t>
            </a:r>
            <a:r>
              <a:rPr lang="en-US" sz="3200" b="1" dirty="0"/>
              <a:t>student </a:t>
            </a:r>
            <a:r>
              <a:rPr lang="en-US" sz="3200" dirty="0"/>
              <a:t>(</a:t>
            </a:r>
            <a:r>
              <a:rPr lang="en-US" sz="3200" b="1" i="1" dirty="0"/>
              <a:t>id</a:t>
            </a:r>
            <a:r>
              <a:rPr lang="en-US" sz="3200" dirty="0"/>
              <a:t> INTEGER PRIMARY KEY, </a:t>
            </a:r>
            <a:r>
              <a:rPr lang="en-US" sz="3200" b="1" i="1" dirty="0" err="1"/>
              <a:t>uob_no</a:t>
            </a:r>
            <a:r>
              <a:rPr lang="en-US" sz="3200" b="1" i="1" dirty="0"/>
              <a:t> </a:t>
            </a:r>
            <a:r>
              <a:rPr lang="en-US" sz="3200" dirty="0" err="1"/>
              <a:t>VARCHAR,</a:t>
            </a:r>
            <a:r>
              <a:rPr lang="en-US" sz="3200" b="1" i="1" dirty="0" err="1"/>
              <a:t>name</a:t>
            </a:r>
            <a:r>
              <a:rPr lang="en-US" sz="3200" dirty="0"/>
              <a:t> </a:t>
            </a:r>
            <a:r>
              <a:rPr lang="en-US" sz="3200" dirty="0" err="1"/>
              <a:t>VARCHAR,</a:t>
            </a:r>
            <a:r>
              <a:rPr lang="en-US" sz="3200" b="1" i="1" dirty="0" err="1"/>
              <a:t>marks</a:t>
            </a:r>
            <a:r>
              <a:rPr lang="en-US" sz="3200" dirty="0"/>
              <a:t> VARCHAR);");</a:t>
            </a:r>
          </a:p>
          <a:p>
            <a:endParaRPr lang="en-US" dirty="0"/>
          </a:p>
          <a:p>
            <a:r>
              <a:rPr lang="en-US" sz="3200" dirty="0" err="1"/>
              <a:t>db.execSQL</a:t>
            </a:r>
            <a:r>
              <a:rPr lang="en-US" sz="3200" dirty="0"/>
              <a:t>("CREATE INDEX studentindex1 ON student (name);"); </a:t>
            </a:r>
          </a:p>
          <a:p>
            <a:r>
              <a:rPr lang="en-US" sz="3200" dirty="0" err="1"/>
              <a:t>db.execSQL</a:t>
            </a:r>
            <a:r>
              <a:rPr lang="en-US" sz="3200" dirty="0"/>
              <a:t>("CREATE INDEX studentindex2 ON student (</a:t>
            </a:r>
            <a:r>
              <a:rPr lang="en-US" sz="3200" dirty="0" err="1"/>
              <a:t>uob_no</a:t>
            </a:r>
            <a:r>
              <a:rPr lang="en-US" sz="3200" dirty="0"/>
              <a:t>);"); </a:t>
            </a:r>
            <a:br>
              <a:rPr lang="en-US" dirty="0"/>
            </a:b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9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8B4C-5319-5B84-44E0-6DF62A2E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E346C-C32C-EBE0-BF96-2DCBB5406B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09DCDC-5D5A-D795-9CAA-CBA01BAF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Use Firebase to store and share data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692D-E912-5C51-BCAD-7DD467BB9701}"/>
              </a:ext>
            </a:extLst>
          </p:cNvPr>
          <p:cNvSpPr txBox="1"/>
          <p:nvPr/>
        </p:nvSpPr>
        <p:spPr>
          <a:xfrm>
            <a:off x="128464" y="1300801"/>
            <a:ext cx="9777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A4A4A"/>
                </a:solidFill>
                <a:effectLst/>
                <a:latin typeface="Georgia" panose="02040502050405020303" pitchFamily="18" charset="0"/>
              </a:rPr>
              <a:t>Firebase is a real time database which allows to store tree of lists of objects. It allows to synchronize data between different devices. It is a NoSQL JSON database.</a:t>
            </a:r>
          </a:p>
          <a:p>
            <a:pPr algn="l"/>
            <a:endParaRPr lang="en-US" b="0" i="0" dirty="0">
              <a:solidFill>
                <a:srgbClr val="4A4A4A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b="1" i="1" dirty="0">
                <a:solidFill>
                  <a:srgbClr val="4A4A4A"/>
                </a:solidFill>
                <a:effectLst/>
                <a:latin typeface="+mn-lt"/>
              </a:rPr>
              <a:t>You can find it under: </a:t>
            </a:r>
            <a:r>
              <a:rPr lang="en-US" b="1" i="1" u="sng" dirty="0">
                <a:solidFill>
                  <a:srgbClr val="2156A5"/>
                </a:solidFill>
                <a:effectLst/>
                <a:latin typeface="+mn-lt"/>
                <a:hlinkClick r:id="rId2"/>
              </a:rPr>
              <a:t>https://console.firebase.google.com/</a:t>
            </a:r>
            <a:endParaRPr lang="en-US" b="1" i="1" dirty="0">
              <a:solidFill>
                <a:srgbClr val="4A4A4A"/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4611D-4D29-30BA-7966-230FFB1A7832}"/>
              </a:ext>
            </a:extLst>
          </p:cNvPr>
          <p:cNvSpPr txBox="1"/>
          <p:nvPr/>
        </p:nvSpPr>
        <p:spPr>
          <a:xfrm>
            <a:off x="342737" y="3080669"/>
            <a:ext cx="6704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Firebase Realtime Database</a:t>
            </a:r>
            <a:endParaRPr lang="en-GB" sz="32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02682-8C6E-413B-A2B2-022C57381538}"/>
              </a:ext>
            </a:extLst>
          </p:cNvPr>
          <p:cNvSpPr txBox="1"/>
          <p:nvPr/>
        </p:nvSpPr>
        <p:spPr>
          <a:xfrm>
            <a:off x="0" y="3835012"/>
            <a:ext cx="72920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baseline="0" dirty="0">
                <a:latin typeface="Georgia" panose="02040502050405020303" pitchFamily="18" charset="0"/>
              </a:rPr>
              <a:t>● Connected apps share data</a:t>
            </a:r>
          </a:p>
          <a:p>
            <a:pPr algn="l"/>
            <a:r>
              <a:rPr lang="en-GB" sz="2000" b="0" i="0" u="none" strike="noStrike" baseline="0" dirty="0">
                <a:latin typeface="Georgia" panose="02040502050405020303" pitchFamily="18" charset="0"/>
              </a:rPr>
              <a:t>● Hosted in the cloud</a:t>
            </a:r>
          </a:p>
          <a:p>
            <a:pPr algn="l"/>
            <a:r>
              <a:rPr lang="en-US" sz="2000" b="0" i="0" u="none" strike="noStrike" baseline="0" dirty="0">
                <a:latin typeface="Georgia" panose="02040502050405020303" pitchFamily="18" charset="0"/>
              </a:rPr>
              <a:t>● Data is stored as JSON</a:t>
            </a:r>
          </a:p>
          <a:p>
            <a:pPr algn="l"/>
            <a:r>
              <a:rPr lang="en-US" sz="2000" b="0" i="0" u="none" strike="noStrike" baseline="0" dirty="0">
                <a:latin typeface="Georgia" panose="02040502050405020303" pitchFamily="18" charset="0"/>
              </a:rPr>
              <a:t>● Data is synchronized in </a:t>
            </a:r>
            <a:r>
              <a:rPr lang="en-US" sz="2000" b="0" i="0" u="none" strike="noStrike" baseline="0" dirty="0" err="1">
                <a:latin typeface="Georgia" panose="02040502050405020303" pitchFamily="18" charset="0"/>
              </a:rPr>
              <a:t>realtime</a:t>
            </a:r>
            <a:r>
              <a:rPr lang="en-US" sz="2000" b="0" i="0" u="none" strike="noStrike" baseline="0" dirty="0">
                <a:latin typeface="Georgia" panose="02040502050405020303" pitchFamily="18" charset="0"/>
              </a:rPr>
              <a:t> to </a:t>
            </a:r>
            <a:r>
              <a:rPr lang="en-GB" sz="2000" b="0" i="0" u="none" strike="noStrike" baseline="0" dirty="0">
                <a:latin typeface="Georgia" panose="02040502050405020303" pitchFamily="18" charset="0"/>
              </a:rPr>
              <a:t>every connected client</a:t>
            </a:r>
            <a:endParaRPr lang="en-GB" sz="2000" dirty="0">
              <a:latin typeface="Georgia" panose="020405020504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BA665-92BA-161A-FAF8-AC712E44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296" y="2810571"/>
            <a:ext cx="2092391" cy="2463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7B4C91-D258-F289-480A-AC873CDB5356}"/>
              </a:ext>
            </a:extLst>
          </p:cNvPr>
          <p:cNvSpPr txBox="1"/>
          <p:nvPr/>
        </p:nvSpPr>
        <p:spPr>
          <a:xfrm>
            <a:off x="342737" y="5443509"/>
            <a:ext cx="4664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u="none" strike="noStrike" dirty="0">
                <a:solidFill>
                  <a:srgbClr val="A53221"/>
                </a:solidFill>
                <a:effectLst/>
                <a:latin typeface="Open Sans" panose="020B0606030504020204" pitchFamily="34" charset="0"/>
              </a:rPr>
              <a:t>Configure firebase</a:t>
            </a:r>
            <a:endParaRPr lang="en-GB" sz="2400" b="1" i="0" dirty="0">
              <a:solidFill>
                <a:srgbClr val="BA39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47E36C-6AFE-BAAF-BE74-3A928BECD0B3}"/>
              </a:ext>
            </a:extLst>
          </p:cNvPr>
          <p:cNvSpPr txBox="1"/>
          <p:nvPr/>
        </p:nvSpPr>
        <p:spPr>
          <a:xfrm>
            <a:off x="330644" y="6014018"/>
            <a:ext cx="8641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4A4A4A"/>
                </a:solidFill>
                <a:effectLst/>
                <a:latin typeface="Georgia" panose="02040502050405020303" pitchFamily="18" charset="0"/>
              </a:rPr>
              <a:t>Logon to </a:t>
            </a:r>
            <a:r>
              <a:rPr lang="en-US" sz="1600" b="0" i="0" u="sng" dirty="0">
                <a:solidFill>
                  <a:srgbClr val="2156A5"/>
                </a:solidFill>
                <a:effectLst/>
                <a:latin typeface="Georgia" panose="02040502050405020303" pitchFamily="18" charset="0"/>
                <a:hlinkClick r:id="rId2"/>
              </a:rPr>
              <a:t>https://console.firebase.google.com/</a:t>
            </a:r>
            <a:r>
              <a:rPr lang="en-US" sz="1600" b="0" i="0" dirty="0">
                <a:solidFill>
                  <a:srgbClr val="4A4A4A"/>
                </a:solidFill>
                <a:effectLst/>
                <a:latin typeface="Georgia" panose="02040502050405020303" pitchFamily="18" charset="0"/>
              </a:rPr>
              <a:t> and press Add Firebase to your Android app.</a:t>
            </a:r>
            <a:endParaRPr lang="en-GB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351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AC59-8F30-CF82-58BD-7EE45ACC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41C1E-AEAE-9A7E-EE89-9CF40279A4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24329A2-AEED-C3A7-4880-56C47CF8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5" y="116632"/>
            <a:ext cx="9777535" cy="763600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How to integrate the Firebase database in </a:t>
            </a:r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C70B1-1C39-CFD9-40E1-55B84A18F31A}"/>
              </a:ext>
            </a:extLst>
          </p:cNvPr>
          <p:cNvSpPr txBox="1"/>
          <p:nvPr/>
        </p:nvSpPr>
        <p:spPr>
          <a:xfrm>
            <a:off x="19134" y="1340768"/>
            <a:ext cx="9886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74151"/>
                </a:solidFill>
                <a:latin typeface="Georgia" panose="02040502050405020303" pitchFamily="18" charset="0"/>
              </a:rPr>
              <a:t>U</a:t>
            </a:r>
            <a:r>
              <a:rPr lang="en-US" b="0" i="0" dirty="0">
                <a:solidFill>
                  <a:srgbClr val="374151"/>
                </a:solidFill>
                <a:effectLst/>
                <a:latin typeface="Georgia" panose="02040502050405020303" pitchFamily="18" charset="0"/>
              </a:rPr>
              <a:t>se Firebase as an API in a mobile or web application.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74151"/>
                </a:solidFill>
                <a:latin typeface="Georgia" panose="02040502050405020303" pitchFamily="18" charset="0"/>
              </a:rPr>
              <a:t>M</a:t>
            </a:r>
            <a:r>
              <a:rPr lang="en-US" b="0" i="0" dirty="0">
                <a:solidFill>
                  <a:srgbClr val="374151"/>
                </a:solidFill>
                <a:effectLst/>
                <a:latin typeface="Georgia" panose="02040502050405020303" pitchFamily="18" charset="0"/>
              </a:rPr>
              <a:t>ust properly integrate this database into our project by syncing the appropriate libraries and dependencies, available on Google’s official documentation site for Firebase, mentioned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Georgia" panose="02040502050405020303" pitchFamily="18" charset="0"/>
                <a:hlinkClick r:id="rId2"/>
              </a:rPr>
              <a:t>here</a:t>
            </a:r>
            <a:r>
              <a:rPr lang="en-US" b="0" i="0" dirty="0">
                <a:solidFill>
                  <a:srgbClr val="37415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B5114-13DB-8961-E54D-DD5A64B249EB}"/>
              </a:ext>
            </a:extLst>
          </p:cNvPr>
          <p:cNvSpPr txBox="1"/>
          <p:nvPr/>
        </p:nvSpPr>
        <p:spPr>
          <a:xfrm>
            <a:off x="108046" y="2708920"/>
            <a:ext cx="50405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74151"/>
                </a:solidFill>
                <a:effectLst/>
                <a:latin typeface="var( --font-family-body-lesson-markdown"/>
              </a:rPr>
              <a:t>Step 1.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 Go to Android Studio. If we don’t already have it, we must download and install it first. Create a new project.</a:t>
            </a:r>
          </a:p>
          <a:p>
            <a:pPr algn="l"/>
            <a:endParaRPr lang="en-US" b="1" i="0" dirty="0">
              <a:solidFill>
                <a:srgbClr val="374151"/>
              </a:solidFill>
              <a:effectLst/>
              <a:latin typeface="var( --font-family-body-lesson-markdown"/>
            </a:endParaRPr>
          </a:p>
          <a:p>
            <a:pPr algn="l"/>
            <a:r>
              <a:rPr lang="en-US" b="1" i="0" dirty="0">
                <a:solidFill>
                  <a:srgbClr val="374151"/>
                </a:solidFill>
                <a:effectLst/>
                <a:latin typeface="var( --font-family-body-lesson-markdown"/>
              </a:rPr>
              <a:t>Step 2.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 Once </a:t>
            </a:r>
            <a:r>
              <a:rPr lang="en-US" dirty="0">
                <a:solidFill>
                  <a:srgbClr val="374151"/>
                </a:solidFill>
                <a:latin typeface="system-ui"/>
              </a:rPr>
              <a:t>your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 empty project is fully loaded and Gradle files are synced properly, go to </a:t>
            </a:r>
            <a:r>
              <a:rPr lang="en-US" b="0" i="1" dirty="0">
                <a:solidFill>
                  <a:srgbClr val="374151"/>
                </a:solidFill>
                <a:effectLst/>
                <a:latin typeface="system-ui"/>
              </a:rPr>
              <a:t>tools -&gt; Firebase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. Once a new window opens, locate and select </a:t>
            </a:r>
            <a:r>
              <a:rPr lang="en-US" b="1" i="1" dirty="0">
                <a:solidFill>
                  <a:srgbClr val="374151"/>
                </a:solidFill>
                <a:effectLst/>
                <a:latin typeface="system-ui"/>
              </a:rPr>
              <a:t>Save and retrieve 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under the </a:t>
            </a:r>
            <a:r>
              <a:rPr lang="en-US" b="0" i="1" dirty="0">
                <a:solidFill>
                  <a:srgbClr val="374151"/>
                </a:solidFill>
                <a:effectLst/>
                <a:latin typeface="system-ui"/>
              </a:rPr>
              <a:t>Realtime Database</a:t>
            </a:r>
            <a:r>
              <a:rPr lang="en-US" b="0" i="0" dirty="0">
                <a:solidFill>
                  <a:srgbClr val="374151"/>
                </a:solidFill>
                <a:effectLst/>
                <a:latin typeface="system-ui"/>
              </a:rPr>
              <a:t> section.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4CC41E-C4B0-E74B-8DBE-5C79361E1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782" y="2382719"/>
            <a:ext cx="3636404" cy="38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6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DEA5-ABFA-C932-25EB-0C84628A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D43B0-2980-5506-DBE4-92A58E1A5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26</a:t>
            </a:fld>
            <a:endParaRPr lang="en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922F693C-9E6C-6117-257F-1657CCEF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9229725" cy="763587"/>
          </a:xfrm>
        </p:spPr>
        <p:txBody>
          <a:bodyPr/>
          <a:lstStyle/>
          <a:p>
            <a:pPr algn="ctr"/>
            <a:r>
              <a:rPr lang="en-US" sz="32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How to integrate the Firebase database in </a:t>
            </a:r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B253F2-C5EF-2B9A-94C0-12A3A2E7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8147248" cy="471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43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DC63-A88A-2611-E01D-5926353C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8F7D8-2F9A-6A8B-FFC2-3F5860C8F4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27</a:t>
            </a:fld>
            <a:endParaRPr lang="e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06C55B-4ECB-634F-DBFA-28EDA3BD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13977"/>
            <a:ext cx="9230650" cy="763600"/>
          </a:xfrm>
        </p:spPr>
        <p:txBody>
          <a:bodyPr/>
          <a:lstStyle/>
          <a:p>
            <a:pPr algn="ctr"/>
            <a:r>
              <a:rPr lang="en-US" sz="36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How to integrate the Firebase database in </a:t>
            </a: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52208-023E-982A-AA3E-0E8AE48256AC}"/>
              </a:ext>
            </a:extLst>
          </p:cNvPr>
          <p:cNvSpPr txBox="1"/>
          <p:nvPr/>
        </p:nvSpPr>
        <p:spPr>
          <a:xfrm>
            <a:off x="0" y="1556792"/>
            <a:ext cx="5040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Georgia" panose="02040502050405020303" pitchFamily="18" charset="0"/>
              </a:rPr>
              <a:t>Step 3.</a:t>
            </a:r>
            <a:r>
              <a:rPr lang="en-US" dirty="0">
                <a:effectLst/>
                <a:latin typeface="Georgia" panose="02040502050405020303" pitchFamily="18" charset="0"/>
              </a:rPr>
              <a:t> Connect our Firebase project and move to set our dependencies.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N</a:t>
            </a:r>
            <a:r>
              <a:rPr lang="en-US" dirty="0">
                <a:effectLst/>
                <a:latin typeface="Georgia" panose="02040502050405020303" pitchFamily="18" charset="0"/>
              </a:rPr>
              <a:t>ow apply CRUD operations using Firebase.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6AB30B-6F23-C72B-1A51-6C6E8FEC4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15" y="1556792"/>
            <a:ext cx="421196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1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26FC-AEFE-BA94-9B01-C7F058CA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E88A7-1A1C-E17D-4E99-F33FDF8A5B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28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1275A7-44E1-5D7C-DE0A-96AFB599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227760"/>
            <a:ext cx="9849543" cy="763600"/>
          </a:xfrm>
        </p:spPr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What does the data in Firebase look like?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0C6A727-DBFB-EDAB-793D-5FAD9E7F7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6" y="1340768"/>
            <a:ext cx="9561512" cy="19748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63480" rIns="91440" bIns="6348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Firebase stores the real-time data in a JSON format. The format is described below.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Suppose we have an android application that asks the user for some input. Firebase stores that input in real-time and presents it in JSON format.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We can view this type of data on web browsers by locating the specific URL of the Firebase application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FF8F5-0668-6F98-251D-185B529A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792" y="3406282"/>
            <a:ext cx="5451698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08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BCBB4-BCD9-B1DF-B209-96A3EDDA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C0AD4-AE95-D1AE-3351-40F0A11983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29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80D618-D522-1810-EE43-00B5D884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75" y="13977"/>
            <a:ext cx="9230650" cy="763600"/>
          </a:xfrm>
        </p:spPr>
        <p:txBody>
          <a:bodyPr/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To see example on how to use Firebase database with Android using Java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A16E9-D0A4-BD36-F984-1A8CFE250885}"/>
              </a:ext>
            </a:extLst>
          </p:cNvPr>
          <p:cNvSpPr txBox="1"/>
          <p:nvPr/>
        </p:nvSpPr>
        <p:spPr>
          <a:xfrm>
            <a:off x="275897" y="1340768"/>
            <a:ext cx="67682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400" dirty="0">
                <a:latin typeface="Georgia" panose="02040502050405020303" pitchFamily="18" charset="0"/>
              </a:rPr>
              <a:t>Please see this link</a:t>
            </a:r>
          </a:p>
          <a:p>
            <a:endParaRPr lang="en-GB" dirty="0"/>
          </a:p>
          <a:p>
            <a:r>
              <a:rPr lang="en-GB" dirty="0"/>
              <a:t>                 </a:t>
            </a:r>
            <a:r>
              <a:rPr lang="en-GB" dirty="0">
                <a:hlinkClick r:id="rId2"/>
              </a:rPr>
              <a:t>https://firebase.google.com/docs/auth/android/start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F10DA-342D-D89C-966E-F9C766EF9C98}"/>
              </a:ext>
            </a:extLst>
          </p:cNvPr>
          <p:cNvSpPr txBox="1"/>
          <p:nvPr/>
        </p:nvSpPr>
        <p:spPr>
          <a:xfrm>
            <a:off x="827584" y="3071788"/>
            <a:ext cx="7344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https://www.tutorialspoint.com/android/android_php_mysql.htm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3606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81D5-5026-3E25-AFAE-3531A0E4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6D3E0-DD0B-8E92-6711-8452EF7CAE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30</a:t>
            </a:fld>
            <a:endParaRPr lang="e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E3309F1-928E-71BF-ADF0-EB8487EB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Android File System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7FEDD-0A3A-5D27-B750-AE686592F795}"/>
              </a:ext>
            </a:extLst>
          </p:cNvPr>
          <p:cNvSpPr txBox="1"/>
          <p:nvPr/>
        </p:nvSpPr>
        <p:spPr>
          <a:xfrm>
            <a:off x="2298" y="1340768"/>
            <a:ext cx="9903701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baseline="0" dirty="0">
                <a:latin typeface="Georgia" panose="02040502050405020303" pitchFamily="18" charset="0"/>
              </a:rPr>
              <a:t>● </a:t>
            </a:r>
            <a:r>
              <a:rPr lang="en-GB" sz="20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External storage </a:t>
            </a:r>
            <a:r>
              <a:rPr lang="en-GB" sz="2000" b="0" i="0" u="none" strike="noStrike" baseline="0" dirty="0">
                <a:latin typeface="Georgia" panose="02040502050405020303" pitchFamily="18" charset="0"/>
              </a:rPr>
              <a:t>-- Public directories</a:t>
            </a:r>
          </a:p>
          <a:p>
            <a:pPr algn="l"/>
            <a:endParaRPr lang="en-GB" sz="1000" dirty="0">
              <a:latin typeface="Georgia" panose="02040502050405020303" pitchFamily="18" charset="0"/>
            </a:endParaRP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Not always available, can be removed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Uses device's file system or physically external storage like 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SD (</a:t>
            </a:r>
            <a:r>
              <a:rPr lang="en-GB" dirty="0">
                <a:latin typeface="Georgia" panose="02040502050405020303" pitchFamily="18" charset="0"/>
              </a:rPr>
              <a:t>Secure Digital) 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card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World-readable, so any app can read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On uninstall, system does not remove files private to app</a:t>
            </a:r>
            <a:endParaRPr lang="en-GB" sz="900" dirty="0">
              <a:latin typeface="Georgia" panose="02040502050405020303" pitchFamily="18" charset="0"/>
            </a:endParaRPr>
          </a:p>
          <a:p>
            <a:pPr algn="l"/>
            <a:endParaRPr lang="en-GB" sz="900" b="0" i="0" u="none" strike="noStrike" baseline="0" dirty="0">
              <a:latin typeface="Georgia" panose="02040502050405020303" pitchFamily="18" charset="0"/>
            </a:endParaRPr>
          </a:p>
          <a:p>
            <a:pPr algn="l"/>
            <a:endParaRPr lang="en-GB" sz="900" b="0" i="0" u="none" strike="noStrike" baseline="0" dirty="0">
              <a:latin typeface="Georgia" panose="02040502050405020303" pitchFamily="18" charset="0"/>
            </a:endParaRPr>
          </a:p>
          <a:p>
            <a:pPr algn="l"/>
            <a:r>
              <a:rPr lang="en-US" sz="2000" b="0" i="0" u="none" strike="noStrike" baseline="0" dirty="0">
                <a:latin typeface="Georgia" panose="02040502050405020303" pitchFamily="18" charset="0"/>
              </a:rPr>
              <a:t>● </a:t>
            </a:r>
            <a:r>
              <a:rPr lang="en-US" sz="20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Internal storage </a:t>
            </a:r>
            <a:r>
              <a:rPr lang="en-US" sz="2000" b="0" i="0" u="none" strike="noStrike" baseline="0" dirty="0">
                <a:latin typeface="Georgia" panose="02040502050405020303" pitchFamily="18" charset="0"/>
              </a:rPr>
              <a:t>-- Private directories for just your app</a:t>
            </a:r>
          </a:p>
          <a:p>
            <a:pPr algn="l"/>
            <a:endParaRPr lang="en-US" sz="900" b="0" i="0" u="none" strike="noStrike" baseline="0" dirty="0">
              <a:latin typeface="Georgia" panose="02040502050405020303" pitchFamily="18" charset="0"/>
            </a:endParaRPr>
          </a:p>
          <a:p>
            <a:pPr lvl="1"/>
            <a:r>
              <a:rPr lang="en-GB" sz="1800" b="0" i="0" u="none" strike="noStrike" baseline="0" dirty="0">
                <a:latin typeface="Georgia" panose="02040502050405020303" pitchFamily="18" charset="0"/>
              </a:rPr>
              <a:t>● Always available</a:t>
            </a:r>
          </a:p>
          <a:p>
            <a:pPr lvl="1"/>
            <a:r>
              <a:rPr lang="en-GB" sz="1800" b="0" i="0" u="none" strike="noStrike" baseline="0" dirty="0">
                <a:latin typeface="Georgia" panose="02040502050405020303" pitchFamily="18" charset="0"/>
              </a:rPr>
              <a:t>● Uses device's filesystem</a:t>
            </a:r>
          </a:p>
          <a:p>
            <a:pPr lvl="1"/>
            <a:r>
              <a:rPr lang="en-US" sz="1800" b="0" i="0" u="none" strike="noStrike" baseline="0" dirty="0">
                <a:latin typeface="Georgia" panose="02040502050405020303" pitchFamily="18" charset="0"/>
              </a:rPr>
              <a:t>● Only your app can access files, unless explicitly set to be </a:t>
            </a:r>
            <a:r>
              <a:rPr lang="en-GB" sz="1800" b="0" i="0" u="none" strike="noStrike" baseline="0" dirty="0">
                <a:latin typeface="Georgia" panose="02040502050405020303" pitchFamily="18" charset="0"/>
              </a:rPr>
              <a:t>readable or writable</a:t>
            </a:r>
          </a:p>
          <a:p>
            <a:pPr lvl="1"/>
            <a:r>
              <a:rPr lang="en-US" sz="1800" b="0" i="0" u="none" strike="noStrike" baseline="0" dirty="0">
                <a:latin typeface="Georgia" panose="02040502050405020303" pitchFamily="18" charset="0"/>
              </a:rPr>
              <a:t>● On app uninstall, system removes all app's files from </a:t>
            </a:r>
            <a:r>
              <a:rPr lang="en-GB" sz="1800" b="0" i="0" u="none" strike="noStrike" baseline="0" dirty="0">
                <a:latin typeface="Georgia" panose="02040502050405020303" pitchFamily="18" charset="0"/>
              </a:rPr>
              <a:t>internal storage</a:t>
            </a:r>
          </a:p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l"/>
            <a:r>
              <a:rPr lang="en-US" sz="2400" b="0" i="0" u="none" strike="noStrike" baseline="0" dirty="0">
                <a:latin typeface="Roboto-Regular"/>
              </a:rPr>
              <a:t>Apps can browse the directory structure</a:t>
            </a:r>
          </a:p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l"/>
            <a:r>
              <a:rPr lang="en-US" sz="2400" b="0" i="0" u="none" strike="noStrike" baseline="0" dirty="0">
                <a:latin typeface="Roboto-Regular"/>
              </a:rPr>
              <a:t>Structure and operations similar to Linux and java.io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1202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0FA3-F100-424F-DAF7-2BAC999A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551FE-B12B-2960-8446-42B7D4E792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2C54FF-56DA-6000-64CD-11941439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When to use internal/external storage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7E977-4D88-6E9B-CF60-679B951C9D7A}"/>
              </a:ext>
            </a:extLst>
          </p:cNvPr>
          <p:cNvSpPr txBox="1"/>
          <p:nvPr/>
        </p:nvSpPr>
        <p:spPr>
          <a:xfrm>
            <a:off x="200472" y="1484784"/>
            <a:ext cx="876908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b="1" i="0" u="none" strike="noStrike" baseline="0" dirty="0">
                <a:latin typeface="Georgia" panose="02040502050405020303" pitchFamily="18" charset="0"/>
              </a:rPr>
              <a:t>Internal is best when</a:t>
            </a:r>
          </a:p>
          <a:p>
            <a:pPr algn="l"/>
            <a:endParaRPr lang="en-GB" sz="1050" b="1" i="0" u="none" strike="noStrike" baseline="0" dirty="0">
              <a:latin typeface="Georgia" panose="02040502050405020303" pitchFamily="18" charset="0"/>
            </a:endParaRP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you want to be sure that neither the user nor other apps 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can access your files</a:t>
            </a:r>
          </a:p>
          <a:p>
            <a:pPr algn="l"/>
            <a:endParaRPr lang="en-US" sz="1800" b="1" i="0" u="none" strike="noStrike" baseline="0" dirty="0">
              <a:latin typeface="Georgia" panose="02040502050405020303" pitchFamily="18" charset="0"/>
            </a:endParaRPr>
          </a:p>
          <a:p>
            <a:pPr algn="l"/>
            <a:r>
              <a:rPr lang="en-US" sz="2200" b="1" i="0" u="none" strike="noStrike" baseline="0" dirty="0">
                <a:latin typeface="Georgia" panose="02040502050405020303" pitchFamily="18" charset="0"/>
              </a:rPr>
              <a:t>External is best for files that</a:t>
            </a:r>
          </a:p>
          <a:p>
            <a:pPr algn="l"/>
            <a:endParaRPr lang="en-US" sz="1050" b="1" i="0" u="none" strike="noStrike" baseline="0" dirty="0">
              <a:latin typeface="Georgia" panose="02040502050405020303" pitchFamily="18" charset="0"/>
            </a:endParaRP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don't require access restrictions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you want to share with other apps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● you allow the user to access with a computer</a:t>
            </a:r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277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318C-BEB7-8DA5-BA4F-B0B05587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F45D4-ECF0-BFA7-ED79-4BC822C69E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32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703A67-1F3B-118D-9FED-FF4E1CBA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Android File System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70738-46A2-C503-80C7-D0AEAE5E023E}"/>
              </a:ext>
            </a:extLst>
          </p:cNvPr>
          <p:cNvSpPr txBox="1"/>
          <p:nvPr/>
        </p:nvSpPr>
        <p:spPr>
          <a:xfrm>
            <a:off x="80067" y="130491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Internal Storage</a:t>
            </a:r>
            <a:endParaRPr lang="en-GB" sz="24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515BA-280C-2921-70E6-6213CAD967BB}"/>
              </a:ext>
            </a:extLst>
          </p:cNvPr>
          <p:cNvSpPr txBox="1"/>
          <p:nvPr/>
        </p:nvSpPr>
        <p:spPr>
          <a:xfrm>
            <a:off x="529205" y="1854932"/>
            <a:ext cx="75608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Uses private directories just for your app</a:t>
            </a:r>
          </a:p>
          <a:p>
            <a:pPr algn="l"/>
            <a:endParaRPr lang="en-US" sz="9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App always has permission to read/write</a:t>
            </a:r>
          </a:p>
          <a:p>
            <a:pPr algn="l"/>
            <a:endParaRPr lang="en-US" sz="9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Permanent storage directory—</a:t>
            </a:r>
            <a:r>
              <a:rPr lang="en-GB" sz="2000" b="0" i="0" u="none" strike="noStrike" baseline="0" dirty="0" err="1">
                <a:solidFill>
                  <a:srgbClr val="0098A8"/>
                </a:solidFill>
                <a:latin typeface="Georgia" panose="02040502050405020303" pitchFamily="18" charset="0"/>
                <a:hlinkClick r:id="rId2"/>
              </a:rPr>
              <a:t>getFilesDir</a:t>
            </a:r>
            <a:r>
              <a:rPr lang="en-GB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2"/>
              </a:rPr>
              <a:t>()</a:t>
            </a:r>
            <a:endParaRPr lang="en-GB" sz="20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endParaRPr lang="en-GB" sz="9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Temporary storage directory—</a:t>
            </a:r>
            <a:r>
              <a:rPr lang="en-GB" sz="2000" b="0" i="0" u="none" strike="noStrike" baseline="0" dirty="0" err="1">
                <a:solidFill>
                  <a:srgbClr val="0098A8"/>
                </a:solidFill>
                <a:latin typeface="Georgia" panose="02040502050405020303" pitchFamily="18" charset="0"/>
                <a:hlinkClick r:id="rId3"/>
              </a:rPr>
              <a:t>getCacheDir</a:t>
            </a:r>
            <a:r>
              <a:rPr lang="en-GB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3"/>
              </a:rPr>
              <a:t>()</a:t>
            </a:r>
            <a:endParaRPr lang="en-GB" sz="2000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C1150-2AE4-CCC8-529B-7EAAF93236EE}"/>
              </a:ext>
            </a:extLst>
          </p:cNvPr>
          <p:cNvSpPr txBox="1"/>
          <p:nvPr/>
        </p:nvSpPr>
        <p:spPr>
          <a:xfrm>
            <a:off x="169165" y="397293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Creating a file</a:t>
            </a:r>
            <a:endParaRPr lang="en-GB" sz="24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1481A-64DA-34CF-3409-D8E65013772F}"/>
              </a:ext>
            </a:extLst>
          </p:cNvPr>
          <p:cNvSpPr txBox="1"/>
          <p:nvPr/>
        </p:nvSpPr>
        <p:spPr>
          <a:xfrm>
            <a:off x="337675" y="4653136"/>
            <a:ext cx="82089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File </a:t>
            </a:r>
            <a:r>
              <a:rPr lang="en-GB" sz="2000" i="0" u="none" strike="noStrike" baseline="0" dirty="0" err="1">
                <a:solidFill>
                  <a:srgbClr val="000000"/>
                </a:solidFill>
                <a:latin typeface="Georgia" panose="02040502050405020303" pitchFamily="18" charset="0"/>
              </a:rPr>
              <a:t>xfile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= new File(</a:t>
            </a:r>
            <a:r>
              <a:rPr lang="en-GB" sz="2000" b="1" i="0" u="none" strike="noStrike" baseline="0" dirty="0" err="1">
                <a:solidFill>
                  <a:srgbClr val="000000"/>
                </a:solidFill>
                <a:latin typeface="Georgia" panose="02040502050405020303" pitchFamily="18" charset="0"/>
              </a:rPr>
              <a:t>context.getFilesDir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(), filename);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Roboto-Regular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Use standard </a:t>
            </a:r>
            <a:r>
              <a:rPr lang="en-US" sz="18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4"/>
              </a:rPr>
              <a:t>java.io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file operators or streams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to interact with files</a:t>
            </a:r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008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2714-A986-9A04-0240-EE94AAFD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12F27-18A1-F75D-63DF-E6E4E36B1B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276051A-823E-09EA-A3BA-8C583EF8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Android File System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CA152-65D8-9DF4-C7CD-B2C7E00324DE}"/>
              </a:ext>
            </a:extLst>
          </p:cNvPr>
          <p:cNvSpPr txBox="1"/>
          <p:nvPr/>
        </p:nvSpPr>
        <p:spPr>
          <a:xfrm>
            <a:off x="6356" y="122217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External Storage</a:t>
            </a:r>
            <a:endParaRPr lang="en-GB" sz="20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BC322-9128-04A3-F061-628D0BDF4042}"/>
              </a:ext>
            </a:extLst>
          </p:cNvPr>
          <p:cNvSpPr txBox="1"/>
          <p:nvPr/>
        </p:nvSpPr>
        <p:spPr>
          <a:xfrm>
            <a:off x="337675" y="1545934"/>
            <a:ext cx="626132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Georgia" panose="02040502050405020303" pitchFamily="18" charset="0"/>
              </a:rPr>
              <a:t>● </a:t>
            </a:r>
            <a:r>
              <a:rPr lang="en-US" b="0" i="0" u="none" strike="noStrike" baseline="0" dirty="0">
                <a:latin typeface="Georgia" panose="02040502050405020303" pitchFamily="18" charset="0"/>
              </a:rPr>
              <a:t>On device or SD card</a:t>
            </a:r>
          </a:p>
          <a:p>
            <a:pPr algn="l"/>
            <a:endParaRPr lang="en-US" b="0" i="0" u="none" strike="noStrike" baseline="0" dirty="0">
              <a:latin typeface="Georgia" panose="02040502050405020303" pitchFamily="18" charset="0"/>
            </a:endParaRPr>
          </a:p>
          <a:p>
            <a:pPr algn="l"/>
            <a:r>
              <a:rPr lang="sv-SE" b="0" i="0" u="none" strike="noStrike" baseline="0" dirty="0">
                <a:latin typeface="Georgia" panose="02040502050405020303" pitchFamily="18" charset="0"/>
              </a:rPr>
              <a:t>● Set permissions in Android Manifest</a:t>
            </a:r>
          </a:p>
          <a:p>
            <a:pPr lvl="1"/>
            <a:r>
              <a:rPr lang="en-US" b="0" i="0" u="none" strike="noStrike" baseline="0" dirty="0">
                <a:latin typeface="Georgia" panose="02040502050405020303" pitchFamily="18" charset="0"/>
              </a:rPr>
              <a:t>○ Write permission includes read permission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759EB-8688-25B8-C9EF-77B32CB71149}"/>
              </a:ext>
            </a:extLst>
          </p:cNvPr>
          <p:cNvSpPr txBox="1"/>
          <p:nvPr/>
        </p:nvSpPr>
        <p:spPr>
          <a:xfrm>
            <a:off x="1136576" y="2735362"/>
            <a:ext cx="903649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Consolas" panose="020B0609020204030204" pitchFamily="49" charset="0"/>
              </a:rPr>
              <a:t>&lt;uses-permission</a:t>
            </a:r>
          </a:p>
          <a:p>
            <a:pPr algn="l"/>
            <a:r>
              <a:rPr lang="en-GB" sz="1800" b="0" i="0" u="none" strike="noStrike" baseline="0" dirty="0" err="1">
                <a:latin typeface="Consolas" panose="020B0609020204030204" pitchFamily="49" charset="0"/>
              </a:rPr>
              <a:t>android:name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="</a:t>
            </a:r>
            <a:r>
              <a:rPr lang="en-GB" sz="1800" b="0" i="0" u="none" strike="noStrike" baseline="0" dirty="0" err="1">
                <a:latin typeface="Consolas" panose="020B0609020204030204" pitchFamily="49" charset="0"/>
              </a:rPr>
              <a:t>android.permission.</a:t>
            </a:r>
            <a:r>
              <a:rPr lang="en-GB" sz="1800" b="1" i="0" u="none" strike="noStrike" baseline="0" dirty="0" err="1">
                <a:latin typeface="Consolas-Bold"/>
              </a:rPr>
              <a:t>WRITE_EXTERNAL_STORAGE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" /&gt;</a:t>
            </a:r>
          </a:p>
          <a:p>
            <a:pPr algn="l"/>
            <a:endParaRPr lang="en-GB" sz="900" b="0" i="0" u="none" strike="noStrike" baseline="0" dirty="0">
              <a:latin typeface="Consolas" panose="020B0609020204030204" pitchFamily="49" charset="0"/>
            </a:endParaRPr>
          </a:p>
          <a:p>
            <a:pPr algn="l"/>
            <a:r>
              <a:rPr lang="en-GB" sz="1800" b="0" i="0" u="none" strike="noStrike" baseline="0" dirty="0">
                <a:latin typeface="Consolas" panose="020B0609020204030204" pitchFamily="49" charset="0"/>
              </a:rPr>
              <a:t>&lt;uses-permission</a:t>
            </a:r>
          </a:p>
          <a:p>
            <a:pPr algn="l"/>
            <a:r>
              <a:rPr lang="en-GB" sz="1800" b="0" i="0" u="none" strike="noStrike" baseline="0" dirty="0" err="1">
                <a:latin typeface="Consolas" panose="020B0609020204030204" pitchFamily="49" charset="0"/>
              </a:rPr>
              <a:t>android:name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="</a:t>
            </a:r>
            <a:r>
              <a:rPr lang="en-GB" sz="1800" b="0" i="0" u="none" strike="noStrike" baseline="0" dirty="0" err="1">
                <a:latin typeface="Consolas" panose="020B0609020204030204" pitchFamily="49" charset="0"/>
              </a:rPr>
              <a:t>android.permission.</a:t>
            </a:r>
            <a:r>
              <a:rPr lang="en-GB" sz="1800" b="1" i="0" u="none" strike="noStrike" baseline="0" dirty="0" err="1">
                <a:latin typeface="Consolas-Bold"/>
              </a:rPr>
              <a:t>READ_EXTERNAL_STORAGE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" /&gt;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FF05D-F691-EBBA-4FDA-01D16D0F1F2C}"/>
              </a:ext>
            </a:extLst>
          </p:cNvPr>
          <p:cNvSpPr txBox="1"/>
          <p:nvPr/>
        </p:nvSpPr>
        <p:spPr>
          <a:xfrm>
            <a:off x="75092" y="4186989"/>
            <a:ext cx="6696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chemeClr val="accent2"/>
                </a:solidFill>
                <a:latin typeface="Georgia" panose="02040502050405020303" pitchFamily="18" charset="0"/>
              </a:rPr>
              <a:t>Always check availability of storage</a:t>
            </a:r>
            <a:endParaRPr lang="en-GB" sz="2000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BF47A-F6BB-DCFE-057B-F0A06A392C1B}"/>
              </a:ext>
            </a:extLst>
          </p:cNvPr>
          <p:cNvSpPr txBox="1"/>
          <p:nvPr/>
        </p:nvSpPr>
        <p:spPr>
          <a:xfrm>
            <a:off x="133079" y="4625284"/>
            <a:ext cx="7920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public 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boolean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 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isExternalStorageWritable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() {</a:t>
            </a:r>
          </a:p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         String state = 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Environment.</a:t>
            </a:r>
            <a:r>
              <a:rPr lang="en-GB" b="1" i="0" u="none" strike="noStrike" baseline="0" dirty="0" err="1">
                <a:latin typeface="Georgia" panose="02040502050405020303" pitchFamily="18" charset="0"/>
              </a:rPr>
              <a:t>getExternalStorageState</a:t>
            </a:r>
            <a:r>
              <a:rPr lang="en-GB" b="1" i="0" u="none" strike="noStrike" baseline="0" dirty="0">
                <a:latin typeface="Georgia" panose="02040502050405020303" pitchFamily="18" charset="0"/>
              </a:rPr>
              <a:t>()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;</a:t>
            </a:r>
          </a:p>
          <a:p>
            <a:pPr algn="l"/>
            <a:r>
              <a:rPr lang="en-US" b="0" i="0" u="none" strike="noStrike" baseline="0" dirty="0">
                <a:latin typeface="Georgia" panose="02040502050405020303" pitchFamily="18" charset="0"/>
              </a:rPr>
              <a:t>         if (</a:t>
            </a:r>
            <a:r>
              <a:rPr lang="en-US" b="0" i="0" u="none" strike="noStrike" baseline="0" dirty="0" err="1">
                <a:latin typeface="Georgia" panose="02040502050405020303" pitchFamily="18" charset="0"/>
              </a:rPr>
              <a:t>Environment.MEDIA_MOUNTED.equals</a:t>
            </a:r>
            <a:r>
              <a:rPr lang="en-US" b="0" i="0" u="none" strike="noStrike" baseline="0" dirty="0">
                <a:latin typeface="Georgia" panose="02040502050405020303" pitchFamily="18" charset="0"/>
              </a:rPr>
              <a:t>(state)) {</a:t>
            </a:r>
          </a:p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              return true;</a:t>
            </a:r>
          </a:p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         }</a:t>
            </a:r>
          </a:p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return false;</a:t>
            </a:r>
          </a:p>
          <a:p>
            <a:pPr algn="l"/>
            <a:r>
              <a:rPr lang="en-GB" b="0" i="0" u="none" strike="noStrike" baseline="0" dirty="0">
                <a:latin typeface="Georgia" panose="02040502050405020303" pitchFamily="18" charset="0"/>
              </a:rPr>
              <a:t>}</a:t>
            </a:r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403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FCAB-7A67-2B9B-48A6-6557C826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610ED-1AB1-58C3-1EB2-06AAEE80E5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34</a:t>
            </a:fld>
            <a:endParaRPr lang="e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A1ADDF-6608-9227-87F1-3767A5E6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Example external public directories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C14ED-58DF-7386-E6E6-33F64BE655D8}"/>
              </a:ext>
            </a:extLst>
          </p:cNvPr>
          <p:cNvSpPr txBox="1"/>
          <p:nvPr/>
        </p:nvSpPr>
        <p:spPr>
          <a:xfrm>
            <a:off x="128464" y="1797784"/>
            <a:ext cx="878497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</a:t>
            </a:r>
            <a:r>
              <a:rPr lang="en-US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2"/>
              </a:rPr>
              <a:t>DIRECTORY_ALARMS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and </a:t>
            </a:r>
            <a:r>
              <a:rPr lang="en-US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3"/>
              </a:rPr>
              <a:t>DIRECTORY_RINGTONES</a:t>
            </a:r>
            <a:endParaRPr lang="en-US" sz="20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   For audio files to use as alarms and ringtones</a:t>
            </a:r>
          </a:p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</a:t>
            </a:r>
            <a:r>
              <a:rPr lang="en-GB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4"/>
              </a:rPr>
              <a:t>DIRECTORY_DOCUMENTS</a:t>
            </a:r>
            <a:endParaRPr lang="en-GB" sz="20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  For documents that have been created by the user</a:t>
            </a:r>
          </a:p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● </a:t>
            </a:r>
            <a:r>
              <a:rPr lang="en-GB" sz="20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5"/>
              </a:rPr>
              <a:t>DIRECTORY_DOWNLOADS</a:t>
            </a:r>
            <a:endParaRPr lang="en-GB" sz="20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  For files that have been downloaded by the user</a:t>
            </a:r>
          </a:p>
          <a:p>
            <a:pPr algn="l"/>
            <a:endParaRPr lang="en-GB" sz="800" b="0" i="0" u="none" strike="noStrike" baseline="0" dirty="0">
              <a:solidFill>
                <a:srgbClr val="595959"/>
              </a:solidFill>
              <a:latin typeface="Georgia" panose="02040502050405020303" pitchFamily="18" charset="0"/>
            </a:endParaRPr>
          </a:p>
          <a:p>
            <a:pPr algn="l"/>
            <a:endParaRPr lang="en-GB" sz="1400" b="1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endParaRPr lang="en-GB" sz="1400" b="1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1400" b="1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6"/>
              </a:rPr>
              <a:t>developer.android.com/reference/android/</a:t>
            </a:r>
            <a:r>
              <a:rPr lang="en-GB" sz="1400" b="1" i="0" u="none" strike="noStrike" baseline="0" dirty="0" err="1">
                <a:solidFill>
                  <a:srgbClr val="0098A8"/>
                </a:solidFill>
                <a:latin typeface="Georgia" panose="02040502050405020303" pitchFamily="18" charset="0"/>
                <a:hlinkClick r:id="rId6"/>
              </a:rPr>
              <a:t>os</a:t>
            </a:r>
            <a:r>
              <a:rPr lang="en-GB" sz="1400" b="1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6"/>
              </a:rPr>
              <a:t>/Environment.html</a:t>
            </a:r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711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8478-3998-487A-FBBB-0C1BE2FB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7C1DA-E47F-A3E6-D82E-A9E0A20D84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35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0867BE7-B57F-60DF-008D-280BBB3E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0" u="none" strike="noStrike" baseline="0" dirty="0">
                <a:solidFill>
                  <a:schemeClr val="bg1"/>
                </a:solidFill>
                <a:latin typeface="Georgia" panose="02040502050405020303" pitchFamily="18" charset="0"/>
              </a:rPr>
              <a:t>Accessing public external directories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3A8B6-1EC2-A65D-6831-E45F2DB1DA6A}"/>
              </a:ext>
            </a:extLst>
          </p:cNvPr>
          <p:cNvSpPr txBox="1"/>
          <p:nvPr/>
        </p:nvSpPr>
        <p:spPr>
          <a:xfrm>
            <a:off x="7573" y="1556792"/>
            <a:ext cx="91085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1. Get a path </a:t>
            </a:r>
            <a:r>
              <a:rPr lang="en-US" sz="2400" b="0" i="0" u="none" strike="noStrike" baseline="0" dirty="0" err="1">
                <a:solidFill>
                  <a:srgbClr val="0098A8"/>
                </a:solidFill>
                <a:latin typeface="Georgia" panose="02040502050405020303" pitchFamily="18" charset="0"/>
                <a:hlinkClick r:id="rId2"/>
              </a:rPr>
              <a:t>getExternalStoragePublicDirectory</a:t>
            </a:r>
            <a:r>
              <a:rPr lang="en-US" sz="2400" b="0" i="0" u="none" strike="noStrike" baseline="0" dirty="0">
                <a:solidFill>
                  <a:srgbClr val="0098A8"/>
                </a:solidFill>
                <a:latin typeface="Georgia" panose="02040502050405020303" pitchFamily="18" charset="0"/>
                <a:hlinkClick r:id="rId2"/>
              </a:rPr>
              <a:t>()</a:t>
            </a:r>
            <a:endParaRPr lang="en-US" sz="2400" b="0" i="0" u="none" strike="noStrike" baseline="0" dirty="0">
              <a:solidFill>
                <a:srgbClr val="0098A8"/>
              </a:solidFill>
              <a:latin typeface="Georgia" panose="02040502050405020303" pitchFamily="18" charset="0"/>
            </a:endParaRPr>
          </a:p>
          <a:p>
            <a:pPr algn="l"/>
            <a:endParaRPr lang="en-GB" sz="24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l"/>
            <a:r>
              <a:rPr lang="en-GB" sz="2400" b="0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2. Create file</a:t>
            </a:r>
          </a:p>
          <a:p>
            <a:pPr lvl="1"/>
            <a:endParaRPr lang="en-GB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lvl="1"/>
            <a:r>
              <a:rPr lang="en-GB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File </a:t>
            </a:r>
            <a:r>
              <a:rPr lang="en-GB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path</a:t>
            </a:r>
            <a:r>
              <a:rPr lang="en-GB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= </a:t>
            </a:r>
            <a:r>
              <a:rPr lang="en-GB" b="1" i="0" u="none" strike="noStrike" baseline="0" dirty="0" err="1">
                <a:solidFill>
                  <a:srgbClr val="000000"/>
                </a:solidFill>
                <a:latin typeface="Georgia" panose="02040502050405020303" pitchFamily="18" charset="0"/>
              </a:rPr>
              <a:t>Environment.getExternalStoragePublicDirectory</a:t>
            </a:r>
            <a:r>
              <a:rPr lang="en-GB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(</a:t>
            </a:r>
          </a:p>
          <a:p>
            <a:pPr lvl="1"/>
            <a:r>
              <a:rPr lang="en-GB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                                                                    </a:t>
            </a:r>
            <a:r>
              <a:rPr lang="en-GB" b="1" i="0" u="none" strike="noStrike" baseline="0" dirty="0" err="1">
                <a:solidFill>
                  <a:srgbClr val="000000"/>
                </a:solidFill>
                <a:latin typeface="Georgia" panose="02040502050405020303" pitchFamily="18" charset="0"/>
              </a:rPr>
              <a:t>Environment.DIRECTORY_PICTURES</a:t>
            </a:r>
            <a:r>
              <a:rPr lang="en-GB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);</a:t>
            </a:r>
          </a:p>
          <a:p>
            <a:pPr lvl="1"/>
            <a:endParaRPr lang="en-US" b="1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File </a:t>
            </a:r>
            <a:r>
              <a:rPr lang="en-US" i="0" u="none" strike="noStrike" baseline="0" dirty="0" err="1">
                <a:solidFill>
                  <a:srgbClr val="000000"/>
                </a:solidFill>
                <a:latin typeface="Georgia" panose="02040502050405020303" pitchFamily="18" charset="0"/>
              </a:rPr>
              <a:t>file</a:t>
            </a:r>
            <a:r>
              <a:rPr lang="en-US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Georgia" panose="02040502050405020303" pitchFamily="18" charset="0"/>
              </a:rPr>
              <a:t>= new File(path, "DemoPicture.jpg");</a:t>
            </a:r>
            <a:endParaRPr lang="en-GB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871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46FE-FF38-947F-95C2-1CF94FE8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F80E-76A6-9456-6B5F-3ED7326C2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F13CE-1272-68E0-AFB9-1FB59CC2D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512" y="2924944"/>
            <a:ext cx="8229600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32837496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459</TotalTime>
  <Words>2652</Words>
  <Application>Microsoft Office PowerPoint</Application>
  <PresentationFormat>A4 Paper (210x297 mm)</PresentationFormat>
  <Paragraphs>436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4" baseType="lpstr">
      <vt:lpstr>MS PGothic</vt:lpstr>
      <vt:lpstr>Arial</vt:lpstr>
      <vt:lpstr>Calibri</vt:lpstr>
      <vt:lpstr>CMSS10</vt:lpstr>
      <vt:lpstr>Consolas</vt:lpstr>
      <vt:lpstr>Consolas-Bold</vt:lpstr>
      <vt:lpstr>Georgia</vt:lpstr>
      <vt:lpstr>Lucida Sans</vt:lpstr>
      <vt:lpstr>Lucida Sans Unicode</vt:lpstr>
      <vt:lpstr>Monaco</vt:lpstr>
      <vt:lpstr>Open Sans</vt:lpstr>
      <vt:lpstr>Roboto</vt:lpstr>
      <vt:lpstr>Roboto-Regular</vt:lpstr>
      <vt:lpstr>system-ui</vt:lpstr>
      <vt:lpstr>Times New Roman</vt:lpstr>
      <vt:lpstr>var( --font-family-body-lesson-markdown</vt:lpstr>
      <vt:lpstr>Wingdings</vt:lpstr>
      <vt:lpstr>Bradford PPT_final_A</vt:lpstr>
      <vt:lpstr>Mobile Application Development (COS7025-B)     Designing Mobile Apps using Android Working with Databases</vt:lpstr>
      <vt:lpstr>Contents</vt:lpstr>
      <vt:lpstr>What is SQLite?</vt:lpstr>
      <vt:lpstr>SQLite – Zero configuration</vt:lpstr>
      <vt:lpstr>What is a Database Server </vt:lpstr>
      <vt:lpstr>Relational Databases</vt:lpstr>
      <vt:lpstr>Accessing Databases</vt:lpstr>
      <vt:lpstr>SQL Statements</vt:lpstr>
      <vt:lpstr>SQL Statements</vt:lpstr>
      <vt:lpstr>SQL Statements</vt:lpstr>
      <vt:lpstr>An example of Creating a Table in SQLite</vt:lpstr>
      <vt:lpstr>Building the SQLite Database</vt:lpstr>
      <vt:lpstr>Building the SQLite Database</vt:lpstr>
      <vt:lpstr>Building the SQLite Database</vt:lpstr>
      <vt:lpstr>Building the SQLite Database</vt:lpstr>
      <vt:lpstr>Building the SQLite Database</vt:lpstr>
      <vt:lpstr>Creating Tables in SQLite</vt:lpstr>
      <vt:lpstr>Creating Tables in SQLite</vt:lpstr>
      <vt:lpstr>Creating Tables in SQLite</vt:lpstr>
      <vt:lpstr>Creating Tables in SQLite</vt:lpstr>
      <vt:lpstr>SQL Query</vt:lpstr>
      <vt:lpstr>Few useful methods of Cursor class</vt:lpstr>
      <vt:lpstr>How to create an index?</vt:lpstr>
      <vt:lpstr>Use Firebase to store and share data</vt:lpstr>
      <vt:lpstr>How to integrate the Firebase database in Mobile App </vt:lpstr>
      <vt:lpstr>How to integrate the Firebase database in Mobile App </vt:lpstr>
      <vt:lpstr>How to integrate the Firebase database in Mobile App </vt:lpstr>
      <vt:lpstr>What does the data in Firebase look like?</vt:lpstr>
      <vt:lpstr>To see example on how to use Firebase database with Android using Java</vt:lpstr>
      <vt:lpstr>Android File System</vt:lpstr>
      <vt:lpstr>When to use internal/external storage</vt:lpstr>
      <vt:lpstr>Android File System</vt:lpstr>
      <vt:lpstr>Android File System</vt:lpstr>
      <vt:lpstr>Example external public directories</vt:lpstr>
      <vt:lpstr>Accessing public external directories</vt:lpstr>
      <vt:lpstr>Any Questions?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20</cp:revision>
  <cp:lastPrinted>2014-07-11T09:48:52Z</cp:lastPrinted>
  <dcterms:created xsi:type="dcterms:W3CDTF">2025-07-22T12:14:46Z</dcterms:created>
  <dcterms:modified xsi:type="dcterms:W3CDTF">2025-07-25T10:29:05Z</dcterms:modified>
</cp:coreProperties>
</file>