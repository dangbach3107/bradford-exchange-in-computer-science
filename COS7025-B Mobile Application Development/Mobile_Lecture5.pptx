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9" r:id="rId16"/>
    <p:sldId id="418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432" r:id="rId30"/>
    <p:sldId id="433" r:id="rId31"/>
    <p:sldId id="435" r:id="rId32"/>
    <p:sldId id="436" r:id="rId33"/>
    <p:sldId id="437" r:id="rId34"/>
    <p:sldId id="438" r:id="rId35"/>
    <p:sldId id="439" r:id="rId36"/>
    <p:sldId id="440" r:id="rId37"/>
    <p:sldId id="441" r:id="rId38"/>
    <p:sldId id="442" r:id="rId39"/>
    <p:sldId id="443" r:id="rId40"/>
    <p:sldId id="444" r:id="rId41"/>
    <p:sldId id="445" r:id="rId42"/>
    <p:sldId id="446" r:id="rId43"/>
    <p:sldId id="447" r:id="rId44"/>
    <p:sldId id="448" r:id="rId45"/>
    <p:sldId id="434" r:id="rId46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1108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81BE"/>
    <a:srgbClr val="9E0F1D"/>
    <a:srgbClr val="693B68"/>
    <a:srgbClr val="36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66" y="72"/>
      </p:cViewPr>
      <p:guideLst>
        <p:guide orient="horz" pos="1071"/>
        <p:guide orient="horz" pos="1108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2EBD4A-5895-A54E-A055-EDAC0AE85B12}" type="datetimeFigureOut">
              <a:rPr lang="en-GB"/>
              <a:pPr>
                <a:defRPr/>
              </a:pPr>
              <a:t>24/07/2025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7DD014-F3DA-9946-8CC1-301B1D998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200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C6EAC80-80B2-FE4F-B44C-ECDD3CC6FD34}" type="datetimeFigureOut">
              <a:rPr lang="en-GB"/>
              <a:pPr>
                <a:defRPr/>
              </a:pPr>
              <a:t>24/07/2025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38381A-76B6-2948-B558-3F9575637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75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8D4F-4E96-4841-A1F5-19AC2D41DEB5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E8C3C-0935-FD48-B11D-125A6C8E73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5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5"/>
            <a:ext cx="8485605" cy="51228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4441D-FCF9-B841-8F75-F62C4FB0DAB0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E868-5A68-4147-BDAB-52F2EBBCC5A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09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A35C8-07AA-F94B-83B0-C4A730E41B1B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1DF-C791-F345-ACE0-CA99EFF1D8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28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95428-EAB3-764C-8677-F1F25470B456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0A639-F880-524E-92E8-3486672B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8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2F54-982D-E743-AA1F-7772CD9012E2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2D634-E916-BD41-9F1F-E85E7417C3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5123-537D-E741-BE56-D25E2B04354C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C140-4BC7-DD46-8CA3-C0DD924A0C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BB531-FD53-6A42-8437-AB036AED9633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09A3-AF77-304F-92E2-22002205E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D460E-B54D-E546-92EF-4D2902D3E54F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E47B-26B3-1A40-A83C-170A74EA2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E044D-56C9-D045-AD41-9211A2AB6C0C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FC4CA-12F0-4A4C-8629-C1CFD830D16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7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114426"/>
            <a:ext cx="5054084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47C88-C818-9543-9F1E-2A7C341B416F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3A9D8-66EC-444B-9E6C-54113037B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35336-AB8F-714D-8E4E-F432E240A60F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B0D13-D08B-4549-AC14-0B4B4B9AF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4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A1A8-B470-1540-864F-AF2C7D81F41B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9793B-AD38-1A42-AA9D-4E06B7A01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01600"/>
            <a:ext cx="15843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2541-E997-4F49-85EF-4CCCF00D0EF9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8B3D1-E818-B04E-A1F5-49B7F1922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9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D75EA-DCC8-9840-917C-FAC56344F17F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B891-E3D7-6F45-BE23-3A0F1D2E5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0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130F-0913-DF45-95C6-89DBAA63D3E9}" type="datetime3">
              <a:rPr lang="en-GB"/>
              <a:pPr>
                <a:defRPr/>
              </a:pPr>
              <a:t>24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0DA09-FF99-0649-8968-06384E36B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4426"/>
            <a:ext cx="4062928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114426"/>
            <a:ext cx="4048894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9D680-5E09-F74D-8047-C1E5DBBD3B29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01427-B512-7248-A4CA-C97BF0071E5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A3276-1A0C-D446-AB2F-569EC9556028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53AB-A865-4446-87DC-AEDFA62A292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3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2356"/>
            <a:ext cx="4062928" cy="501381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114426"/>
            <a:ext cx="4049713" cy="5010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C966C-6B72-5141-B469-5EAA79BF385D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2F7F-CAE4-184F-BD3C-1874F5B871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85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A733-5E18-704D-8A3E-0849B336BAB7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1DDB-933F-9844-BB22-08B7C960913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66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124744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916832"/>
            <a:ext cx="4068137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124744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916832"/>
            <a:ext cx="4071620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41FF-F6A3-EF42-B4DC-77CDBD117C18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D98B-0F68-2E43-BC3B-3280CEDF0E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255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EDFE4-4D8A-7846-A0C4-2F016432D8F3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BE3B-F668-DB4C-A0F2-E43A7C187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9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E141-945D-9B45-B69D-164338EB0C16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937DF-DC3B-2B40-8064-4D2CB8147FB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325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9FF54-C48D-DC49-B8E9-9BFF9633E595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B4C0-1156-3142-A0E4-36DE16FEE6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15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6D1-55F4-274E-8E31-C05C80C0997C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AFC6-2595-E641-8B02-9202243DB6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1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7F3F-C7CA-C949-BDCC-28B438452C1D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34A02-E4AB-AB4F-8B80-E8ACE1C484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17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5DABA-A733-ED44-BAF2-74BAD90DD168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0E16-F279-204C-8F1E-D763784F2C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7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72E8-4729-7444-BC73-110EEAA2260D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C102-2AC3-CA4A-8F5C-9BEDD08B54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418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6B6C-6107-6748-9690-0C5DCB979249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4FEE-8ACB-AB48-9E72-F40339A1EC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816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B28D9-145B-CE40-BF66-564217847540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08EE-0A1B-6E44-89A9-50D76CE33D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672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C4DF8-4B58-784F-A4DF-275A1FD47115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1FFD0-77F3-3E4D-9850-85A2DA222C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57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1772221"/>
            <a:ext cx="8485188" cy="44650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46FC-89C8-8947-B99E-11FCA650D660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278C-87C0-7B46-A362-15FBE10851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74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2FF4-CB32-924A-B752-B19D91491121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8AC8-2546-FA4C-962F-2DDF922E55C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439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ED1-0220-C642-864B-0421ABAEC11B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F82-2AA4-BD40-8936-9C1C38FBEE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774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A427-9C52-914A-9F28-4E7A3B6702C1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1150-2EA3-BA46-9C62-F9F06C80496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39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2133" y="-50433"/>
            <a:ext cx="9918025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37675" y="227760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37675" y="14350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95285" lvl="0" indent="-412737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90570" lvl="1" indent="-385221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167">
                <a:solidFill>
                  <a:srgbClr val="000000"/>
                </a:solidFill>
              </a:defRPr>
            </a:lvl2pPr>
            <a:lvl3pPr marL="1485854" lvl="2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981139" lvl="3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476424" lvl="4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971709" lvl="5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466993" lvl="6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962278" lvl="7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457563" lvl="8" indent="-343948" rtl="0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9178496" y="63192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44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114425"/>
            <a:ext cx="8485188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05075" y="6340475"/>
            <a:ext cx="7011988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904875" y="6340475"/>
            <a:ext cx="159861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875" y="6337300"/>
            <a:ext cx="1473200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56516A83-91EE-AB41-A586-9B58DDBC6DE5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075" y="6337300"/>
            <a:ext cx="7005638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B3990C44-6740-6B49-8695-A99901BF4C4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  <p:sldLayoutId id="2147484540" r:id="rId12"/>
    <p:sldLayoutId id="2147484541" r:id="rId13"/>
    <p:sldLayoutId id="2147484542" r:id="rId14"/>
    <p:sldLayoutId id="2147484543" r:id="rId15"/>
    <p:sldLayoutId id="2147484544" r:id="rId16"/>
    <p:sldLayoutId id="2147484545" r:id="rId17"/>
    <p:sldLayoutId id="2147484546" r:id="rId18"/>
    <p:sldLayoutId id="2147484547" r:id="rId19"/>
    <p:sldLayoutId id="2147484548" r:id="rId20"/>
    <p:sldLayoutId id="2147484549" r:id="rId21"/>
    <p:sldLayoutId id="2147484550" r:id="rId22"/>
    <p:sldLayoutId id="2147484551" r:id="rId23"/>
    <p:sldLayoutId id="2147484552" r:id="rId24"/>
    <p:sldLayoutId id="2147484553" r:id="rId25"/>
    <p:sldLayoutId id="2147484554" r:id="rId26"/>
    <p:sldLayoutId id="2147484555" r:id="rId27"/>
    <p:sldLayoutId id="2147484556" r:id="rId28"/>
    <p:sldLayoutId id="2147484557" r:id="rId29"/>
    <p:sldLayoutId id="2147484558" r:id="rId30"/>
    <p:sldLayoutId id="2147484559" r:id="rId31"/>
    <p:sldLayoutId id="2147484560" r:id="rId32"/>
    <p:sldLayoutId id="2147484561" r:id="rId33"/>
    <p:sldLayoutId id="2147484562" r:id="rId34"/>
    <p:sldLayoutId id="2147484564" r:id="rId3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view/View.OnCreateContextMenuListener.html" TargetMode="Externa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developer.android.com/reference/android/app/TimePickerDialog.html" TargetMode="External"/><Relationship Id="rId7" Type="http://schemas.openxmlformats.org/officeDocument/2006/relationships/hyperlink" Target="https://developer.android.com/reference/android/app/AlertDialog.html" TargetMode="External"/><Relationship Id="rId2" Type="http://schemas.openxmlformats.org/officeDocument/2006/relationships/hyperlink" Target="https://developer.android.com/reference/android/app/DatePickerDialog.html" TargetMode="Externa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developer.android.com/reference/android/app/Dialog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eveloper.android.com/reference/android/app/AlertDialog.html" TargetMode="External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TimePickerDialog.html" TargetMode="External"/><Relationship Id="rId2" Type="http://schemas.openxmlformats.org/officeDocument/2006/relationships/hyperlink" Target="https://developer.android.com/reference/android/app/DatePickerDialog.html" TargetMode="Externa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eveloper.android.com/reference/android/support/v4/app/DialogFragment.html" TargetMode="External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guide/components/fragments.html" TargetMode="External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0"/>
          <p:cNvSpPr>
            <a:spLocks noGrp="1" noChangeArrowheads="1"/>
          </p:cNvSpPr>
          <p:nvPr>
            <p:ph type="title"/>
          </p:nvPr>
        </p:nvSpPr>
        <p:spPr>
          <a:xfrm>
            <a:off x="416496" y="1312895"/>
            <a:ext cx="9230650" cy="763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  <a:t>Mobile Application Development (COS7025-B)</a:t>
            </a:r>
            <a:b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</a:br>
            <a:br>
              <a:rPr lang="en-GB" altLang="en-US" sz="13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br>
              <a:rPr lang="en-GB" altLang="en-US" sz="900" dirty="0">
                <a:solidFill>
                  <a:srgbClr val="003399"/>
                </a:solidFill>
              </a:rPr>
            </a:br>
            <a:r>
              <a:rPr lang="en-GB" altLang="en-US" sz="3600" dirty="0">
                <a:solidFill>
                  <a:srgbClr val="003399"/>
                </a:solidFill>
                <a:latin typeface="Georgia" panose="02040502050405020303" pitchFamily="18" charset="0"/>
              </a:rPr>
              <a:t> </a:t>
            </a:r>
            <a:b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Menus, Dialogs, and Pickers</a:t>
            </a:r>
            <a:br>
              <a:rPr lang="en-GB" altLang="en-US" sz="3600" baseline="50000" dirty="0">
                <a:solidFill>
                  <a:srgbClr val="003399"/>
                </a:solidFill>
              </a:rPr>
            </a:br>
            <a:endParaRPr lang="es-ES" altLang="en-US" sz="3600" dirty="0">
              <a:solidFill>
                <a:srgbClr val="003399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1B4BE5D-D4C9-A14A-A707-5B27380E2328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4294967295"/>
          </p:nvPr>
        </p:nvSpPr>
        <p:spPr>
          <a:xfrm>
            <a:off x="0" y="6337300"/>
            <a:ext cx="1473200" cy="365125"/>
          </a:xfrm>
        </p:spPr>
        <p:txBody>
          <a:bodyPr/>
          <a:lstStyle/>
          <a:p>
            <a:pPr>
              <a:defRPr/>
            </a:pPr>
            <a:fld id="{03F7D35D-8950-BF46-B66A-37F1FDD14F3C}" type="datetime3">
              <a:rPr lang="en-GB"/>
              <a:pPr>
                <a:defRPr/>
              </a:pPr>
              <a:t>24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900363" y="6337300"/>
            <a:ext cx="7005637" cy="365125"/>
          </a:xfrm>
        </p:spPr>
        <p:txBody>
          <a:bodyPr/>
          <a:lstStyle/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Rectangle 168"/>
          <p:cNvSpPr>
            <a:spLocks noChangeArrowheads="1"/>
          </p:cNvSpPr>
          <p:nvPr/>
        </p:nvSpPr>
        <p:spPr bwMode="auto">
          <a:xfrm>
            <a:off x="2385307" y="3633138"/>
            <a:ext cx="496855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000" b="1" dirty="0">
                <a:solidFill>
                  <a:schemeClr val="tx1"/>
                </a:solidFill>
              </a:rPr>
              <a:t>Karim Hammoud Sadik</a:t>
            </a:r>
          </a:p>
          <a:p>
            <a:endParaRPr lang="es-UY" altLang="en-US" sz="2000" b="1" dirty="0">
              <a:solidFill>
                <a:schemeClr val="tx1"/>
              </a:solidFill>
            </a:endParaRPr>
          </a:p>
          <a:p>
            <a:r>
              <a:rPr lang="es-UY" altLang="en-US" sz="2000" b="1" dirty="0" err="1">
                <a:solidFill>
                  <a:schemeClr val="tx1"/>
                </a:solidFill>
              </a:rPr>
              <a:t>Lecture</a:t>
            </a:r>
            <a:r>
              <a:rPr lang="es-UY" altLang="en-US" sz="2000" b="1" dirty="0">
                <a:solidFill>
                  <a:schemeClr val="tx1"/>
                </a:solidFill>
              </a:rPr>
              <a:t> #5</a:t>
            </a:r>
            <a:endParaRPr lang="es-ES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520" y="4607870"/>
            <a:ext cx="960698" cy="1540889"/>
          </a:xfrm>
          <a:prstGeom prst="rect">
            <a:avLst/>
          </a:prstGeom>
        </p:spPr>
      </p:pic>
      <p:pic>
        <p:nvPicPr>
          <p:cNvPr id="1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048" y="4869160"/>
            <a:ext cx="1103818" cy="1101508"/>
          </a:xfrm>
          <a:prstGeom prst="rect">
            <a:avLst/>
          </a:prstGeom>
        </p:spPr>
      </p:pic>
      <p:sp>
        <p:nvSpPr>
          <p:cNvPr id="13" name="object 2"/>
          <p:cNvSpPr txBox="1">
            <a:spLocks/>
          </p:cNvSpPr>
          <p:nvPr/>
        </p:nvSpPr>
        <p:spPr bwMode="auto">
          <a:xfrm>
            <a:off x="5121609" y="6042039"/>
            <a:ext cx="1625256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sz="1600" b="1" dirty="0">
                <a:solidFill>
                  <a:srgbClr val="7030A0"/>
                </a:solidFill>
              </a:rPr>
              <a:t>Android</a:t>
            </a:r>
            <a:r>
              <a:rPr lang="en-GB" sz="1600" b="1" spc="-155" dirty="0">
                <a:solidFill>
                  <a:srgbClr val="7030A0"/>
                </a:solidFill>
              </a:rPr>
              <a:t> </a:t>
            </a:r>
            <a:r>
              <a:rPr lang="en-GB" sz="1600" b="1" dirty="0">
                <a:solidFill>
                  <a:srgbClr val="7030A0"/>
                </a:solidFill>
              </a:rPr>
              <a:t>Studio</a:t>
            </a:r>
            <a:endParaRPr lang="en-GB" sz="1600" b="1" spc="-100" dirty="0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1369">
            <a:off x="2770480" y="4707233"/>
            <a:ext cx="803112" cy="1496807"/>
          </a:xfrm>
          <a:prstGeom prst="rect">
            <a:avLst/>
          </a:prstGeom>
        </p:spPr>
      </p:pic>
      <p:pic>
        <p:nvPicPr>
          <p:cNvPr id="15" name="Picture 2" descr="Android framework detail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r="41013"/>
          <a:stretch>
            <a:fillRect/>
          </a:stretch>
        </p:blipFill>
        <p:spPr bwMode="auto">
          <a:xfrm>
            <a:off x="7751333" y="3987613"/>
            <a:ext cx="1394740" cy="23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55B40-594C-87A4-67E1-018DC8F2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B490B-786A-691E-A082-ABCA10D53D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FB4163B3-F9C3-376B-F66E-7D6BBA661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61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489;p94">
            <a:extLst>
              <a:ext uri="{FF2B5EF4-FFF2-40B4-BE49-F238E27FC236}">
                <a16:creationId xmlns:a16="http://schemas.microsoft.com/office/drawing/2014/main" id="{7BBA9395-290E-B5C8-CFBB-EA98732BB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2480" y="1556792"/>
            <a:ext cx="8398800" cy="33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Overview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App Bar with Options Menu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Contextual menus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Popup menus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Dialogs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Pickers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718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F66F-72FE-2F2E-089F-D64B3C9B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0A63-AC8F-89AE-3D59-82A74DBC6F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/>
          </a:p>
        </p:txBody>
      </p:sp>
      <p:pic>
        <p:nvPicPr>
          <p:cNvPr id="6" name="Google Shape;503;p96">
            <a:extLst>
              <a:ext uri="{FF2B5EF4-FFF2-40B4-BE49-F238E27FC236}">
                <a16:creationId xmlns:a16="http://schemas.microsoft.com/office/drawing/2014/main" id="{A943CB97-5BA2-B0A1-5F15-1DB23679DB4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66600" y="2518222"/>
            <a:ext cx="5683874" cy="26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04;p96">
            <a:extLst>
              <a:ext uri="{FF2B5EF4-FFF2-40B4-BE49-F238E27FC236}">
                <a16:creationId xmlns:a16="http://schemas.microsoft.com/office/drawing/2014/main" id="{4312054A-9853-AEA5-DF8F-EC0CC7CE7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184" y="1628800"/>
            <a:ext cx="5547904" cy="3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App bar with options menu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Context menu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Contextual action bar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Popup menu</a:t>
            </a:r>
            <a:endParaRPr sz="1600" dirty="0">
              <a:solidFill>
                <a:srgbClr val="4CAF50"/>
              </a:solidFill>
            </a:endParaRPr>
          </a:p>
        </p:txBody>
      </p:sp>
      <p:sp>
        <p:nvSpPr>
          <p:cNvPr id="8" name="Google Shape;505;p96">
            <a:extLst>
              <a:ext uri="{FF2B5EF4-FFF2-40B4-BE49-F238E27FC236}">
                <a16:creationId xmlns:a16="http://schemas.microsoft.com/office/drawing/2014/main" id="{74168AA5-1F67-07A4-13DE-E1B96B465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Menus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573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358A-B79A-61C0-6DE5-7B74CC9F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68CDB-6A14-0E53-380D-CDA27DCB83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</a:t>
            </a:fld>
            <a:endParaRPr lang="en"/>
          </a:p>
        </p:txBody>
      </p:sp>
      <p:sp>
        <p:nvSpPr>
          <p:cNvPr id="7" name="Google Shape;512;p97">
            <a:extLst>
              <a:ext uri="{FF2B5EF4-FFF2-40B4-BE49-F238E27FC236}">
                <a16:creationId xmlns:a16="http://schemas.microsoft.com/office/drawing/2014/main" id="{3E7A547A-3033-844E-CB26-EFF9B79D9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Dialogs and pickers</a:t>
            </a:r>
            <a:endParaRPr dirty="0"/>
          </a:p>
        </p:txBody>
      </p:sp>
      <p:sp>
        <p:nvSpPr>
          <p:cNvPr id="8" name="Google Shape;520;p97">
            <a:extLst>
              <a:ext uri="{FF2B5EF4-FFF2-40B4-BE49-F238E27FC236}">
                <a16:creationId xmlns:a16="http://schemas.microsoft.com/office/drawing/2014/main" id="{EFAE5A50-4450-25A0-6A1B-1F1F85241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971" y="1412776"/>
            <a:ext cx="3803100" cy="3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Alert dialog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Date picker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Time picker</a:t>
            </a:r>
            <a:endParaRPr sz="1600" dirty="0">
              <a:solidFill>
                <a:srgbClr val="4CAF50"/>
              </a:solidFill>
            </a:endParaRPr>
          </a:p>
        </p:txBody>
      </p:sp>
      <p:pic>
        <p:nvPicPr>
          <p:cNvPr id="16" name="Google Shape;511;p97">
            <a:extLst>
              <a:ext uri="{FF2B5EF4-FFF2-40B4-BE49-F238E27FC236}">
                <a16:creationId xmlns:a16="http://schemas.microsoft.com/office/drawing/2014/main" id="{2BE96D4F-319B-990F-5F09-5ECCF03A659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2840" y="2114132"/>
            <a:ext cx="5949850" cy="3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14;p97">
            <a:extLst>
              <a:ext uri="{FF2B5EF4-FFF2-40B4-BE49-F238E27FC236}">
                <a16:creationId xmlns:a16="http://schemas.microsoft.com/office/drawing/2014/main" id="{E87CFD06-6FB7-1F63-1CF1-049F0716E1E3}"/>
              </a:ext>
            </a:extLst>
          </p:cNvPr>
          <p:cNvSpPr/>
          <p:nvPr/>
        </p:nvSpPr>
        <p:spPr>
          <a:xfrm>
            <a:off x="4263915" y="5218881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8" name="Google Shape;515;p97">
            <a:extLst>
              <a:ext uri="{FF2B5EF4-FFF2-40B4-BE49-F238E27FC236}">
                <a16:creationId xmlns:a16="http://schemas.microsoft.com/office/drawing/2014/main" id="{0B6730CC-0961-A0CD-6D2D-8FF3F1562D7D}"/>
              </a:ext>
            </a:extLst>
          </p:cNvPr>
          <p:cNvCxnSpPr>
            <a:endCxn id="17" idx="0"/>
          </p:cNvCxnSpPr>
          <p:nvPr/>
        </p:nvCxnSpPr>
        <p:spPr>
          <a:xfrm>
            <a:off x="4449615" y="4576581"/>
            <a:ext cx="0" cy="642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516;p97">
            <a:extLst>
              <a:ext uri="{FF2B5EF4-FFF2-40B4-BE49-F238E27FC236}">
                <a16:creationId xmlns:a16="http://schemas.microsoft.com/office/drawing/2014/main" id="{2670D2E3-CB6F-BDCB-A431-1FE4541BA540}"/>
              </a:ext>
            </a:extLst>
          </p:cNvPr>
          <p:cNvSpPr/>
          <p:nvPr/>
        </p:nvSpPr>
        <p:spPr>
          <a:xfrm>
            <a:off x="6173040" y="5218881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0" name="Google Shape;517;p97">
            <a:extLst>
              <a:ext uri="{FF2B5EF4-FFF2-40B4-BE49-F238E27FC236}">
                <a16:creationId xmlns:a16="http://schemas.microsoft.com/office/drawing/2014/main" id="{A9257651-C8B4-7B24-C231-008EBD52C95A}"/>
              </a:ext>
            </a:extLst>
          </p:cNvPr>
          <p:cNvCxnSpPr>
            <a:endCxn id="19" idx="0"/>
          </p:cNvCxnSpPr>
          <p:nvPr/>
        </p:nvCxnSpPr>
        <p:spPr>
          <a:xfrm>
            <a:off x="6358740" y="5067681"/>
            <a:ext cx="0" cy="1512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518;p97">
            <a:extLst>
              <a:ext uri="{FF2B5EF4-FFF2-40B4-BE49-F238E27FC236}">
                <a16:creationId xmlns:a16="http://schemas.microsoft.com/office/drawing/2014/main" id="{A4AE3401-9D6D-4A66-3B00-75A0D7859E45}"/>
              </a:ext>
            </a:extLst>
          </p:cNvPr>
          <p:cNvSpPr/>
          <p:nvPr/>
        </p:nvSpPr>
        <p:spPr>
          <a:xfrm>
            <a:off x="8082165" y="5218881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" name="Google Shape;519;p97">
            <a:extLst>
              <a:ext uri="{FF2B5EF4-FFF2-40B4-BE49-F238E27FC236}">
                <a16:creationId xmlns:a16="http://schemas.microsoft.com/office/drawing/2014/main" id="{CDB537F1-E21D-7ADD-52D0-3E565804B9EC}"/>
              </a:ext>
            </a:extLst>
          </p:cNvPr>
          <p:cNvCxnSpPr>
            <a:endCxn id="21" idx="0"/>
          </p:cNvCxnSpPr>
          <p:nvPr/>
        </p:nvCxnSpPr>
        <p:spPr>
          <a:xfrm>
            <a:off x="8267865" y="4576581"/>
            <a:ext cx="0" cy="642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5727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DEA5-ABFA-C932-25EB-0C84628A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D43B0-2980-5506-DBE4-92A58E1A5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</a:t>
            </a:fld>
            <a:endParaRPr lang="en"/>
          </a:p>
        </p:txBody>
      </p:sp>
      <p:sp>
        <p:nvSpPr>
          <p:cNvPr id="6" name="Google Shape;533;p99">
            <a:extLst>
              <a:ext uri="{FF2B5EF4-FFF2-40B4-BE49-F238E27FC236}">
                <a16:creationId xmlns:a16="http://schemas.microsoft.com/office/drawing/2014/main" id="{93F086D4-5E40-74FD-441B-5386DB9C8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App Bar?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35;p99">
            <a:extLst>
              <a:ext uri="{FF2B5EF4-FFF2-40B4-BE49-F238E27FC236}">
                <a16:creationId xmlns:a16="http://schemas.microsoft.com/office/drawing/2014/main" id="{7A29B77C-4542-137B-DFEC-13137D625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484784"/>
            <a:ext cx="8520600" cy="3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Bar at top of each screen—same for all devices (usually)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dirty="0">
                <a:solidFill>
                  <a:srgbClr val="000000"/>
                </a:solidFill>
              </a:rPr>
              <a:t>Nav icon to open navigation drawer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dirty="0">
                <a:solidFill>
                  <a:srgbClr val="000000"/>
                </a:solidFill>
              </a:rPr>
              <a:t>Title of current Activity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dirty="0">
                <a:solidFill>
                  <a:srgbClr val="000000"/>
                </a:solidFill>
              </a:rPr>
              <a:t>Icons for options menu items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dirty="0">
                <a:solidFill>
                  <a:srgbClr val="000000"/>
                </a:solidFill>
              </a:rPr>
              <a:t>Action overflow button for</a:t>
            </a:r>
            <a:br>
              <a:rPr lang="en" dirty="0">
                <a:solidFill>
                  <a:srgbClr val="000000"/>
                </a:solidFill>
              </a:rPr>
            </a:br>
            <a:r>
              <a:rPr lang="en" dirty="0">
                <a:solidFill>
                  <a:srgbClr val="000000"/>
                </a:solidFill>
              </a:rPr>
              <a:t>the rest of the options menu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</a:endParaRPr>
          </a:p>
        </p:txBody>
      </p:sp>
      <p:pic>
        <p:nvPicPr>
          <p:cNvPr id="8" name="Google Shape;536;p99">
            <a:extLst>
              <a:ext uri="{FF2B5EF4-FFF2-40B4-BE49-F238E27FC236}">
                <a16:creationId xmlns:a16="http://schemas.microsoft.com/office/drawing/2014/main" id="{B564C4C4-F234-F45A-C755-03E401E6912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3040" y="3830368"/>
            <a:ext cx="4061073" cy="1895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24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EB01-DE07-7972-7961-AFBDC9477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51A9B-460D-CB4B-F1B2-D8069B57DA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9" name="Google Shape;541;p100">
            <a:extLst>
              <a:ext uri="{FF2B5EF4-FFF2-40B4-BE49-F238E27FC236}">
                <a16:creationId xmlns:a16="http://schemas.microsoft.com/office/drawing/2014/main" id="{C0E276A9-3131-CD9E-3C02-5502ADBEB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3136734"/>
            <a:ext cx="8709600" cy="20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Appears in the right corner of the app bar (3)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For navigating to other activities and editing app settings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  <p:sp>
        <p:nvSpPr>
          <p:cNvPr id="10" name="Google Shape;542;p100">
            <a:extLst>
              <a:ext uri="{FF2B5EF4-FFF2-40B4-BE49-F238E27FC236}">
                <a16:creationId xmlns:a16="http://schemas.microsoft.com/office/drawing/2014/main" id="{4B0525D6-33E2-A15C-28B7-8DA6EE502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options menu?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Google Shape;544;p100">
            <a:extLst>
              <a:ext uri="{FF2B5EF4-FFF2-40B4-BE49-F238E27FC236}">
                <a16:creationId xmlns:a16="http://schemas.microsoft.com/office/drawing/2014/main" id="{0C1323F4-C012-A565-E92A-CC1727B1A00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5007" y="1916832"/>
            <a:ext cx="4747913" cy="135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47;p100">
            <a:extLst>
              <a:ext uri="{FF2B5EF4-FFF2-40B4-BE49-F238E27FC236}">
                <a16:creationId xmlns:a16="http://schemas.microsoft.com/office/drawing/2014/main" id="{8A56AB54-F898-A4B8-0E7E-EFD91D17D892}"/>
              </a:ext>
            </a:extLst>
          </p:cNvPr>
          <p:cNvSpPr txBox="1">
            <a:spLocks/>
          </p:cNvSpPr>
          <p:nvPr/>
        </p:nvSpPr>
        <p:spPr bwMode="auto">
          <a:xfrm>
            <a:off x="125900" y="1327148"/>
            <a:ext cx="4827100" cy="178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Action icons in the app bar for important items (1)</a:t>
            </a:r>
          </a:p>
          <a:p>
            <a:pPr marL="457200" indent="-381000">
              <a:spcBef>
                <a:spcPts val="1000"/>
              </a:spcBef>
              <a:buFont typeface="Arial" charset="0"/>
              <a:buChar char="●"/>
            </a:pPr>
            <a:r>
              <a:rPr lang="en-US" dirty="0"/>
              <a:t>Tap the three dots, the "action overflow button" to see the options menu (2)</a:t>
            </a:r>
            <a:endParaRPr lang="en-US"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67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4814-74EC-3007-671C-A677CEAF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66AD9-FC4F-C31A-5368-8430224AE7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sp>
        <p:nvSpPr>
          <p:cNvPr id="6" name="Google Shape;560;p102">
            <a:extLst>
              <a:ext uri="{FF2B5EF4-FFF2-40B4-BE49-F238E27FC236}">
                <a16:creationId xmlns:a16="http://schemas.microsoft.com/office/drawing/2014/main" id="{6AF2A725-5E61-52A6-7F3B-B6876D754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to implement options menu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62;p102">
            <a:extLst>
              <a:ext uri="{FF2B5EF4-FFF2-40B4-BE49-F238E27FC236}">
                <a16:creationId xmlns:a16="http://schemas.microsoft.com/office/drawing/2014/main" id="{8DE7D2F4-272B-0CA5-1419-74A86CDC7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720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XML menu resource (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menu_main.xml</a:t>
            </a:r>
            <a:r>
              <a:rPr lang="en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onCreateOptionsMenu()</a:t>
            </a:r>
            <a:r>
              <a:rPr lang="en" dirty="0">
                <a:solidFill>
                  <a:schemeClr val="dk1"/>
                </a:solidFill>
              </a:rPr>
              <a:t> to inflate the menu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 dirty="0">
                <a:solidFill>
                  <a:schemeClr val="dk1"/>
                </a:solidFill>
              </a:rPr>
              <a:t> attribute or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onOptionsItemSelected()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Method to handle item click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 sz="1800" dirty="0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" name="Google Shape;563;p102">
            <a:extLst>
              <a:ext uri="{FF2B5EF4-FFF2-40B4-BE49-F238E27FC236}">
                <a16:creationId xmlns:a16="http://schemas.microsoft.com/office/drawing/2014/main" id="{94EC9452-829F-C955-6375-6C38286CD30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41439" y="4005064"/>
            <a:ext cx="6507625" cy="1515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954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1E74-3306-A0CF-D264-CF73D769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AA471-F5C1-BC86-A633-68E13E5C22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sp>
        <p:nvSpPr>
          <p:cNvPr id="6" name="Google Shape;568;p103">
            <a:extLst>
              <a:ext uri="{FF2B5EF4-FFF2-40B4-BE49-F238E27FC236}">
                <a16:creationId xmlns:a16="http://schemas.microsoft.com/office/drawing/2014/main" id="{E468C0B6-C2BD-75C9-D82A-38F9B8F8F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menu resource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70;p103">
            <a:extLst>
              <a:ext uri="{FF2B5EF4-FFF2-40B4-BE49-F238E27FC236}">
                <a16:creationId xmlns:a16="http://schemas.microsoft.com/office/drawing/2014/main" id="{5F3CF250-62B7-7F8F-B9A5-6C367404E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844824"/>
            <a:ext cx="977753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menu resource directory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XML menu resource (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menu_main.xml</a:t>
            </a:r>
            <a:r>
              <a:rPr lang="en" dirty="0">
                <a:solidFill>
                  <a:schemeClr val="dk1"/>
                </a:solidFill>
              </a:rPr>
              <a:t>) 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Add entry for each menu item (</a:t>
            </a:r>
            <a:r>
              <a:rPr lang="en" b="1" dirty="0">
                <a:solidFill>
                  <a:schemeClr val="dk1"/>
                </a:solidFill>
              </a:rPr>
              <a:t>Settings</a:t>
            </a:r>
            <a:r>
              <a:rPr lang="en" dirty="0">
                <a:solidFill>
                  <a:schemeClr val="dk1"/>
                </a:solidFill>
              </a:rPr>
              <a:t> and </a:t>
            </a:r>
            <a:r>
              <a:rPr lang="en" b="1" dirty="0">
                <a:solidFill>
                  <a:schemeClr val="dk1"/>
                </a:solidFill>
              </a:rPr>
              <a:t>Favorites</a:t>
            </a:r>
            <a:r>
              <a:rPr lang="en" dirty="0">
                <a:solidFill>
                  <a:schemeClr val="dk1"/>
                </a:solidFill>
              </a:rPr>
              <a:t>):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  android:id="@+id/option_settings"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android:title="Settings" 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&lt;item  android:id="@+id/option_favorites"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android:title="Favorites" 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4522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48A3-832D-48CB-D46F-90859A3C7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5B5FB-E535-50B9-04BE-C7837C354D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sp>
        <p:nvSpPr>
          <p:cNvPr id="6" name="Google Shape;575;p104">
            <a:extLst>
              <a:ext uri="{FF2B5EF4-FFF2-40B4-BE49-F238E27FC236}">
                <a16:creationId xmlns:a16="http://schemas.microsoft.com/office/drawing/2014/main" id="{E3123641-68B4-18FD-8360-31DC5759C7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Inflate options menu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77;p104">
            <a:extLst>
              <a:ext uri="{FF2B5EF4-FFF2-40B4-BE49-F238E27FC236}">
                <a16:creationId xmlns:a16="http://schemas.microsoft.com/office/drawing/2014/main" id="{71FF37BF-B878-87E1-3756-8BA82112B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012" y="1556792"/>
            <a:ext cx="970552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Override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onCreateOptionsMenu()</a:t>
            </a:r>
            <a:r>
              <a:rPr lang="en" dirty="0">
                <a:solidFill>
                  <a:schemeClr val="dk1"/>
                </a:solidFill>
              </a:rPr>
              <a:t> in Activity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onCreateOptionsMenu(Menu menu) {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getMenuInflater().inflate(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R.menu.menu_main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menu);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71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FAEC-9CC7-1436-7EAC-D7998C6F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184E6-CFCD-5BDC-6AA6-1FA2606C67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sp>
        <p:nvSpPr>
          <p:cNvPr id="6" name="Google Shape;582;p105">
            <a:extLst>
              <a:ext uri="{FF2B5EF4-FFF2-40B4-BE49-F238E27FC236}">
                <a16:creationId xmlns:a16="http://schemas.microsoft.com/office/drawing/2014/main" id="{BC4E62DA-5320-2A2E-E904-A06CDBDE7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icons for menu items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84;p105">
            <a:extLst>
              <a:ext uri="{FF2B5EF4-FFF2-40B4-BE49-F238E27FC236}">
                <a16:creationId xmlns:a16="http://schemas.microsoft.com/office/drawing/2014/main" id="{4D9B741D-7A45-BF40-00CB-FD59EC2A0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556792"/>
            <a:ext cx="5655300" cy="39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Right-click </a:t>
            </a:r>
            <a:r>
              <a:rPr lang="en" b="1" dirty="0">
                <a:solidFill>
                  <a:schemeClr val="dk1"/>
                </a:solidFill>
              </a:rPr>
              <a:t>drawable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Choose </a:t>
            </a:r>
            <a:r>
              <a:rPr lang="en" b="1" dirty="0">
                <a:solidFill>
                  <a:schemeClr val="dk1"/>
                </a:solidFill>
              </a:rPr>
              <a:t>New &gt; Image Asset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Choose </a:t>
            </a:r>
            <a:r>
              <a:rPr lang="en" b="1" dirty="0">
                <a:solidFill>
                  <a:schemeClr val="dk1"/>
                </a:solidFill>
              </a:rPr>
              <a:t>Action Bar and Tab Items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Edit the icon name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Click clipart image, and click icon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Click </a:t>
            </a:r>
            <a:r>
              <a:rPr lang="en" b="1" dirty="0">
                <a:solidFill>
                  <a:schemeClr val="dk1"/>
                </a:solidFill>
              </a:rPr>
              <a:t>Next</a:t>
            </a:r>
            <a:r>
              <a:rPr lang="en" dirty="0">
                <a:solidFill>
                  <a:schemeClr val="dk1"/>
                </a:solidFill>
              </a:rPr>
              <a:t>, then </a:t>
            </a:r>
            <a:r>
              <a:rPr lang="en" b="1" dirty="0">
                <a:solidFill>
                  <a:schemeClr val="dk1"/>
                </a:solidFill>
              </a:rPr>
              <a:t>Finish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  <p:pic>
        <p:nvPicPr>
          <p:cNvPr id="8" name="Google Shape;585;p105">
            <a:extLst>
              <a:ext uri="{FF2B5EF4-FFF2-40B4-BE49-F238E27FC236}">
                <a16:creationId xmlns:a16="http://schemas.microsoft.com/office/drawing/2014/main" id="{14A918B3-BCF6-A6C7-6F4F-C8D9AD105E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89104" y="1556792"/>
            <a:ext cx="3883817" cy="352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2698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59C2-0BD4-EF94-8E27-51FEE069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33A35-577B-09D7-B3A8-BB63D522D1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11</a:t>
            </a:fld>
            <a:endParaRPr lang="en"/>
          </a:p>
        </p:txBody>
      </p:sp>
      <p:sp>
        <p:nvSpPr>
          <p:cNvPr id="6" name="Google Shape;590;p106">
            <a:extLst>
              <a:ext uri="{FF2B5EF4-FFF2-40B4-BE49-F238E27FC236}">
                <a16:creationId xmlns:a16="http://schemas.microsoft.com/office/drawing/2014/main" id="{4EDD966B-1A80-89A3-F1D4-637DDC30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menu item attributes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92;p106">
            <a:extLst>
              <a:ext uri="{FF2B5EF4-FFF2-40B4-BE49-F238E27FC236}">
                <a16:creationId xmlns:a16="http://schemas.microsoft.com/office/drawing/2014/main" id="{02C6D4D5-3453-3F25-3DC1-039827FB7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458150"/>
            <a:ext cx="9289032" cy="39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android:id="@+id/action_favorites"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android:icon="@drawable/ic_favorite"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android:orderInCategory="30"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android:title="@string/action_favorites"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app:showAsAction="ifRoom" 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48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5C41-41F2-B278-5EAD-837FECC7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BDA71-0EA2-DEE9-2F18-33ACF5001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12</a:t>
            </a:fld>
            <a:endParaRPr lang="en"/>
          </a:p>
        </p:txBody>
      </p:sp>
      <p:sp>
        <p:nvSpPr>
          <p:cNvPr id="6" name="Google Shape;597;p107">
            <a:extLst>
              <a:ext uri="{FF2B5EF4-FFF2-40B4-BE49-F238E27FC236}">
                <a16:creationId xmlns:a16="http://schemas.microsoft.com/office/drawing/2014/main" id="{97A0078A-B489-CB24-64A7-F4A05B035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Override onOptionsItemSelected()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599;p107">
            <a:extLst>
              <a:ext uri="{FF2B5EF4-FFF2-40B4-BE49-F238E27FC236}">
                <a16:creationId xmlns:a16="http://schemas.microsoft.com/office/drawing/2014/main" id="{3040753E-ECFE-06DC-8B58-5372B551F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3" y="1728150"/>
            <a:ext cx="9644457" cy="3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onOptionsItemSelected(MenuItem item)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item.getItemId()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R.id.action_settings: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showSettings();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R.id.action_favorites: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showFavorites();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default:</a:t>
            </a:r>
            <a:endParaRPr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return super.onOptionsItemSelected(item);</a:t>
            </a:r>
            <a:endParaRPr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400" dirty="0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5255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AC4D-4109-C134-4DC8-A51456C2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33331-E0E5-E517-FCC7-B58EC58CD3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sp>
        <p:nvSpPr>
          <p:cNvPr id="6" name="Google Shape;612;p109">
            <a:extLst>
              <a:ext uri="{FF2B5EF4-FFF2-40B4-BE49-F238E27FC236}">
                <a16:creationId xmlns:a16="http://schemas.microsoft.com/office/drawing/2014/main" id="{970AAC84-9D88-0180-8800-6530BF3349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are contextual menus?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614;p109">
            <a:extLst>
              <a:ext uri="{FF2B5EF4-FFF2-40B4-BE49-F238E27FC236}">
                <a16:creationId xmlns:a16="http://schemas.microsoft.com/office/drawing/2014/main" id="{B338C2A3-BF43-7DB7-8915-99E09CDB5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95" y="1484784"/>
            <a:ext cx="9763726" cy="3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Allows users to perform action on selected View 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Can be deployed on any View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Most often used for items in RecyclerView, GridView, or other View collection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715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87A7-0352-6355-D6F4-675B3CEC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0ACF5-C7CB-4740-1FC4-4B6C4625BF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/>
          </a:p>
        </p:txBody>
      </p:sp>
      <p:sp>
        <p:nvSpPr>
          <p:cNvPr id="6" name="Google Shape;619;p110">
            <a:extLst>
              <a:ext uri="{FF2B5EF4-FFF2-40B4-BE49-F238E27FC236}">
                <a16:creationId xmlns:a16="http://schemas.microsoft.com/office/drawing/2014/main" id="{3C5FC23B-83C4-74E9-0D7A-859952EC54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contextual menus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621;p110">
            <a:extLst>
              <a:ext uri="{FF2B5EF4-FFF2-40B4-BE49-F238E27FC236}">
                <a16:creationId xmlns:a16="http://schemas.microsoft.com/office/drawing/2014/main" id="{5BE53AD3-6BE9-6B7A-84A0-9C4C16F49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4395" y="1656000"/>
            <a:ext cx="8588525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Floating context menu—long-press on a View 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User can modify View or use it in some fashion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User performs action on one View at a time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Contextual action mode—temporary action bar in place of or underneath app bar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Action items affect the selected View element(s)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User can perform action on multiple View elements at once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  <p:pic>
        <p:nvPicPr>
          <p:cNvPr id="8" name="Google Shape;622;p110">
            <a:extLst>
              <a:ext uri="{FF2B5EF4-FFF2-40B4-BE49-F238E27FC236}">
                <a16:creationId xmlns:a16="http://schemas.microsoft.com/office/drawing/2014/main" id="{4415FCE3-1014-B580-C498-3ADBDF337C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169"/>
          <a:stretch/>
        </p:blipFill>
        <p:spPr>
          <a:xfrm>
            <a:off x="88771" y="3494625"/>
            <a:ext cx="1103930" cy="1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3;p110">
            <a:extLst>
              <a:ext uri="{FF2B5EF4-FFF2-40B4-BE49-F238E27FC236}">
                <a16:creationId xmlns:a16="http://schemas.microsoft.com/office/drawing/2014/main" id="{5E335939-E72B-D0AC-5D2B-CB3E61E732A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1169"/>
          <a:stretch/>
        </p:blipFill>
        <p:spPr>
          <a:xfrm>
            <a:off x="88771" y="1663050"/>
            <a:ext cx="1103930" cy="178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0365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1BA3-F642-6F3F-8453-B48C8D9A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29407-FA47-D6FF-E0D0-04A78400EA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7DA861-DFA1-681E-6F6B-87BF3F95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solidFill>
                  <a:schemeClr val="bg1"/>
                </a:solidFill>
              </a:rPr>
              <a:t>Floating Context Menu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Google Shape;638;p112">
            <a:extLst>
              <a:ext uri="{FF2B5EF4-FFF2-40B4-BE49-F238E27FC236}">
                <a16:creationId xmlns:a16="http://schemas.microsoft.com/office/drawing/2014/main" id="{8DBBE529-B1FC-836E-C597-798D8D9A3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601" y="2031767"/>
            <a:ext cx="9670320" cy="22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Create XML menu resource file and assign appearance and position attributes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Register View using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registerForContextMenu()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Implement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onCreateContextMenu()</a:t>
            </a:r>
            <a:r>
              <a:rPr lang="en" sz="1800" dirty="0">
                <a:solidFill>
                  <a:schemeClr val="dk1"/>
                </a:solidFill>
              </a:rPr>
              <a:t> in Activity to inflate menu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Implement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onContextItemSelected()</a:t>
            </a:r>
            <a:r>
              <a:rPr lang="en" sz="1800" dirty="0">
                <a:solidFill>
                  <a:schemeClr val="dk1"/>
                </a:solidFill>
              </a:rPr>
              <a:t> to handle menu item clicks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Create method to perform action for each context menu item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7" name="Google Shape;639;p112">
            <a:extLst>
              <a:ext uri="{FF2B5EF4-FFF2-40B4-BE49-F238E27FC236}">
                <a16:creationId xmlns:a16="http://schemas.microsoft.com/office/drawing/2014/main" id="{2E456BD0-79D6-2C28-3137-ED5DF4E89D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2840" y="4258367"/>
            <a:ext cx="5848350" cy="20221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A29304-4F64-BDB6-90C5-4C018735E400}"/>
              </a:ext>
            </a:extLst>
          </p:cNvPr>
          <p:cNvSpPr txBox="1"/>
          <p:nvPr/>
        </p:nvSpPr>
        <p:spPr>
          <a:xfrm>
            <a:off x="103074" y="1470455"/>
            <a:ext cx="231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2644800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A860-FFC8-A4B0-57B5-8BCBCCDD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536DD-445B-CDBD-511C-1CACE07835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16</a:t>
            </a:fld>
            <a:endParaRPr lang="en"/>
          </a:p>
        </p:txBody>
      </p:sp>
      <p:sp>
        <p:nvSpPr>
          <p:cNvPr id="2" name="Google Shape;644;p113">
            <a:extLst>
              <a:ext uri="{FF2B5EF4-FFF2-40B4-BE49-F238E27FC236}">
                <a16:creationId xmlns:a16="http://schemas.microsoft.com/office/drawing/2014/main" id="{CEE09EE6-4AC6-7C3D-0900-131E7DAB2A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menu resource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646;p113">
            <a:extLst>
              <a:ext uri="{FF2B5EF4-FFF2-40B4-BE49-F238E27FC236}">
                <a16:creationId xmlns:a16="http://schemas.microsoft.com/office/drawing/2014/main" id="{9289829D-5CE5-6D38-F689-5D3F9719E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660" y="1484784"/>
            <a:ext cx="9433048" cy="36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XML menu resource (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menu_context.xml</a:t>
            </a:r>
            <a:r>
              <a:rPr lang="en" dirty="0">
                <a:solidFill>
                  <a:schemeClr val="dk1"/>
                </a:solidFill>
              </a:rPr>
              <a:t>)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android:id="@+id/context_edit"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android:title="Edit"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android:orderInCategory="10"/&gt;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android:id="@+id/context_share"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android:title="Share"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android:orderInCategory="20"/&gt;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823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0CE2-7F66-5B2E-C10E-37F05B11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80427-5226-3B00-8FA0-C2C87FDFC2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17</a:t>
            </a:fld>
            <a:endParaRPr lang="en"/>
          </a:p>
        </p:txBody>
      </p:sp>
      <p:sp>
        <p:nvSpPr>
          <p:cNvPr id="6" name="Google Shape;651;p114">
            <a:extLst>
              <a:ext uri="{FF2B5EF4-FFF2-40B4-BE49-F238E27FC236}">
                <a16:creationId xmlns:a16="http://schemas.microsoft.com/office/drawing/2014/main" id="{7D940FE6-9A36-4CD6-67ED-1DDA06BEA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 view to a context menu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653;p114">
            <a:extLst>
              <a:ext uri="{FF2B5EF4-FFF2-40B4-BE49-F238E27FC236}">
                <a16:creationId xmlns:a16="http://schemas.microsoft.com/office/drawing/2014/main" id="{740E4576-C732-F4B8-28B0-079DCB4C8B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1599" y="1772816"/>
            <a:ext cx="9601321" cy="31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In onCreate() of the Activity: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n" dirty="0"/>
              <a:t>Register </a:t>
            </a:r>
            <a:r>
              <a:rPr lang="en" u="sng" dirty="0">
                <a:solidFill>
                  <a:schemeClr val="hlink"/>
                </a:solidFill>
                <a:hlinkClick r:id="rId2"/>
              </a:rPr>
              <a:t>View.OnCreateContextMenuListener</a:t>
            </a:r>
            <a:r>
              <a:rPr lang="en" dirty="0"/>
              <a:t> to View: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 article_text = findViewById(R.id.article);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registerForContextMenu(article_text);</a:t>
            </a:r>
            <a:endParaRPr sz="2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26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75AA-1AC5-F7F0-AA94-2B1E8BEB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2539D-44AA-CDEC-5CA1-0F1FFD384B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18</a:t>
            </a:fld>
            <a:endParaRPr lang="en"/>
          </a:p>
        </p:txBody>
      </p:sp>
      <p:sp>
        <p:nvSpPr>
          <p:cNvPr id="8" name="Google Shape;658;p115">
            <a:extLst>
              <a:ext uri="{FF2B5EF4-FFF2-40B4-BE49-F238E27FC236}">
                <a16:creationId xmlns:a16="http://schemas.microsoft.com/office/drawing/2014/main" id="{216497FA-D1A7-2055-7AB0-9600F83B46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609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onCreateContextMenu() onCreateContextMenu() method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9" name="Google Shape;660;p115">
            <a:extLst>
              <a:ext uri="{FF2B5EF4-FFF2-40B4-BE49-F238E27FC236}">
                <a16:creationId xmlns:a16="http://schemas.microsoft.com/office/drawing/2014/main" id="{AB9197FB-E536-B38D-8A2B-6C392FDAF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484784"/>
            <a:ext cx="8761800" cy="32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n" dirty="0"/>
              <a:t>Specify which context menu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onCreateContextMenu(ContextMenu menu, View v,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ContextMenu.ContextMenuInfo menuInfo) {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super.onCreateContextMenu(menu, v, menuInfo);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MenuInflater inflater = getMenuInflater();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inflater.inflate(R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.menu.menu_context, menu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11696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8123-9411-1462-1F9E-0009718C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7BDFE-0C80-20DD-B64E-5CC2968065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19</a:t>
            </a:fld>
            <a:endParaRPr lang="en"/>
          </a:p>
        </p:txBody>
      </p:sp>
      <p:sp>
        <p:nvSpPr>
          <p:cNvPr id="6" name="Google Shape;665;p116">
            <a:extLst>
              <a:ext uri="{FF2B5EF4-FFF2-40B4-BE49-F238E27FC236}">
                <a16:creationId xmlns:a16="http://schemas.microsoft.com/office/drawing/2014/main" id="{0DB352BB-9DE5-88E1-E713-FE745E7E8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609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onContextItemSelected() onCreateContextMenu() method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667;p116">
            <a:extLst>
              <a:ext uri="{FF2B5EF4-FFF2-40B4-BE49-F238E27FC236}">
                <a16:creationId xmlns:a16="http://schemas.microsoft.com/office/drawing/2014/main" id="{257EA99A-C247-1F2D-2851-328D52C88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844824"/>
            <a:ext cx="8520600" cy="33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onContextItemSelected(MenuItem item)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item.getItemId()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R.id.context_edit: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editNote();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R.id.context_share: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shareNote();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default: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super.onContextItemSelected(item);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78885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C0B8-09D7-25B5-0871-C58B6353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93768-0F2B-5B29-53CE-2FE70E970C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20</a:t>
            </a:fld>
            <a:endParaRPr lang="en"/>
          </a:p>
        </p:txBody>
      </p:sp>
      <p:sp>
        <p:nvSpPr>
          <p:cNvPr id="6" name="Google Shape;696;p120">
            <a:extLst>
              <a:ext uri="{FF2B5EF4-FFF2-40B4-BE49-F238E27FC236}">
                <a16:creationId xmlns:a16="http://schemas.microsoft.com/office/drawing/2014/main" id="{FDD54468-901D-2840-207A-BC9287ADE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contextual action bar?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698;p120">
            <a:extLst>
              <a:ext uri="{FF2B5EF4-FFF2-40B4-BE49-F238E27FC236}">
                <a16:creationId xmlns:a16="http://schemas.microsoft.com/office/drawing/2014/main" id="{DE0F8B42-AC51-2642-49AD-2ED6FA384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507" y="1484784"/>
            <a:ext cx="8520600" cy="3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Long-press on View shows contextual action bar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Contextual action bar with actions</a:t>
            </a:r>
            <a:endParaRPr dirty="0"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 b="1" dirty="0"/>
              <a:t>Edit</a:t>
            </a:r>
            <a:r>
              <a:rPr lang="en" dirty="0"/>
              <a:t>, </a:t>
            </a:r>
            <a:r>
              <a:rPr lang="en" b="1" dirty="0"/>
              <a:t>Share</a:t>
            </a:r>
            <a:r>
              <a:rPr lang="en" dirty="0"/>
              <a:t>, and </a:t>
            </a:r>
            <a:r>
              <a:rPr lang="en" b="1" dirty="0"/>
              <a:t>Delete</a:t>
            </a:r>
            <a:endParaRPr b="1"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Done (left arrow icon) on left side</a:t>
            </a:r>
            <a:endParaRPr dirty="0"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Action bar is available until user taps Done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View on which long press triggers </a:t>
            </a:r>
            <a:br>
              <a:rPr lang="en" dirty="0"/>
            </a:br>
            <a:r>
              <a:rPr lang="en" dirty="0"/>
              <a:t>contextual action bar</a:t>
            </a: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  <p:pic>
        <p:nvPicPr>
          <p:cNvPr id="8" name="Google Shape;699;p120">
            <a:extLst>
              <a:ext uri="{FF2B5EF4-FFF2-40B4-BE49-F238E27FC236}">
                <a16:creationId xmlns:a16="http://schemas.microsoft.com/office/drawing/2014/main" id="{932CAE3A-008B-B592-FF8B-CD1F97C776D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1233" y="2276872"/>
            <a:ext cx="2731688" cy="3960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6968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D268-4A75-AA53-3964-AE15EB57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15794-D3C0-24F2-1012-89E2DEAC7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21</a:t>
            </a:fld>
            <a:endParaRPr lang="en"/>
          </a:p>
        </p:txBody>
      </p:sp>
      <p:sp>
        <p:nvSpPr>
          <p:cNvPr id="6" name="Google Shape;704;p121">
            <a:extLst>
              <a:ext uri="{FF2B5EF4-FFF2-40B4-BE49-F238E27FC236}">
                <a16:creationId xmlns:a16="http://schemas.microsoft.com/office/drawing/2014/main" id="{4F41FC81-D37E-5106-D1A1-68B52A26E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for contextual action bar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06;p121">
            <a:extLst>
              <a:ext uri="{FF2B5EF4-FFF2-40B4-BE49-F238E27FC236}">
                <a16:creationId xmlns:a16="http://schemas.microsoft.com/office/drawing/2014/main" id="{4358C15F-DE65-AE21-A212-7B4CB07D1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87560" y="3789040"/>
            <a:ext cx="9433048" cy="16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" sz="1800" dirty="0">
                <a:solidFill>
                  <a:schemeClr val="dk1"/>
                </a:solidFill>
              </a:rPr>
              <a:t>Implement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ActionMode.Callback</a:t>
            </a:r>
            <a:r>
              <a:rPr lang="en" sz="1800" dirty="0">
                <a:solidFill>
                  <a:schemeClr val="dk1"/>
                </a:solidFill>
              </a:rPr>
              <a:t> interface to handle ActionMode lifecycle; include action for menu item click in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onActionItemClicked()</a:t>
            </a:r>
            <a:r>
              <a:rPr lang="en" sz="1800" dirty="0">
                <a:solidFill>
                  <a:schemeClr val="dk1"/>
                </a:solidFill>
              </a:rPr>
              <a:t> callback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" sz="1800" dirty="0">
                <a:solidFill>
                  <a:schemeClr val="dk1"/>
                </a:solidFill>
              </a:rPr>
              <a:t>Create method to perform action for each context menu item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8" name="Google Shape;707;p121">
            <a:extLst>
              <a:ext uri="{FF2B5EF4-FFF2-40B4-BE49-F238E27FC236}">
                <a16:creationId xmlns:a16="http://schemas.microsoft.com/office/drawing/2014/main" id="{ED88E3D8-E2D1-15D0-B318-0A3D97F9B13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84682" y="1595492"/>
            <a:ext cx="4655226" cy="21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708;p121">
            <a:extLst>
              <a:ext uri="{FF2B5EF4-FFF2-40B4-BE49-F238E27FC236}">
                <a16:creationId xmlns:a16="http://schemas.microsoft.com/office/drawing/2014/main" id="{6740E581-7A6F-AAB3-2FAE-566B7EB80E09}"/>
              </a:ext>
            </a:extLst>
          </p:cNvPr>
          <p:cNvSpPr txBox="1">
            <a:spLocks/>
          </p:cNvSpPr>
          <p:nvPr/>
        </p:nvSpPr>
        <p:spPr bwMode="auto">
          <a:xfrm>
            <a:off x="0" y="1962300"/>
            <a:ext cx="5184682" cy="162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</a:rPr>
              <a:t>Create XML menu resource file and assign icons for items</a:t>
            </a:r>
          </a:p>
          <a:p>
            <a:pPr marL="457200" indent="-342900">
              <a:spcBef>
                <a:spcPts val="500"/>
              </a:spcBef>
              <a:buClr>
                <a:schemeClr val="dk1"/>
              </a:buClr>
              <a:buSzPts val="1800"/>
            </a:pPr>
            <a:r>
              <a:rPr lang="en-U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</a:t>
            </a: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800" dirty="0">
                <a:solidFill>
                  <a:schemeClr val="dk1"/>
                </a:solidFill>
              </a:rPr>
              <a:t> on View that triggers contextual action </a:t>
            </a:r>
            <a:br>
              <a:rPr lang="en-US" sz="1800" dirty="0">
                <a:solidFill>
                  <a:schemeClr val="dk1"/>
                </a:solidFill>
              </a:rPr>
            </a:br>
            <a:r>
              <a:rPr lang="en-US" sz="1800" dirty="0">
                <a:solidFill>
                  <a:schemeClr val="dk1"/>
                </a:solidFill>
              </a:rPr>
              <a:t>bar and call </a:t>
            </a:r>
            <a:r>
              <a:rPr lang="en-U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</a:t>
            </a: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800" dirty="0">
                <a:solidFill>
                  <a:schemeClr val="dk1"/>
                </a:solidFill>
              </a:rPr>
              <a:t> to handle click</a:t>
            </a:r>
          </a:p>
        </p:txBody>
      </p:sp>
    </p:spTree>
    <p:extLst>
      <p:ext uri="{BB962C8B-B14F-4D97-AF65-F5344CB8AC3E}">
        <p14:creationId xmlns:p14="http://schemas.microsoft.com/office/powerpoint/2010/main" val="4292087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65E0-16EF-FABA-E728-08B48BF2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A7AD1-078B-EBEE-6FB1-7B1187A0ED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22</a:t>
            </a:fld>
            <a:endParaRPr lang="en"/>
          </a:p>
        </p:txBody>
      </p:sp>
      <p:sp>
        <p:nvSpPr>
          <p:cNvPr id="6" name="Google Shape;713;p122">
            <a:extLst>
              <a:ext uri="{FF2B5EF4-FFF2-40B4-BE49-F238E27FC236}">
                <a16:creationId xmlns:a16="http://schemas.microsoft.com/office/drawing/2014/main" id="{D20D79B6-5558-8D54-6AFA-B1E006C40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setOnLongClickListener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15;p122">
            <a:extLst>
              <a:ext uri="{FF2B5EF4-FFF2-40B4-BE49-F238E27FC236}">
                <a16:creationId xmlns:a16="http://schemas.microsoft.com/office/drawing/2014/main" id="{64E0DBB8-34EF-305D-B100-F93B7A9A2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088" y="1124744"/>
            <a:ext cx="9577064" cy="3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ActionMode mActionMode;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onCreate():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 view = findViewById(article);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view.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(new View.OnLongClickListener() {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public boolean onLongClick(View view) {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if (mActionMode != null) return false;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mActionMode =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MainActivity.this.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 b="1" dirty="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mActionModeCallback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view.setSelected(true);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68817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B8FD-CCF0-50A5-9B77-B824E8CC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1534E-4888-C899-2815-B301D033D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23</a:t>
            </a:fld>
            <a:endParaRPr lang="en"/>
          </a:p>
        </p:txBody>
      </p:sp>
      <p:sp>
        <p:nvSpPr>
          <p:cNvPr id="6" name="Google Shape;713;p122">
            <a:extLst>
              <a:ext uri="{FF2B5EF4-FFF2-40B4-BE49-F238E27FC236}">
                <a16:creationId xmlns:a16="http://schemas.microsoft.com/office/drawing/2014/main" id="{05272220-FAA3-E462-E86F-C1D5A1E76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setOnLongClickListener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15;p122">
            <a:extLst>
              <a:ext uri="{FF2B5EF4-FFF2-40B4-BE49-F238E27FC236}">
                <a16:creationId xmlns:a16="http://schemas.microsoft.com/office/drawing/2014/main" id="{CD19C044-3D1F-6F56-9C7C-696EE5AB6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124744"/>
            <a:ext cx="9644457" cy="3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ActionMode mActionMode;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onCreate():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 view = findViewById(article);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view.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(new View.OnLongClickListener() {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public boolean onLongClick(View view) {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if (mActionMode != null) return false;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mActionMode =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MainActivity.this.</a:t>
            </a:r>
            <a:r>
              <a:rPr lang="en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 b="1" dirty="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mActionModeCallback</a:t>
            </a: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view.setSelected(true);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83812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18A8-CDDF-100B-F513-22ED1788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CBA83-BB13-3BFE-ED99-704E743529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24</a:t>
            </a:fld>
            <a:endParaRPr lang="en"/>
          </a:p>
        </p:txBody>
      </p:sp>
      <p:sp>
        <p:nvSpPr>
          <p:cNvPr id="6" name="Google Shape;720;p123">
            <a:extLst>
              <a:ext uri="{FF2B5EF4-FFF2-40B4-BE49-F238E27FC236}">
                <a16:creationId xmlns:a16="http://schemas.microsoft.com/office/drawing/2014/main" id="{4D5C5CBA-DFCB-3270-6D4F-492032CC0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mActionModeCallback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22;p123">
            <a:extLst>
              <a:ext uri="{FF2B5EF4-FFF2-40B4-BE49-F238E27FC236}">
                <a16:creationId xmlns:a16="http://schemas.microsoft.com/office/drawing/2014/main" id="{B7B83417-944E-A1D1-5687-D77173A62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340768"/>
            <a:ext cx="9577064" cy="3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public ActionMode.Callback mActionModeCallback =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  new ActionMode.Callback()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dirty="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Implement action mode callbacks here.</a:t>
            </a:r>
            <a:endParaRPr dirty="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13484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C9F9-8497-E534-F73B-29872503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02F7E-308E-79FC-8A3E-3333190C7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/>
          </a:p>
        </p:txBody>
      </p:sp>
      <p:sp>
        <p:nvSpPr>
          <p:cNvPr id="6" name="Google Shape;727;p124">
            <a:extLst>
              <a:ext uri="{FF2B5EF4-FFF2-40B4-BE49-F238E27FC236}">
                <a16:creationId xmlns:a16="http://schemas.microsoft.com/office/drawing/2014/main" id="{6952BB97-8FB6-4A99-A6E6-0D4E45699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onCreateActionMode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29;p124">
            <a:extLst>
              <a:ext uri="{FF2B5EF4-FFF2-40B4-BE49-F238E27FC236}">
                <a16:creationId xmlns:a16="http://schemas.microsoft.com/office/drawing/2014/main" id="{361BF52E-2E4D-44FE-CBDB-4F903DEF2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3" y="1628800"/>
            <a:ext cx="9644457" cy="32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onCreateActionMode(ActionMode mode, Menu menu)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MenuInflater inflater = mode.getMenuInflater();</a:t>
            </a:r>
            <a:endParaRPr sz="2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inflater.inflate(R.menu.menu_context, menu);</a:t>
            </a:r>
            <a:endParaRPr sz="2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83321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27B9B-8B6E-35B1-2925-DF4B8ACF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BC9E2-E70E-5FB8-5F9C-C206D38FA5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26</a:t>
            </a:fld>
            <a:endParaRPr lang="en"/>
          </a:p>
        </p:txBody>
      </p:sp>
      <p:sp>
        <p:nvSpPr>
          <p:cNvPr id="6" name="Google Shape;734;p125">
            <a:extLst>
              <a:ext uri="{FF2B5EF4-FFF2-40B4-BE49-F238E27FC236}">
                <a16:creationId xmlns:a16="http://schemas.microsoft.com/office/drawing/2014/main" id="{4EB0C756-32FF-952C-8663-7400EABDF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onPrepareActionMode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36;p125">
            <a:extLst>
              <a:ext uri="{FF2B5EF4-FFF2-40B4-BE49-F238E27FC236}">
                <a16:creationId xmlns:a16="http://schemas.microsoft.com/office/drawing/2014/main" id="{E6A67380-56EC-D32B-166E-FE5B8FBBF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205" y="1835519"/>
            <a:ext cx="8520600" cy="11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 dirty="0"/>
              <a:t>Called each time action mode is shown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 dirty="0"/>
              <a:t>Always called after </a:t>
            </a: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onCreateActionMode</a:t>
            </a:r>
            <a:r>
              <a:rPr lang="en" sz="2000" dirty="0"/>
              <a:t>, but may be called multiple times if action mode is invalidated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737;p125">
            <a:extLst>
              <a:ext uri="{FF2B5EF4-FFF2-40B4-BE49-F238E27FC236}">
                <a16:creationId xmlns:a16="http://schemas.microsoft.com/office/drawing/2014/main" id="{C16F186D-3B15-3C13-7DC1-AF715721B2C3}"/>
              </a:ext>
            </a:extLst>
          </p:cNvPr>
          <p:cNvSpPr txBox="1"/>
          <p:nvPr/>
        </p:nvSpPr>
        <p:spPr>
          <a:xfrm>
            <a:off x="400197" y="3429000"/>
            <a:ext cx="9372724" cy="17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 dirty="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public boolean onPrepareActionMode(ActionMode mode, Menu menu) {</a:t>
            </a:r>
            <a:endParaRPr sz="2000" dirty="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 return false; // Return false if nothing is done.</a:t>
            </a:r>
            <a:endParaRPr sz="2000" dirty="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56497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09D8-C297-0333-7DFF-7AD2B32F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78B7C-EBF8-04B0-B971-5FE0ECD358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27</a:t>
            </a:fld>
            <a:endParaRPr lang="en"/>
          </a:p>
        </p:txBody>
      </p:sp>
      <p:sp>
        <p:nvSpPr>
          <p:cNvPr id="6" name="Google Shape;742;p126">
            <a:extLst>
              <a:ext uri="{FF2B5EF4-FFF2-40B4-BE49-F238E27FC236}">
                <a16:creationId xmlns:a16="http://schemas.microsoft.com/office/drawing/2014/main" id="{AC89B31A-6DC2-97B6-D877-DDC91DB73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onActionItemClicked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44;p126">
            <a:extLst>
              <a:ext uri="{FF2B5EF4-FFF2-40B4-BE49-F238E27FC236}">
                <a16:creationId xmlns:a16="http://schemas.microsoft.com/office/drawing/2014/main" id="{11308F64-EF5D-EFD7-B80C-A59EAED61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350" y="1412776"/>
            <a:ext cx="10016226" cy="3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Called when users selects an action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Handle clicks in this method</a:t>
            </a:r>
            <a:endParaRPr sz="900" i="1" dirty="0">
              <a:solidFill>
                <a:srgbClr val="80808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public boolean onActionItemClicked(ActionMode mode, MenuItem item) {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switch (item.getItemId()) {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case R.id.action_share: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  // Perform action for the Share menu item.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  mode.finish(); // Action picked, so close the action bar.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default: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  return false;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14141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4515A-B9E5-F26C-5A75-7216727A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3F8E3-CC35-88A0-7EF5-D086CEBFAC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28</a:t>
            </a:fld>
            <a:endParaRPr lang="en"/>
          </a:p>
        </p:txBody>
      </p:sp>
      <p:sp>
        <p:nvSpPr>
          <p:cNvPr id="6" name="Google Shape;749;p127">
            <a:extLst>
              <a:ext uri="{FF2B5EF4-FFF2-40B4-BE49-F238E27FC236}">
                <a16:creationId xmlns:a16="http://schemas.microsoft.com/office/drawing/2014/main" id="{7419AAD9-6D8D-455E-82BF-6FB989D56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onDestroyActionMode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51;p127">
            <a:extLst>
              <a:ext uri="{FF2B5EF4-FFF2-40B4-BE49-F238E27FC236}">
                <a16:creationId xmlns:a16="http://schemas.microsoft.com/office/drawing/2014/main" id="{A08877CB-BF53-AF19-12D0-3E509EB80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28800"/>
            <a:ext cx="9321820" cy="34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Called when user exits the action mode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public void onDestroyActionMode(ActionMode mode) {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mActionMode = null;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2434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2A90-825F-8BB4-7EF7-CEA41F5A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8AF24-CFBF-789A-F5F1-46F28ED09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29</a:t>
            </a:fld>
            <a:endParaRPr lang="en"/>
          </a:p>
        </p:txBody>
      </p:sp>
      <p:sp>
        <p:nvSpPr>
          <p:cNvPr id="6" name="Google Shape;764;p129">
            <a:extLst>
              <a:ext uri="{FF2B5EF4-FFF2-40B4-BE49-F238E27FC236}">
                <a16:creationId xmlns:a16="http://schemas.microsoft.com/office/drawing/2014/main" id="{17E2FD8C-3652-A29C-304B-7E6CEC72A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popup menu?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66;p129">
            <a:extLst>
              <a:ext uri="{FF2B5EF4-FFF2-40B4-BE49-F238E27FC236}">
                <a16:creationId xmlns:a16="http://schemas.microsoft.com/office/drawing/2014/main" id="{692C0F76-DC71-0815-D9FA-6ABAFACEF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484784"/>
            <a:ext cx="8520600" cy="3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Vertical list of items anchored to a view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Typically anchored to a visible icon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Actions should not directly affect view content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Options menu overflow icon that opens options menu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In email app, </a:t>
            </a:r>
            <a:r>
              <a:rPr lang="en" b="1" dirty="0"/>
              <a:t>Reply All</a:t>
            </a:r>
            <a:r>
              <a:rPr lang="en" dirty="0"/>
              <a:t> and </a:t>
            </a:r>
            <a:r>
              <a:rPr lang="en" b="1" dirty="0"/>
              <a:t>Forward</a:t>
            </a:r>
            <a:r>
              <a:rPr lang="en" dirty="0"/>
              <a:t> relate to email message but don’t affect or act on message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  <p:pic>
        <p:nvPicPr>
          <p:cNvPr id="8" name="Google Shape;767;p129">
            <a:extLst>
              <a:ext uri="{FF2B5EF4-FFF2-40B4-BE49-F238E27FC236}">
                <a16:creationId xmlns:a16="http://schemas.microsoft.com/office/drawing/2014/main" id="{E41597C4-80FC-F57D-0C60-814DB72DEA4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33320" y="1484784"/>
            <a:ext cx="1734450" cy="1290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675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1B711-3653-90EF-3DA5-6F9443086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7A0FB-3730-E703-6A86-120F2268F9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30</a:t>
            </a:fld>
            <a:endParaRPr lang="en"/>
          </a:p>
        </p:txBody>
      </p:sp>
      <p:sp>
        <p:nvSpPr>
          <p:cNvPr id="6" name="Google Shape;772;p130">
            <a:extLst>
              <a:ext uri="{FF2B5EF4-FFF2-40B4-BE49-F238E27FC236}">
                <a16:creationId xmlns:a16="http://schemas.microsoft.com/office/drawing/2014/main" id="{499729FA-43A5-69DD-7AB1-396C5A17C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160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74;p130">
            <a:extLst>
              <a:ext uri="{FF2B5EF4-FFF2-40B4-BE49-F238E27FC236}">
                <a16:creationId xmlns:a16="http://schemas.microsoft.com/office/drawing/2014/main" id="{6DF08C18-E0CE-7746-FC95-2A0C814FC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498" y="2564904"/>
            <a:ext cx="9711004" cy="3312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Create XML menu resource file and assign appearance and position attributes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Add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r>
              <a:rPr lang="en" sz="1800" dirty="0">
                <a:solidFill>
                  <a:schemeClr val="dk1"/>
                </a:solidFill>
              </a:rPr>
              <a:t> for the popup menu icon in the XML activity layout file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Assign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onClickListener</a:t>
            </a:r>
            <a:r>
              <a:rPr lang="en" sz="1800" dirty="0">
                <a:solidFill>
                  <a:schemeClr val="dk1"/>
                </a:solidFill>
              </a:rPr>
              <a:t> to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Override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onClick()</a:t>
            </a:r>
            <a:r>
              <a:rPr lang="en" sz="1800" dirty="0">
                <a:solidFill>
                  <a:schemeClr val="dk1"/>
                </a:solidFill>
              </a:rPr>
              <a:t> to inflate the popup and register it with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onMenuItemClickListener()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Implement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onMenuItemClick()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Create a method to perform an action for each popup menu item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8" name="Google Shape;775;p130">
            <a:extLst>
              <a:ext uri="{FF2B5EF4-FFF2-40B4-BE49-F238E27FC236}">
                <a16:creationId xmlns:a16="http://schemas.microsoft.com/office/drawing/2014/main" id="{8DD55FFE-177D-DD61-5BF3-ADDFA7D2C74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96816" y="13977"/>
            <a:ext cx="6609184" cy="227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7324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51B5-766B-6586-90BF-28E107FE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8E850-4308-2A82-0BEF-536510971F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31</a:t>
            </a:fld>
            <a:endParaRPr lang="en"/>
          </a:p>
        </p:txBody>
      </p:sp>
      <p:sp>
        <p:nvSpPr>
          <p:cNvPr id="6" name="Google Shape;780;p131">
            <a:extLst>
              <a:ext uri="{FF2B5EF4-FFF2-40B4-BE49-F238E27FC236}">
                <a16:creationId xmlns:a16="http://schemas.microsoft.com/office/drawing/2014/main" id="{E83B372F-80C4-FE27-E8D2-F4809AF9EF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88" y="3188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ImageButton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82;p131">
            <a:extLst>
              <a:ext uri="{FF2B5EF4-FFF2-40B4-BE49-F238E27FC236}">
                <a16:creationId xmlns:a16="http://schemas.microsoft.com/office/drawing/2014/main" id="{156CDB14-8EFC-3DAC-F8FA-BC016A453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544" y="1584730"/>
            <a:ext cx="8839068" cy="32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&lt;ImageButton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android:id="@+id/button_popup"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android:src="@drawable/@drawable/ic_action_popup"/&gt;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Google Shape;783;p131">
            <a:extLst>
              <a:ext uri="{FF2B5EF4-FFF2-40B4-BE49-F238E27FC236}">
                <a16:creationId xmlns:a16="http://schemas.microsoft.com/office/drawing/2014/main" id="{14E67A88-1FF7-87A5-D8E6-07F96D16315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8388" y="1584730"/>
            <a:ext cx="558148" cy="792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8096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FC7C-2BB8-845D-343B-ADF16858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0F6FC-0C70-7985-9C67-B5CE0451EF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32</a:t>
            </a:fld>
            <a:endParaRPr lang="en"/>
          </a:p>
        </p:txBody>
      </p:sp>
      <p:sp>
        <p:nvSpPr>
          <p:cNvPr id="6" name="Google Shape;788;p132">
            <a:extLst>
              <a:ext uri="{FF2B5EF4-FFF2-40B4-BE49-F238E27FC236}">
                <a16:creationId xmlns:a16="http://schemas.microsoft.com/office/drawing/2014/main" id="{8D995576-DAD5-8A82-CF53-90FDD3E889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 onClickListener to button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90;p132">
            <a:extLst>
              <a:ext uri="{FF2B5EF4-FFF2-40B4-BE49-F238E27FC236}">
                <a16:creationId xmlns:a16="http://schemas.microsoft.com/office/drawing/2014/main" id="{5ACC661C-712A-F1EA-FB31-B03B5F6C4D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998" y="1764000"/>
            <a:ext cx="9448522" cy="3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ImageButton mButton = </a:t>
            </a:r>
            <a:b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(ImageButton) findViewById(R.id.button_popup);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onCreate():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mButton.setOnClickListener(new View.OnClickListener()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 dirty="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define onClick</a:t>
            </a:r>
            <a:endParaRPr sz="1800" dirty="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77034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A302-DDD3-BE2C-4DAE-BEE8C642A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576E7-DBDB-CE6B-D6A5-4EDD36A223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33</a:t>
            </a:fld>
            <a:endParaRPr lang="en"/>
          </a:p>
        </p:txBody>
      </p:sp>
      <p:sp>
        <p:nvSpPr>
          <p:cNvPr id="6" name="Google Shape;795;p133">
            <a:extLst>
              <a:ext uri="{FF2B5EF4-FFF2-40B4-BE49-F238E27FC236}">
                <a16:creationId xmlns:a16="http://schemas.microsoft.com/office/drawing/2014/main" id="{D0824D63-0E34-C532-30A5-F1576014D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onClick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797;p133">
            <a:extLst>
              <a:ext uri="{FF2B5EF4-FFF2-40B4-BE49-F238E27FC236}">
                <a16:creationId xmlns:a16="http://schemas.microsoft.com/office/drawing/2014/main" id="{C863A4E7-A97F-8D95-E979-045A2F3A0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3" y="1484784"/>
            <a:ext cx="9644457" cy="3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(View v)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PopupMenu popup = new PopupMenu(MainActivity.this, mButton);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popup.getMenuInflater().inflate(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R.menu.menu_popup, popup.getMenu());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popup.setOnMenuItemClickListener(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new PopupMenu.OnMenuItemClickListener()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implement click listener.</a:t>
            </a:r>
            <a:endParaRPr sz="2200" dirty="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popup.show();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18728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FACE-F1C4-16EB-7498-20CB5704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A1AA0-0BC2-5D6A-C594-3C4E93E181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34</a:t>
            </a:fld>
            <a:endParaRPr lang="en"/>
          </a:p>
        </p:txBody>
      </p:sp>
      <p:sp>
        <p:nvSpPr>
          <p:cNvPr id="8" name="Google Shape;802;p134">
            <a:extLst>
              <a:ext uri="{FF2B5EF4-FFF2-40B4-BE49-F238E27FC236}">
                <a16:creationId xmlns:a16="http://schemas.microsoft.com/office/drawing/2014/main" id="{15DE6BBE-C989-946C-B6E4-4E7C4BBA8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472" y="255269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onMenuItemClick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9" name="Google Shape;804;p134">
            <a:extLst>
              <a:ext uri="{FF2B5EF4-FFF2-40B4-BE49-F238E27FC236}">
                <a16:creationId xmlns:a16="http://schemas.microsoft.com/office/drawing/2014/main" id="{971AD42F-2337-270B-03E6-3832154AF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456" y="1556792"/>
            <a:ext cx="9505056" cy="3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public boolean onMenuItemClick(MenuItem item)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switch (item.getItemId())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case R.id.option_forward: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   // Implement code for Forward button.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   return true;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default: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   return false;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36052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BEE04-216C-35C1-7904-773AFD18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47E12-4CD3-93CC-1A34-09AFF5F22E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35</a:t>
            </a:fld>
            <a:endParaRPr lang="en"/>
          </a:p>
        </p:txBody>
      </p:sp>
      <p:sp>
        <p:nvSpPr>
          <p:cNvPr id="6" name="Google Shape;764;p129">
            <a:extLst>
              <a:ext uri="{FF2B5EF4-FFF2-40B4-BE49-F238E27FC236}">
                <a16:creationId xmlns:a16="http://schemas.microsoft.com/office/drawing/2014/main" id="{3F22F0C5-E67A-E93B-A090-0A7397AA2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Dialog?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816;p136">
            <a:extLst>
              <a:ext uri="{FF2B5EF4-FFF2-40B4-BE49-F238E27FC236}">
                <a16:creationId xmlns:a16="http://schemas.microsoft.com/office/drawing/2014/main" id="{31BBA3B5-BE31-5965-BDEF-F743875B2C44}"/>
              </a:ext>
            </a:extLst>
          </p:cNvPr>
          <p:cNvSpPr txBox="1"/>
          <p:nvPr/>
        </p:nvSpPr>
        <p:spPr>
          <a:xfrm>
            <a:off x="2562015" y="5405036"/>
            <a:ext cx="1956300" cy="4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solidFill>
                  <a:srgbClr val="0081BE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DatePickerDialog</a:t>
            </a:r>
            <a:endParaRPr sz="1800" dirty="0">
              <a:solidFill>
                <a:srgbClr val="0081BE"/>
              </a:solidFill>
            </a:endParaRPr>
          </a:p>
        </p:txBody>
      </p:sp>
      <p:sp>
        <p:nvSpPr>
          <p:cNvPr id="8" name="Google Shape;817;p136">
            <a:extLst>
              <a:ext uri="{FF2B5EF4-FFF2-40B4-BE49-F238E27FC236}">
                <a16:creationId xmlns:a16="http://schemas.microsoft.com/office/drawing/2014/main" id="{A02C3C7A-0E31-2C15-B28C-D1CC833E512F}"/>
              </a:ext>
            </a:extLst>
          </p:cNvPr>
          <p:cNvSpPr txBox="1"/>
          <p:nvPr/>
        </p:nvSpPr>
        <p:spPr>
          <a:xfrm>
            <a:off x="128464" y="5450636"/>
            <a:ext cx="2093400" cy="3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solidFill>
                  <a:srgbClr val="0081BE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TimePickerDialog</a:t>
            </a:r>
            <a:endParaRPr sz="1800" dirty="0">
              <a:solidFill>
                <a:srgbClr val="0081BE"/>
              </a:solidFill>
            </a:endParaRPr>
          </a:p>
        </p:txBody>
      </p:sp>
      <p:sp>
        <p:nvSpPr>
          <p:cNvPr id="9" name="Google Shape;820;p136">
            <a:extLst>
              <a:ext uri="{FF2B5EF4-FFF2-40B4-BE49-F238E27FC236}">
                <a16:creationId xmlns:a16="http://schemas.microsoft.com/office/drawing/2014/main" id="{2BAD7553-944A-3F15-E62B-8C924EB0C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48269" y="1389579"/>
            <a:ext cx="5569945" cy="16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Dialog</a:t>
            </a:r>
            <a:r>
              <a:rPr lang="en" dirty="0"/>
              <a:t> appears on top, interrupting flow of Activity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Requires user action to dismiss</a:t>
            </a:r>
            <a:endParaRPr dirty="0"/>
          </a:p>
        </p:txBody>
      </p:sp>
      <p:pic>
        <p:nvPicPr>
          <p:cNvPr id="10" name="Google Shape;821;p136">
            <a:extLst>
              <a:ext uri="{FF2B5EF4-FFF2-40B4-BE49-F238E27FC236}">
                <a16:creationId xmlns:a16="http://schemas.microsoft.com/office/drawing/2014/main" id="{FB8A6285-635C-E589-8EB3-003F1776CAB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5064" y="1950248"/>
            <a:ext cx="4110424" cy="236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2;p136">
            <a:extLst>
              <a:ext uri="{FF2B5EF4-FFF2-40B4-BE49-F238E27FC236}">
                <a16:creationId xmlns:a16="http://schemas.microsoft.com/office/drawing/2014/main" id="{52596DBB-ABB6-BC3C-58BA-C392E8C3377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51669"/>
          <a:stretch/>
        </p:blipFill>
        <p:spPr>
          <a:xfrm>
            <a:off x="6361914" y="2720364"/>
            <a:ext cx="1167206" cy="2724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23;p136">
            <a:extLst>
              <a:ext uri="{FF2B5EF4-FFF2-40B4-BE49-F238E27FC236}">
                <a16:creationId xmlns:a16="http://schemas.microsoft.com/office/drawing/2014/main" id="{E52BC13D-46DB-2676-8386-4DC0EB42875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51669" t="9762" b="12880"/>
          <a:stretch/>
        </p:blipFill>
        <p:spPr>
          <a:xfrm>
            <a:off x="2733664" y="3573016"/>
            <a:ext cx="1427248" cy="187162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824;p136">
            <a:extLst>
              <a:ext uri="{FF2B5EF4-FFF2-40B4-BE49-F238E27FC236}">
                <a16:creationId xmlns:a16="http://schemas.microsoft.com/office/drawing/2014/main" id="{6D60C5E1-647E-369D-7131-65B13BADCBF6}"/>
              </a:ext>
            </a:extLst>
          </p:cNvPr>
          <p:cNvSpPr txBox="1"/>
          <p:nvPr/>
        </p:nvSpPr>
        <p:spPr>
          <a:xfrm>
            <a:off x="6365836" y="5444645"/>
            <a:ext cx="2003521" cy="6683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rgbClr val="0081BE"/>
                </a:solid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AlertDialog</a:t>
            </a:r>
            <a:endParaRPr sz="1800" dirty="0">
              <a:solidFill>
                <a:srgbClr val="0081BE"/>
              </a:solidFill>
            </a:endParaRPr>
          </a:p>
        </p:txBody>
      </p:sp>
      <p:pic>
        <p:nvPicPr>
          <p:cNvPr id="14" name="Google Shape;825;p136">
            <a:extLst>
              <a:ext uri="{FF2B5EF4-FFF2-40B4-BE49-F238E27FC236}">
                <a16:creationId xmlns:a16="http://schemas.microsoft.com/office/drawing/2014/main" id="{91C16465-F5D6-8B2D-FDAF-53D2416ABE3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54408" t="8751" r="3540" b="8136"/>
          <a:stretch/>
        </p:blipFill>
        <p:spPr>
          <a:xfrm>
            <a:off x="488504" y="3654133"/>
            <a:ext cx="1531680" cy="1790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9584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FDF2-E8C9-AB77-BD24-0BAE41CE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D2D1-9120-5724-6950-2E05CA033D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36</a:t>
            </a:fld>
            <a:endParaRPr lang="en"/>
          </a:p>
        </p:txBody>
      </p:sp>
      <p:sp>
        <p:nvSpPr>
          <p:cNvPr id="6" name="Google Shape;830;p137">
            <a:extLst>
              <a:ext uri="{FF2B5EF4-FFF2-40B4-BE49-F238E27FC236}">
                <a16:creationId xmlns:a16="http://schemas.microsoft.com/office/drawing/2014/main" id="{E536F764-B977-8599-A26F-146302400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AlertDialog</a:t>
            </a:r>
            <a:endParaRPr lang="en-GB" dirty="0"/>
          </a:p>
        </p:txBody>
      </p:sp>
      <p:sp>
        <p:nvSpPr>
          <p:cNvPr id="7" name="Google Shape;832;p137">
            <a:extLst>
              <a:ext uri="{FF2B5EF4-FFF2-40B4-BE49-F238E27FC236}">
                <a16:creationId xmlns:a16="http://schemas.microsoft.com/office/drawing/2014/main" id="{F3A61BD4-D376-28D6-C2F5-99A24CB45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323030"/>
            <a:ext cx="4530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u="sng" dirty="0" err="1">
                <a:solidFill>
                  <a:schemeClr val="hlink"/>
                </a:solidFill>
                <a:hlinkClick r:id="rId2"/>
              </a:rPr>
              <a:t>AlertDialog</a:t>
            </a:r>
            <a:r>
              <a:rPr lang="en-GB" dirty="0"/>
              <a:t> can show: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dirty="0"/>
              <a:t>Title (optional)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dirty="0"/>
              <a:t>Content area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dirty="0"/>
              <a:t>Action buttons</a:t>
            </a:r>
          </a:p>
        </p:txBody>
      </p:sp>
      <p:pic>
        <p:nvPicPr>
          <p:cNvPr id="8" name="Google Shape;833;p137">
            <a:extLst>
              <a:ext uri="{FF2B5EF4-FFF2-40B4-BE49-F238E27FC236}">
                <a16:creationId xmlns:a16="http://schemas.microsoft.com/office/drawing/2014/main" id="{680D79CE-75BC-F8EF-623C-55626A3E2A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737" y="1988840"/>
            <a:ext cx="4810125" cy="300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684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C495-E522-E00A-EB2D-341C5894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1393F-759A-0D42-A97C-D97E96FF4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37</a:t>
            </a:fld>
            <a:endParaRPr lang="en"/>
          </a:p>
        </p:txBody>
      </p:sp>
      <p:sp>
        <p:nvSpPr>
          <p:cNvPr id="6" name="Google Shape;838;p138">
            <a:extLst>
              <a:ext uri="{FF2B5EF4-FFF2-40B4-BE49-F238E27FC236}">
                <a16:creationId xmlns:a16="http://schemas.microsoft.com/office/drawing/2014/main" id="{DCBB9E0A-BF62-BD44-F8B1-E45BF34AF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Build the AlertDialog</a:t>
            </a:r>
            <a:endParaRPr dirty="0"/>
          </a:p>
        </p:txBody>
      </p:sp>
      <p:sp>
        <p:nvSpPr>
          <p:cNvPr id="7" name="Google Shape;839;p138">
            <a:extLst>
              <a:ext uri="{FF2B5EF4-FFF2-40B4-BE49-F238E27FC236}">
                <a16:creationId xmlns:a16="http://schemas.microsoft.com/office/drawing/2014/main" id="{58FF98BC-94CD-C48E-194D-2E53F4148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7376" y="1412776"/>
            <a:ext cx="10081121" cy="3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Use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 dirty="0"/>
              <a:t> to build alert dialog and set attributes: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public void onClickShowAlert(View view)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AlertDialog.Builder alertDialog = new           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            AlertDialog.Builder(MainActivity.this);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alertDialog.setTitle("Connect to Provider");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alertDialog.setMessage(R.string.alert_message);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// ... Code to set buttons goes here.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44135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1EC2-118B-0A4D-DF85-DA440990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14DDE-9C82-EEAB-A12C-DE1A359E22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38</a:t>
            </a:fld>
            <a:endParaRPr lang="en"/>
          </a:p>
        </p:txBody>
      </p:sp>
      <p:sp>
        <p:nvSpPr>
          <p:cNvPr id="6" name="Google Shape;845;p139">
            <a:extLst>
              <a:ext uri="{FF2B5EF4-FFF2-40B4-BE49-F238E27FC236}">
                <a16:creationId xmlns:a16="http://schemas.microsoft.com/office/drawing/2014/main" id="{CDF4B5DD-9F1C-A62E-F338-8E682B016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the button actions</a:t>
            </a:r>
            <a:endParaRPr dirty="0"/>
          </a:p>
        </p:txBody>
      </p:sp>
      <p:sp>
        <p:nvSpPr>
          <p:cNvPr id="7" name="Google Shape;846;p139">
            <a:extLst>
              <a:ext uri="{FF2B5EF4-FFF2-40B4-BE49-F238E27FC236}">
                <a16:creationId xmlns:a16="http://schemas.microsoft.com/office/drawing/2014/main" id="{7F8822FA-903D-DE66-DE03-5F371F836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644" y="1412776"/>
            <a:ext cx="8709600" cy="3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alertDialog.setPositiveButton()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alertDialog.setNeutralButton()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alertDialog.setNegativeButton()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91395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7456A-A9B1-0301-3B44-9E2692DA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6D9A4-5B1D-BC29-07E5-4156FCB015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39</a:t>
            </a:fld>
            <a:endParaRPr lang="en"/>
          </a:p>
        </p:txBody>
      </p:sp>
      <p:sp>
        <p:nvSpPr>
          <p:cNvPr id="6" name="Google Shape;852;p140">
            <a:extLst>
              <a:ext uri="{FF2B5EF4-FFF2-40B4-BE49-F238E27FC236}">
                <a16:creationId xmlns:a16="http://schemas.microsoft.com/office/drawing/2014/main" id="{C69683AD-F297-E150-18E0-091237CBA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29129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alertDialog code example</a:t>
            </a:r>
            <a:endParaRPr dirty="0"/>
          </a:p>
        </p:txBody>
      </p:sp>
      <p:sp>
        <p:nvSpPr>
          <p:cNvPr id="7" name="Google Shape;853;p140">
            <a:extLst>
              <a:ext uri="{FF2B5EF4-FFF2-40B4-BE49-F238E27FC236}">
                <a16:creationId xmlns:a16="http://schemas.microsoft.com/office/drawing/2014/main" id="{E64BE2BC-DDBC-5C6B-7891-8D14D99CE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456" y="1556792"/>
            <a:ext cx="964907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alertDialog.setPositiveButton(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             "OK", newDialogInterface.OnClickListener() {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public void onClick(DialogInterface dialog, int which) {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    // User clicked OK button.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Same pattern for setNegativeButton() and setNeutralButton()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712587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2D1E1-5E7A-4ECB-74DA-74D6E528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6E0EB-7921-DA79-7E34-058FB8D7B8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40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DD6048-A62B-61B9-802A-C3E6C5BD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Picker?</a:t>
            </a:r>
          </a:p>
        </p:txBody>
      </p:sp>
      <p:sp>
        <p:nvSpPr>
          <p:cNvPr id="8" name="Google Shape;869;p142">
            <a:extLst>
              <a:ext uri="{FF2B5EF4-FFF2-40B4-BE49-F238E27FC236}">
                <a16:creationId xmlns:a16="http://schemas.microsoft.com/office/drawing/2014/main" id="{D1EF3E11-8073-E67D-B8D0-CE80CF158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484784"/>
            <a:ext cx="4197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2"/>
              </a:rPr>
              <a:t>DatePickerDialog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TimePickerDialog</a:t>
            </a:r>
            <a:endParaRPr dirty="0"/>
          </a:p>
        </p:txBody>
      </p:sp>
      <p:pic>
        <p:nvPicPr>
          <p:cNvPr id="9" name="Google Shape;870;p142">
            <a:extLst>
              <a:ext uri="{FF2B5EF4-FFF2-40B4-BE49-F238E27FC236}">
                <a16:creationId xmlns:a16="http://schemas.microsoft.com/office/drawing/2014/main" id="{CA09ACE0-A2A0-95C7-4AEC-D10E4285BDB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0912" y="1772816"/>
            <a:ext cx="5472608" cy="29523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1218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7D680-2E40-29E6-3C8C-8CFAFE41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73359-2092-46C8-173B-93683BF4F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41</a:t>
            </a:fld>
            <a:endParaRPr lang="en"/>
          </a:p>
        </p:txBody>
      </p:sp>
      <p:sp>
        <p:nvSpPr>
          <p:cNvPr id="6" name="Google Shape;875;p143">
            <a:extLst>
              <a:ext uri="{FF2B5EF4-FFF2-40B4-BE49-F238E27FC236}">
                <a16:creationId xmlns:a16="http://schemas.microsoft.com/office/drawing/2014/main" id="{AEEFC732-9138-F796-4900-6FB39E59B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Pickers use fragments</a:t>
            </a:r>
            <a:endParaRPr dirty="0"/>
          </a:p>
        </p:txBody>
      </p:sp>
      <p:sp>
        <p:nvSpPr>
          <p:cNvPr id="7" name="Google Shape;876;p143">
            <a:extLst>
              <a:ext uri="{FF2B5EF4-FFF2-40B4-BE49-F238E27FC236}">
                <a16:creationId xmlns:a16="http://schemas.microsoft.com/office/drawing/2014/main" id="{2983AAE7-034F-E4F3-47DB-C976ABC66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88" y="1484784"/>
            <a:ext cx="6442179" cy="3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Use </a:t>
            </a:r>
            <a:r>
              <a:rPr lang="en" u="sng" dirty="0">
                <a:solidFill>
                  <a:srgbClr val="0081B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DialogFragment</a:t>
            </a:r>
            <a:r>
              <a:rPr lang="en" dirty="0"/>
              <a:t> to show a picker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DialogFragment is a window that floats on top of Activity window</a:t>
            </a:r>
            <a:endParaRPr dirty="0"/>
          </a:p>
        </p:txBody>
      </p:sp>
      <p:pic>
        <p:nvPicPr>
          <p:cNvPr id="8" name="Google Shape;878;p143">
            <a:extLst>
              <a:ext uri="{FF2B5EF4-FFF2-40B4-BE49-F238E27FC236}">
                <a16:creationId xmlns:a16="http://schemas.microsoft.com/office/drawing/2014/main" id="{F3D818A6-C408-B267-D984-66C90F827B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9184" y="1608084"/>
            <a:ext cx="2438400" cy="331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81340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1A03-CC04-3F0A-8716-F7C8D31F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0C9B6-D395-6E27-362A-1819AC17BF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42</a:t>
            </a:fld>
            <a:endParaRPr lang="en"/>
          </a:p>
        </p:txBody>
      </p:sp>
      <p:sp>
        <p:nvSpPr>
          <p:cNvPr id="6" name="Google Shape;883;p144">
            <a:extLst>
              <a:ext uri="{FF2B5EF4-FFF2-40B4-BE49-F238E27FC236}">
                <a16:creationId xmlns:a16="http://schemas.microsoft.com/office/drawing/2014/main" id="{3ACD8882-4F8E-0001-FB4A-249259C08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fragment?</a:t>
            </a:r>
            <a:endParaRPr dirty="0"/>
          </a:p>
        </p:txBody>
      </p:sp>
      <p:sp>
        <p:nvSpPr>
          <p:cNvPr id="7" name="Google Shape;884;p144">
            <a:extLst>
              <a:ext uri="{FF2B5EF4-FFF2-40B4-BE49-F238E27FC236}">
                <a16:creationId xmlns:a16="http://schemas.microsoft.com/office/drawing/2014/main" id="{8CBEF31D-EDAA-A536-88CE-C2DDC83EE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95" y="1484784"/>
            <a:ext cx="9763725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 </a:t>
            </a:r>
            <a:r>
              <a:rPr lang="en" u="sng" dirty="0">
                <a:solidFill>
                  <a:schemeClr val="hlink"/>
                </a:solidFill>
                <a:hlinkClick r:id="rId2"/>
              </a:rPr>
              <a:t>Fragment</a:t>
            </a:r>
            <a:r>
              <a:rPr lang="en" dirty="0"/>
              <a:t> is like a mini-Activity within an Activity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Manages its own own lifecycle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Receives its own input events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Can be added or removed while parent Activity is running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Multiple fragments can be combined in a single Activity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Can be reused in more than one Activity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1ED91-3E48-97C7-E1B4-555845F3D347}"/>
              </a:ext>
            </a:extLst>
          </p:cNvPr>
          <p:cNvSpPr txBox="1"/>
          <p:nvPr/>
        </p:nvSpPr>
        <p:spPr>
          <a:xfrm>
            <a:off x="416496" y="530120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We will talk about fragment Next Week</a:t>
            </a:r>
          </a:p>
        </p:txBody>
      </p:sp>
    </p:spTree>
    <p:extLst>
      <p:ext uri="{BB962C8B-B14F-4D97-AF65-F5344CB8AC3E}">
        <p14:creationId xmlns:p14="http://schemas.microsoft.com/office/powerpoint/2010/main" val="409387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86765-817D-861C-6C0F-CDBC0DF9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83A93-A7D9-5CFD-D259-8F025F6DAC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43</a:t>
            </a:fld>
            <a:endParaRPr lang="en"/>
          </a:p>
        </p:txBody>
      </p:sp>
      <p:sp>
        <p:nvSpPr>
          <p:cNvPr id="6" name="Google Shape;890;p145">
            <a:extLst>
              <a:ext uri="{FF2B5EF4-FFF2-40B4-BE49-F238E27FC236}">
                <a16:creationId xmlns:a16="http://schemas.microsoft.com/office/drawing/2014/main" id="{29CB2998-A633-BA8A-85EB-BE67662E4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Creating a date picker dialog</a:t>
            </a:r>
            <a:endParaRPr dirty="0"/>
          </a:p>
        </p:txBody>
      </p:sp>
      <p:sp>
        <p:nvSpPr>
          <p:cNvPr id="7" name="Google Shape;891;p145">
            <a:extLst>
              <a:ext uri="{FF2B5EF4-FFF2-40B4-BE49-F238E27FC236}">
                <a16:creationId xmlns:a16="http://schemas.microsoft.com/office/drawing/2014/main" id="{F893DB4E-2016-4225-C54C-F0F09E00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99" y="1628800"/>
            <a:ext cx="9756221" cy="3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Add a blank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dirty="0"/>
              <a:t> that extends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 dirty="0"/>
              <a:t> and implements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DatePickerDialog.OnDateSetListener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In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onCreateDialog()</a:t>
            </a:r>
            <a:r>
              <a:rPr lang="en" dirty="0"/>
              <a:t> initialize the date and return the dialog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In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onDateSet()</a:t>
            </a:r>
            <a:r>
              <a:rPr lang="en" dirty="0"/>
              <a:t> handle the date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In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show the picker and add method to use date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20176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70BB1-12DD-E07C-5602-E19E8703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BE5B0-8D23-C116-D4D1-94F2D70F3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44</a:t>
            </a:fld>
            <a:endParaRPr lang="en"/>
          </a:p>
        </p:txBody>
      </p:sp>
      <p:sp>
        <p:nvSpPr>
          <p:cNvPr id="6" name="Google Shape;897;p146">
            <a:extLst>
              <a:ext uri="{FF2B5EF4-FFF2-40B4-BE49-F238E27FC236}">
                <a16:creationId xmlns:a16="http://schemas.microsoft.com/office/drawing/2014/main" id="{BAAD767C-7CC2-A3B7-74DB-B6CDA494E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Creating a time picker dialog</a:t>
            </a:r>
            <a:endParaRPr dirty="0"/>
          </a:p>
        </p:txBody>
      </p:sp>
      <p:sp>
        <p:nvSpPr>
          <p:cNvPr id="7" name="Google Shape;898;p146">
            <a:extLst>
              <a:ext uri="{FF2B5EF4-FFF2-40B4-BE49-F238E27FC236}">
                <a16:creationId xmlns:a16="http://schemas.microsoft.com/office/drawing/2014/main" id="{7518147E-3043-22C4-33BF-2C1F2A019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628800"/>
            <a:ext cx="9906000" cy="3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Add a blank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dirty="0"/>
              <a:t> that extends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 dirty="0"/>
              <a:t> and implements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TimePickerDialog.OnTimeSetListener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In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onCreateDialog()</a:t>
            </a:r>
            <a:r>
              <a:rPr lang="en" dirty="0"/>
              <a:t> initialize the time and return the dialog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In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onTimeSet()</a:t>
            </a:r>
            <a:r>
              <a:rPr lang="en" dirty="0"/>
              <a:t> handle the time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In Activity, show the picker and add method to use time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1115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46FE-FF38-947F-95C2-1CF94FE8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4F80E-76A6-9456-6B5F-3ED7326C2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45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F13CE-1272-68E0-AFB9-1FB59CC2D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512" y="2924944"/>
            <a:ext cx="8229600" cy="49006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32837496"/>
      </p:ext>
    </p:extLst>
  </p:cSld>
  <p:clrMapOvr>
    <a:masterClrMapping/>
  </p:clrMapOvr>
</p:sld>
</file>

<file path=ppt/theme/theme1.xml><?xml version="1.0" encoding="utf-8"?>
<a:theme xmlns:a="http://schemas.openxmlformats.org/drawingml/2006/main" name="Bradford PPT_final_A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uob-green-faculty-or-directorate-guide</Template>
  <TotalTime>339</TotalTime>
  <Words>2067</Words>
  <Application>Microsoft Office PowerPoint</Application>
  <PresentationFormat>A4 Paper (210x297 mm)</PresentationFormat>
  <Paragraphs>402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Consolas</vt:lpstr>
      <vt:lpstr>Georgia</vt:lpstr>
      <vt:lpstr>Lucida Sans</vt:lpstr>
      <vt:lpstr>Lucida Sans Unicode</vt:lpstr>
      <vt:lpstr>Roboto</vt:lpstr>
      <vt:lpstr>Bradford PPT_final_A</vt:lpstr>
      <vt:lpstr>Mobile Application Development (COS7025-B)     Designing Mobile Apps using Android Menus, Dialogs, and Pickers </vt:lpstr>
      <vt:lpstr>Contents</vt:lpstr>
      <vt:lpstr>Types of Menus</vt:lpstr>
      <vt:lpstr>Dialogs and pickers</vt:lpstr>
      <vt:lpstr>What is the App Bar?</vt:lpstr>
      <vt:lpstr>What is the options menu?</vt:lpstr>
      <vt:lpstr>Steps to implement options menu</vt:lpstr>
      <vt:lpstr>Create menu resource</vt:lpstr>
      <vt:lpstr>Inflate options menu</vt:lpstr>
      <vt:lpstr>Add icons for menu items</vt:lpstr>
      <vt:lpstr>Add menu item attributes</vt:lpstr>
      <vt:lpstr>Override onOptionsItemSelected()</vt:lpstr>
      <vt:lpstr>What are contextual menus?</vt:lpstr>
      <vt:lpstr>Types of contextual menus</vt:lpstr>
      <vt:lpstr>Floating Context Menu</vt:lpstr>
      <vt:lpstr>Create menu resource</vt:lpstr>
      <vt:lpstr>Register a view to a context menu</vt:lpstr>
      <vt:lpstr>Implement onCreateContextMenu() onCreateContextMenu() method</vt:lpstr>
      <vt:lpstr>Implement onContextItemSelected() onCreateContextMenu() method</vt:lpstr>
      <vt:lpstr>What is a contextual action bar?</vt:lpstr>
      <vt:lpstr>Steps for contextual action bar</vt:lpstr>
      <vt:lpstr>Use setOnLongClickListener</vt:lpstr>
      <vt:lpstr>Use setOnLongClickListener</vt:lpstr>
      <vt:lpstr>Implement mActionModeCallback</vt:lpstr>
      <vt:lpstr>Implement onCreateActionMode</vt:lpstr>
      <vt:lpstr>Implement onPrepareActionMode</vt:lpstr>
      <vt:lpstr>Implement onActionItemClicked</vt:lpstr>
      <vt:lpstr>Implement onDestroyActionMode</vt:lpstr>
      <vt:lpstr>What is a popup menu?</vt:lpstr>
      <vt:lpstr>Steps</vt:lpstr>
      <vt:lpstr>Add ImageButton</vt:lpstr>
      <vt:lpstr>Assign onClickListener to button</vt:lpstr>
      <vt:lpstr>Implement onClick</vt:lpstr>
      <vt:lpstr>Implement onMenuItemClick</vt:lpstr>
      <vt:lpstr>What is a Dialog?</vt:lpstr>
      <vt:lpstr>AlertDialog</vt:lpstr>
      <vt:lpstr>Build the AlertDialog</vt:lpstr>
      <vt:lpstr>Set the button actions</vt:lpstr>
      <vt:lpstr>alertDialog code example</vt:lpstr>
      <vt:lpstr>What is a Picker?</vt:lpstr>
      <vt:lpstr>Pickers use fragments</vt:lpstr>
      <vt:lpstr>What is a fragment?</vt:lpstr>
      <vt:lpstr>Creating a date picker dialog</vt:lpstr>
      <vt:lpstr>Creating a time picker dialog</vt:lpstr>
      <vt:lpstr>Any Questions?</vt:lpstr>
    </vt:vector>
  </TitlesOfParts>
  <Company>University of Bradford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(COS7025-B)     Introduction to Android Software  Stack</dc:title>
  <dc:creator>Karim Sadik</dc:creator>
  <cp:lastModifiedBy>Karim Sadik</cp:lastModifiedBy>
  <cp:revision>16</cp:revision>
  <cp:lastPrinted>2014-07-11T09:48:52Z</cp:lastPrinted>
  <dcterms:created xsi:type="dcterms:W3CDTF">2025-07-22T12:14:46Z</dcterms:created>
  <dcterms:modified xsi:type="dcterms:W3CDTF">2025-07-24T13:10:57Z</dcterms:modified>
</cp:coreProperties>
</file>