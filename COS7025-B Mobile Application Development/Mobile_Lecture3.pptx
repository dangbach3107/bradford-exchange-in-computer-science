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278" r:id="rId3"/>
    <p:sldId id="279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405" r:id="rId22"/>
    <p:sldId id="410" r:id="rId23"/>
    <p:sldId id="406" r:id="rId24"/>
    <p:sldId id="407" r:id="rId25"/>
    <p:sldId id="408" r:id="rId26"/>
    <p:sldId id="409" r:id="rId27"/>
    <p:sldId id="413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99" r:id="rId45"/>
    <p:sldId id="400" r:id="rId46"/>
    <p:sldId id="401" r:id="rId47"/>
    <p:sldId id="402" r:id="rId48"/>
    <p:sldId id="403" r:id="rId49"/>
    <p:sldId id="404" r:id="rId50"/>
    <p:sldId id="377" r:id="rId51"/>
    <p:sldId id="378" r:id="rId52"/>
    <p:sldId id="379" r:id="rId53"/>
    <p:sldId id="380" r:id="rId54"/>
    <p:sldId id="38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8" r:id="rId68"/>
    <p:sldId id="394" r:id="rId69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1108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81BE"/>
    <a:srgbClr val="9E0F1D"/>
    <a:srgbClr val="693B68"/>
    <a:srgbClr val="36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66" y="72"/>
      </p:cViewPr>
      <p:guideLst>
        <p:guide orient="horz" pos="1071"/>
        <p:guide orient="horz" pos="1108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2EBD4A-5895-A54E-A055-EDAC0AE85B12}" type="datetimeFigureOut">
              <a:rPr lang="en-GB"/>
              <a:pPr>
                <a:defRPr/>
              </a:pPr>
              <a:t>30/07/2025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7DD014-F3DA-9946-8CC1-301B1D998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200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C6EAC80-80B2-FE4F-B44C-ECDD3CC6FD34}" type="datetimeFigureOut">
              <a:rPr lang="en-GB"/>
              <a:pPr>
                <a:defRPr/>
              </a:pPr>
              <a:t>30/07/2025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38381A-76B6-2948-B558-3F9575637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75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623af889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623af889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8D4F-4E96-4841-A1F5-19AC2D41DEB5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E8C3C-0935-FD48-B11D-125A6C8E73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5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5"/>
            <a:ext cx="8485605" cy="51228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4441D-FCF9-B841-8F75-F62C4FB0DAB0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E868-5A68-4147-BDAB-52F2EBBCC5A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09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A35C8-07AA-F94B-83B0-C4A730E41B1B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1DF-C791-F345-ACE0-CA99EFF1D8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28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95428-EAB3-764C-8677-F1F25470B456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0A639-F880-524E-92E8-3486672B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8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2F54-982D-E743-AA1F-7772CD9012E2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2D634-E916-BD41-9F1F-E85E7417C3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5123-537D-E741-BE56-D25E2B04354C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C140-4BC7-DD46-8CA3-C0DD924A0C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BB531-FD53-6A42-8437-AB036AED9633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09A3-AF77-304F-92E2-22002205E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D460E-B54D-E546-92EF-4D2902D3E54F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E47B-26B3-1A40-A83C-170A74EA2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E044D-56C9-D045-AD41-9211A2AB6C0C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FC4CA-12F0-4A4C-8629-C1CFD830D16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7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114426"/>
            <a:ext cx="5054084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47C88-C818-9543-9F1E-2A7C341B416F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3A9D8-66EC-444B-9E6C-54113037B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35336-AB8F-714D-8E4E-F432E240A60F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B0D13-D08B-4549-AC14-0B4B4B9AF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4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A1A8-B470-1540-864F-AF2C7D81F41B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9793B-AD38-1A42-AA9D-4E06B7A01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01600"/>
            <a:ext cx="15843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2541-E997-4F49-85EF-4CCCF00D0EF9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8B3D1-E818-B04E-A1F5-49B7F1922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9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D75EA-DCC8-9840-917C-FAC56344F17F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B891-E3D7-6F45-BE23-3A0F1D2E5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0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130F-0913-DF45-95C6-89DBAA63D3E9}" type="datetime3">
              <a:rPr lang="en-GB"/>
              <a:pPr>
                <a:defRPr/>
              </a:pPr>
              <a:t>30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0DA09-FF99-0649-8968-06384E36B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4426"/>
            <a:ext cx="4062928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114426"/>
            <a:ext cx="4048894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9D680-5E09-F74D-8047-C1E5DBBD3B29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01427-B512-7248-A4CA-C97BF0071E5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A3276-1A0C-D446-AB2F-569EC9556028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53AB-A865-4446-87DC-AEDFA62A292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3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2356"/>
            <a:ext cx="4062928" cy="501381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114426"/>
            <a:ext cx="4049713" cy="5010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C966C-6B72-5141-B469-5EAA79BF385D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2F7F-CAE4-184F-BD3C-1874F5B871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85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A733-5E18-704D-8A3E-0849B336BAB7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1DDB-933F-9844-BB22-08B7C960913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66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124744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916832"/>
            <a:ext cx="4068137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124744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916832"/>
            <a:ext cx="4071620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41FF-F6A3-EF42-B4DC-77CDBD117C18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D98B-0F68-2E43-BC3B-3280CEDF0E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255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EDFE4-4D8A-7846-A0C4-2F016432D8F3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BE3B-F668-DB4C-A0F2-E43A7C187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9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E141-945D-9B45-B69D-164338EB0C16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937DF-DC3B-2B40-8064-4D2CB8147FB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325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9FF54-C48D-DC49-B8E9-9BFF9633E595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B4C0-1156-3142-A0E4-36DE16FEE6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15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6D1-55F4-274E-8E31-C05C80C0997C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AFC6-2595-E641-8B02-9202243DB6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1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7F3F-C7CA-C949-BDCC-28B438452C1D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34A02-E4AB-AB4F-8B80-E8ACE1C484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17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5DABA-A733-ED44-BAF2-74BAD90DD168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0E16-F279-204C-8F1E-D763784F2C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7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72E8-4729-7444-BC73-110EEAA2260D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C102-2AC3-CA4A-8F5C-9BEDD08B54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418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6B6C-6107-6748-9690-0C5DCB979249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4FEE-8ACB-AB48-9E72-F40339A1EC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816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B28D9-145B-CE40-BF66-564217847540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08EE-0A1B-6E44-89A9-50D76CE33D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672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C4DF8-4B58-784F-A4DF-275A1FD47115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1FFD0-77F3-3E4D-9850-85A2DA222C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57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1772221"/>
            <a:ext cx="8485188" cy="44650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46FC-89C8-8947-B99E-11FCA650D660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278C-87C0-7B46-A362-15FBE10851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74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2FF4-CB32-924A-B752-B19D91491121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8AC8-2546-FA4C-962F-2DDF922E55C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439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ED1-0220-C642-864B-0421ABAEC11B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F82-2AA4-BD40-8936-9C1C38FBEE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774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A427-9C52-914A-9F28-4E7A3B6702C1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1150-2EA3-BA46-9C62-F9F06C80496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39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2133" y="-50433"/>
            <a:ext cx="9918025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37675" y="227760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37675" y="14350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95285" lvl="0" indent="-412737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90570" lvl="1" indent="-385221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167">
                <a:solidFill>
                  <a:srgbClr val="000000"/>
                </a:solidFill>
              </a:defRPr>
            </a:lvl2pPr>
            <a:lvl3pPr marL="1485854" lvl="2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981139" lvl="3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476424" lvl="4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971709" lvl="5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466993" lvl="6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962278" lvl="7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457563" lvl="8" indent="-343948" rtl="0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9178496" y="63192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44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114425"/>
            <a:ext cx="8485188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05075" y="6340475"/>
            <a:ext cx="7011988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904875" y="6340475"/>
            <a:ext cx="159861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875" y="6337300"/>
            <a:ext cx="1473200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56516A83-91EE-AB41-A586-9B58DDBC6DE5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075" y="6337300"/>
            <a:ext cx="7005638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B3990C44-6740-6B49-8695-A99901BF4C4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  <p:sldLayoutId id="2147484540" r:id="rId12"/>
    <p:sldLayoutId id="2147484541" r:id="rId13"/>
    <p:sldLayoutId id="2147484542" r:id="rId14"/>
    <p:sldLayoutId id="2147484543" r:id="rId15"/>
    <p:sldLayoutId id="2147484544" r:id="rId16"/>
    <p:sldLayoutId id="2147484545" r:id="rId17"/>
    <p:sldLayoutId id="2147484546" r:id="rId18"/>
    <p:sldLayoutId id="2147484547" r:id="rId19"/>
    <p:sldLayoutId id="2147484548" r:id="rId20"/>
    <p:sldLayoutId id="2147484549" r:id="rId21"/>
    <p:sldLayoutId id="2147484550" r:id="rId22"/>
    <p:sldLayoutId id="2147484551" r:id="rId23"/>
    <p:sldLayoutId id="2147484552" r:id="rId24"/>
    <p:sldLayoutId id="2147484553" r:id="rId25"/>
    <p:sldLayoutId id="2147484554" r:id="rId26"/>
    <p:sldLayoutId id="2147484555" r:id="rId27"/>
    <p:sldLayoutId id="2147484556" r:id="rId28"/>
    <p:sldLayoutId id="2147484557" r:id="rId29"/>
    <p:sldLayoutId id="2147484558" r:id="rId30"/>
    <p:sldLayoutId id="2147484559" r:id="rId31"/>
    <p:sldLayoutId id="2147484560" r:id="rId32"/>
    <p:sldLayoutId id="2147484561" r:id="rId33"/>
    <p:sldLayoutId id="2147484562" r:id="rId34"/>
    <p:sldLayoutId id="2147484564" r:id="rId3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android.com/reference/android/widget/RecyclerView.html" TargetMode="External"/><Relationship Id="rId3" Type="http://schemas.openxmlformats.org/officeDocument/2006/relationships/hyperlink" Target="http://developer.android.com/reference/android/widget/TextView.html" TargetMode="External"/><Relationship Id="rId7" Type="http://schemas.openxmlformats.org/officeDocument/2006/relationships/hyperlink" Target="https://developer.android.com/reference/android/widget/ScrollView.html" TargetMode="External"/><Relationship Id="rId2" Type="http://schemas.openxmlformats.org/officeDocument/2006/relationships/hyperlink" Target="http://developer.android.com/reference/android/view/View.html" TargetMode="Externa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developer.android.com/guide/topics/ui/menus.html" TargetMode="External"/><Relationship Id="rId11" Type="http://schemas.openxmlformats.org/officeDocument/2006/relationships/hyperlink" Target="https://developer.android.com/reference/android/widget/LinearLayout.html" TargetMode="External"/><Relationship Id="rId5" Type="http://schemas.openxmlformats.org/officeDocument/2006/relationships/hyperlink" Target="https://developer.android.com/reference/android/widget/Button.html" TargetMode="External"/><Relationship Id="rId10" Type="http://schemas.openxmlformats.org/officeDocument/2006/relationships/hyperlink" Target="https://developer.android.com/reference/android/support/constraint/ConstraintLayout.html" TargetMode="External"/><Relationship Id="rId4" Type="http://schemas.openxmlformats.org/officeDocument/2006/relationships/hyperlink" Target="https://developer.android.com/reference/android/widget/EditText.html" TargetMode="External"/><Relationship Id="rId9" Type="http://schemas.openxmlformats.org/officeDocument/2006/relationships/hyperlink" Target="https://developer.android.com/reference/android/widget/ImageView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content/Context.html" TargetMode="Externa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reference/android/widget/ScrollView.html" TargetMode="External"/><Relationship Id="rId2" Type="http://schemas.openxmlformats.org/officeDocument/2006/relationships/hyperlink" Target="https://developer.android.com/reference/android/support/constraint/ConstraintLayout.html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s://developer.android.com/reference/android/support/v7/widget/RecyclerView.html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reference/android/view/ViewGroup.html" TargetMode="Externa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0"/>
          <p:cNvSpPr>
            <a:spLocks noGrp="1" noChangeArrowheads="1"/>
          </p:cNvSpPr>
          <p:nvPr>
            <p:ph type="title"/>
          </p:nvPr>
        </p:nvSpPr>
        <p:spPr>
          <a:xfrm>
            <a:off x="416496" y="1312895"/>
            <a:ext cx="9230650" cy="763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  <a:t>Mobile Application Development (COS7025-B)</a:t>
            </a:r>
            <a:b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</a:br>
            <a:br>
              <a:rPr lang="en-GB" altLang="en-US" sz="13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br>
              <a:rPr lang="en-GB" altLang="en-US" sz="900" dirty="0">
                <a:solidFill>
                  <a:srgbClr val="003399"/>
                </a:solidFill>
              </a:rPr>
            </a:br>
            <a:r>
              <a:rPr lang="en-GB" altLang="en-US" sz="3600" dirty="0">
                <a:solidFill>
                  <a:srgbClr val="003399"/>
                </a:solidFill>
                <a:latin typeface="Georgia" panose="02040502050405020303" pitchFamily="18" charset="0"/>
              </a:rPr>
              <a:t> </a:t>
            </a:r>
            <a:b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aseline="50000" dirty="0">
                <a:solidFill>
                  <a:srgbClr val="003399"/>
                </a:solidFill>
              </a:rPr>
            </a:br>
            <a:endParaRPr lang="es-ES" altLang="en-US" sz="3600" dirty="0">
              <a:solidFill>
                <a:srgbClr val="003399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1B4BE5D-D4C9-A14A-A707-5B27380E2328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4294967295"/>
          </p:nvPr>
        </p:nvSpPr>
        <p:spPr>
          <a:xfrm>
            <a:off x="0" y="6337300"/>
            <a:ext cx="1473200" cy="365125"/>
          </a:xfrm>
        </p:spPr>
        <p:txBody>
          <a:bodyPr/>
          <a:lstStyle/>
          <a:p>
            <a:pPr>
              <a:defRPr/>
            </a:pPr>
            <a:fld id="{03F7D35D-8950-BF46-B66A-37F1FDD14F3C}" type="datetime3">
              <a:rPr lang="en-GB"/>
              <a:pPr>
                <a:defRPr/>
              </a:pPr>
              <a:t>30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900363" y="6337300"/>
            <a:ext cx="7005637" cy="365125"/>
          </a:xfrm>
        </p:spPr>
        <p:txBody>
          <a:bodyPr/>
          <a:lstStyle/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Rectangle 168"/>
          <p:cNvSpPr>
            <a:spLocks noChangeArrowheads="1"/>
          </p:cNvSpPr>
          <p:nvPr/>
        </p:nvSpPr>
        <p:spPr bwMode="auto">
          <a:xfrm>
            <a:off x="2385307" y="3633138"/>
            <a:ext cx="496855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000" b="1" dirty="0">
                <a:solidFill>
                  <a:schemeClr val="tx1"/>
                </a:solidFill>
              </a:rPr>
              <a:t>Karim Hammoud Sadik</a:t>
            </a:r>
          </a:p>
          <a:p>
            <a:endParaRPr lang="es-UY" altLang="en-US" sz="2000" b="1" dirty="0">
              <a:solidFill>
                <a:schemeClr val="tx1"/>
              </a:solidFill>
            </a:endParaRPr>
          </a:p>
          <a:p>
            <a:r>
              <a:rPr lang="es-UY" altLang="en-US" sz="2000" b="1" dirty="0" err="1">
                <a:solidFill>
                  <a:schemeClr val="tx1"/>
                </a:solidFill>
              </a:rPr>
              <a:t>Lecture</a:t>
            </a:r>
            <a:r>
              <a:rPr lang="es-UY" altLang="en-US" sz="2000" b="1" dirty="0">
                <a:solidFill>
                  <a:schemeClr val="tx1"/>
                </a:solidFill>
              </a:rPr>
              <a:t> #3</a:t>
            </a:r>
            <a:endParaRPr lang="es-ES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520" y="4607870"/>
            <a:ext cx="960698" cy="1540889"/>
          </a:xfrm>
          <a:prstGeom prst="rect">
            <a:avLst/>
          </a:prstGeom>
        </p:spPr>
      </p:pic>
      <p:pic>
        <p:nvPicPr>
          <p:cNvPr id="1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048" y="4869160"/>
            <a:ext cx="1103818" cy="1101508"/>
          </a:xfrm>
          <a:prstGeom prst="rect">
            <a:avLst/>
          </a:prstGeom>
        </p:spPr>
      </p:pic>
      <p:sp>
        <p:nvSpPr>
          <p:cNvPr id="13" name="object 2"/>
          <p:cNvSpPr txBox="1">
            <a:spLocks/>
          </p:cNvSpPr>
          <p:nvPr/>
        </p:nvSpPr>
        <p:spPr bwMode="auto">
          <a:xfrm>
            <a:off x="5121609" y="6042039"/>
            <a:ext cx="1625256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sz="1600" b="1" dirty="0">
                <a:solidFill>
                  <a:srgbClr val="7030A0"/>
                </a:solidFill>
              </a:rPr>
              <a:t>Android</a:t>
            </a:r>
            <a:r>
              <a:rPr lang="en-GB" sz="1600" b="1" spc="-155" dirty="0">
                <a:solidFill>
                  <a:srgbClr val="7030A0"/>
                </a:solidFill>
              </a:rPr>
              <a:t> </a:t>
            </a:r>
            <a:r>
              <a:rPr lang="en-GB" sz="1600" b="1" dirty="0">
                <a:solidFill>
                  <a:srgbClr val="7030A0"/>
                </a:solidFill>
              </a:rPr>
              <a:t>Studio</a:t>
            </a:r>
            <a:endParaRPr lang="en-GB" sz="1600" b="1" spc="-100" dirty="0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1369">
            <a:off x="2770480" y="4707233"/>
            <a:ext cx="803112" cy="1496807"/>
          </a:xfrm>
          <a:prstGeom prst="rect">
            <a:avLst/>
          </a:prstGeom>
        </p:spPr>
      </p:pic>
      <p:pic>
        <p:nvPicPr>
          <p:cNvPr id="15" name="Picture 2" descr="Android framework detail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r="41013"/>
          <a:stretch>
            <a:fillRect/>
          </a:stretch>
        </p:blipFill>
        <p:spPr bwMode="auto">
          <a:xfrm>
            <a:off x="7751333" y="3987613"/>
            <a:ext cx="1394740" cy="23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>
            <a:spLocks noGrp="1"/>
          </p:cNvSpPr>
          <p:nvPr>
            <p:ph type="title"/>
          </p:nvPr>
        </p:nvSpPr>
        <p:spPr>
          <a:xfrm>
            <a:off x="65279" y="235244"/>
            <a:ext cx="9379175" cy="620425"/>
          </a:xfrm>
          <a:prstGeom prst="rect">
            <a:avLst/>
          </a:prstGeom>
        </p:spPr>
        <p:txBody>
          <a:bodyPr spcFirstLastPara="1" vert="horz" wrap="square" lIns="99044" tIns="99044" rIns="99044" bIns="99044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" dirty="0">
                <a:solidFill>
                  <a:srgbClr val="FFFFFF"/>
                </a:solidFill>
              </a:rPr>
              <a:t>Contents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27" name="Google Shape;227;p42"/>
          <p:cNvSpPr txBox="1">
            <a:spLocks noGrp="1"/>
          </p:cNvSpPr>
          <p:nvPr>
            <p:ph type="sldNum" idx="12"/>
          </p:nvPr>
        </p:nvSpPr>
        <p:spPr>
          <a:xfrm>
            <a:off x="9178496" y="5777306"/>
            <a:ext cx="594425" cy="426400"/>
          </a:xfrm>
          <a:prstGeom prst="rect">
            <a:avLst/>
          </a:prstGeom>
        </p:spPr>
        <p:txBody>
          <a:bodyPr spcFirstLastPara="1" vert="horz" wrap="square" lIns="99044" tIns="99044" rIns="99044" bIns="99044" rtlCol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</a:t>
            </a:fld>
            <a:endParaRPr/>
          </a:p>
        </p:txBody>
      </p:sp>
      <p:sp>
        <p:nvSpPr>
          <p:cNvPr id="4" name="Google Shape;355;p69">
            <a:extLst>
              <a:ext uri="{FF2B5EF4-FFF2-40B4-BE49-F238E27FC236}">
                <a16:creationId xmlns:a16="http://schemas.microsoft.com/office/drawing/2014/main" id="{77D75E55-3E4C-5B1D-5B53-6CF0010BD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556792"/>
            <a:ext cx="8398800" cy="31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Views, view groups, and view hierarchy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The layout editor and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Event handling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Resources and measurements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>
            <a:spLocks noGrp="1"/>
          </p:cNvSpPr>
          <p:nvPr>
            <p:ph type="sldNum" idx="12"/>
          </p:nvPr>
        </p:nvSpPr>
        <p:spPr>
          <a:xfrm>
            <a:off x="9261046" y="5777306"/>
            <a:ext cx="594425" cy="426400"/>
          </a:xfrm>
          <a:prstGeom prst="rect">
            <a:avLst/>
          </a:prstGeom>
        </p:spPr>
        <p:txBody>
          <a:bodyPr spcFirstLastPara="1" vert="horz" wrap="square" lIns="99044" tIns="99044" rIns="99044" bIns="99044" rtlCol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3</a:t>
            </a:fld>
            <a:endParaRPr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81077" y="34312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Android Framework</a:t>
            </a:r>
            <a:endParaRPr lang="en-GB" altLang="en-US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F4A63C-5498-51A7-6BD0-1194A4950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374" y="1359875"/>
            <a:ext cx="5716454" cy="5093461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39F91E97-71D5-E3F7-42C9-AF28C2726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4817" y="1772816"/>
            <a:ext cx="3972719" cy="378565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marL="10318">
              <a:lnSpc>
                <a:spcPts val="2633"/>
              </a:lnSpc>
              <a:buSzPct val="80000"/>
              <a:tabLst>
                <a:tab pos="270351" algn="l"/>
              </a:tabLst>
              <a:defRPr/>
            </a:pPr>
            <a:r>
              <a:rPr lang="en-US" altLang="en-US" sz="2000" dirty="0"/>
              <a:t>Provides entire feature set to us through APIs written in Java. The APIs are building blocks for creating apps. Features include:</a:t>
            </a:r>
          </a:p>
          <a:p>
            <a:pPr marL="10318">
              <a:lnSpc>
                <a:spcPts val="2633"/>
              </a:lnSpc>
              <a:buSzPct val="80000"/>
              <a:tabLst>
                <a:tab pos="270351" algn="l"/>
              </a:tabLst>
              <a:defRPr/>
            </a:pPr>
            <a:endParaRPr lang="en-GB" sz="2200" b="1" i="1" spc="-16" dirty="0">
              <a:latin typeface="Corbel"/>
              <a:cs typeface="Corbel"/>
            </a:endParaRPr>
          </a:p>
          <a:p>
            <a:pPr marL="270351" indent="-260033">
              <a:lnSpc>
                <a:spcPts val="2633"/>
              </a:lnSpc>
              <a:buSzPct val="80000"/>
              <a:buFont typeface="Wingdings 2"/>
              <a:buChar char=""/>
              <a:tabLst>
                <a:tab pos="270351" algn="l"/>
              </a:tabLst>
              <a:defRPr/>
            </a:pPr>
            <a:r>
              <a:rPr sz="2200" b="1" i="1" spc="-16" dirty="0">
                <a:latin typeface="Corbel"/>
                <a:cs typeface="Corbel"/>
              </a:rPr>
              <a:t>View</a:t>
            </a:r>
            <a:r>
              <a:rPr sz="2200" b="1" i="1" spc="-122" dirty="0">
                <a:latin typeface="Times New Roman"/>
                <a:cs typeface="Times New Roman"/>
              </a:rPr>
              <a:t> </a:t>
            </a:r>
            <a:r>
              <a:rPr sz="2200" b="1" i="1" spc="-4" dirty="0">
                <a:latin typeface="Corbel"/>
                <a:cs typeface="Corbel"/>
              </a:rPr>
              <a:t>s</a:t>
            </a:r>
            <a:r>
              <a:rPr sz="2200" b="1" i="1" dirty="0">
                <a:latin typeface="Corbel"/>
                <a:cs typeface="Corbel"/>
              </a:rPr>
              <a:t>y</a:t>
            </a:r>
            <a:r>
              <a:rPr sz="2200" b="1" i="1" spc="-20" dirty="0">
                <a:latin typeface="Corbel"/>
                <a:cs typeface="Corbel"/>
              </a:rPr>
              <a:t>stem</a:t>
            </a:r>
            <a:endParaRPr sz="2200" b="1" i="1" dirty="0">
              <a:latin typeface="Corbel"/>
              <a:cs typeface="Corbel"/>
            </a:endParaRPr>
          </a:p>
          <a:p>
            <a:pPr marL="511810" lvl="1" indent="-222885">
              <a:lnSpc>
                <a:spcPts val="2243"/>
              </a:lnSpc>
              <a:buSzPct val="90384"/>
              <a:buFont typeface="Wingdings"/>
              <a:buChar char=""/>
              <a:tabLst>
                <a:tab pos="511810" algn="l"/>
              </a:tabLst>
              <a:defRPr/>
            </a:pPr>
            <a:r>
              <a:rPr spc="-12" dirty="0">
                <a:latin typeface="Corbel"/>
                <a:cs typeface="Corbel"/>
              </a:rPr>
              <a:t>li</a:t>
            </a:r>
            <a:r>
              <a:rPr dirty="0">
                <a:latin typeface="Corbel"/>
                <a:cs typeface="Corbel"/>
              </a:rPr>
              <a:t>sts</a:t>
            </a:r>
            <a:r>
              <a:rPr spc="-8" dirty="0">
                <a:latin typeface="Corbel"/>
                <a:cs typeface="Corbel"/>
              </a:rPr>
              <a:t>,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Corbel"/>
                <a:cs typeface="Corbel"/>
              </a:rPr>
              <a:t>gri</a:t>
            </a:r>
            <a:r>
              <a:rPr spc="-16" dirty="0">
                <a:latin typeface="Corbel"/>
                <a:cs typeface="Corbel"/>
              </a:rPr>
              <a:t>d</a:t>
            </a:r>
            <a:r>
              <a:rPr dirty="0">
                <a:latin typeface="Corbel"/>
                <a:cs typeface="Corbel"/>
              </a:rPr>
              <a:t>s</a:t>
            </a:r>
            <a:r>
              <a:rPr spc="-8" dirty="0">
                <a:latin typeface="Corbel"/>
                <a:cs typeface="Corbel"/>
              </a:rPr>
              <a:t>,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t</a:t>
            </a:r>
            <a:r>
              <a:rPr spc="-12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xt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6" dirty="0">
                <a:latin typeface="Corbel"/>
                <a:cs typeface="Corbel"/>
              </a:rPr>
              <a:t>b</a:t>
            </a:r>
            <a:r>
              <a:rPr dirty="0">
                <a:latin typeface="Corbel"/>
                <a:cs typeface="Corbel"/>
              </a:rPr>
              <a:t>ox</a:t>
            </a:r>
            <a:r>
              <a:rPr spc="-12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s</a:t>
            </a:r>
            <a:r>
              <a:rPr spc="-8" dirty="0">
                <a:latin typeface="Corbel"/>
                <a:cs typeface="Corbel"/>
              </a:rPr>
              <a:t>,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6" dirty="0">
                <a:latin typeface="Corbel"/>
                <a:cs typeface="Corbel"/>
              </a:rPr>
              <a:t>b</a:t>
            </a:r>
            <a:r>
              <a:rPr spc="-12" dirty="0">
                <a:latin typeface="Corbel"/>
                <a:cs typeface="Corbel"/>
              </a:rPr>
              <a:t>u</a:t>
            </a:r>
            <a:r>
              <a:rPr dirty="0">
                <a:latin typeface="Corbel"/>
                <a:cs typeface="Corbel"/>
              </a:rPr>
              <a:t>ttons</a:t>
            </a:r>
            <a:r>
              <a:rPr spc="-8" dirty="0">
                <a:latin typeface="Corbel"/>
                <a:cs typeface="Corbel"/>
              </a:rPr>
              <a:t>,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2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tc.</a:t>
            </a:r>
          </a:p>
          <a:p>
            <a:pPr marL="270351" indent="-260033">
              <a:lnSpc>
                <a:spcPts val="2633"/>
              </a:lnSpc>
              <a:buSzPct val="80000"/>
              <a:buFont typeface="Wingdings 2"/>
              <a:buChar char=""/>
              <a:tabLst>
                <a:tab pos="270351" algn="l"/>
              </a:tabLst>
              <a:defRPr/>
            </a:pPr>
            <a:r>
              <a:rPr sz="2200" b="1" i="1" dirty="0">
                <a:latin typeface="Corbel"/>
                <a:cs typeface="Corbel"/>
              </a:rPr>
              <a:t>Cont</a:t>
            </a:r>
            <a:r>
              <a:rPr sz="2200" b="1" i="1" spc="-12" dirty="0">
                <a:latin typeface="Corbel"/>
                <a:cs typeface="Corbel"/>
              </a:rPr>
              <a:t>ent</a:t>
            </a:r>
            <a:r>
              <a:rPr sz="2200" b="1" i="1" spc="-122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Corbel"/>
                <a:cs typeface="Corbel"/>
              </a:rPr>
              <a:t>Pro</a:t>
            </a:r>
            <a:r>
              <a:rPr sz="2200" b="1" i="1" spc="-12" dirty="0">
                <a:latin typeface="Corbel"/>
                <a:cs typeface="Corbel"/>
              </a:rPr>
              <a:t>vi</a:t>
            </a:r>
            <a:r>
              <a:rPr sz="2200" b="1" i="1" spc="-20" dirty="0">
                <a:latin typeface="Corbel"/>
                <a:cs typeface="Corbel"/>
              </a:rPr>
              <a:t>d</a:t>
            </a:r>
            <a:r>
              <a:rPr sz="2200" b="1" i="1" spc="-12" dirty="0">
                <a:latin typeface="Corbel"/>
                <a:cs typeface="Corbel"/>
              </a:rPr>
              <a:t>e</a:t>
            </a:r>
            <a:r>
              <a:rPr sz="2200" b="1" i="1" dirty="0">
                <a:latin typeface="Corbel"/>
                <a:cs typeface="Corbel"/>
              </a:rPr>
              <a:t>rs</a:t>
            </a:r>
          </a:p>
          <a:p>
            <a:pPr marL="511810" lvl="1" indent="-222885">
              <a:lnSpc>
                <a:spcPts val="2243"/>
              </a:lnSpc>
              <a:buSzPct val="90384"/>
              <a:buFont typeface="Wingdings"/>
              <a:buChar char=""/>
              <a:tabLst>
                <a:tab pos="511810" algn="l"/>
              </a:tabLst>
              <a:defRPr/>
            </a:pPr>
            <a:r>
              <a:rPr spc="-8" dirty="0">
                <a:latin typeface="Corbel"/>
                <a:cs typeface="Corbel"/>
              </a:rPr>
              <a:t>Int</a:t>
            </a:r>
            <a:r>
              <a:rPr spc="-12" dirty="0">
                <a:latin typeface="Corbel"/>
                <a:cs typeface="Corbel"/>
              </a:rPr>
              <a:t>e</a:t>
            </a:r>
            <a:r>
              <a:rPr spc="-122" dirty="0">
                <a:latin typeface="Corbel"/>
                <a:cs typeface="Corbel"/>
              </a:rPr>
              <a:t>r</a:t>
            </a:r>
            <a:r>
              <a:rPr spc="-8" dirty="0">
                <a:latin typeface="Corbel"/>
                <a:cs typeface="Corbel"/>
              </a:rPr>
              <a:t>‐</a:t>
            </a:r>
            <a:r>
              <a:rPr spc="-16" dirty="0">
                <a:latin typeface="Corbel"/>
                <a:cs typeface="Corbel"/>
              </a:rPr>
              <a:t>a</a:t>
            </a:r>
            <a:r>
              <a:rPr spc="-12" dirty="0">
                <a:latin typeface="Corbel"/>
                <a:cs typeface="Corbel"/>
              </a:rPr>
              <a:t>ppli</a:t>
            </a:r>
            <a:r>
              <a:rPr dirty="0">
                <a:latin typeface="Corbel"/>
                <a:cs typeface="Corbel"/>
              </a:rPr>
              <a:t>c</a:t>
            </a:r>
            <a:r>
              <a:rPr spc="-16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t</a:t>
            </a:r>
            <a:r>
              <a:rPr spc="-12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on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6" dirty="0">
                <a:latin typeface="Corbel"/>
                <a:cs typeface="Corbel"/>
              </a:rPr>
              <a:t>da</a:t>
            </a:r>
            <a:r>
              <a:rPr dirty="0">
                <a:latin typeface="Corbel"/>
                <a:cs typeface="Corbel"/>
              </a:rPr>
              <a:t>t</a:t>
            </a:r>
            <a:r>
              <a:rPr spc="-12" dirty="0">
                <a:latin typeface="Corbel"/>
                <a:cs typeface="Corbel"/>
              </a:rPr>
              <a:t>a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sh</a:t>
            </a:r>
            <a:r>
              <a:rPr spc="-16" dirty="0">
                <a:latin typeface="Corbel"/>
                <a:cs typeface="Corbel"/>
              </a:rPr>
              <a:t>a</a:t>
            </a:r>
            <a:r>
              <a:rPr spc="-8" dirty="0">
                <a:latin typeface="Corbel"/>
                <a:cs typeface="Corbel"/>
              </a:rPr>
              <a:t>ri</a:t>
            </a:r>
            <a:r>
              <a:rPr dirty="0">
                <a:latin typeface="Corbel"/>
                <a:cs typeface="Corbel"/>
              </a:rPr>
              <a:t>n</a:t>
            </a:r>
            <a:r>
              <a:rPr spc="-12" dirty="0">
                <a:latin typeface="Corbel"/>
                <a:cs typeface="Corbel"/>
              </a:rPr>
              <a:t>g</a:t>
            </a:r>
            <a:endParaRPr dirty="0">
              <a:latin typeface="Corbel"/>
              <a:cs typeface="Corbel"/>
            </a:endParaRPr>
          </a:p>
          <a:p>
            <a:pPr marL="270351" indent="-260033">
              <a:lnSpc>
                <a:spcPts val="2633"/>
              </a:lnSpc>
              <a:buSzPct val="80000"/>
              <a:buFont typeface="Wingdings 2"/>
              <a:buChar char=""/>
              <a:tabLst>
                <a:tab pos="270351" algn="l"/>
              </a:tabLst>
              <a:defRPr/>
            </a:pPr>
            <a:r>
              <a:rPr sz="2200" b="1" i="1" dirty="0">
                <a:latin typeface="Corbel"/>
                <a:cs typeface="Corbel"/>
              </a:rPr>
              <a:t>Act</a:t>
            </a:r>
            <a:r>
              <a:rPr sz="2200" b="1" i="1" spc="-8" dirty="0">
                <a:latin typeface="Corbel"/>
                <a:cs typeface="Corbel"/>
              </a:rPr>
              <a:t>ivity</a:t>
            </a:r>
            <a:r>
              <a:rPr sz="2200" b="1" i="1" spc="-122" dirty="0">
                <a:latin typeface="Times New Roman"/>
                <a:cs typeface="Times New Roman"/>
              </a:rPr>
              <a:t> </a:t>
            </a:r>
            <a:r>
              <a:rPr sz="2200" b="1" i="1" spc="-20" dirty="0">
                <a:latin typeface="Corbel"/>
                <a:cs typeface="Corbel"/>
              </a:rPr>
              <a:t>M</a:t>
            </a:r>
            <a:r>
              <a:rPr sz="2200" b="1" i="1" spc="-16" dirty="0">
                <a:latin typeface="Corbel"/>
                <a:cs typeface="Corbel"/>
              </a:rPr>
              <a:t>a</a:t>
            </a:r>
            <a:r>
              <a:rPr sz="2200" b="1" i="1" dirty="0">
                <a:latin typeface="Corbel"/>
                <a:cs typeface="Corbel"/>
              </a:rPr>
              <a:t>n</a:t>
            </a:r>
            <a:r>
              <a:rPr sz="2200" b="1" i="1" spc="-16" dirty="0">
                <a:latin typeface="Corbel"/>
                <a:cs typeface="Corbel"/>
              </a:rPr>
              <a:t>a</a:t>
            </a:r>
            <a:r>
              <a:rPr sz="2200" b="1" i="1" spc="-12" dirty="0">
                <a:latin typeface="Corbel"/>
                <a:cs typeface="Corbel"/>
              </a:rPr>
              <a:t>ger</a:t>
            </a:r>
            <a:endParaRPr sz="2200" b="1" i="1" dirty="0">
              <a:latin typeface="Corbel"/>
              <a:cs typeface="Corbel"/>
            </a:endParaRPr>
          </a:p>
          <a:p>
            <a:pPr marL="511810" lvl="1" indent="-222885">
              <a:spcBef>
                <a:spcPts val="4"/>
              </a:spcBef>
              <a:buSzPct val="90384"/>
              <a:buFont typeface="Wingdings"/>
              <a:buChar char=""/>
              <a:tabLst>
                <a:tab pos="511810" algn="l"/>
              </a:tabLst>
              <a:defRPr/>
            </a:pPr>
            <a:r>
              <a:rPr dirty="0">
                <a:latin typeface="Corbel"/>
                <a:cs typeface="Corbel"/>
              </a:rPr>
              <a:t>A</a:t>
            </a:r>
            <a:r>
              <a:rPr spc="-4" dirty="0">
                <a:latin typeface="Corbel"/>
                <a:cs typeface="Corbel"/>
              </a:rPr>
              <a:t>p</a:t>
            </a:r>
            <a:r>
              <a:rPr spc="-16" dirty="0">
                <a:latin typeface="Corbel"/>
                <a:cs typeface="Corbel"/>
              </a:rPr>
              <a:t>p</a:t>
            </a:r>
            <a:r>
              <a:rPr dirty="0">
                <a:latin typeface="Corbel"/>
                <a:cs typeface="Corbel"/>
              </a:rPr>
              <a:t>lic</a:t>
            </a:r>
            <a:r>
              <a:rPr spc="-4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tion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Corbel"/>
                <a:cs typeface="Corbel"/>
              </a:rPr>
              <a:t>lif</a:t>
            </a:r>
            <a:r>
              <a:rPr spc="-16" dirty="0">
                <a:latin typeface="Corbel"/>
                <a:cs typeface="Corbel"/>
              </a:rPr>
              <a:t>e</a:t>
            </a:r>
            <a:r>
              <a:rPr spc="-4" dirty="0">
                <a:latin typeface="Corbel"/>
                <a:cs typeface="Corbel"/>
              </a:rPr>
              <a:t>cycl</a:t>
            </a:r>
            <a:r>
              <a:rPr dirty="0">
                <a:latin typeface="Corbel"/>
                <a:cs typeface="Corbel"/>
              </a:rPr>
              <a:t>e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6" dirty="0">
                <a:latin typeface="Corbel"/>
                <a:cs typeface="Corbel"/>
              </a:rPr>
              <a:t>an</a:t>
            </a:r>
            <a:r>
              <a:rPr spc="-12" dirty="0">
                <a:latin typeface="Corbel"/>
                <a:cs typeface="Corbel"/>
              </a:rPr>
              <a:t>d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4" dirty="0">
                <a:latin typeface="Corbel"/>
                <a:cs typeface="Corbel"/>
              </a:rPr>
              <a:t>com</a:t>
            </a:r>
            <a:r>
              <a:rPr spc="-24" dirty="0">
                <a:latin typeface="Corbel"/>
                <a:cs typeface="Corbel"/>
              </a:rPr>
              <a:t>m</a:t>
            </a:r>
            <a:r>
              <a:rPr spc="-4" dirty="0">
                <a:latin typeface="Corbel"/>
                <a:cs typeface="Corbel"/>
              </a:rPr>
              <a:t>o</a:t>
            </a:r>
            <a:r>
              <a:rPr dirty="0">
                <a:latin typeface="Corbel"/>
                <a:cs typeface="Corbel"/>
              </a:rPr>
              <a:t>n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4" dirty="0">
                <a:latin typeface="Corbel"/>
                <a:cs typeface="Corbel"/>
              </a:rPr>
              <a:t>na</a:t>
            </a:r>
            <a:r>
              <a:rPr spc="-8" dirty="0">
                <a:latin typeface="Corbel"/>
                <a:cs typeface="Corbel"/>
              </a:rPr>
              <a:t>vi</a:t>
            </a:r>
            <a:r>
              <a:rPr spc="-16" dirty="0">
                <a:latin typeface="Corbel"/>
                <a:cs typeface="Corbel"/>
              </a:rPr>
              <a:t>ga</a:t>
            </a:r>
            <a:r>
              <a:rPr dirty="0">
                <a:latin typeface="Corbel"/>
                <a:cs typeface="Corbel"/>
              </a:rPr>
              <a:t>tion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st</a:t>
            </a:r>
            <a:r>
              <a:rPr spc="-4" dirty="0">
                <a:latin typeface="Corbel"/>
                <a:cs typeface="Corbel"/>
              </a:rPr>
              <a:t>ack</a:t>
            </a:r>
            <a:endParaRPr dirty="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5BF9-8480-76E7-C61C-7F6F8DD02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0A211E-8D1E-617C-EF0A-1FCE12F47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7444" y="159925"/>
            <a:ext cx="8229600" cy="490066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Components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59B9C95-5405-DBCD-824A-840EB5A6BD3A}"/>
              </a:ext>
            </a:extLst>
          </p:cNvPr>
          <p:cNvSpPr txBox="1">
            <a:spLocks/>
          </p:cNvSpPr>
          <p:nvPr/>
        </p:nvSpPr>
        <p:spPr bwMode="auto">
          <a:xfrm>
            <a:off x="0" y="1378540"/>
            <a:ext cx="8964488" cy="3850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tabLst>
                <a:tab pos="628650" algn="l"/>
              </a:tabLst>
            </a:pPr>
            <a:r>
              <a:rPr lang="en-US" altLang="en-US" dirty="0">
                <a:latin typeface="Georgia" panose="02040502050405020303" pitchFamily="18" charset="0"/>
                <a:ea typeface="MS PGothic" charset="-128"/>
                <a:cs typeface="Lucida Sans Unicode" charset="0"/>
              </a:rPr>
              <a:t>App comprises components that the system can instantiate and run as needed. Key component classes include:</a:t>
            </a:r>
          </a:p>
          <a:p>
            <a:pPr>
              <a:buSzPct val="80000"/>
              <a:tabLst>
                <a:tab pos="628650" algn="l"/>
              </a:tabLst>
            </a:pPr>
            <a:endParaRPr lang="en-US" altLang="en-US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  <a:p>
            <a:pPr marL="742950" lvl="2" indent="-342900">
              <a:lnSpc>
                <a:spcPct val="160000"/>
              </a:lnSpc>
              <a:buSzPct val="89000"/>
              <a:tabLst>
                <a:tab pos="628650" algn="l"/>
              </a:tabLst>
            </a:pPr>
            <a:r>
              <a:rPr lang="en-US" altLang="en-US" sz="2400" dirty="0">
                <a:latin typeface="Lucida Sans Unicode" charset="0"/>
                <a:ea typeface="MS PGothic" charset="-128"/>
                <a:cs typeface="Lucida Sans Unicode" charset="0"/>
              </a:rPr>
              <a:t>Activities</a:t>
            </a:r>
          </a:p>
          <a:p>
            <a:pPr marL="742950" lvl="2" indent="-342900">
              <a:lnSpc>
                <a:spcPct val="160000"/>
              </a:lnSpc>
              <a:buSzPct val="89000"/>
              <a:tabLst>
                <a:tab pos="628650" algn="l"/>
              </a:tabLst>
            </a:pPr>
            <a:r>
              <a:rPr lang="en-US" altLang="en-US" sz="2400" dirty="0">
                <a:latin typeface="Lucida Sans Unicode" charset="0"/>
                <a:ea typeface="MS PGothic" charset="-128"/>
                <a:cs typeface="Lucida Sans Unicode" charset="0"/>
              </a:rPr>
              <a:t>Intent</a:t>
            </a:r>
          </a:p>
          <a:p>
            <a:pPr marL="742950" lvl="2" indent="-342900">
              <a:lnSpc>
                <a:spcPct val="160000"/>
              </a:lnSpc>
              <a:buSzPct val="89000"/>
              <a:tabLst>
                <a:tab pos="628650" algn="l"/>
              </a:tabLst>
            </a:pPr>
            <a:r>
              <a:rPr lang="en-US" altLang="en-US" sz="2400" dirty="0">
                <a:latin typeface="Lucida Sans Unicode" charset="0"/>
                <a:ea typeface="MS PGothic" charset="-128"/>
                <a:cs typeface="Lucida Sans Unicode" charset="0"/>
              </a:rPr>
              <a:t>Services</a:t>
            </a:r>
          </a:p>
          <a:p>
            <a:pPr marL="742950" lvl="2" indent="-342900">
              <a:lnSpc>
                <a:spcPct val="160000"/>
              </a:lnSpc>
              <a:buSzPct val="89000"/>
              <a:tabLst>
                <a:tab pos="628650" algn="l"/>
              </a:tabLst>
            </a:pPr>
            <a:r>
              <a:rPr lang="en-US" altLang="en-US" sz="2400" dirty="0">
                <a:latin typeface="Lucida Sans Unicode" charset="0"/>
                <a:ea typeface="MS PGothic" charset="-128"/>
                <a:cs typeface="Lucida Sans Unicode" charset="0"/>
              </a:rPr>
              <a:t>Broadcast receivers</a:t>
            </a:r>
          </a:p>
          <a:p>
            <a:pPr marL="742950" lvl="2" indent="-342900">
              <a:lnSpc>
                <a:spcPct val="160000"/>
              </a:lnSpc>
              <a:buSzPct val="89000"/>
              <a:tabLst>
                <a:tab pos="628650" algn="l"/>
              </a:tabLst>
            </a:pPr>
            <a:r>
              <a:rPr lang="en-US" altLang="en-US" sz="2400" dirty="0">
                <a:latin typeface="Lucida Sans Unicode" charset="0"/>
                <a:ea typeface="MS PGothic" charset="-128"/>
                <a:cs typeface="Lucida Sans Unicode" charset="0"/>
              </a:rPr>
              <a:t>Content providers</a:t>
            </a:r>
          </a:p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endParaRPr lang="en-US" altLang="en-US" sz="1000" dirty="0">
              <a:latin typeface="Lucida Sans Unicode" charset="0"/>
              <a:ea typeface="MS PGothic" charset="-128"/>
              <a:cs typeface="Lucida Sans Unicode" charset="0"/>
            </a:endParaRPr>
          </a:p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endParaRPr lang="en-US" altLang="en-US" sz="1800" dirty="0">
              <a:latin typeface="Lucida Sans Unicode" charset="0"/>
              <a:ea typeface="MS PGothic" charset="-128"/>
              <a:cs typeface="Lucida Sans Unicode" charset="0"/>
            </a:endParaRPr>
          </a:p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endParaRPr lang="en-US" altLang="en-US" sz="1800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92E0F-9D29-CE12-9826-4556919B9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116" y="2233046"/>
            <a:ext cx="5328592" cy="368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44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54A4B-ADC0-FAE0-0E27-0AA404A686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754A70C-010E-B1EC-9C61-B4D41F934C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7444" y="159925"/>
            <a:ext cx="8229600" cy="490066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Components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8EDCB5-2287-2182-E3F8-17318643F9EF}"/>
              </a:ext>
            </a:extLst>
          </p:cNvPr>
          <p:cNvSpPr txBox="1">
            <a:spLocks/>
          </p:cNvSpPr>
          <p:nvPr/>
        </p:nvSpPr>
        <p:spPr bwMode="auto">
          <a:xfrm>
            <a:off x="89756" y="681556"/>
            <a:ext cx="8964488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endParaRPr lang="en-US" altLang="en-US" sz="1000" dirty="0">
              <a:latin typeface="Lucida Sans Unicode" charset="0"/>
              <a:ea typeface="MS PGothic" charset="-128"/>
              <a:cs typeface="Lucida Sans Unicode" charset="0"/>
            </a:endParaRPr>
          </a:p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endParaRPr lang="en-US" altLang="en-US" sz="1800" dirty="0">
              <a:latin typeface="Lucida Sans Unicode" charset="0"/>
              <a:ea typeface="MS PGothic" charset="-128"/>
              <a:cs typeface="Lucida Sans Unicode" charset="0"/>
            </a:endParaRPr>
          </a:p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endParaRPr lang="en-US" altLang="en-US" sz="1800" dirty="0">
              <a:latin typeface="Lucida Sans Unicode" charset="0"/>
              <a:ea typeface="MS PGothic" charset="-128"/>
              <a:cs typeface="Lucida Sans Unicode" charset="0"/>
            </a:endParaRPr>
          </a:p>
          <a:p>
            <a:pPr marL="0" indent="0">
              <a:lnSpc>
                <a:spcPct val="80000"/>
              </a:lnSpc>
              <a:buFont typeface="Arial" charset="0"/>
              <a:buNone/>
              <a:tabLst>
                <a:tab pos="628650" algn="l"/>
              </a:tabLst>
            </a:pPr>
            <a:r>
              <a:rPr lang="en-US" altLang="en-US" sz="2800" b="1" dirty="0">
                <a:solidFill>
                  <a:srgbClr val="0070C0"/>
                </a:solidFill>
                <a:latin typeface="Georgia" panose="02040502050405020303" pitchFamily="18" charset="0"/>
                <a:ea typeface="MS PGothic" charset="-128"/>
                <a:cs typeface="Lucida Sans Unicode" charset="0"/>
              </a:rPr>
              <a:t>Activities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A48C0C-FE0C-05D7-E2D2-BFA1261A0531}"/>
              </a:ext>
            </a:extLst>
          </p:cNvPr>
          <p:cNvSpPr txBox="1">
            <a:spLocks/>
          </p:cNvSpPr>
          <p:nvPr/>
        </p:nvSpPr>
        <p:spPr bwMode="auto">
          <a:xfrm>
            <a:off x="179512" y="2240868"/>
            <a:ext cx="972648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sz="2400" dirty="0">
                <a:latin typeface="Georgia" panose="02040502050405020303" pitchFamily="18" charset="0"/>
              </a:rPr>
              <a:t>An </a:t>
            </a:r>
            <a:r>
              <a:rPr lang="en-US" sz="2400" i="1" dirty="0">
                <a:latin typeface="Georgia" panose="02040502050405020303" pitchFamily="18" charset="0"/>
              </a:rPr>
              <a:t>activity</a:t>
            </a:r>
            <a:r>
              <a:rPr lang="en-US" sz="2400" dirty="0">
                <a:latin typeface="Georgia" panose="02040502050405020303" pitchFamily="18" charset="0"/>
              </a:rPr>
              <a:t> represents a single screen with a user interface. For example, an email app might have one activity that shows a list of new emails, another activity to compose an email, and another activity for reading emails.</a:t>
            </a:r>
          </a:p>
          <a:p>
            <a:pPr algn="just">
              <a:defRPr/>
            </a:pPr>
            <a:endParaRPr lang="en-US" sz="2400" dirty="0">
              <a:latin typeface="Georgia" panose="02040502050405020303" pitchFamily="18" charset="0"/>
            </a:endParaRPr>
          </a:p>
          <a:p>
            <a:pPr algn="just">
              <a:defRPr/>
            </a:pPr>
            <a:r>
              <a:rPr lang="en-US" sz="2400" dirty="0">
                <a:latin typeface="Georgia" panose="02040502050405020303" pitchFamily="18" charset="0"/>
              </a:rPr>
              <a:t>An activity is implemented as a subclass of </a:t>
            </a:r>
            <a:r>
              <a:rPr lang="en-US" sz="2400" b="1" i="1" dirty="0">
                <a:latin typeface="Georgia" panose="02040502050405020303" pitchFamily="18" charset="0"/>
              </a:rPr>
              <a:t>Activity</a:t>
            </a:r>
            <a:r>
              <a:rPr lang="en-US" sz="2400" dirty="0">
                <a:latin typeface="Georgia" panose="02040502050405020303" pitchFamily="18" charset="0"/>
              </a:rPr>
              <a:t> and we will have a whole lecture on Activities in the next session.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43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E2C5F-60DF-BB87-E1F2-CA229ED6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27B5C-0B26-2398-22F6-F340689B08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55FA11-3AFF-6776-7215-18FBC5E9C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7444" y="159925"/>
            <a:ext cx="8229600" cy="490066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Components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F65D3C-8412-EA6C-AD14-809D84CA5E96}"/>
              </a:ext>
            </a:extLst>
          </p:cNvPr>
          <p:cNvSpPr txBox="1">
            <a:spLocks/>
          </p:cNvSpPr>
          <p:nvPr/>
        </p:nvSpPr>
        <p:spPr bwMode="auto">
          <a:xfrm>
            <a:off x="121937" y="1282421"/>
            <a:ext cx="794462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8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Services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F56B68-CC4D-B3E4-9F9D-F138A9B7F379}"/>
              </a:ext>
            </a:extLst>
          </p:cNvPr>
          <p:cNvSpPr txBox="1">
            <a:spLocks/>
          </p:cNvSpPr>
          <p:nvPr/>
        </p:nvSpPr>
        <p:spPr bwMode="auto">
          <a:xfrm>
            <a:off x="121937" y="2016701"/>
            <a:ext cx="9662126" cy="355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A </a:t>
            </a:r>
            <a:r>
              <a:rPr lang="en-US" altLang="en-US" sz="2000" b="1" i="1" dirty="0">
                <a:latin typeface="Lucida Sans Unicode" charset="0"/>
                <a:ea typeface="MS PGothic" charset="-128"/>
                <a:cs typeface="Lucida Sans Unicode" charset="0"/>
              </a:rPr>
              <a:t>service</a:t>
            </a:r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 is a component that runs in the background to perform long-running operations or to perform work for remote processes.</a:t>
            </a:r>
            <a:endParaRPr lang="en-US" altLang="en-US" sz="1200" dirty="0">
              <a:latin typeface="Lucida Sans Unicode" charset="0"/>
              <a:ea typeface="MS PGothic" charset="-128"/>
              <a:cs typeface="Lucida Sans Unicode" charset="0"/>
            </a:endParaRPr>
          </a:p>
          <a:p>
            <a:pPr algn="just"/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A service does not provide a user interface. For example, a service might play music in the background while the user is in a different app, or it might fetch data over the network without blocking user interaction with an activity.</a:t>
            </a:r>
          </a:p>
          <a:p>
            <a:pPr algn="just"/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A service is implemented as a subclass of </a:t>
            </a:r>
            <a:r>
              <a:rPr lang="en-US" altLang="en-US" sz="2000" b="1" i="1" dirty="0">
                <a:latin typeface="Lucida Sans Unicode" charset="0"/>
                <a:ea typeface="MS PGothic" charset="-128"/>
                <a:cs typeface="Lucida Sans Unicode" charset="0"/>
              </a:rPr>
              <a:t>Service</a:t>
            </a:r>
            <a:r>
              <a:rPr lang="en-US" altLang="en-US" sz="2000" dirty="0">
                <a:latin typeface="Lucida Sans Unicode" charset="0"/>
                <a:ea typeface="MS PGothic" charset="-128"/>
                <a:cs typeface="Lucida Sans Unicode" charset="0"/>
              </a:rPr>
              <a:t> and you will learn about services during later sessions. </a:t>
            </a:r>
          </a:p>
          <a:p>
            <a:pPr marL="0" indent="0" algn="just">
              <a:buFont typeface="Arial" charset="0"/>
              <a:buNone/>
            </a:pPr>
            <a:endParaRPr lang="en-US" altLang="en-US" sz="1200" dirty="0">
              <a:latin typeface="Lucida Sans Unicode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9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D17E-1FBD-FF24-68B1-418421FC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65F27-3461-E97D-30BF-5A0B83265F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958DA7-57FF-6E38-F583-EF1EEDB65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908" y="254482"/>
            <a:ext cx="8229600" cy="490066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Mobile App Components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493FEB-2423-B383-73F3-20AC9D8EC351}"/>
              </a:ext>
            </a:extLst>
          </p:cNvPr>
          <p:cNvSpPr txBox="1">
            <a:spLocks/>
          </p:cNvSpPr>
          <p:nvPr/>
        </p:nvSpPr>
        <p:spPr bwMode="auto">
          <a:xfrm>
            <a:off x="128464" y="1268760"/>
            <a:ext cx="794462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8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Broadcast Receivers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63B606-5F10-9C32-4025-7C2E90BB95AC}"/>
              </a:ext>
            </a:extLst>
          </p:cNvPr>
          <p:cNvSpPr txBox="1">
            <a:spLocks/>
          </p:cNvSpPr>
          <p:nvPr/>
        </p:nvSpPr>
        <p:spPr bwMode="auto">
          <a:xfrm>
            <a:off x="128464" y="2149701"/>
            <a:ext cx="9644457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/>
              <a:t>A </a:t>
            </a:r>
            <a:r>
              <a:rPr lang="en-US" sz="2000" b="1" i="1" dirty="0"/>
              <a:t>broadcast receiver</a:t>
            </a:r>
            <a:r>
              <a:rPr lang="en-US" sz="2000" b="1" dirty="0"/>
              <a:t> </a:t>
            </a:r>
            <a:r>
              <a:rPr lang="en-US" sz="2000" dirty="0"/>
              <a:t>is a component that replies to system-wide broadcast announcements. </a:t>
            </a:r>
          </a:p>
          <a:p>
            <a:pPr>
              <a:defRPr/>
            </a:pPr>
            <a:r>
              <a:rPr lang="en-US" sz="2000" dirty="0"/>
              <a:t>Many broadcasts originate from the system—for example, a broadcast announcing that the screen has turned off, the battery is low, or a picture was captured. </a:t>
            </a:r>
          </a:p>
          <a:p>
            <a:pPr>
              <a:defRPr/>
            </a:pPr>
            <a:r>
              <a:rPr lang="en-US" sz="2000" dirty="0"/>
              <a:t>Apps can also initiate broadcasts—for example, to let other apps know that some data has been downloaded to the device and is available for them to use. </a:t>
            </a:r>
          </a:p>
        </p:txBody>
      </p:sp>
    </p:spTree>
    <p:extLst>
      <p:ext uri="{BB962C8B-B14F-4D97-AF65-F5344CB8AC3E}">
        <p14:creationId xmlns:p14="http://schemas.microsoft.com/office/powerpoint/2010/main" val="376172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310C-5925-77A7-166F-3AFF01F9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2B84E-C306-8595-D9CF-A1BEAAD34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FDA7B12-0E3F-B6FF-19A7-CA78D9AB3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96" y="1412775"/>
            <a:ext cx="7722948" cy="4909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08F879E-47B2-9B38-570B-5142C606A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" y="176208"/>
            <a:ext cx="8741060" cy="490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Summary Mobile App Components</a:t>
            </a:r>
          </a:p>
        </p:txBody>
      </p:sp>
    </p:spTree>
    <p:extLst>
      <p:ext uri="{BB962C8B-B14F-4D97-AF65-F5344CB8AC3E}">
        <p14:creationId xmlns:p14="http://schemas.microsoft.com/office/powerpoint/2010/main" val="2216471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B618-299B-AAEF-96A9-FBFD711C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9F0B5-C833-14C8-FB96-99E604AE5C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D2FBFC-63FF-F7BB-1896-6747A8C87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charset="0"/>
                <a:ea typeface="MS PGothic" charset="-128"/>
                <a:cs typeface="ＭＳ Ｐゴシック" charset="-128"/>
              </a:rPr>
              <a:t>There are other Components</a:t>
            </a:r>
            <a:endParaRPr lang="en-US" altLang="en-US" sz="36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A0DF76-A1DB-9ED1-5BE2-580BE1B21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447434"/>
              </p:ext>
            </p:extLst>
          </p:nvPr>
        </p:nvGraphicFramePr>
        <p:xfrm>
          <a:off x="488504" y="1700808"/>
          <a:ext cx="8753671" cy="4052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775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Components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When you will learn about them</a:t>
                      </a:r>
                    </a:p>
                  </a:txBody>
                  <a:tcPr marL="91442" marR="91442" marT="45716" marB="457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1" dirty="0">
                          <a:latin typeface="Georgia" panose="02040502050405020303" pitchFamily="18" charset="0"/>
                        </a:rPr>
                        <a:t>Views</a:t>
                      </a:r>
                      <a:r>
                        <a:rPr lang="en-US" sz="1600" dirty="0">
                          <a:latin typeface="Georgia" panose="02040502050405020303" pitchFamily="18" charset="0"/>
                        </a:rPr>
                        <a:t>	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orgia" panose="02040502050405020303" pitchFamily="18" charset="0"/>
                        </a:rPr>
                        <a:t>UI elements that are drawn onscreen including buttons, lists forms etc.	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eorgia" panose="02040502050405020303" pitchFamily="18" charset="0"/>
                        </a:rPr>
                        <a:t>Next</a:t>
                      </a:r>
                      <a:r>
                        <a:rPr lang="en-US" sz="1400" baseline="0" dirty="0">
                          <a:latin typeface="Georgia" panose="02040502050405020303" pitchFamily="18" charset="0"/>
                        </a:rPr>
                        <a:t> few sessions</a:t>
                      </a:r>
                      <a:endParaRPr lang="en-US" sz="1400" dirty="0">
                        <a:latin typeface="Georgia" panose="02040502050405020303" pitchFamily="18" charset="0"/>
                      </a:endParaRPr>
                    </a:p>
                  </a:txBody>
                  <a:tcPr marL="91442" marR="91442" marT="45716" marB="457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Georgia" panose="02040502050405020303" pitchFamily="18" charset="0"/>
                        </a:rPr>
                        <a:t>Layouts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orgia" panose="02040502050405020303" pitchFamily="18" charset="0"/>
                        </a:rPr>
                        <a:t>View hierarchies that control screen format and appearance of the views.	</a:t>
                      </a:r>
                    </a:p>
                  </a:txBody>
                  <a:tcPr marL="91442" marR="91442" marT="45716" marB="45716"/>
                </a:tc>
                <a:tc rowSpan="5">
                  <a:txBody>
                    <a:bodyPr/>
                    <a:lstStyle/>
                    <a:p>
                      <a:r>
                        <a:rPr lang="en-US" sz="1400" dirty="0">
                          <a:latin typeface="Georgia" panose="02040502050405020303" pitchFamily="18" charset="0"/>
                        </a:rPr>
                        <a:t>Next</a:t>
                      </a:r>
                      <a:r>
                        <a:rPr lang="en-US" sz="1400" baseline="0" dirty="0">
                          <a:latin typeface="Georgia" panose="02040502050405020303" pitchFamily="18" charset="0"/>
                        </a:rPr>
                        <a:t> slides (and other sessions)</a:t>
                      </a:r>
                      <a:endParaRPr lang="en-US" sz="1400" dirty="0">
                        <a:latin typeface="Georgia" panose="02040502050405020303" pitchFamily="18" charset="0"/>
                      </a:endParaRPr>
                    </a:p>
                  </a:txBody>
                  <a:tcPr marL="91442" marR="91442" marT="45716" marB="457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57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Georgia" panose="02040502050405020303" pitchFamily="18" charset="0"/>
                        </a:rPr>
                        <a:t>Resources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Georgia" panose="02040502050405020303" pitchFamily="18" charset="0"/>
                        </a:rPr>
                        <a:t>External elements, such as strings, constants and </a:t>
                      </a:r>
                      <a:r>
                        <a:rPr lang="en-US" sz="1400" dirty="0" err="1">
                          <a:latin typeface="Georgia" panose="02040502050405020303" pitchFamily="18" charset="0"/>
                        </a:rPr>
                        <a:t>drawables</a:t>
                      </a:r>
                      <a:r>
                        <a:rPr lang="en-US" sz="1400" dirty="0">
                          <a:latin typeface="Georgia" panose="02040502050405020303" pitchFamily="18" charset="0"/>
                        </a:rPr>
                        <a:t> pictures.	</a:t>
                      </a:r>
                    </a:p>
                  </a:txBody>
                  <a:tcPr marL="91442" marR="91442" marT="45716" marB="45716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073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Georgia" panose="02040502050405020303" pitchFamily="18" charset="0"/>
                        </a:rPr>
                        <a:t>Intents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eorgia" panose="02040502050405020303" pitchFamily="18" charset="0"/>
                        </a:rPr>
                        <a:t>Messages wiring components together.</a:t>
                      </a:r>
                    </a:p>
                  </a:txBody>
                  <a:tcPr marL="91442" marR="91442" marT="45716" marB="45716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Georgia" panose="02040502050405020303" pitchFamily="18" charset="0"/>
                        </a:rPr>
                        <a:t>Manifest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eorgia" panose="02040502050405020303" pitchFamily="18" charset="0"/>
                        </a:rPr>
                        <a:t>Manifest	Configuration file for the application.</a:t>
                      </a:r>
                    </a:p>
                  </a:txBody>
                  <a:tcPr marL="91442" marR="91442" marT="45716" marB="45716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9369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Georgia" panose="02040502050405020303" pitchFamily="18" charset="0"/>
                        </a:rPr>
                        <a:t>Fragments</a:t>
                      </a:r>
                      <a:r>
                        <a:rPr lang="en-US" sz="1600" dirty="0">
                          <a:latin typeface="Georgia" panose="02040502050405020303" pitchFamily="18" charset="0"/>
                        </a:rPr>
                        <a:t>	</a:t>
                      </a:r>
                    </a:p>
                  </a:txBody>
                  <a:tcPr marL="91442" marR="91442" marT="45716" marB="4571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eorgia" panose="02040502050405020303" pitchFamily="18" charset="0"/>
                        </a:rPr>
                        <a:t>Represents a behavior or a portion of user interface in an Activity.</a:t>
                      </a:r>
                    </a:p>
                  </a:txBody>
                  <a:tcPr marL="91442" marR="91442" marT="45716" marB="45716"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725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8C99-85B3-CBEA-43E7-FD44B263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9B25E-25BC-6ACA-F007-2CC3FFDF8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B0D72F3-0531-76A8-F668-46E884C3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Google Shape;293;p56">
            <a:extLst>
              <a:ext uri="{FF2B5EF4-FFF2-40B4-BE49-F238E27FC236}">
                <a16:creationId xmlns:a16="http://schemas.microsoft.com/office/drawing/2014/main" id="{B1AE388D-DBB4-0CB8-A90B-EB25718C97B5}"/>
              </a:ext>
            </a:extLst>
          </p:cNvPr>
          <p:cNvSpPr txBox="1">
            <a:spLocks/>
          </p:cNvSpPr>
          <p:nvPr/>
        </p:nvSpPr>
        <p:spPr bwMode="auto">
          <a:xfrm>
            <a:off x="2432720" y="1772816"/>
            <a:ext cx="5256584" cy="23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b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GB" dirty="0">
                <a:solidFill>
                  <a:schemeClr val="tx1"/>
                </a:solidFill>
              </a:rPr>
              <a:t>Activities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(high-level view)</a:t>
            </a:r>
          </a:p>
        </p:txBody>
      </p:sp>
    </p:spTree>
    <p:extLst>
      <p:ext uri="{BB962C8B-B14F-4D97-AF65-F5344CB8AC3E}">
        <p14:creationId xmlns:p14="http://schemas.microsoft.com/office/powerpoint/2010/main" val="375070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4961-E889-8B55-A079-F7B977BB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0D4D2-4D29-919A-CCC0-275BB94D8F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11</a:t>
            </a:fld>
            <a:endParaRPr lang="en"/>
          </a:p>
        </p:txBody>
      </p:sp>
      <p:sp>
        <p:nvSpPr>
          <p:cNvPr id="5" name="Google Shape;299;p57">
            <a:extLst>
              <a:ext uri="{FF2B5EF4-FFF2-40B4-BE49-F238E27FC236}">
                <a16:creationId xmlns:a16="http://schemas.microsoft.com/office/drawing/2014/main" id="{37B67CAD-BC15-9A2A-59FF-D4F95AD6D3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4353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an Activity?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301;p57">
            <a:extLst>
              <a:ext uri="{FF2B5EF4-FFF2-40B4-BE49-F238E27FC236}">
                <a16:creationId xmlns:a16="http://schemas.microsoft.com/office/drawing/2014/main" id="{591D2E53-571A-0A60-BE96-2E773CE02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0575" y="1844824"/>
            <a:ext cx="951234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is an application component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Represents one window, one hierarchy of views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Typically fills the screen, but can be embedded in other Activity or a appear as floating window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Java class, typically one Activity in one file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335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4A5AC-96FB-DF9C-7D61-8D59EB40A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CA50A-F974-DE80-E4F7-69DD50CD62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12</a:t>
            </a:fld>
            <a:endParaRPr lang="en"/>
          </a:p>
        </p:txBody>
      </p:sp>
      <p:sp>
        <p:nvSpPr>
          <p:cNvPr id="5" name="Google Shape;306;p58">
            <a:extLst>
              <a:ext uri="{FF2B5EF4-FFF2-40B4-BE49-F238E27FC236}">
                <a16:creationId xmlns:a16="http://schemas.microsoft.com/office/drawing/2014/main" id="{BA99682E-EA66-D2B9-898D-A16BF29201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an Activity do?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308;p58">
            <a:extLst>
              <a:ext uri="{FF2B5EF4-FFF2-40B4-BE49-F238E27FC236}">
                <a16:creationId xmlns:a16="http://schemas.microsoft.com/office/drawing/2014/main" id="{3A31B883-09BD-CBAF-8B6E-461B732EB8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" y="1988840"/>
            <a:ext cx="977292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Represents an activity, such as ordering groceries, sending email, or getting directions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Handles user interactions, such as button clicks, text entry, or login verification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Can start other activities in the same or other apps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Has a life cycle—is created, started, runs, is paused, resumed, stopped, and destroyed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6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DAB4-F715-904F-6B7C-DE928BBD9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CB7EA-34FD-0421-F596-5DD5293519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sp>
        <p:nvSpPr>
          <p:cNvPr id="5" name="Google Shape;313;p59">
            <a:extLst>
              <a:ext uri="{FF2B5EF4-FFF2-40B4-BE49-F238E27FC236}">
                <a16:creationId xmlns:a16="http://schemas.microsoft.com/office/drawing/2014/main" id="{8869F3F1-3E4A-ABF2-1D7F-ED98F9D71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Examples of activities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Google Shape;315;p59">
            <a:extLst>
              <a:ext uri="{FF2B5EF4-FFF2-40B4-BE49-F238E27FC236}">
                <a16:creationId xmlns:a16="http://schemas.microsoft.com/office/drawing/2014/main" id="{64AA1198-DC6B-D630-CAE9-67828AEC0BA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3606" b="7788"/>
          <a:stretch/>
        </p:blipFill>
        <p:spPr>
          <a:xfrm>
            <a:off x="7260098" y="2204864"/>
            <a:ext cx="1960200" cy="3087864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316;p59">
            <a:extLst>
              <a:ext uri="{FF2B5EF4-FFF2-40B4-BE49-F238E27FC236}">
                <a16:creationId xmlns:a16="http://schemas.microsoft.com/office/drawing/2014/main" id="{49EF7CE3-047F-23BC-10C8-A2E8C00197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810" b="8176"/>
          <a:stretch/>
        </p:blipFill>
        <p:spPr>
          <a:xfrm>
            <a:off x="2386578" y="2160490"/>
            <a:ext cx="1960224" cy="3067027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317;p59">
            <a:extLst>
              <a:ext uri="{FF2B5EF4-FFF2-40B4-BE49-F238E27FC236}">
                <a16:creationId xmlns:a16="http://schemas.microsoft.com/office/drawing/2014/main" id="{BAEA36B0-0742-DEAD-43F2-B3AEB89A503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3810" b="8176"/>
          <a:stretch/>
        </p:blipFill>
        <p:spPr>
          <a:xfrm>
            <a:off x="104868" y="2147797"/>
            <a:ext cx="1960224" cy="306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8;p59">
            <a:extLst>
              <a:ext uri="{FF2B5EF4-FFF2-40B4-BE49-F238E27FC236}">
                <a16:creationId xmlns:a16="http://schemas.microsoft.com/office/drawing/2014/main" id="{5C93220E-6A4B-A207-72F4-008E20E969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3810" b="8176"/>
          <a:stretch/>
        </p:blipFill>
        <p:spPr>
          <a:xfrm>
            <a:off x="4700568" y="2180778"/>
            <a:ext cx="1960224" cy="3067027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781916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A2DD-5738-2552-4F4A-6C057186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D197-C5AE-0D50-B8AC-7ABD2920A7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/>
          </a:p>
        </p:txBody>
      </p:sp>
      <p:sp>
        <p:nvSpPr>
          <p:cNvPr id="5" name="Google Shape;325;p60">
            <a:extLst>
              <a:ext uri="{FF2B5EF4-FFF2-40B4-BE49-F238E27FC236}">
                <a16:creationId xmlns:a16="http://schemas.microsoft.com/office/drawing/2014/main" id="{A20B3CE7-4886-B859-4229-FCBD81AB1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Apps and activities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327;p60">
            <a:extLst>
              <a:ext uri="{FF2B5EF4-FFF2-40B4-BE49-F238E27FC236}">
                <a16:creationId xmlns:a16="http://schemas.microsoft.com/office/drawing/2014/main" id="{E1AD7100-8767-FA47-3B63-DE6EF340E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844824"/>
            <a:ext cx="939382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Activities are loosely tied together to make up an app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First Activity user sees is typically called "main activity"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Activities can be organized in parent-child relationships in the Android manifest  to aid navigation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06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1D07-D0DB-0052-4863-8830B5F3E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A5318-112C-AC55-1163-6B2D26E82C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/>
          </a:p>
        </p:txBody>
      </p:sp>
      <p:sp>
        <p:nvSpPr>
          <p:cNvPr id="5" name="Google Shape;332;p61">
            <a:extLst>
              <a:ext uri="{FF2B5EF4-FFF2-40B4-BE49-F238E27FC236}">
                <a16:creationId xmlns:a16="http://schemas.microsoft.com/office/drawing/2014/main" id="{C5BB66D9-7A14-7E3A-9E52-70FB7D56A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Layouts and Activities</a:t>
            </a:r>
            <a:endParaRPr dirty="0"/>
          </a:p>
        </p:txBody>
      </p:sp>
      <p:sp>
        <p:nvSpPr>
          <p:cNvPr id="6" name="Google Shape;333;p61">
            <a:extLst>
              <a:ext uri="{FF2B5EF4-FFF2-40B4-BE49-F238E27FC236}">
                <a16:creationId xmlns:a16="http://schemas.microsoft.com/office/drawing/2014/main" id="{533B1577-41BF-6FEC-49F4-D8D890A67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84482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typically has a UI layout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Layout is usually defined in one or more XML files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"inflates" layout as part of being created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7410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272F2-1D51-2803-E8C0-B54C1749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5412B-417C-8A4D-8771-5D7B6AA1B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16</a:t>
            </a:fld>
            <a:endParaRPr lang="en"/>
          </a:p>
        </p:txBody>
      </p:sp>
      <p:sp>
        <p:nvSpPr>
          <p:cNvPr id="5" name="Google Shape;345;p63">
            <a:extLst>
              <a:ext uri="{FF2B5EF4-FFF2-40B4-BE49-F238E27FC236}">
                <a16:creationId xmlns:a16="http://schemas.microsoft.com/office/drawing/2014/main" id="{BE3B096B-03DE-4CC8-4A9B-1036CF614D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new activities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347;p63">
            <a:extLst>
              <a:ext uri="{FF2B5EF4-FFF2-40B4-BE49-F238E27FC236}">
                <a16:creationId xmlns:a16="http://schemas.microsoft.com/office/drawing/2014/main" id="{816980F6-D644-D321-C457-876A5C55F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720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Define layout in XML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Define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Java class 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b="1" dirty="0"/>
              <a:t>extends </a:t>
            </a: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Connect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with Layout </a:t>
            </a:r>
            <a:endParaRPr dirty="0"/>
          </a:p>
          <a:p>
            <a:pPr marL="914400" lvl="1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dirty="0"/>
              <a:t>Set content view in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onCreate()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Declare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in the Android manifest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393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FDAC-6B26-E232-6F51-5925DC85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C1502-E6B2-FF2D-FE34-E5176946FE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17</a:t>
            </a:fld>
            <a:endParaRPr lang="en"/>
          </a:p>
        </p:txBody>
      </p:sp>
      <p:sp>
        <p:nvSpPr>
          <p:cNvPr id="5" name="Google Shape;352;p64">
            <a:extLst>
              <a:ext uri="{FF2B5EF4-FFF2-40B4-BE49-F238E27FC236}">
                <a16:creationId xmlns:a16="http://schemas.microsoft.com/office/drawing/2014/main" id="{452E65B7-6005-1676-7A36-04F4810855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" dirty="0"/>
              <a:t>Define layout in XML</a:t>
            </a:r>
            <a:endParaRPr dirty="0"/>
          </a:p>
        </p:txBody>
      </p:sp>
      <p:sp>
        <p:nvSpPr>
          <p:cNvPr id="6" name="Google Shape;353;p64">
            <a:extLst>
              <a:ext uri="{FF2B5EF4-FFF2-40B4-BE49-F238E27FC236}">
                <a16:creationId xmlns:a16="http://schemas.microsoft.com/office/drawing/2014/main" id="{1851907E-C8CD-C15F-39BB-80D154E25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556792"/>
            <a:ext cx="9244044" cy="39604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i="1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"1.0" 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encoding=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" sz="2000" i="1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?&gt;</a:t>
            </a:r>
            <a:endParaRPr sz="2000" i="1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2000" b="1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 </a:t>
            </a:r>
            <a:endParaRPr sz="2000" b="1" dirty="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xmlns:</a:t>
            </a:r>
            <a:r>
              <a:rPr lang="en" sz="2000" b="1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endParaRPr sz="2000" b="1"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 b="1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sz="2000" b="1"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 b="1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&lt;</a:t>
            </a:r>
            <a:r>
              <a:rPr lang="en" sz="2000" b="1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sz="2000" b="1" dirty="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 b="1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sz="2000" b="1"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 b="1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"wrap_content"</a:t>
            </a:r>
            <a:endParaRPr sz="2000" b="1"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000" b="1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sz="20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:text=</a:t>
            </a:r>
            <a:r>
              <a:rPr lang="en" sz="2000" b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"Let's Shop for Food!" </a:t>
            </a: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000"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" sz="2000" b="1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 sz="2000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78516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66488-BE91-7AAA-E432-AD5423384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D3B9E-8230-4F54-3951-4BA1869B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18</a:t>
            </a:fld>
            <a:endParaRPr lang="en"/>
          </a:p>
        </p:txBody>
      </p:sp>
      <p:sp>
        <p:nvSpPr>
          <p:cNvPr id="5" name="Google Shape;359;p65">
            <a:extLst>
              <a:ext uri="{FF2B5EF4-FFF2-40B4-BE49-F238E27FC236}">
                <a16:creationId xmlns:a16="http://schemas.microsoft.com/office/drawing/2014/main" id="{7385460C-30F3-45F2-A9C3-B0B338E13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480" y="3633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Define Activity Java class</a:t>
            </a:r>
            <a:endParaRPr dirty="0"/>
          </a:p>
        </p:txBody>
      </p:sp>
      <p:sp>
        <p:nvSpPr>
          <p:cNvPr id="6" name="Google Shape;360;p65">
            <a:extLst>
              <a:ext uri="{FF2B5EF4-FFF2-40B4-BE49-F238E27FC236}">
                <a16:creationId xmlns:a16="http://schemas.microsoft.com/office/drawing/2014/main" id="{1030DC96-9398-2BC4-2629-B04904629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2479" y="1720800"/>
            <a:ext cx="950044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public class </a:t>
            </a:r>
            <a:r>
              <a:rPr lang="en" i="1" dirty="0"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extends AppCompatActivity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1864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B80C-2271-D81F-D21C-304275DF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93E98-B51D-6A23-0204-BECD0A8D11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19</a:t>
            </a:fld>
            <a:endParaRPr lang="en"/>
          </a:p>
        </p:txBody>
      </p:sp>
      <p:sp>
        <p:nvSpPr>
          <p:cNvPr id="5" name="Google Shape;366;p66">
            <a:extLst>
              <a:ext uri="{FF2B5EF4-FFF2-40B4-BE49-F238E27FC236}">
                <a16:creationId xmlns:a16="http://schemas.microsoft.com/office/drawing/2014/main" id="{4C18FFF6-C206-3247-41A9-4D15889E5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472" y="3633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3. Connect activity with layout</a:t>
            </a:r>
            <a:endParaRPr dirty="0"/>
          </a:p>
        </p:txBody>
      </p:sp>
      <p:sp>
        <p:nvSpPr>
          <p:cNvPr id="6" name="Google Shape;367;p66">
            <a:extLst>
              <a:ext uri="{FF2B5EF4-FFF2-40B4-BE49-F238E27FC236}">
                <a16:creationId xmlns:a16="http://schemas.microsoft.com/office/drawing/2014/main" id="{E610F686-C331-6049-4FE8-68D966CC8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720800"/>
            <a:ext cx="907300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public class MainActivity extends AppCompatActivity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protected void onCreate(Bundle savedInstanceState)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super.onCreate(savedInstanceState);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200" b="1" dirty="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setContentView(R.layout.activity_main);</a:t>
            </a:r>
            <a:endParaRPr sz="2200" b="1" dirty="0">
              <a:solidFill>
                <a:srgbClr val="99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69;p66">
            <a:extLst>
              <a:ext uri="{FF2B5EF4-FFF2-40B4-BE49-F238E27FC236}">
                <a16:creationId xmlns:a16="http://schemas.microsoft.com/office/drawing/2014/main" id="{9DF0352D-1EA2-EB1B-5FCB-898DCCF11A9E}"/>
              </a:ext>
            </a:extLst>
          </p:cNvPr>
          <p:cNvSpPr txBox="1"/>
          <p:nvPr/>
        </p:nvSpPr>
        <p:spPr>
          <a:xfrm>
            <a:off x="4953000" y="4797152"/>
            <a:ext cx="20679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 this XML file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Google Shape;370;p66">
            <a:extLst>
              <a:ext uri="{FF2B5EF4-FFF2-40B4-BE49-F238E27FC236}">
                <a16:creationId xmlns:a16="http://schemas.microsoft.com/office/drawing/2014/main" id="{C54C7712-C29E-463A-F2BB-CF5AD0C110FF}"/>
              </a:ext>
            </a:extLst>
          </p:cNvPr>
          <p:cNvSpPr txBox="1"/>
          <p:nvPr/>
        </p:nvSpPr>
        <p:spPr>
          <a:xfrm>
            <a:off x="3970125" y="4797152"/>
            <a:ext cx="12078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is layout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371;p66">
            <a:extLst>
              <a:ext uri="{FF2B5EF4-FFF2-40B4-BE49-F238E27FC236}">
                <a16:creationId xmlns:a16="http://schemas.microsoft.com/office/drawing/2014/main" id="{720F9408-0915-9C56-B51F-2BE0510A9239}"/>
              </a:ext>
            </a:extLst>
          </p:cNvPr>
          <p:cNvSpPr txBox="1"/>
          <p:nvPr/>
        </p:nvSpPr>
        <p:spPr>
          <a:xfrm>
            <a:off x="2822400" y="4797152"/>
            <a:ext cx="1342200" cy="4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Roboto"/>
                <a:ea typeface="Roboto"/>
                <a:cs typeface="Roboto"/>
                <a:sym typeface="Roboto"/>
              </a:rPr>
              <a:t>Resource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372;p66">
            <a:extLst>
              <a:ext uri="{FF2B5EF4-FFF2-40B4-BE49-F238E27FC236}">
                <a16:creationId xmlns:a16="http://schemas.microsoft.com/office/drawing/2014/main" id="{FE5E90F9-D018-A6AC-C16C-B8E1417637AC}"/>
              </a:ext>
            </a:extLst>
          </p:cNvPr>
          <p:cNvSpPr/>
          <p:nvPr/>
        </p:nvSpPr>
        <p:spPr>
          <a:xfrm>
            <a:off x="3614400" y="4629477"/>
            <a:ext cx="97875" cy="293650"/>
          </a:xfrm>
          <a:custGeom>
            <a:avLst/>
            <a:gdLst/>
            <a:ahLst/>
            <a:cxnLst/>
            <a:rect l="l" t="t" r="r" b="b"/>
            <a:pathLst>
              <a:path w="3915" h="11746" extrusionOk="0">
                <a:moveTo>
                  <a:pt x="0" y="11746"/>
                </a:moveTo>
                <a:cubicBezTo>
                  <a:pt x="2047" y="8163"/>
                  <a:pt x="3915" y="4127"/>
                  <a:pt x="3915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1" name="Google Shape;373;p66">
            <a:extLst>
              <a:ext uri="{FF2B5EF4-FFF2-40B4-BE49-F238E27FC236}">
                <a16:creationId xmlns:a16="http://schemas.microsoft.com/office/drawing/2014/main" id="{6A53946C-82B1-5BE9-3121-F2BD593F656B}"/>
              </a:ext>
            </a:extLst>
          </p:cNvPr>
          <p:cNvSpPr/>
          <p:nvPr/>
        </p:nvSpPr>
        <p:spPr>
          <a:xfrm>
            <a:off x="4511675" y="4621327"/>
            <a:ext cx="16300" cy="269175"/>
          </a:xfrm>
          <a:custGeom>
            <a:avLst/>
            <a:gdLst/>
            <a:ahLst/>
            <a:cxnLst/>
            <a:rect l="l" t="t" r="r" b="b"/>
            <a:pathLst>
              <a:path w="652" h="10767" extrusionOk="0">
                <a:moveTo>
                  <a:pt x="652" y="10767"/>
                </a:moveTo>
                <a:cubicBezTo>
                  <a:pt x="61" y="7220"/>
                  <a:pt x="0" y="3596"/>
                  <a:pt x="0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374;p66">
            <a:extLst>
              <a:ext uri="{FF2B5EF4-FFF2-40B4-BE49-F238E27FC236}">
                <a16:creationId xmlns:a16="http://schemas.microsoft.com/office/drawing/2014/main" id="{02F60FBC-8B3D-4C86-161B-F1667CC653FD}"/>
              </a:ext>
            </a:extLst>
          </p:cNvPr>
          <p:cNvSpPr/>
          <p:nvPr/>
        </p:nvSpPr>
        <p:spPr>
          <a:xfrm>
            <a:off x="5645475" y="4588702"/>
            <a:ext cx="326300" cy="285475"/>
          </a:xfrm>
          <a:custGeom>
            <a:avLst/>
            <a:gdLst/>
            <a:ahLst/>
            <a:cxnLst/>
            <a:rect l="l" t="t" r="r" b="b"/>
            <a:pathLst>
              <a:path w="13052" h="11419" extrusionOk="0">
                <a:moveTo>
                  <a:pt x="0" y="11419"/>
                </a:moveTo>
                <a:cubicBezTo>
                  <a:pt x="2586" y="6249"/>
                  <a:pt x="11221" y="5483"/>
                  <a:pt x="13052" y="0"/>
                </a:cubicBezTo>
              </a:path>
            </a:pathLst>
          </a:cu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764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ED93-9F9C-01FC-FD4F-C7C1F1DF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2D9FA-05BB-E3E8-BF98-F5AC1D2E04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20</a:t>
            </a:fld>
            <a:endParaRPr lang="en"/>
          </a:p>
        </p:txBody>
      </p:sp>
      <p:sp>
        <p:nvSpPr>
          <p:cNvPr id="5" name="Google Shape;379;p67">
            <a:extLst>
              <a:ext uri="{FF2B5EF4-FFF2-40B4-BE49-F238E27FC236}">
                <a16:creationId xmlns:a16="http://schemas.microsoft.com/office/drawing/2014/main" id="{E0309B83-F015-19CE-6E99-F675D898E1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70820"/>
            <a:ext cx="946122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 Declare activity in Android manifest</a:t>
            </a:r>
            <a:endParaRPr dirty="0"/>
          </a:p>
        </p:txBody>
      </p:sp>
      <p:sp>
        <p:nvSpPr>
          <p:cNvPr id="9" name="Google Shape;387;p68">
            <a:extLst>
              <a:ext uri="{FF2B5EF4-FFF2-40B4-BE49-F238E27FC236}">
                <a16:creationId xmlns:a16="http://schemas.microsoft.com/office/drawing/2014/main" id="{8F70DBBA-0A8B-17BC-1231-8FAC2E48C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484784"/>
            <a:ext cx="9705528" cy="3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en" dirty="0"/>
              <a:t> needs to include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intent-filter</a:t>
            </a:r>
            <a:r>
              <a:rPr lang="en" dirty="0"/>
              <a:t> to start from launcher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&lt;activity android:name=".MainActivity"&gt;</a:t>
            </a:r>
            <a:endParaRPr sz="2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       &lt;action android:name="android.intent.action.MAIN" /&gt;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       &lt;category     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          android:name="android.intent.category.LAUNCHER" /&gt;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   &lt;/intent-filter&gt;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2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38822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939E-D808-A79D-48D4-1714B160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8A85A-ECE5-90F6-BF7F-EB3EA05D1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21</a:t>
            </a:fld>
            <a:endParaRPr lang="en"/>
          </a:p>
        </p:txBody>
      </p:sp>
      <p:sp>
        <p:nvSpPr>
          <p:cNvPr id="5" name="Google Shape;367;p71">
            <a:extLst>
              <a:ext uri="{FF2B5EF4-FFF2-40B4-BE49-F238E27FC236}">
                <a16:creationId xmlns:a16="http://schemas.microsoft.com/office/drawing/2014/main" id="{38D16E87-1BF8-BCEE-D65E-9CA2ECEA0A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Activity lifecycle and state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15876-0302-7AFD-692A-37C1FE80FFE4}"/>
              </a:ext>
            </a:extLst>
          </p:cNvPr>
          <p:cNvSpPr/>
          <p:nvPr/>
        </p:nvSpPr>
        <p:spPr>
          <a:xfrm>
            <a:off x="-24274" y="1570106"/>
            <a:ext cx="10017833" cy="1572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set of states an Activity can be in during its lifetime, from when it is created until it is destroyed </a:t>
            </a:r>
          </a:p>
          <a:p>
            <a:pPr>
              <a:lnSpc>
                <a:spcPct val="150000"/>
              </a:lnSpc>
            </a:pPr>
            <a:r>
              <a:rPr lang="en-GB" b="1" dirty="0"/>
              <a:t>More formally: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 A directed graph of all the states an Activity can be in, and the callbacks associated with transitioning from each state to the next one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2995B58C-DCB4-841D-A22D-56C529C21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560" y="3616521"/>
            <a:ext cx="6768752" cy="226835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endParaRPr lang="en-US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5CE941-D8CF-06B8-E79C-171E6DD8C1FC}"/>
              </a:ext>
            </a:extLst>
          </p:cNvPr>
          <p:cNvSpPr/>
          <p:nvPr/>
        </p:nvSpPr>
        <p:spPr>
          <a:xfrm>
            <a:off x="725837" y="6052923"/>
            <a:ext cx="754058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1A1A1A"/>
                </a:solidFill>
                <a:latin typeface="ArialMT" charset="0"/>
              </a:rPr>
              <a:t>Phillips, Bill, and Brian Hardy. </a:t>
            </a:r>
            <a:r>
              <a:rPr lang="en-US" sz="1100" i="1" dirty="0">
                <a:solidFill>
                  <a:srgbClr val="1A1A1A"/>
                </a:solidFill>
                <a:latin typeface="ArialMT" charset="0"/>
              </a:rPr>
              <a:t>Android Programming: The Big Nerd Ranch Guide</a:t>
            </a:r>
            <a:r>
              <a:rPr lang="en-US" sz="1100" dirty="0">
                <a:solidFill>
                  <a:srgbClr val="1A1A1A"/>
                </a:solidFill>
                <a:latin typeface="ArialMT" charset="0"/>
              </a:rPr>
              <a:t>. Pearson Education, 2013.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003720-0C74-F22B-75F1-A2736038011A}"/>
              </a:ext>
            </a:extLst>
          </p:cNvPr>
          <p:cNvSpPr/>
          <p:nvPr/>
        </p:nvSpPr>
        <p:spPr>
          <a:xfrm>
            <a:off x="200472" y="3347831"/>
            <a:ext cx="1452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Georgia" charset="0"/>
                <a:ea typeface="MS PGothic" charset="-128"/>
                <a:cs typeface="ＭＳ Ｐゴシック" charset="-128"/>
              </a:rPr>
              <a:t>Task Stack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31790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B40E-C886-F24A-CB4A-5D9913EB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5D406-0CDD-40D0-3737-36C4AE35E2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B89DE1-1D40-F58B-720A-21486120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37" y="260648"/>
            <a:ext cx="9568325" cy="763600"/>
          </a:xfrm>
        </p:spPr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Activity states and Mobile app visibility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D1480B-CA66-A298-2ACB-8DC855D55C1B}"/>
              </a:ext>
            </a:extLst>
          </p:cNvPr>
          <p:cNvSpPr/>
          <p:nvPr/>
        </p:nvSpPr>
        <p:spPr>
          <a:xfrm>
            <a:off x="69992" y="1484784"/>
            <a:ext cx="983600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Created (not visible yet)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Started (visible)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Resume (visible)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Paused(partially invisible)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Stopped (hidden)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/>
              <a:t> Destroyed (gone from memory) </a:t>
            </a:r>
          </a:p>
          <a:p>
            <a:r>
              <a:rPr lang="en-GB" dirty="0"/>
              <a:t>State changes are triggered by user action, configuration changes such as device rotation, or system action</a:t>
            </a:r>
          </a:p>
        </p:txBody>
      </p:sp>
    </p:spTree>
    <p:extLst>
      <p:ext uri="{BB962C8B-B14F-4D97-AF65-F5344CB8AC3E}">
        <p14:creationId xmlns:p14="http://schemas.microsoft.com/office/powerpoint/2010/main" val="2496856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B320-3BC2-CA83-0F24-1FABEA1D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68D50-8BE2-71E4-1C34-989E76997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D253A-9E5E-1648-CED8-A18F5EACD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Callbacks and when they are called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233B7B-6883-568D-4EAD-B0E61DBB5872}"/>
              </a:ext>
            </a:extLst>
          </p:cNvPr>
          <p:cNvSpPr/>
          <p:nvPr/>
        </p:nvSpPr>
        <p:spPr>
          <a:xfrm>
            <a:off x="0" y="1760862"/>
            <a:ext cx="6192689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 err="1"/>
              <a:t>onCreate</a:t>
            </a:r>
            <a:r>
              <a:rPr lang="en-GB" b="1" dirty="0"/>
              <a:t>(Bundle </a:t>
            </a:r>
            <a:r>
              <a:rPr lang="en-GB" b="1" dirty="0" err="1"/>
              <a:t>savedInstanceState</a:t>
            </a:r>
            <a:r>
              <a:rPr lang="en-GB" b="1" dirty="0"/>
              <a:t>)  </a:t>
            </a:r>
            <a:r>
              <a:rPr lang="en-GB" dirty="0"/>
              <a:t>- </a:t>
            </a:r>
            <a:r>
              <a:rPr lang="en-GB" i="1" dirty="0"/>
              <a:t>static initialization 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onStart</a:t>
            </a:r>
            <a:r>
              <a:rPr lang="en-GB" b="1" dirty="0"/>
              <a:t>()</a:t>
            </a:r>
            <a:r>
              <a:rPr lang="en-GB" dirty="0"/>
              <a:t>       </a:t>
            </a:r>
            <a:r>
              <a:rPr lang="en-GB" i="1" dirty="0"/>
              <a:t>- when Activity (screen) is becoming visible 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onRestart</a:t>
            </a:r>
            <a:r>
              <a:rPr lang="en-GB" b="1" dirty="0"/>
              <a:t>()   </a:t>
            </a:r>
            <a:r>
              <a:rPr lang="en-GB" i="1" dirty="0"/>
              <a:t>- called if Activity was stopped (calls </a:t>
            </a:r>
            <a:r>
              <a:rPr lang="en-GB" i="1" dirty="0" err="1"/>
              <a:t>onStart</a:t>
            </a:r>
            <a:r>
              <a:rPr lang="en-GB" i="1" dirty="0"/>
              <a:t>())</a:t>
            </a:r>
          </a:p>
          <a:p>
            <a:pPr>
              <a:lnSpc>
                <a:spcPct val="150000"/>
              </a:lnSpc>
            </a:pPr>
            <a:r>
              <a:rPr lang="en-GB" dirty="0"/>
              <a:t> </a:t>
            </a:r>
            <a:r>
              <a:rPr lang="en-GB" b="1" dirty="0" err="1"/>
              <a:t>onResume</a:t>
            </a:r>
            <a:r>
              <a:rPr lang="en-GB" b="1" dirty="0"/>
              <a:t>()        </a:t>
            </a:r>
            <a:r>
              <a:rPr lang="en-GB" dirty="0"/>
              <a:t> </a:t>
            </a:r>
            <a:r>
              <a:rPr lang="en-GB" i="1" dirty="0"/>
              <a:t>- start to interact with user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onPause</a:t>
            </a:r>
            <a:r>
              <a:rPr lang="en-GB" b="1" dirty="0"/>
              <a:t>()</a:t>
            </a:r>
            <a:r>
              <a:rPr lang="en-GB" dirty="0"/>
              <a:t>             </a:t>
            </a:r>
            <a:r>
              <a:rPr lang="en-GB" i="1" dirty="0"/>
              <a:t>- about to resume PREVIOUS Activity </a:t>
            </a:r>
          </a:p>
          <a:p>
            <a:pPr>
              <a:lnSpc>
                <a:spcPct val="150000"/>
              </a:lnSpc>
            </a:pPr>
            <a:r>
              <a:rPr lang="en-GB" dirty="0"/>
              <a:t> </a:t>
            </a:r>
            <a:r>
              <a:rPr lang="en-GB" b="1" dirty="0" err="1"/>
              <a:t>onStop</a:t>
            </a:r>
            <a:r>
              <a:rPr lang="en-GB" b="1" dirty="0"/>
              <a:t>()          </a:t>
            </a:r>
            <a:r>
              <a:rPr lang="en-GB" i="1" dirty="0"/>
              <a:t>- no longer visible, but still exists and all state info preserved 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onDestroy</a:t>
            </a:r>
            <a:r>
              <a:rPr lang="en-GB" b="1" dirty="0"/>
              <a:t>()     </a:t>
            </a:r>
            <a:r>
              <a:rPr lang="en-GB" i="1" dirty="0"/>
              <a:t>- final call before Android system destroys Activity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DDB2E665-BDC9-5524-37F0-91272CB4B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236" y="1523327"/>
            <a:ext cx="3517685" cy="4713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1322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B267-9111-C0B4-65EC-F378194D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14ADA-4459-F7AA-D269-37704E7243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3B2944-C3E2-53D1-7338-43928AE5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bg1"/>
                </a:solidFill>
                <a:latin typeface="Georgia" charset="0"/>
                <a:ea typeface="MS PGothic" charset="-128"/>
                <a:cs typeface="ＭＳ Ｐゴシック" charset="-128"/>
              </a:rPr>
              <a:t>Corresponding life cycle methods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878BB118-2B4A-C9F7-E7E2-8D8E27DE53DC}"/>
              </a:ext>
            </a:extLst>
          </p:cNvPr>
          <p:cNvSpPr txBox="1"/>
          <p:nvPr/>
        </p:nvSpPr>
        <p:spPr>
          <a:xfrm>
            <a:off x="128464" y="1556792"/>
            <a:ext cx="6291908" cy="3436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69900" indent="-457200">
              <a:lnSpc>
                <a:spcPts val="3820"/>
              </a:lnSpc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onC</a:t>
            </a:r>
            <a:r>
              <a:rPr sz="3200" spc="-15" dirty="0">
                <a:latin typeface="Corbel"/>
                <a:cs typeface="Corbel"/>
              </a:rPr>
              <a:t>re</a:t>
            </a:r>
            <a:r>
              <a:rPr sz="3200" spc="-25" dirty="0">
                <a:latin typeface="Corbel"/>
                <a:cs typeface="Corbel"/>
              </a:rPr>
              <a:t>a</a:t>
            </a:r>
            <a:r>
              <a:rPr sz="3200" dirty="0">
                <a:latin typeface="Corbel"/>
                <a:cs typeface="Corbel"/>
              </a:rPr>
              <a:t>t</a:t>
            </a:r>
            <a:r>
              <a:rPr sz="3200" spc="-25" dirty="0">
                <a:latin typeface="Corbel"/>
                <a:cs typeface="Corbel"/>
              </a:rPr>
              <a:t>e</a:t>
            </a:r>
            <a:r>
              <a:rPr sz="3200" spc="-10" dirty="0">
                <a:latin typeface="Corbel"/>
                <a:cs typeface="Corbel"/>
              </a:rPr>
              <a:t>()</a:t>
            </a:r>
            <a:endParaRPr sz="3200" dirty="0">
              <a:latin typeface="Corbel"/>
              <a:cs typeface="Corbel"/>
            </a:endParaRPr>
          </a:p>
          <a:p>
            <a:pPr marL="469900" indent="-457200">
              <a:lnSpc>
                <a:spcPts val="3820"/>
              </a:lnSpc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</a:t>
            </a:r>
            <a:r>
              <a:rPr sz="3200" spc="-20" dirty="0">
                <a:latin typeface="Corbel"/>
                <a:cs typeface="Corbel"/>
              </a:rPr>
              <a:t>S</a:t>
            </a:r>
            <a:r>
              <a:rPr sz="3200" dirty="0">
                <a:latin typeface="Corbel"/>
                <a:cs typeface="Corbel"/>
              </a:rPr>
              <a:t>t</a:t>
            </a:r>
            <a:r>
              <a:rPr sz="3200" spc="-25" dirty="0">
                <a:latin typeface="Corbel"/>
                <a:cs typeface="Corbel"/>
              </a:rPr>
              <a:t>a</a:t>
            </a:r>
            <a:r>
              <a:rPr sz="3200" dirty="0">
                <a:latin typeface="Corbel"/>
                <a:cs typeface="Corbel"/>
              </a:rPr>
              <a:t>r</a:t>
            </a:r>
            <a:r>
              <a:rPr sz="3200" spc="-5" dirty="0">
                <a:latin typeface="Corbel"/>
                <a:cs typeface="Corbel"/>
              </a:rPr>
              <a:t>t</a:t>
            </a:r>
            <a:r>
              <a:rPr sz="3200" spc="-10" dirty="0">
                <a:latin typeface="Corbel"/>
                <a:cs typeface="Corbel"/>
              </a:rPr>
              <a:t>()</a:t>
            </a:r>
            <a:endParaRPr sz="3200" dirty="0">
              <a:latin typeface="Corbel"/>
              <a:cs typeface="Corbel"/>
            </a:endParaRPr>
          </a:p>
          <a:p>
            <a:pPr marL="469900" indent="-457200">
              <a:lnSpc>
                <a:spcPts val="3820"/>
              </a:lnSpc>
              <a:spcBef>
                <a:spcPts val="60"/>
              </a:spcBef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</a:t>
            </a:r>
            <a:r>
              <a:rPr sz="3200" spc="-65" dirty="0">
                <a:latin typeface="Corbel"/>
                <a:cs typeface="Corbel"/>
              </a:rPr>
              <a:t>R</a:t>
            </a:r>
            <a:r>
              <a:rPr sz="3200" spc="-25" dirty="0">
                <a:latin typeface="Corbel"/>
                <a:cs typeface="Corbel"/>
              </a:rPr>
              <a:t>esu</a:t>
            </a:r>
            <a:r>
              <a:rPr sz="3200" spc="-35" dirty="0">
                <a:latin typeface="Corbel"/>
                <a:cs typeface="Corbel"/>
              </a:rPr>
              <a:t>m</a:t>
            </a:r>
            <a:r>
              <a:rPr sz="3200" spc="-15" dirty="0">
                <a:latin typeface="Corbel"/>
                <a:cs typeface="Corbel"/>
              </a:rPr>
              <a:t>e()</a:t>
            </a:r>
            <a:endParaRPr sz="3200" dirty="0">
              <a:latin typeface="Corbel"/>
              <a:cs typeface="Corbel"/>
            </a:endParaRPr>
          </a:p>
          <a:p>
            <a:pPr marL="469900" indent="-457200">
              <a:lnSpc>
                <a:spcPts val="3820"/>
              </a:lnSpc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onP</a:t>
            </a:r>
            <a:r>
              <a:rPr sz="3200" spc="-5" dirty="0">
                <a:latin typeface="Corbel"/>
                <a:cs typeface="Corbel"/>
              </a:rPr>
              <a:t>a</a:t>
            </a:r>
            <a:r>
              <a:rPr sz="3200" spc="-20" dirty="0">
                <a:latin typeface="Corbel"/>
                <a:cs typeface="Corbel"/>
              </a:rPr>
              <a:t>us</a:t>
            </a:r>
            <a:r>
              <a:rPr sz="3200" spc="-15" dirty="0">
                <a:latin typeface="Corbel"/>
                <a:cs typeface="Corbel"/>
              </a:rPr>
              <a:t>e()</a:t>
            </a:r>
            <a:endParaRPr sz="3200" dirty="0">
              <a:latin typeface="Corbel"/>
              <a:cs typeface="Corbel"/>
            </a:endParaRPr>
          </a:p>
          <a:p>
            <a:pPr marL="469900" indent="-457200">
              <a:lnSpc>
                <a:spcPts val="3820"/>
              </a:lnSpc>
              <a:spcBef>
                <a:spcPts val="60"/>
              </a:spcBef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</a:t>
            </a:r>
            <a:r>
              <a:rPr sz="3200" spc="-85" dirty="0">
                <a:latin typeface="Corbel"/>
                <a:cs typeface="Corbel"/>
              </a:rPr>
              <a:t>R</a:t>
            </a:r>
            <a:r>
              <a:rPr sz="3200" spc="-20" dirty="0">
                <a:latin typeface="Corbel"/>
                <a:cs typeface="Corbel"/>
              </a:rPr>
              <a:t>e</a:t>
            </a:r>
            <a:r>
              <a:rPr sz="3200" dirty="0">
                <a:latin typeface="Corbel"/>
                <a:cs typeface="Corbel"/>
              </a:rPr>
              <a:t>st</a:t>
            </a:r>
            <a:r>
              <a:rPr sz="3200" spc="-25" dirty="0">
                <a:latin typeface="Corbel"/>
                <a:cs typeface="Corbel"/>
              </a:rPr>
              <a:t>a</a:t>
            </a:r>
            <a:r>
              <a:rPr sz="3200" dirty="0">
                <a:latin typeface="Corbel"/>
                <a:cs typeface="Corbel"/>
              </a:rPr>
              <a:t>r</a:t>
            </a:r>
            <a:r>
              <a:rPr sz="3200" spc="-5" dirty="0">
                <a:latin typeface="Corbel"/>
                <a:cs typeface="Corbel"/>
              </a:rPr>
              <a:t>t</a:t>
            </a:r>
            <a:r>
              <a:rPr sz="3200" spc="-10" dirty="0">
                <a:latin typeface="Corbel"/>
                <a:cs typeface="Corbel"/>
              </a:rPr>
              <a:t>()</a:t>
            </a:r>
            <a:endParaRPr sz="3200" dirty="0">
              <a:latin typeface="Corbel"/>
              <a:cs typeface="Corbel"/>
            </a:endParaRPr>
          </a:p>
          <a:p>
            <a:pPr marL="469900" indent="-457200">
              <a:lnSpc>
                <a:spcPts val="3800"/>
              </a:lnSpc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onStop</a:t>
            </a:r>
            <a:r>
              <a:rPr sz="3200" spc="-10" dirty="0">
                <a:latin typeface="Corbel"/>
                <a:cs typeface="Corbel"/>
              </a:rPr>
              <a:t>()</a:t>
            </a:r>
            <a:endParaRPr sz="3200" dirty="0">
              <a:latin typeface="Corbel"/>
              <a:cs typeface="Corbel"/>
            </a:endParaRPr>
          </a:p>
          <a:p>
            <a:pPr marL="469900" indent="-457200">
              <a:lnSpc>
                <a:spcPts val="3820"/>
              </a:lnSpc>
              <a:buSzPct val="79687"/>
              <a:buFont typeface="Arial" charset="0"/>
              <a:buChar char="•"/>
              <a:tabLst>
                <a:tab pos="332740" algn="l"/>
              </a:tabLst>
              <a:defRPr/>
            </a:pPr>
            <a:r>
              <a:rPr sz="3200" spc="-20" dirty="0">
                <a:latin typeface="Corbel"/>
                <a:cs typeface="Corbel"/>
              </a:rPr>
              <a:t>protected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Corbel"/>
                <a:cs typeface="Corbel"/>
              </a:rPr>
              <a:t>v</a:t>
            </a:r>
            <a:r>
              <a:rPr sz="3200" dirty="0">
                <a:latin typeface="Corbel"/>
                <a:cs typeface="Corbel"/>
              </a:rPr>
              <a:t>o</a:t>
            </a:r>
            <a:r>
              <a:rPr sz="3200" spc="-15" dirty="0">
                <a:latin typeface="Corbel"/>
                <a:cs typeface="Corbel"/>
              </a:rPr>
              <a:t>id</a:t>
            </a:r>
            <a:r>
              <a:rPr sz="3200" spc="-1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Corbel"/>
                <a:cs typeface="Corbel"/>
              </a:rPr>
              <a:t>on</a:t>
            </a:r>
            <a:r>
              <a:rPr sz="3200" spc="-20" dirty="0">
                <a:latin typeface="Corbel"/>
                <a:cs typeface="Corbel"/>
              </a:rPr>
              <a:t>De</a:t>
            </a:r>
            <a:r>
              <a:rPr sz="3200" dirty="0">
                <a:latin typeface="Corbel"/>
                <a:cs typeface="Corbel"/>
              </a:rPr>
              <a:t>stro</a:t>
            </a:r>
            <a:r>
              <a:rPr sz="3200" spc="-5" dirty="0">
                <a:latin typeface="Corbel"/>
                <a:cs typeface="Corbel"/>
              </a:rPr>
              <a:t>y</a:t>
            </a:r>
            <a:r>
              <a:rPr sz="3200" spc="-10" dirty="0">
                <a:latin typeface="Corbel"/>
                <a:cs typeface="Corbel"/>
              </a:rPr>
              <a:t>()</a:t>
            </a:r>
            <a:endParaRPr sz="320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0980471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8A8BB-2B2F-A2BD-6C1D-B5078315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82C1D-85B8-98B5-DD26-80B5240574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480E4F-964B-49B3-4A14-10C9A576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bg1"/>
                </a:solidFill>
                <a:latin typeface="Georgia" charset="0"/>
                <a:ea typeface="MS PGothic" charset="-128"/>
                <a:cs typeface="ＭＳ Ｐゴシック" charset="-128"/>
              </a:rPr>
              <a:t>Corresponding life cycle methods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1BD1D-84E8-5A4D-1E84-28C248E8EF35}"/>
              </a:ext>
            </a:extLst>
          </p:cNvPr>
          <p:cNvSpPr txBox="1">
            <a:spLocks/>
          </p:cNvSpPr>
          <p:nvPr/>
        </p:nvSpPr>
        <p:spPr bwMode="auto">
          <a:xfrm>
            <a:off x="5341" y="1268760"/>
            <a:ext cx="192332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 err="1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onCreate</a:t>
            </a:r>
            <a:r>
              <a:rPr lang="en-US" altLang="en-US" sz="2400" dirty="0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()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BD7236A-C431-78A6-50CF-837F8E96B4CA}"/>
              </a:ext>
            </a:extLst>
          </p:cNvPr>
          <p:cNvSpPr txBox="1"/>
          <p:nvPr/>
        </p:nvSpPr>
        <p:spPr>
          <a:xfrm>
            <a:off x="2072680" y="1412776"/>
            <a:ext cx="7560840" cy="320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92100" indent="-280988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marL="8334" indent="0">
              <a:lnSpc>
                <a:spcPts val="2531"/>
              </a:lnSpc>
              <a:buSzPct val="80000"/>
            </a:pP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Called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when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Activity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is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ﬁrst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being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created, and Setup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global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2100" dirty="0">
                <a:latin typeface="Corbel" charset="0"/>
                <a:ea typeface="Corbel" charset="0"/>
                <a:cs typeface="Corbel" charset="0"/>
              </a:rPr>
              <a:t>state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D644A46-4FF6-E67B-0D7F-911200DC9410}"/>
              </a:ext>
            </a:extLst>
          </p:cNvPr>
          <p:cNvSpPr txBox="1"/>
          <p:nvPr/>
        </p:nvSpPr>
        <p:spPr>
          <a:xfrm>
            <a:off x="128464" y="1973317"/>
            <a:ext cx="4082720" cy="605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52413" indent="-2413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marL="265510" indent="-257175">
              <a:spcBef>
                <a:spcPts val="422"/>
              </a:spcBef>
              <a:buSzPct val="89000"/>
              <a:buFont typeface="Arial" charset="0"/>
              <a:buChar char="•"/>
            </a:pP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Inﬂate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UI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views</a:t>
            </a:r>
          </a:p>
          <a:p>
            <a:pPr marL="265510" indent="-257175">
              <a:spcBef>
                <a:spcPts val="422"/>
              </a:spcBef>
              <a:buSzPct val="89000"/>
              <a:buFont typeface="Arial" charset="0"/>
              <a:buChar char="•"/>
            </a:pP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Conﬁgure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views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as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necessary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167EA-57E7-C53F-889B-C82B4BCA4130}"/>
              </a:ext>
            </a:extLst>
          </p:cNvPr>
          <p:cNvSpPr txBox="1"/>
          <p:nvPr/>
        </p:nvSpPr>
        <p:spPr>
          <a:xfrm>
            <a:off x="3599059" y="1854548"/>
            <a:ext cx="5898826" cy="15314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@Override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public void </a:t>
            </a:r>
            <a:r>
              <a:rPr lang="en-GB" sz="1600" b="1" dirty="0" err="1"/>
              <a:t>onCreate</a:t>
            </a:r>
            <a:r>
              <a:rPr lang="en-GB" sz="1600" b="1" dirty="0"/>
              <a:t>(Bundle </a:t>
            </a:r>
            <a:r>
              <a:rPr lang="en-GB" sz="1600" b="1" dirty="0" err="1"/>
              <a:t>savedInstanceState</a:t>
            </a:r>
            <a:r>
              <a:rPr lang="en-GB" sz="1600" b="1" dirty="0"/>
              <a:t>) { </a:t>
            </a:r>
            <a:r>
              <a:rPr lang="en-GB" sz="1600" b="1" i="1" dirty="0" err="1">
                <a:solidFill>
                  <a:srgbClr val="0081BE"/>
                </a:solidFill>
              </a:rPr>
              <a:t>super.onCreate</a:t>
            </a:r>
            <a:r>
              <a:rPr lang="en-GB" sz="1600" b="1" dirty="0"/>
              <a:t>(</a:t>
            </a:r>
            <a:r>
              <a:rPr lang="en-GB" sz="1600" b="1" dirty="0" err="1"/>
              <a:t>savedInstanceState</a:t>
            </a:r>
            <a:r>
              <a:rPr lang="en-GB" sz="1600" b="1" dirty="0"/>
              <a:t>); </a:t>
            </a:r>
            <a:r>
              <a:rPr lang="en-GB" sz="1600" dirty="0"/>
              <a:t>// The activity is being created. 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6428C43-FC1D-EF82-29C7-9FAF965C8277}"/>
              </a:ext>
            </a:extLst>
          </p:cNvPr>
          <p:cNvSpPr txBox="1">
            <a:spLocks/>
          </p:cNvSpPr>
          <p:nvPr/>
        </p:nvSpPr>
        <p:spPr bwMode="auto">
          <a:xfrm>
            <a:off x="20554" y="3472008"/>
            <a:ext cx="205212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 err="1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onRestart</a:t>
            </a:r>
            <a:r>
              <a:rPr lang="en-US" altLang="en-US" sz="2400" dirty="0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()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9640CCE-19ED-2771-6C13-A5A03EEAF114}"/>
              </a:ext>
            </a:extLst>
          </p:cNvPr>
          <p:cNvSpPr txBox="1"/>
          <p:nvPr/>
        </p:nvSpPr>
        <p:spPr>
          <a:xfrm>
            <a:off x="2072680" y="3625933"/>
            <a:ext cx="7560840" cy="301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301625" indent="-290513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92100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marL="8334" indent="0">
              <a:lnSpc>
                <a:spcPts val="2513"/>
              </a:lnSpc>
              <a:buSzPct val="80000"/>
            </a:pPr>
            <a:r>
              <a:rPr lang="en-US" altLang="en-US" dirty="0">
                <a:latin typeface="+mn-lt"/>
                <a:ea typeface="Corbel" charset="0"/>
                <a:cs typeface="Corbel" charset="0"/>
              </a:rPr>
              <a:t>    Called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if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the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Activity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has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been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stopped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and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is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about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to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be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started</a:t>
            </a:r>
            <a:r>
              <a:rPr lang="en-US" altLang="en-US" dirty="0">
                <a:latin typeface="+mn-lt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+mn-lt"/>
                <a:ea typeface="Corbel" charset="0"/>
                <a:cs typeface="Corbel" charset="0"/>
              </a:rPr>
              <a:t>again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29A1E5E-BFFE-D051-355C-18F2752B2B65}"/>
              </a:ext>
            </a:extLst>
          </p:cNvPr>
          <p:cNvSpPr txBox="1"/>
          <p:nvPr/>
        </p:nvSpPr>
        <p:spPr>
          <a:xfrm>
            <a:off x="310156" y="4122399"/>
            <a:ext cx="2960828" cy="605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51305" indent="-342900">
              <a:buSzPct val="79687"/>
              <a:buFont typeface="Arial" charset="0"/>
              <a:buChar char="•"/>
              <a:tabLst>
                <a:tab pos="220208" algn="l"/>
              </a:tabLst>
              <a:defRPr/>
            </a:pPr>
            <a:r>
              <a:rPr spc="-135" dirty="0">
                <a:latin typeface="Corbel"/>
                <a:cs typeface="Corbel"/>
              </a:rPr>
              <a:t>T</a:t>
            </a:r>
            <a:r>
              <a:rPr dirty="0">
                <a:latin typeface="Corbel"/>
                <a:cs typeface="Corbel"/>
              </a:rPr>
              <a:t>y</a:t>
            </a:r>
            <a:r>
              <a:rPr spc="-17" dirty="0">
                <a:latin typeface="Corbel"/>
                <a:cs typeface="Corbel"/>
              </a:rPr>
              <a:t>p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c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spc="-7" dirty="0">
                <a:latin typeface="Corbel"/>
                <a:cs typeface="Corbel"/>
              </a:rPr>
              <a:t>l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ct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ons</a:t>
            </a:r>
          </a:p>
          <a:p>
            <a:pPr marL="35311" indent="-257175">
              <a:spcBef>
                <a:spcPts val="417"/>
              </a:spcBef>
              <a:buSzPct val="89285"/>
              <a:buFont typeface="Arial" charset="0"/>
              <a:buChar char="•"/>
              <a:tabLst>
                <a:tab pos="416881" algn="l"/>
              </a:tabLst>
              <a:defRPr/>
            </a:pPr>
            <a:r>
              <a:rPr spc="-50" dirty="0">
                <a:latin typeface="Corbel"/>
                <a:cs typeface="Corbel"/>
              </a:rPr>
              <a:t>R</a:t>
            </a:r>
            <a:r>
              <a:rPr spc="-14" dirty="0">
                <a:latin typeface="Corbel"/>
                <a:cs typeface="Corbel"/>
              </a:rPr>
              <a:t>ea</a:t>
            </a:r>
            <a:r>
              <a:rPr spc="-10" dirty="0">
                <a:latin typeface="Corbel"/>
                <a:cs typeface="Corbel"/>
              </a:rPr>
              <a:t>d</a:t>
            </a:r>
            <a:r>
              <a:rPr spc="-96" dirty="0">
                <a:latin typeface="Times New Roman"/>
                <a:cs typeface="Times New Roman"/>
              </a:rPr>
              <a:t> </a:t>
            </a:r>
            <a:r>
              <a:rPr spc="-3" dirty="0">
                <a:latin typeface="Corbel"/>
                <a:cs typeface="Corbel"/>
              </a:rPr>
              <a:t>c</a:t>
            </a:r>
            <a:r>
              <a:rPr spc="-14" dirty="0">
                <a:latin typeface="Corbel"/>
                <a:cs typeface="Corbel"/>
              </a:rPr>
              <a:t>a</a:t>
            </a:r>
            <a:r>
              <a:rPr spc="-3" dirty="0">
                <a:latin typeface="Corbel"/>
                <a:cs typeface="Corbel"/>
              </a:rPr>
              <a:t>c</a:t>
            </a:r>
            <a:r>
              <a:rPr dirty="0">
                <a:latin typeface="Corbel"/>
                <a:cs typeface="Corbel"/>
              </a:rPr>
              <a:t>h</a:t>
            </a:r>
            <a:r>
              <a:rPr spc="-14" dirty="0">
                <a:latin typeface="Corbel"/>
                <a:cs typeface="Corbel"/>
              </a:rPr>
              <a:t>e</a:t>
            </a:r>
            <a:r>
              <a:rPr spc="-10" dirty="0">
                <a:latin typeface="Corbel"/>
                <a:cs typeface="Corbel"/>
              </a:rPr>
              <a:t>d</a:t>
            </a:r>
            <a:r>
              <a:rPr spc="-9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st</a:t>
            </a:r>
            <a:r>
              <a:rPr spc="-14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t</a:t>
            </a:r>
            <a:r>
              <a:rPr spc="-10" dirty="0">
                <a:latin typeface="Corbel"/>
                <a:cs typeface="Corbel"/>
              </a:rPr>
              <a:t>e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A433D5-CE3D-389D-F188-02A561B6D888}"/>
              </a:ext>
            </a:extLst>
          </p:cNvPr>
          <p:cNvSpPr/>
          <p:nvPr/>
        </p:nvSpPr>
        <p:spPr>
          <a:xfrm>
            <a:off x="3451295" y="4357538"/>
            <a:ext cx="6336704" cy="15314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@Override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protected void </a:t>
            </a:r>
            <a:r>
              <a:rPr lang="en-GB" sz="1600" b="1" dirty="0" err="1"/>
              <a:t>onRestart</a:t>
            </a:r>
            <a:r>
              <a:rPr lang="en-GB" sz="1600" b="1" dirty="0"/>
              <a:t>() { </a:t>
            </a:r>
          </a:p>
          <a:p>
            <a:pPr>
              <a:lnSpc>
                <a:spcPct val="150000"/>
              </a:lnSpc>
            </a:pPr>
            <a:r>
              <a:rPr lang="en-GB" sz="1600" b="1" i="1" dirty="0" err="1">
                <a:solidFill>
                  <a:srgbClr val="0081BE"/>
                </a:solidFill>
              </a:rPr>
              <a:t>super.onRestart</a:t>
            </a:r>
            <a:r>
              <a:rPr lang="en-GB" sz="1600" b="1" dirty="0"/>
              <a:t>();    </a:t>
            </a:r>
            <a:r>
              <a:rPr lang="en-GB" sz="1600" dirty="0"/>
              <a:t>// The activity is between stopped and started.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075824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32DE-1A6F-3E41-2DD9-3D6994CA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A5FA7-C8B1-B231-F208-AF5216D860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26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125D96-33B9-33DC-86DC-FF4BDD9C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bg1"/>
                </a:solidFill>
                <a:latin typeface="Georgia" charset="0"/>
                <a:ea typeface="MS PGothic" charset="-128"/>
                <a:cs typeface="ＭＳ Ｐゴシック" charset="-128"/>
              </a:rPr>
              <a:t>Corresponding life cycle methods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C5F49-FFCF-2B2E-385C-5752F46D67BF}"/>
              </a:ext>
            </a:extLst>
          </p:cNvPr>
          <p:cNvSpPr txBox="1">
            <a:spLocks/>
          </p:cNvSpPr>
          <p:nvPr/>
        </p:nvSpPr>
        <p:spPr bwMode="auto">
          <a:xfrm>
            <a:off x="56456" y="1340768"/>
            <a:ext cx="1800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 err="1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onStop</a:t>
            </a:r>
            <a:r>
              <a:rPr lang="en-US" altLang="en-US" sz="2400" dirty="0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()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AD974104-F84A-01E4-0B83-D15948EAED06}"/>
              </a:ext>
            </a:extLst>
          </p:cNvPr>
          <p:cNvSpPr txBox="1"/>
          <p:nvPr/>
        </p:nvSpPr>
        <p:spPr>
          <a:xfrm>
            <a:off x="200472" y="1930740"/>
            <a:ext cx="3982641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9787" indent="-211382">
              <a:buSzPct val="79687"/>
              <a:buFont typeface="Wingdings 2"/>
              <a:buChar char=""/>
              <a:tabLst>
                <a:tab pos="220208" algn="l"/>
              </a:tabLst>
              <a:defRPr/>
            </a:pPr>
            <a:r>
              <a:rPr dirty="0">
                <a:latin typeface="Corbel"/>
                <a:cs typeface="Corbel"/>
              </a:rPr>
              <a:t>Act</a:t>
            </a:r>
            <a:r>
              <a:rPr spc="-7" dirty="0">
                <a:latin typeface="Corbel"/>
                <a:cs typeface="Corbel"/>
              </a:rPr>
              <a:t>ivity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7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s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no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7" dirty="0">
                <a:latin typeface="Corbel"/>
                <a:cs typeface="Corbel"/>
              </a:rPr>
              <a:t>l</a:t>
            </a:r>
            <a:r>
              <a:rPr dirty="0">
                <a:latin typeface="Corbel"/>
                <a:cs typeface="Corbel"/>
              </a:rPr>
              <a:t>on</a:t>
            </a:r>
            <a:r>
              <a:rPr spc="-10" dirty="0">
                <a:latin typeface="Corbel"/>
                <a:cs typeface="Corbel"/>
              </a:rPr>
              <a:t>ger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Corbel"/>
                <a:cs typeface="Corbel"/>
              </a:rPr>
              <a:t>vi</a:t>
            </a:r>
            <a:r>
              <a:rPr dirty="0">
                <a:latin typeface="Corbel"/>
                <a:cs typeface="Corbel"/>
              </a:rPr>
              <a:t>s</a:t>
            </a:r>
            <a:r>
              <a:rPr spc="-7" dirty="0">
                <a:latin typeface="Corbel"/>
                <a:cs typeface="Corbel"/>
              </a:rPr>
              <a:t>i</a:t>
            </a:r>
            <a:r>
              <a:rPr spc="-17" dirty="0">
                <a:latin typeface="Corbel"/>
                <a:cs typeface="Corbel"/>
              </a:rPr>
              <a:t>b</a:t>
            </a:r>
            <a:r>
              <a:rPr spc="-10" dirty="0">
                <a:latin typeface="Corbel"/>
                <a:cs typeface="Corbel"/>
              </a:rPr>
              <a:t>le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to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4" dirty="0">
                <a:latin typeface="Corbel"/>
                <a:cs typeface="Corbel"/>
              </a:rPr>
              <a:t>u</a:t>
            </a:r>
            <a:r>
              <a:rPr dirty="0">
                <a:latin typeface="Corbel"/>
                <a:cs typeface="Corbel"/>
              </a:rPr>
              <a:t>s</a:t>
            </a:r>
            <a:r>
              <a:rPr spc="-10" dirty="0">
                <a:latin typeface="Corbel"/>
                <a:cs typeface="Corbel"/>
              </a:rPr>
              <a:t>er</a:t>
            </a:r>
            <a:endParaRPr dirty="0">
              <a:latin typeface="Corbel"/>
              <a:cs typeface="Corbel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E51659A-1124-D9B3-7784-E0AF931156E4}"/>
              </a:ext>
            </a:extLst>
          </p:cNvPr>
          <p:cNvSpPr txBox="1"/>
          <p:nvPr/>
        </p:nvSpPr>
        <p:spPr>
          <a:xfrm>
            <a:off x="488504" y="2275964"/>
            <a:ext cx="4375833" cy="78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92511" indent="-257175">
              <a:buSzPct val="89285"/>
              <a:buFont typeface="Arial" charset="0"/>
              <a:buChar char="•"/>
              <a:tabLst>
                <a:tab pos="416881" algn="l"/>
              </a:tabLst>
              <a:defRPr/>
            </a:pPr>
            <a:r>
              <a:rPr sz="1600" dirty="0">
                <a:latin typeface="Corbel"/>
                <a:cs typeface="Corbel"/>
              </a:rPr>
              <a:t>B</a:t>
            </a:r>
            <a:r>
              <a:rPr sz="1600" spc="-10" dirty="0">
                <a:latin typeface="Corbel"/>
                <a:cs typeface="Corbel"/>
              </a:rPr>
              <a:t>ut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spc="-17" dirty="0">
                <a:latin typeface="Corbel"/>
                <a:cs typeface="Corbel"/>
              </a:rPr>
              <a:t>m</a:t>
            </a:r>
            <a:r>
              <a:rPr sz="1600" spc="-14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y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rbel"/>
                <a:cs typeface="Corbel"/>
              </a:rPr>
              <a:t>be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rbel"/>
                <a:cs typeface="Corbel"/>
              </a:rPr>
              <a:t>re</a:t>
            </a:r>
            <a:r>
              <a:rPr sz="1600" dirty="0">
                <a:latin typeface="Corbel"/>
                <a:cs typeface="Corbel"/>
              </a:rPr>
              <a:t>st</a:t>
            </a:r>
            <a:r>
              <a:rPr sz="1600" spc="-14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rt</a:t>
            </a:r>
            <a:r>
              <a:rPr sz="1600" spc="-10" dirty="0">
                <a:latin typeface="Corbel"/>
                <a:cs typeface="Corbel"/>
              </a:rPr>
              <a:t>ed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rbel"/>
                <a:cs typeface="Corbel"/>
              </a:rPr>
              <a:t>l</a:t>
            </a:r>
            <a:r>
              <a:rPr sz="1600" spc="-14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t</a:t>
            </a:r>
            <a:r>
              <a:rPr sz="1600" spc="-10" dirty="0">
                <a:latin typeface="Corbel"/>
                <a:cs typeface="Corbel"/>
              </a:rPr>
              <a:t>er</a:t>
            </a:r>
            <a:endParaRPr sz="1600" dirty="0">
              <a:latin typeface="Corbel"/>
              <a:cs typeface="Corbel"/>
            </a:endParaRPr>
          </a:p>
          <a:p>
            <a:pPr marL="351305" indent="-342900">
              <a:spcBef>
                <a:spcPts val="43"/>
              </a:spcBef>
              <a:buSzPct val="79687"/>
              <a:buFont typeface="Arial" charset="0"/>
              <a:buChar char="•"/>
              <a:tabLst>
                <a:tab pos="220208" algn="l"/>
              </a:tabLst>
              <a:defRPr/>
            </a:pPr>
            <a:r>
              <a:rPr sz="1600" spc="-135" dirty="0">
                <a:latin typeface="Corbel"/>
                <a:cs typeface="Corbel"/>
              </a:rPr>
              <a:t>T</a:t>
            </a:r>
            <a:r>
              <a:rPr sz="1600" dirty="0">
                <a:latin typeface="Corbel"/>
                <a:cs typeface="Corbel"/>
              </a:rPr>
              <a:t>y</a:t>
            </a:r>
            <a:r>
              <a:rPr sz="1600" spc="-17" dirty="0">
                <a:latin typeface="Corbel"/>
                <a:cs typeface="Corbel"/>
              </a:rPr>
              <a:t>p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c</a:t>
            </a:r>
            <a:r>
              <a:rPr sz="1600" spc="-17" dirty="0">
                <a:latin typeface="Corbel"/>
                <a:cs typeface="Corbel"/>
              </a:rPr>
              <a:t>a</a:t>
            </a:r>
            <a:r>
              <a:rPr sz="1600" spc="-7" dirty="0">
                <a:latin typeface="Corbel"/>
                <a:cs typeface="Corbel"/>
              </a:rPr>
              <a:t>l</a:t>
            </a:r>
            <a:r>
              <a:rPr sz="1600" spc="-106" dirty="0">
                <a:latin typeface="Times New Roman"/>
                <a:cs typeface="Times New Roman"/>
              </a:rPr>
              <a:t> </a:t>
            </a:r>
            <a:r>
              <a:rPr sz="1600" spc="-17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ct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ons</a:t>
            </a:r>
          </a:p>
          <a:p>
            <a:pPr marL="492511" lvl="1" indent="-257175">
              <a:spcBef>
                <a:spcPts val="417"/>
              </a:spcBef>
              <a:buSzPct val="89285"/>
              <a:buFont typeface="Arial" charset="0"/>
              <a:buChar char="•"/>
              <a:tabLst>
                <a:tab pos="416881" algn="l"/>
              </a:tabLst>
              <a:defRPr/>
            </a:pPr>
            <a:r>
              <a:rPr sz="1600" dirty="0">
                <a:latin typeface="Corbel"/>
                <a:cs typeface="Corbel"/>
              </a:rPr>
              <a:t>C</a:t>
            </a:r>
            <a:r>
              <a:rPr sz="1600" spc="-3" dirty="0">
                <a:latin typeface="Corbel"/>
                <a:cs typeface="Corbel"/>
              </a:rPr>
              <a:t>ach</a:t>
            </a:r>
            <a:r>
              <a:rPr sz="1600" dirty="0">
                <a:latin typeface="Corbel"/>
                <a:cs typeface="Corbel"/>
              </a:rPr>
              <a:t>e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rbel"/>
                <a:cs typeface="Corbel"/>
              </a:rPr>
              <a:t>st</a:t>
            </a:r>
            <a:r>
              <a:rPr sz="1600" spc="-3" dirty="0">
                <a:latin typeface="Corbel"/>
                <a:cs typeface="Corbel"/>
              </a:rPr>
              <a:t>a</a:t>
            </a:r>
            <a:r>
              <a:rPr sz="1600" spc="-10" dirty="0">
                <a:latin typeface="Corbel"/>
                <a:cs typeface="Corbel"/>
              </a:rPr>
              <a:t>te</a:t>
            </a:r>
            <a:endParaRPr sz="1600" dirty="0">
              <a:latin typeface="Corbel"/>
              <a:cs typeface="Corbe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78625F-7597-492C-0DFB-25DE31FF3F84}"/>
              </a:ext>
            </a:extLst>
          </p:cNvPr>
          <p:cNvSpPr/>
          <p:nvPr/>
        </p:nvSpPr>
        <p:spPr>
          <a:xfrm>
            <a:off x="5164574" y="1484784"/>
            <a:ext cx="4032448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@Override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protected void </a:t>
            </a:r>
            <a:r>
              <a:rPr lang="en-GB" sz="1600" b="1" dirty="0" err="1"/>
              <a:t>onStop</a:t>
            </a:r>
            <a:r>
              <a:rPr lang="en-GB" sz="1600" b="1" dirty="0"/>
              <a:t>() {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 </a:t>
            </a:r>
            <a:r>
              <a:rPr lang="en-GB" sz="1600" b="1" i="1" dirty="0" err="1">
                <a:solidFill>
                  <a:srgbClr val="0081BE"/>
                </a:solidFill>
              </a:rPr>
              <a:t>super.onStop</a:t>
            </a:r>
            <a:r>
              <a:rPr lang="en-GB" sz="1600" b="1" dirty="0"/>
              <a:t>(); </a:t>
            </a:r>
          </a:p>
          <a:p>
            <a:r>
              <a:rPr lang="en-GB" sz="1600" dirty="0"/>
              <a:t>// The activity is no longer visible </a:t>
            </a:r>
          </a:p>
          <a:p>
            <a:r>
              <a:rPr lang="en-GB" sz="1600" dirty="0"/>
              <a:t>// it is now "stopped" </a:t>
            </a:r>
          </a:p>
          <a:p>
            <a:r>
              <a:rPr lang="en-GB" sz="1600" b="1" dirty="0"/>
              <a:t>}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D23FF0-AC52-F1A8-7625-C66BC5D7EED0}"/>
              </a:ext>
            </a:extLst>
          </p:cNvPr>
          <p:cNvSpPr txBox="1">
            <a:spLocks/>
          </p:cNvSpPr>
          <p:nvPr/>
        </p:nvSpPr>
        <p:spPr bwMode="auto">
          <a:xfrm>
            <a:off x="0" y="3777368"/>
            <a:ext cx="636389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 err="1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onDestroy</a:t>
            </a:r>
            <a:r>
              <a:rPr lang="en-US" altLang="en-US" sz="2400" dirty="0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()</a:t>
            </a: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7623787-12B9-9E9A-5603-150630C1E195}"/>
              </a:ext>
            </a:extLst>
          </p:cNvPr>
          <p:cNvSpPr txBox="1"/>
          <p:nvPr/>
        </p:nvSpPr>
        <p:spPr>
          <a:xfrm>
            <a:off x="417376" y="4416105"/>
            <a:ext cx="3808810" cy="64120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9787" indent="-211382">
              <a:lnSpc>
                <a:spcPts val="2528"/>
              </a:lnSpc>
              <a:buSzPct val="79687"/>
              <a:buFont typeface="Wingdings 2"/>
              <a:buChar char=""/>
              <a:tabLst>
                <a:tab pos="220208" algn="l"/>
              </a:tabLst>
              <a:defRPr/>
            </a:pPr>
            <a:r>
              <a:rPr dirty="0">
                <a:latin typeface="Corbel"/>
                <a:cs typeface="Corbel"/>
              </a:rPr>
              <a:t>Act</a:t>
            </a:r>
            <a:r>
              <a:rPr spc="-7" dirty="0">
                <a:latin typeface="Corbel"/>
                <a:cs typeface="Corbel"/>
              </a:rPr>
              <a:t>ivity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7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s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ab</a:t>
            </a:r>
            <a:r>
              <a:rPr dirty="0">
                <a:latin typeface="Corbel"/>
                <a:cs typeface="Corbel"/>
              </a:rPr>
              <a:t>o</a:t>
            </a:r>
            <a:r>
              <a:rPr spc="-14" dirty="0">
                <a:latin typeface="Corbel"/>
                <a:cs typeface="Corbel"/>
              </a:rPr>
              <a:t>u</a:t>
            </a:r>
            <a:r>
              <a:rPr dirty="0">
                <a:latin typeface="Corbel"/>
                <a:cs typeface="Corbel"/>
              </a:rPr>
              <a:t>t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to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b</a:t>
            </a:r>
            <a:r>
              <a:rPr spc="-14" dirty="0">
                <a:latin typeface="Corbel"/>
                <a:cs typeface="Corbel"/>
              </a:rPr>
              <a:t>e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d</a:t>
            </a:r>
            <a:r>
              <a:rPr spc="-14" dirty="0">
                <a:latin typeface="Corbel"/>
                <a:cs typeface="Corbel"/>
              </a:rPr>
              <a:t>e</a:t>
            </a:r>
            <a:r>
              <a:rPr dirty="0">
                <a:latin typeface="Corbel"/>
                <a:cs typeface="Corbel"/>
              </a:rPr>
              <a:t>stroy</a:t>
            </a:r>
            <a:r>
              <a:rPr spc="-14" dirty="0">
                <a:latin typeface="Corbel"/>
                <a:cs typeface="Corbel"/>
              </a:rPr>
              <a:t>ed</a:t>
            </a:r>
            <a:endParaRPr dirty="0">
              <a:latin typeface="Corbel"/>
              <a:cs typeface="Corbel"/>
            </a:endParaRPr>
          </a:p>
          <a:p>
            <a:pPr marL="219787" indent="-211382">
              <a:lnSpc>
                <a:spcPts val="2528"/>
              </a:lnSpc>
              <a:buSzPct val="79687"/>
              <a:buFont typeface="Wingdings 2"/>
              <a:buChar char=""/>
              <a:tabLst>
                <a:tab pos="220208" algn="l"/>
              </a:tabLst>
              <a:defRPr/>
            </a:pPr>
            <a:r>
              <a:rPr spc="-135" dirty="0">
                <a:latin typeface="Corbel"/>
                <a:cs typeface="Corbel"/>
              </a:rPr>
              <a:t>T</a:t>
            </a:r>
            <a:r>
              <a:rPr dirty="0">
                <a:latin typeface="Corbel"/>
                <a:cs typeface="Corbel"/>
              </a:rPr>
              <a:t>y</a:t>
            </a:r>
            <a:r>
              <a:rPr spc="-17" dirty="0">
                <a:latin typeface="Corbel"/>
                <a:cs typeface="Corbel"/>
              </a:rPr>
              <a:t>p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c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spc="-7" dirty="0">
                <a:latin typeface="Corbel"/>
                <a:cs typeface="Corbel"/>
              </a:rPr>
              <a:t>l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ct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ons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2282DB2A-FC7F-E26E-940B-0A1D3EBE0F14}"/>
              </a:ext>
            </a:extLst>
          </p:cNvPr>
          <p:cNvSpPr txBox="1"/>
          <p:nvPr/>
        </p:nvSpPr>
        <p:spPr>
          <a:xfrm>
            <a:off x="744016" y="5110255"/>
            <a:ext cx="2225279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89530" indent="-181125">
              <a:buSzPct val="89285"/>
              <a:buFont typeface="Wingdings"/>
              <a:buChar char=""/>
              <a:tabLst>
                <a:tab pos="189950" algn="l"/>
              </a:tabLst>
              <a:defRPr/>
            </a:pPr>
            <a:r>
              <a:rPr sz="1600" spc="-14" dirty="0">
                <a:latin typeface="Corbel"/>
                <a:cs typeface="Corbel"/>
              </a:rPr>
              <a:t>Sa</a:t>
            </a:r>
            <a:r>
              <a:rPr sz="1600" spc="-10" dirty="0">
                <a:latin typeface="Corbel"/>
                <a:cs typeface="Corbel"/>
              </a:rPr>
              <a:t>ve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Corbel"/>
                <a:cs typeface="Corbel"/>
              </a:rPr>
              <a:t>pe</a:t>
            </a:r>
            <a:r>
              <a:rPr sz="1600" dirty="0">
                <a:latin typeface="Corbel"/>
                <a:cs typeface="Corbel"/>
              </a:rPr>
              <a:t>rs</a:t>
            </a:r>
            <a:r>
              <a:rPr sz="1600" spc="-10" dirty="0">
                <a:latin typeface="Corbel"/>
                <a:cs typeface="Corbel"/>
              </a:rPr>
              <a:t>i</a:t>
            </a:r>
            <a:r>
              <a:rPr sz="1600" dirty="0">
                <a:latin typeface="Corbel"/>
                <a:cs typeface="Corbel"/>
              </a:rPr>
              <a:t>st</a:t>
            </a:r>
            <a:r>
              <a:rPr sz="1600" spc="-10" dirty="0">
                <a:latin typeface="Corbel"/>
                <a:cs typeface="Corbel"/>
              </a:rPr>
              <a:t>e</a:t>
            </a:r>
            <a:r>
              <a:rPr sz="1600" dirty="0">
                <a:latin typeface="Corbel"/>
                <a:cs typeface="Corbel"/>
              </a:rPr>
              <a:t>nt</a:t>
            </a:r>
            <a:r>
              <a:rPr sz="1600" spc="-93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Corbel"/>
                <a:cs typeface="Corbel"/>
              </a:rPr>
              <a:t>st</a:t>
            </a:r>
            <a:r>
              <a:rPr sz="1600" spc="-14" dirty="0">
                <a:latin typeface="Corbel"/>
                <a:cs typeface="Corbel"/>
              </a:rPr>
              <a:t>a</a:t>
            </a:r>
            <a:r>
              <a:rPr sz="1600" dirty="0">
                <a:latin typeface="Corbel"/>
                <a:cs typeface="Corbel"/>
              </a:rPr>
              <a:t>t</a:t>
            </a:r>
            <a:r>
              <a:rPr sz="1600" spc="-10" dirty="0">
                <a:latin typeface="Corbel"/>
                <a:cs typeface="Corbel"/>
              </a:rPr>
              <a:t>e</a:t>
            </a:r>
            <a:endParaRPr sz="1600" dirty="0">
              <a:latin typeface="Corbel"/>
              <a:cs typeface="Corbe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23A7D-6E21-AF2D-9DDF-482C2D87C446}"/>
              </a:ext>
            </a:extLst>
          </p:cNvPr>
          <p:cNvSpPr/>
          <p:nvPr/>
        </p:nvSpPr>
        <p:spPr>
          <a:xfrm>
            <a:off x="5137259" y="3870362"/>
            <a:ext cx="4059763" cy="16927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@Override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protected void </a:t>
            </a:r>
            <a:r>
              <a:rPr lang="en-GB" sz="1600" b="1" dirty="0" err="1"/>
              <a:t>onDestroy</a:t>
            </a:r>
            <a:r>
              <a:rPr lang="en-GB" sz="1600" b="1" dirty="0"/>
              <a:t>() { </a:t>
            </a:r>
          </a:p>
          <a:p>
            <a:pPr>
              <a:lnSpc>
                <a:spcPct val="150000"/>
              </a:lnSpc>
            </a:pPr>
            <a:r>
              <a:rPr lang="en-GB" sz="1600" b="1" i="1" dirty="0" err="1">
                <a:solidFill>
                  <a:srgbClr val="0081BE"/>
                </a:solidFill>
              </a:rPr>
              <a:t>super.onDestroy</a:t>
            </a:r>
            <a:r>
              <a:rPr lang="en-GB" sz="1600" b="1" dirty="0"/>
              <a:t>(); 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// The activity is about to be destroyed. </a:t>
            </a:r>
          </a:p>
          <a:p>
            <a:r>
              <a:rPr lang="en-GB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5340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E918-8C15-19E2-AD7B-B2028EB27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A608E-311C-540B-E4C6-0A9884F040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846A2B-816C-BB89-489B-86CB425D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chemeClr val="bg1"/>
                </a:solidFill>
                <a:latin typeface="Georgia" charset="0"/>
                <a:ea typeface="MS PGothic" charset="-128"/>
                <a:cs typeface="ＭＳ Ｐゴシック" charset="-128"/>
              </a:rPr>
              <a:t>Corresponding life cycle methods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6AAB0-8F62-BE67-4097-BD8F1AAB4565}"/>
              </a:ext>
            </a:extLst>
          </p:cNvPr>
          <p:cNvSpPr txBox="1">
            <a:spLocks/>
          </p:cNvSpPr>
          <p:nvPr/>
        </p:nvSpPr>
        <p:spPr bwMode="auto">
          <a:xfrm>
            <a:off x="0" y="1340768"/>
            <a:ext cx="221669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 err="1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onResume</a:t>
            </a:r>
            <a:r>
              <a:rPr lang="en-US" altLang="en-US" sz="2400" dirty="0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()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2B5700E-C197-F8BF-9D55-92EE8078D35E}"/>
              </a:ext>
            </a:extLst>
          </p:cNvPr>
          <p:cNvSpPr txBox="1"/>
          <p:nvPr/>
        </p:nvSpPr>
        <p:spPr>
          <a:xfrm>
            <a:off x="80495" y="1884612"/>
            <a:ext cx="4895290" cy="961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351305" indent="-342900">
              <a:lnSpc>
                <a:spcPts val="2528"/>
              </a:lnSpc>
              <a:buSzPct val="79687"/>
              <a:buFont typeface="Arial" charset="0"/>
              <a:buChar char="•"/>
              <a:tabLst>
                <a:tab pos="220208" algn="l"/>
              </a:tabLst>
              <a:defRPr/>
            </a:pPr>
            <a:r>
              <a:rPr dirty="0">
                <a:latin typeface="Corbel"/>
                <a:cs typeface="Corbel"/>
              </a:rPr>
              <a:t>A</a:t>
            </a:r>
            <a:r>
              <a:rPr spc="-17" dirty="0">
                <a:latin typeface="Corbel"/>
                <a:cs typeface="Corbel"/>
              </a:rPr>
              <a:t>b</a:t>
            </a:r>
            <a:r>
              <a:rPr dirty="0">
                <a:latin typeface="Corbel"/>
                <a:cs typeface="Corbel"/>
              </a:rPr>
              <a:t>o</a:t>
            </a:r>
            <a:r>
              <a:rPr spc="-14" dirty="0">
                <a:latin typeface="Corbel"/>
                <a:cs typeface="Corbel"/>
              </a:rPr>
              <a:t>u</a:t>
            </a:r>
            <a:r>
              <a:rPr dirty="0">
                <a:latin typeface="Corbel"/>
                <a:cs typeface="Corbel"/>
              </a:rPr>
              <a:t>t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to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st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rt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7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nt</a:t>
            </a:r>
            <a:r>
              <a:rPr spc="-10" dirty="0">
                <a:latin typeface="Corbel"/>
                <a:cs typeface="Corbel"/>
              </a:rPr>
              <a:t>er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ct</a:t>
            </a:r>
            <a:r>
              <a:rPr spc="-7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n</a:t>
            </a:r>
            <a:r>
              <a:rPr spc="-14" dirty="0">
                <a:latin typeface="Corbel"/>
                <a:cs typeface="Corbel"/>
              </a:rPr>
              <a:t>g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4" dirty="0">
                <a:latin typeface="Corbel"/>
                <a:cs typeface="Corbel"/>
              </a:rPr>
              <a:t>wi</a:t>
            </a:r>
            <a:r>
              <a:rPr dirty="0">
                <a:latin typeface="Corbel"/>
                <a:cs typeface="Corbel"/>
              </a:rPr>
              <a:t>th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4" dirty="0">
                <a:latin typeface="Corbel"/>
                <a:cs typeface="Corbel"/>
              </a:rPr>
              <a:t>u</a:t>
            </a:r>
            <a:r>
              <a:rPr dirty="0">
                <a:latin typeface="Corbel"/>
                <a:cs typeface="Corbel"/>
              </a:rPr>
              <a:t>s</a:t>
            </a:r>
            <a:r>
              <a:rPr spc="-10" dirty="0">
                <a:latin typeface="Corbel"/>
                <a:cs typeface="Corbel"/>
              </a:rPr>
              <a:t>er</a:t>
            </a:r>
            <a:endParaRPr dirty="0">
              <a:latin typeface="Corbel"/>
              <a:cs typeface="Corbel"/>
            </a:endParaRPr>
          </a:p>
          <a:p>
            <a:pPr marL="351305" indent="-342900">
              <a:lnSpc>
                <a:spcPts val="2528"/>
              </a:lnSpc>
              <a:buSzPct val="79687"/>
              <a:buFont typeface="Arial" charset="0"/>
              <a:buChar char="•"/>
              <a:tabLst>
                <a:tab pos="220208" algn="l"/>
              </a:tabLst>
              <a:defRPr/>
            </a:pPr>
            <a:r>
              <a:rPr spc="-135" dirty="0">
                <a:latin typeface="Corbel"/>
                <a:cs typeface="Corbel"/>
              </a:rPr>
              <a:t>T</a:t>
            </a:r>
            <a:r>
              <a:rPr dirty="0">
                <a:latin typeface="Corbel"/>
                <a:cs typeface="Corbel"/>
              </a:rPr>
              <a:t>y</a:t>
            </a:r>
            <a:r>
              <a:rPr spc="-17" dirty="0">
                <a:latin typeface="Corbel"/>
                <a:cs typeface="Corbel"/>
              </a:rPr>
              <a:t>p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c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spc="-7" dirty="0">
                <a:latin typeface="Corbel"/>
                <a:cs typeface="Corbel"/>
              </a:rPr>
              <a:t>l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ct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ons</a:t>
            </a:r>
            <a:endParaRPr lang="en-GB" dirty="0">
              <a:latin typeface="Corbel"/>
              <a:cs typeface="Corbel"/>
            </a:endParaRPr>
          </a:p>
          <a:p>
            <a:pPr marL="351305" indent="-342900">
              <a:lnSpc>
                <a:spcPts val="2528"/>
              </a:lnSpc>
              <a:buSzPct val="79687"/>
              <a:buFont typeface="Arial" charset="0"/>
              <a:buChar char="•"/>
              <a:tabLst>
                <a:tab pos="220208" algn="l"/>
              </a:tabLst>
              <a:defRPr/>
            </a:pP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Start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foreground‐only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dirty="0">
                <a:latin typeface="Corbel" charset="0"/>
                <a:ea typeface="Corbel" charset="0"/>
                <a:cs typeface="Corbel" charset="0"/>
              </a:rPr>
              <a:t>behaviors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3FF22-E4A6-902B-E8C1-07CB6609FADA}"/>
              </a:ext>
            </a:extLst>
          </p:cNvPr>
          <p:cNvSpPr/>
          <p:nvPr/>
        </p:nvSpPr>
        <p:spPr>
          <a:xfrm>
            <a:off x="4720778" y="1491353"/>
            <a:ext cx="4757738" cy="2146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/>
              <a:t>@Override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protected void </a:t>
            </a:r>
            <a:r>
              <a:rPr lang="en-GB" sz="1600" b="1" dirty="0" err="1"/>
              <a:t>onResume</a:t>
            </a:r>
            <a:r>
              <a:rPr lang="en-GB" sz="1600" b="1" dirty="0"/>
              <a:t>() { </a:t>
            </a:r>
          </a:p>
          <a:p>
            <a:pPr>
              <a:lnSpc>
                <a:spcPct val="150000"/>
              </a:lnSpc>
            </a:pPr>
            <a:r>
              <a:rPr lang="en-GB" sz="1600" b="1" i="1" dirty="0" err="1">
                <a:solidFill>
                  <a:srgbClr val="0081BE"/>
                </a:solidFill>
              </a:rPr>
              <a:t>super.onResume</a:t>
            </a:r>
            <a:r>
              <a:rPr lang="en-GB" sz="1600" b="1" dirty="0"/>
              <a:t>(); </a:t>
            </a:r>
          </a:p>
          <a:p>
            <a:r>
              <a:rPr lang="en-GB" sz="1600" dirty="0"/>
              <a:t>// The activity has become visible 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// it is now "resumed“</a:t>
            </a:r>
          </a:p>
          <a:p>
            <a:pPr>
              <a:lnSpc>
                <a:spcPct val="150000"/>
              </a:lnSpc>
            </a:pPr>
            <a:r>
              <a:rPr lang="en-GB" sz="1600" dirty="0"/>
              <a:t> }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51B058-AD9C-BF30-764D-2D9EB0AEC75D}"/>
              </a:ext>
            </a:extLst>
          </p:cNvPr>
          <p:cNvSpPr txBox="1">
            <a:spLocks/>
          </p:cNvSpPr>
          <p:nvPr/>
        </p:nvSpPr>
        <p:spPr bwMode="auto">
          <a:xfrm>
            <a:off x="80495" y="3390258"/>
            <a:ext cx="2136201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en-US" sz="2400" dirty="0" err="1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onPause</a:t>
            </a:r>
            <a:r>
              <a:rPr lang="en-US" altLang="en-US" sz="2400" dirty="0">
                <a:solidFill>
                  <a:schemeClr val="tx1"/>
                </a:solidFill>
                <a:latin typeface="Georgia" charset="0"/>
                <a:ea typeface="MS PGothic" charset="-128"/>
                <a:cs typeface="ＭＳ Ｐゴシック" charset="-128"/>
              </a:rPr>
              <a:t>()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103F613-EDB1-5C5F-439C-EE9EAE163687}"/>
              </a:ext>
            </a:extLst>
          </p:cNvPr>
          <p:cNvSpPr txBox="1"/>
          <p:nvPr/>
        </p:nvSpPr>
        <p:spPr>
          <a:xfrm>
            <a:off x="230217" y="3890251"/>
            <a:ext cx="4757738" cy="64120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19787" indent="-211382">
              <a:lnSpc>
                <a:spcPts val="2528"/>
              </a:lnSpc>
              <a:buSzPct val="79687"/>
              <a:buFont typeface="Wingdings 2"/>
              <a:buChar char=""/>
              <a:tabLst>
                <a:tab pos="220208" algn="l"/>
              </a:tabLst>
              <a:defRPr/>
            </a:pPr>
            <a:r>
              <a:rPr dirty="0">
                <a:latin typeface="Corbel"/>
                <a:cs typeface="Corbel"/>
              </a:rPr>
              <a:t>Foc</a:t>
            </a:r>
            <a:r>
              <a:rPr spc="-14" dirty="0">
                <a:latin typeface="Corbel"/>
                <a:cs typeface="Corbel"/>
              </a:rPr>
              <a:t>us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ab</a:t>
            </a:r>
            <a:r>
              <a:rPr dirty="0">
                <a:latin typeface="Corbel"/>
                <a:cs typeface="Corbel"/>
              </a:rPr>
              <a:t>o</a:t>
            </a:r>
            <a:r>
              <a:rPr spc="-14" dirty="0">
                <a:latin typeface="Corbel"/>
                <a:cs typeface="Corbel"/>
              </a:rPr>
              <a:t>u</a:t>
            </a:r>
            <a:r>
              <a:rPr dirty="0">
                <a:latin typeface="Corbel"/>
                <a:cs typeface="Corbel"/>
              </a:rPr>
              <a:t>t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to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s</a:t>
            </a:r>
            <a:r>
              <a:rPr spc="-14" dirty="0">
                <a:latin typeface="Corbel"/>
                <a:cs typeface="Corbel"/>
              </a:rPr>
              <a:t>wi</a:t>
            </a:r>
            <a:r>
              <a:rPr dirty="0">
                <a:latin typeface="Corbel"/>
                <a:cs typeface="Corbel"/>
              </a:rPr>
              <a:t>tch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to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noth</a:t>
            </a:r>
            <a:r>
              <a:rPr spc="-10" dirty="0">
                <a:latin typeface="Corbel"/>
                <a:cs typeface="Corbel"/>
              </a:rPr>
              <a:t>er</a:t>
            </a:r>
            <a:r>
              <a:rPr spc="-199" dirty="0">
                <a:latin typeface="Times New Roman"/>
                <a:cs typeface="Times New Roman"/>
              </a:rPr>
              <a:t> </a:t>
            </a:r>
            <a:r>
              <a:rPr dirty="0">
                <a:latin typeface="Corbel"/>
                <a:cs typeface="Corbel"/>
              </a:rPr>
              <a:t>Act</a:t>
            </a:r>
            <a:r>
              <a:rPr spc="-7" dirty="0">
                <a:latin typeface="Corbel"/>
                <a:cs typeface="Corbel"/>
              </a:rPr>
              <a:t>ivi</a:t>
            </a:r>
            <a:r>
              <a:rPr dirty="0">
                <a:latin typeface="Corbel"/>
                <a:cs typeface="Corbel"/>
              </a:rPr>
              <a:t>ty</a:t>
            </a:r>
          </a:p>
          <a:p>
            <a:pPr marL="219787" indent="-211382">
              <a:lnSpc>
                <a:spcPts val="2528"/>
              </a:lnSpc>
              <a:buSzPct val="79687"/>
              <a:buFont typeface="Wingdings 2"/>
              <a:buChar char=""/>
              <a:tabLst>
                <a:tab pos="220208" algn="l"/>
              </a:tabLst>
              <a:defRPr/>
            </a:pPr>
            <a:r>
              <a:rPr spc="-135" dirty="0">
                <a:latin typeface="Corbel"/>
                <a:cs typeface="Corbel"/>
              </a:rPr>
              <a:t>T</a:t>
            </a:r>
            <a:r>
              <a:rPr dirty="0">
                <a:latin typeface="Corbel"/>
                <a:cs typeface="Corbel"/>
              </a:rPr>
              <a:t>y</a:t>
            </a:r>
            <a:r>
              <a:rPr spc="-17" dirty="0">
                <a:latin typeface="Corbel"/>
                <a:cs typeface="Corbel"/>
              </a:rPr>
              <a:t>p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c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spc="-7" dirty="0">
                <a:latin typeface="Corbel"/>
                <a:cs typeface="Corbel"/>
              </a:rPr>
              <a:t>l</a:t>
            </a:r>
            <a:r>
              <a:rPr spc="-106" dirty="0">
                <a:latin typeface="Times New Roman"/>
                <a:cs typeface="Times New Roman"/>
              </a:rPr>
              <a:t> </a:t>
            </a:r>
            <a:r>
              <a:rPr spc="-17" dirty="0">
                <a:latin typeface="Corbel"/>
                <a:cs typeface="Corbel"/>
              </a:rPr>
              <a:t>a</a:t>
            </a:r>
            <a:r>
              <a:rPr dirty="0">
                <a:latin typeface="Corbel"/>
                <a:cs typeface="Corbel"/>
              </a:rPr>
              <a:t>ct</a:t>
            </a:r>
            <a:r>
              <a:rPr spc="-10" dirty="0">
                <a:latin typeface="Corbel"/>
                <a:cs typeface="Corbel"/>
              </a:rPr>
              <a:t>i</a:t>
            </a:r>
            <a:r>
              <a:rPr dirty="0">
                <a:latin typeface="Corbel"/>
                <a:cs typeface="Corbel"/>
              </a:rPr>
              <a:t>ons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494BA60C-39DA-DD13-C0EB-94259E474EC9}"/>
              </a:ext>
            </a:extLst>
          </p:cNvPr>
          <p:cNvSpPr txBox="1"/>
          <p:nvPr/>
        </p:nvSpPr>
        <p:spPr>
          <a:xfrm>
            <a:off x="776536" y="4531452"/>
            <a:ext cx="3833813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52413" indent="-2413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2413" algn="l"/>
              </a:tabLs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buSzPct val="89000"/>
              <a:buFont typeface="Wingdings" charset="2"/>
              <a:buChar char=""/>
            </a:pPr>
            <a:r>
              <a:rPr lang="en-US" altLang="en-US" sz="1600" dirty="0">
                <a:latin typeface="Corbel" charset="0"/>
                <a:ea typeface="Corbel" charset="0"/>
                <a:cs typeface="Corbel" charset="0"/>
              </a:rPr>
              <a:t>Shutdown</a:t>
            </a:r>
            <a:r>
              <a:rPr lang="en-US" altLang="en-US" sz="16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1600" dirty="0">
                <a:latin typeface="Corbel" charset="0"/>
                <a:ea typeface="Corbel" charset="0"/>
                <a:cs typeface="Corbel" charset="0"/>
              </a:rPr>
              <a:t>foreground‐only</a:t>
            </a:r>
            <a:r>
              <a:rPr lang="en-US" altLang="en-US" sz="1600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sz="1600" dirty="0">
                <a:latin typeface="Corbel" charset="0"/>
                <a:ea typeface="Corbel" charset="0"/>
                <a:cs typeface="Corbel" charset="0"/>
              </a:rPr>
              <a:t>behaviors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751A2-362A-36B3-9B22-E34B97D119B4}"/>
              </a:ext>
            </a:extLst>
          </p:cNvPr>
          <p:cNvSpPr/>
          <p:nvPr/>
        </p:nvSpPr>
        <p:spPr>
          <a:xfrm>
            <a:off x="4813646" y="3839871"/>
            <a:ext cx="4664869" cy="181588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600" dirty="0"/>
              <a:t>@Override </a:t>
            </a:r>
          </a:p>
          <a:p>
            <a:pPr>
              <a:lnSpc>
                <a:spcPct val="150000"/>
              </a:lnSpc>
            </a:pPr>
            <a:r>
              <a:rPr lang="en-GB" sz="1600" b="1" dirty="0"/>
              <a:t>protected void </a:t>
            </a:r>
            <a:r>
              <a:rPr lang="en-GB" sz="1600" b="1" dirty="0" err="1"/>
              <a:t>onPause</a:t>
            </a:r>
            <a:r>
              <a:rPr lang="en-GB" sz="1600" b="1" dirty="0"/>
              <a:t>() { </a:t>
            </a:r>
          </a:p>
          <a:p>
            <a:pPr>
              <a:lnSpc>
                <a:spcPct val="150000"/>
              </a:lnSpc>
            </a:pPr>
            <a:r>
              <a:rPr lang="en-GB" sz="1600" b="1" i="1" dirty="0" err="1">
                <a:solidFill>
                  <a:srgbClr val="0081BE"/>
                </a:solidFill>
              </a:rPr>
              <a:t>super.onPause</a:t>
            </a:r>
            <a:r>
              <a:rPr lang="en-GB" sz="1600" b="1" dirty="0"/>
              <a:t>(); </a:t>
            </a:r>
          </a:p>
          <a:p>
            <a:r>
              <a:rPr lang="en-GB" sz="1600" dirty="0"/>
              <a:t>// Another activity is taking focus </a:t>
            </a:r>
          </a:p>
          <a:p>
            <a:r>
              <a:rPr lang="en-GB" sz="1600" dirty="0"/>
              <a:t>// this activity is about to be "paused" </a:t>
            </a:r>
          </a:p>
          <a:p>
            <a:r>
              <a:rPr lang="en-GB" sz="1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905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06A7-7D78-43A8-EA57-3911CF2F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2D17F-CFC3-C0BF-2D7F-40AC13653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28</a:t>
            </a:fld>
            <a:endParaRPr lang="en"/>
          </a:p>
        </p:txBody>
      </p:sp>
      <p:sp>
        <p:nvSpPr>
          <p:cNvPr id="5" name="Google Shape;367;p71">
            <a:extLst>
              <a:ext uri="{FF2B5EF4-FFF2-40B4-BE49-F238E27FC236}">
                <a16:creationId xmlns:a16="http://schemas.microsoft.com/office/drawing/2014/main" id="{931404D1-C93F-C2C9-3E62-367A7212C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Everything you see is a view</a:t>
            </a:r>
            <a:endParaRPr dirty="0"/>
          </a:p>
        </p:txBody>
      </p:sp>
      <p:sp>
        <p:nvSpPr>
          <p:cNvPr id="6" name="Google Shape;368;p71">
            <a:extLst>
              <a:ext uri="{FF2B5EF4-FFF2-40B4-BE49-F238E27FC236}">
                <a16:creationId xmlns:a16="http://schemas.microsoft.com/office/drawing/2014/main" id="{6409A4E4-7266-498D-ED47-AA80414DA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522796"/>
            <a:ext cx="5647200" cy="17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If you look at your mobile device,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500"/>
              </a:spcBef>
              <a:spcAft>
                <a:spcPts val="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every user interface element that you see is a </a:t>
            </a:r>
            <a:r>
              <a:rPr lang="en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dirty="0">
                <a:solidFill>
                  <a:schemeClr val="dk1"/>
                </a:solidFill>
              </a:rPr>
              <a:t>.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Google Shape;370;p71">
            <a:extLst>
              <a:ext uri="{FF2B5EF4-FFF2-40B4-BE49-F238E27FC236}">
                <a16:creationId xmlns:a16="http://schemas.microsoft.com/office/drawing/2014/main" id="{5A0A535B-078C-A431-738C-60F61B685CAC}"/>
              </a:ext>
            </a:extLst>
          </p:cNvPr>
          <p:cNvSpPr txBox="1"/>
          <p:nvPr/>
        </p:nvSpPr>
        <p:spPr>
          <a:xfrm>
            <a:off x="5409590" y="3853958"/>
            <a:ext cx="11907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Views</a:t>
            </a:r>
            <a:endParaRPr sz="2400" dirty="0"/>
          </a:p>
        </p:txBody>
      </p:sp>
      <p:pic>
        <p:nvPicPr>
          <p:cNvPr id="8" name="Google Shape;371;p71">
            <a:extLst>
              <a:ext uri="{FF2B5EF4-FFF2-40B4-BE49-F238E27FC236}">
                <a16:creationId xmlns:a16="http://schemas.microsoft.com/office/drawing/2014/main" id="{D685A140-1661-7277-0368-A81E1143248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3964" y="2096782"/>
            <a:ext cx="2369555" cy="378049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9" name="Google Shape;372;p71">
            <a:extLst>
              <a:ext uri="{FF2B5EF4-FFF2-40B4-BE49-F238E27FC236}">
                <a16:creationId xmlns:a16="http://schemas.microsoft.com/office/drawing/2014/main" id="{6414673B-7C21-D073-CACF-EC52B64CF6B2}"/>
              </a:ext>
            </a:extLst>
          </p:cNvPr>
          <p:cNvCxnSpPr/>
          <p:nvPr/>
        </p:nvCxnSpPr>
        <p:spPr>
          <a:xfrm flipH="1">
            <a:off x="6389365" y="2705833"/>
            <a:ext cx="1420800" cy="1420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373;p71">
            <a:extLst>
              <a:ext uri="{FF2B5EF4-FFF2-40B4-BE49-F238E27FC236}">
                <a16:creationId xmlns:a16="http://schemas.microsoft.com/office/drawing/2014/main" id="{9A57769D-12FA-F518-1D66-8CE67E093B9B}"/>
              </a:ext>
            </a:extLst>
          </p:cNvPr>
          <p:cNvCxnSpPr/>
          <p:nvPr/>
        </p:nvCxnSpPr>
        <p:spPr>
          <a:xfrm rot="10800000">
            <a:off x="6386634" y="4120758"/>
            <a:ext cx="1338600" cy="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374;p71">
            <a:extLst>
              <a:ext uri="{FF2B5EF4-FFF2-40B4-BE49-F238E27FC236}">
                <a16:creationId xmlns:a16="http://schemas.microsoft.com/office/drawing/2014/main" id="{E3E4877F-713E-4EA3-370E-530B384C943B}"/>
              </a:ext>
            </a:extLst>
          </p:cNvPr>
          <p:cNvCxnSpPr/>
          <p:nvPr/>
        </p:nvCxnSpPr>
        <p:spPr>
          <a:xfrm rot="10800000">
            <a:off x="6389515" y="4120908"/>
            <a:ext cx="979800" cy="9798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92025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AA939-F28B-7234-0467-CA9302D8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F2C56-9F0C-EB3A-DEAB-EEC7F246C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29</a:t>
            </a:fld>
            <a:endParaRPr lang="en"/>
          </a:p>
        </p:txBody>
      </p:sp>
      <p:sp>
        <p:nvSpPr>
          <p:cNvPr id="5" name="Google Shape;379;p72">
            <a:extLst>
              <a:ext uri="{FF2B5EF4-FFF2-40B4-BE49-F238E27FC236}">
                <a16:creationId xmlns:a16="http://schemas.microsoft.com/office/drawing/2014/main" id="{E286075D-28F4-5530-7687-BCE47A58A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view?</a:t>
            </a:r>
            <a:endParaRPr dirty="0"/>
          </a:p>
        </p:txBody>
      </p:sp>
      <p:sp>
        <p:nvSpPr>
          <p:cNvPr id="6" name="Google Shape;380;p72">
            <a:extLst>
              <a:ext uri="{FF2B5EF4-FFF2-40B4-BE49-F238E27FC236}">
                <a16:creationId xmlns:a16="http://schemas.microsoft.com/office/drawing/2014/main" id="{6D89F3BD-BA62-7AD7-7C2B-E8C569BDCC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703400"/>
            <a:ext cx="9461221" cy="34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View</a:t>
            </a:r>
            <a:r>
              <a:rPr lang="en" dirty="0"/>
              <a:t> subclasses are basic user interface building blocks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Display text (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TextView</a:t>
            </a:r>
            <a:r>
              <a:rPr lang="en" dirty="0"/>
              <a:t> class), edit text (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EditText</a:t>
            </a:r>
            <a:r>
              <a:rPr lang="en" dirty="0"/>
              <a:t> class)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Buttons (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Button</a:t>
            </a:r>
            <a:r>
              <a:rPr lang="en" dirty="0"/>
              <a:t> class), </a:t>
            </a:r>
            <a:r>
              <a:rPr lang="en" u="sng" dirty="0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menus</a:t>
            </a:r>
            <a:r>
              <a:rPr lang="en" dirty="0"/>
              <a:t>, other controls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Scrollable (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ScrollView</a:t>
            </a:r>
            <a:r>
              <a:rPr lang="en" dirty="0"/>
              <a:t>, 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8"/>
              </a:rPr>
              <a:t>RecyclerView</a:t>
            </a:r>
            <a:r>
              <a:rPr lang="en" dirty="0"/>
              <a:t>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Show images (</a:t>
            </a: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9"/>
              </a:rPr>
              <a:t>ImageView</a:t>
            </a:r>
            <a:r>
              <a:rPr lang="en" dirty="0"/>
              <a:t>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 dirty="0"/>
              <a:t>Group views (</a:t>
            </a:r>
            <a:r>
              <a:rPr lang="en" u="sng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ConstraintLayout</a:t>
            </a:r>
            <a:r>
              <a:rPr lang="en" dirty="0">
                <a:solidFill>
                  <a:srgbClr val="000000"/>
                </a:solidFill>
              </a:rPr>
              <a:t> and </a:t>
            </a:r>
            <a:r>
              <a:rPr lang="en" u="sng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LinearLayout</a:t>
            </a:r>
            <a:r>
              <a:rPr lang="en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197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7D74F-C579-6752-0118-E16FF90C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DC5A4-B93A-C636-0623-E23825C05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30</a:t>
            </a:fld>
            <a:endParaRPr lang="en"/>
          </a:p>
        </p:txBody>
      </p:sp>
      <p:sp>
        <p:nvSpPr>
          <p:cNvPr id="5" name="Google Shape;386;p73">
            <a:extLst>
              <a:ext uri="{FF2B5EF4-FFF2-40B4-BE49-F238E27FC236}">
                <a16:creationId xmlns:a16="http://schemas.microsoft.com/office/drawing/2014/main" id="{6DDEF336-727A-9640-1FA1-315D7B4ED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Examples of view subclasses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388;p73">
            <a:extLst>
              <a:ext uri="{FF2B5EF4-FFF2-40B4-BE49-F238E27FC236}">
                <a16:creationId xmlns:a16="http://schemas.microsoft.com/office/drawing/2014/main" id="{FF6997C0-F074-1B75-36A3-2292C6C9759A}"/>
              </a:ext>
            </a:extLst>
          </p:cNvPr>
          <p:cNvSpPr txBox="1"/>
          <p:nvPr/>
        </p:nvSpPr>
        <p:spPr>
          <a:xfrm>
            <a:off x="328525" y="1567025"/>
            <a:ext cx="18273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Slider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389;p73">
            <a:extLst>
              <a:ext uri="{FF2B5EF4-FFF2-40B4-BE49-F238E27FC236}">
                <a16:creationId xmlns:a16="http://schemas.microsoft.com/office/drawing/2014/main" id="{BCAFC617-3A88-C1E9-AA93-2C79727573A8}"/>
              </a:ext>
            </a:extLst>
          </p:cNvPr>
          <p:cNvSpPr txBox="1"/>
          <p:nvPr/>
        </p:nvSpPr>
        <p:spPr>
          <a:xfrm>
            <a:off x="4501150" y="1485400"/>
            <a:ext cx="22236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Google Shape;390;p73">
            <a:extLst>
              <a:ext uri="{FF2B5EF4-FFF2-40B4-BE49-F238E27FC236}">
                <a16:creationId xmlns:a16="http://schemas.microsoft.com/office/drawing/2014/main" id="{C5CA8F3C-8C0A-4E57-6111-A87071650A9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4875" y="1567025"/>
            <a:ext cx="15064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91;p73">
            <a:extLst>
              <a:ext uri="{FF2B5EF4-FFF2-40B4-BE49-F238E27FC236}">
                <a16:creationId xmlns:a16="http://schemas.microsoft.com/office/drawing/2014/main" id="{35BEA91A-ED59-89B4-3F3C-6F3C2A85F75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875" y="2408950"/>
            <a:ext cx="231896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92;p73">
            <a:extLst>
              <a:ext uri="{FF2B5EF4-FFF2-40B4-BE49-F238E27FC236}">
                <a16:creationId xmlns:a16="http://schemas.microsoft.com/office/drawing/2014/main" id="{37EABEE9-EE14-20F2-7BB5-310BFDB839E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875" y="3149500"/>
            <a:ext cx="14687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93;p73">
            <a:extLst>
              <a:ext uri="{FF2B5EF4-FFF2-40B4-BE49-F238E27FC236}">
                <a16:creationId xmlns:a16="http://schemas.microsoft.com/office/drawing/2014/main" id="{67703885-248D-69BF-EEBA-F0D975D4D9E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4050" y="1485399"/>
            <a:ext cx="1506450" cy="64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4;p73">
            <a:extLst>
              <a:ext uri="{FF2B5EF4-FFF2-40B4-BE49-F238E27FC236}">
                <a16:creationId xmlns:a16="http://schemas.microsoft.com/office/drawing/2014/main" id="{673548AD-98DB-247F-EE79-4484229D05D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050" y="2408950"/>
            <a:ext cx="1506450" cy="64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95;p73">
            <a:extLst>
              <a:ext uri="{FF2B5EF4-FFF2-40B4-BE49-F238E27FC236}">
                <a16:creationId xmlns:a16="http://schemas.microsoft.com/office/drawing/2014/main" id="{A1E5057A-83A1-D34A-88A2-AC136F6201B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4039" y="3206225"/>
            <a:ext cx="825782" cy="108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7976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49CE2-6F20-E709-B234-89CE3644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1F8D8-2897-24E6-4AD6-7CB64C8255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31</a:t>
            </a:fld>
            <a:endParaRPr lang="en"/>
          </a:p>
        </p:txBody>
      </p:sp>
      <p:sp>
        <p:nvSpPr>
          <p:cNvPr id="5" name="Google Shape;400;p74">
            <a:extLst>
              <a:ext uri="{FF2B5EF4-FFF2-40B4-BE49-F238E27FC236}">
                <a16:creationId xmlns:a16="http://schemas.microsoft.com/office/drawing/2014/main" id="{BEFD6249-02E1-4786-8EA9-D0493AE63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View attributes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401;p74">
            <a:extLst>
              <a:ext uri="{FF2B5EF4-FFF2-40B4-BE49-F238E27FC236}">
                <a16:creationId xmlns:a16="http://schemas.microsoft.com/office/drawing/2014/main" id="{03F72692-1F49-73FB-9E06-6019A2305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7208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Color, dimensions, positioning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May have focus (e.g., selected to receive user input)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May be interactive (respond to user clicks)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May be visible or not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Relationships to other views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0501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7E19-DB6C-A520-AE83-8B355306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8EF14-4CA3-38D5-F8EA-4006F5F65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32</a:t>
            </a:fld>
            <a:endParaRPr lang="en"/>
          </a:p>
        </p:txBody>
      </p:sp>
      <p:sp>
        <p:nvSpPr>
          <p:cNvPr id="5" name="Google Shape;407;p75">
            <a:extLst>
              <a:ext uri="{FF2B5EF4-FFF2-40B4-BE49-F238E27FC236}">
                <a16:creationId xmlns:a16="http://schemas.microsoft.com/office/drawing/2014/main" id="{8800FCF8-1668-BC97-59C9-B20D4326DC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Create views and layouts</a:t>
            </a:r>
            <a:endParaRPr dirty="0"/>
          </a:p>
        </p:txBody>
      </p:sp>
      <p:sp>
        <p:nvSpPr>
          <p:cNvPr id="6" name="Google Shape;408;p75">
            <a:extLst>
              <a:ext uri="{FF2B5EF4-FFF2-40B4-BE49-F238E27FC236}">
                <a16:creationId xmlns:a16="http://schemas.microsoft.com/office/drawing/2014/main" id="{C20E71BF-D562-887D-7ABF-341479D54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442" y="1484784"/>
            <a:ext cx="935507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Android Studio layout editor: visual representation of XML 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XML editor</a:t>
            </a: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Java code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30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4162-881A-FDA9-2A96-2F2E1DE5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4F79F-6E9A-0DCE-8D0B-21ABDA3BA7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33</a:t>
            </a:fld>
            <a:endParaRPr lang="en"/>
          </a:p>
        </p:txBody>
      </p:sp>
      <p:sp>
        <p:nvSpPr>
          <p:cNvPr id="7" name="Google Shape;414;p76">
            <a:extLst>
              <a:ext uri="{FF2B5EF4-FFF2-40B4-BE49-F238E27FC236}">
                <a16:creationId xmlns:a16="http://schemas.microsoft.com/office/drawing/2014/main" id="{E2F38B0E-E765-320D-83A5-E3BADAB61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Android Studio layout editor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Google Shape;416;p76">
            <a:extLst>
              <a:ext uri="{FF2B5EF4-FFF2-40B4-BE49-F238E27FC236}">
                <a16:creationId xmlns:a16="http://schemas.microsoft.com/office/drawing/2014/main" id="{290ED9DC-F2F9-A69B-A8D9-8254E847685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700" y="1340768"/>
            <a:ext cx="5577404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17;p76">
            <a:extLst>
              <a:ext uri="{FF2B5EF4-FFF2-40B4-BE49-F238E27FC236}">
                <a16:creationId xmlns:a16="http://schemas.microsoft.com/office/drawing/2014/main" id="{4766F903-0BF0-3675-E963-6960B73AE1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77136" y="1722866"/>
            <a:ext cx="3595785" cy="3362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dirty="0">
                <a:solidFill>
                  <a:schemeClr val="dk1"/>
                </a:solidFill>
              </a:rPr>
              <a:t>XML layout file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 dirty="0">
                <a:solidFill>
                  <a:schemeClr val="dk1"/>
                </a:solidFill>
              </a:rPr>
              <a:t>Design</a:t>
            </a:r>
            <a:r>
              <a:rPr lang="en" sz="2000" dirty="0">
                <a:solidFill>
                  <a:schemeClr val="dk1"/>
                </a:solidFill>
              </a:rPr>
              <a:t> and </a:t>
            </a:r>
            <a:r>
              <a:rPr lang="en" sz="2000" b="1" dirty="0">
                <a:solidFill>
                  <a:schemeClr val="dk1"/>
                </a:solidFill>
              </a:rPr>
              <a:t>Text</a:t>
            </a:r>
            <a:r>
              <a:rPr lang="en" sz="2000" dirty="0">
                <a:solidFill>
                  <a:schemeClr val="dk1"/>
                </a:solidFill>
              </a:rPr>
              <a:t> tabs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 dirty="0">
                <a:solidFill>
                  <a:schemeClr val="dk1"/>
                </a:solidFill>
              </a:rPr>
              <a:t>Palette</a:t>
            </a:r>
            <a:r>
              <a:rPr lang="en" sz="2000" dirty="0">
                <a:solidFill>
                  <a:schemeClr val="dk1"/>
                </a:solidFill>
              </a:rPr>
              <a:t> pane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 dirty="0">
                <a:solidFill>
                  <a:schemeClr val="dk1"/>
                </a:solidFill>
              </a:rPr>
              <a:t>Component Tree</a:t>
            </a:r>
            <a:r>
              <a:rPr lang="en" sz="2000" dirty="0">
                <a:solidFill>
                  <a:schemeClr val="dk1"/>
                </a:solidFill>
              </a:rPr>
              <a:t>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dirty="0">
                <a:solidFill>
                  <a:schemeClr val="dk1"/>
                </a:solidFill>
              </a:rPr>
              <a:t>Design and blueprint panes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 b="1" dirty="0">
                <a:solidFill>
                  <a:schemeClr val="dk1"/>
                </a:solidFill>
              </a:rPr>
              <a:t>Attributes</a:t>
            </a:r>
            <a:r>
              <a:rPr lang="en" sz="2000" dirty="0">
                <a:solidFill>
                  <a:schemeClr val="dk1"/>
                </a:solidFill>
              </a:rPr>
              <a:t> tab</a:t>
            </a:r>
            <a:endParaRPr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432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6CA7-99AE-235C-409C-6A471F63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4FF8A-D66F-E3E4-C9C4-9985692F28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34</a:t>
            </a:fld>
            <a:endParaRPr lang="en"/>
          </a:p>
        </p:txBody>
      </p:sp>
      <p:sp>
        <p:nvSpPr>
          <p:cNvPr id="5" name="Google Shape;422;p77">
            <a:extLst>
              <a:ext uri="{FF2B5EF4-FFF2-40B4-BE49-F238E27FC236}">
                <a16:creationId xmlns:a16="http://schemas.microsoft.com/office/drawing/2014/main" id="{B9792D6E-3897-C483-B04F-895CD2723F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View defined in XML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423;p77">
            <a:extLst>
              <a:ext uri="{FF2B5EF4-FFF2-40B4-BE49-F238E27FC236}">
                <a16:creationId xmlns:a16="http://schemas.microsoft.com/office/drawing/2014/main" id="{CE88DD41-3D9F-6330-7882-9482C1EBF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908" y="1772816"/>
            <a:ext cx="85206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&lt;TextView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android:id="@+id/show_count"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android:layout_width="match_parent"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android:layout_height="wrap_content"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android:background="@color/myBackgroundColor"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android:text="@string/count_initial_value"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android:textColor="@color/colorPrimary"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android:textSize="@dimen/count_text_size"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android:textStyle="bold" 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60983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AB45C-332A-3EEE-1F85-31FC484A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4EB1-E6C6-A06D-3306-BFA65BD6E5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35</a:t>
            </a:fld>
            <a:endParaRPr lang="en"/>
          </a:p>
        </p:txBody>
      </p:sp>
      <p:sp>
        <p:nvSpPr>
          <p:cNvPr id="5" name="Google Shape;429;p78">
            <a:extLst>
              <a:ext uri="{FF2B5EF4-FFF2-40B4-BE49-F238E27FC236}">
                <a16:creationId xmlns:a16="http://schemas.microsoft.com/office/drawing/2014/main" id="{DF980388-627C-DC65-CA2D-F4EB0D399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View attributes in XML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431;p78">
            <a:extLst>
              <a:ext uri="{FF2B5EF4-FFF2-40B4-BE49-F238E27FC236}">
                <a16:creationId xmlns:a16="http://schemas.microsoft.com/office/drawing/2014/main" id="{119284CF-4ED6-6116-BBE3-F1493072DF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075" y="1662300"/>
            <a:ext cx="8520600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android:&lt;property_name&gt;="&lt;property_value&gt;"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android:layout_width="match_parent"</a:t>
            </a:r>
            <a:endParaRPr sz="22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android:&lt;property_name&gt;="@&lt;resource_type&gt;/resource_id"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android:text="@string/button_label_next"</a:t>
            </a:r>
            <a:endParaRPr sz="2200" b="1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android:&lt;property_name&gt;="@+id/view_id"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latin typeface="Consolas"/>
                <a:ea typeface="Consolas"/>
                <a:cs typeface="Consolas"/>
                <a:sym typeface="Consolas"/>
              </a:rPr>
              <a:t>Example: </a:t>
            </a:r>
            <a:r>
              <a:rPr lang="en" sz="22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android:id="@+id/show_count"</a:t>
            </a:r>
            <a:endParaRPr sz="22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843411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D013-0F0E-CDDA-912E-127A24348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05ABE-7A4E-1C05-6D04-73DD0A5CF1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36</a:t>
            </a:fld>
            <a:endParaRPr lang="en"/>
          </a:p>
        </p:txBody>
      </p:sp>
      <p:sp>
        <p:nvSpPr>
          <p:cNvPr id="5" name="Google Shape;436;p79">
            <a:extLst>
              <a:ext uri="{FF2B5EF4-FFF2-40B4-BE49-F238E27FC236}">
                <a16:creationId xmlns:a16="http://schemas.microsoft.com/office/drawing/2014/main" id="{D8A9D904-6DF1-5811-52E8-C9B105B50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Create View in Java code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437;p79">
            <a:extLst>
              <a:ext uri="{FF2B5EF4-FFF2-40B4-BE49-F238E27FC236}">
                <a16:creationId xmlns:a16="http://schemas.microsoft.com/office/drawing/2014/main" id="{04C757A2-0C45-0DBA-1161-674E638B3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916832"/>
            <a:ext cx="84234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 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: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TextView myText = new TextView(</a:t>
            </a: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myText.setText("Display this text!");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439;p79">
            <a:extLst>
              <a:ext uri="{FF2B5EF4-FFF2-40B4-BE49-F238E27FC236}">
                <a16:creationId xmlns:a16="http://schemas.microsoft.com/office/drawing/2014/main" id="{A8B3816A-79CF-3B46-9EE6-C8016A829A42}"/>
              </a:ext>
            </a:extLst>
          </p:cNvPr>
          <p:cNvSpPr txBox="1"/>
          <p:nvPr/>
        </p:nvSpPr>
        <p:spPr>
          <a:xfrm>
            <a:off x="5287625" y="1556982"/>
            <a:ext cx="128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999999"/>
                </a:solidFill>
              </a:rPr>
              <a:t>context</a:t>
            </a:r>
            <a:endParaRPr sz="2400" i="1">
              <a:solidFill>
                <a:srgbClr val="999999"/>
              </a:solidFill>
            </a:endParaRPr>
          </a:p>
        </p:txBody>
      </p:sp>
      <p:cxnSp>
        <p:nvCxnSpPr>
          <p:cNvPr id="8" name="Google Shape;440;p79">
            <a:extLst>
              <a:ext uri="{FF2B5EF4-FFF2-40B4-BE49-F238E27FC236}">
                <a16:creationId xmlns:a16="http://schemas.microsoft.com/office/drawing/2014/main" id="{B5855DAA-D043-D2CB-2A26-1B627B5F9CE4}"/>
              </a:ext>
            </a:extLst>
          </p:cNvPr>
          <p:cNvCxnSpPr/>
          <p:nvPr/>
        </p:nvCxnSpPr>
        <p:spPr>
          <a:xfrm flipH="1">
            <a:off x="5919425" y="2111082"/>
            <a:ext cx="11100" cy="487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57175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53A5-EE78-A89D-7506-2062E7E1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6AB7A-51A2-BEF6-9329-5F6B305B06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37</a:t>
            </a:fld>
            <a:endParaRPr lang="en"/>
          </a:p>
        </p:txBody>
      </p:sp>
      <p:sp>
        <p:nvSpPr>
          <p:cNvPr id="5" name="Google Shape;445;p80">
            <a:extLst>
              <a:ext uri="{FF2B5EF4-FFF2-40B4-BE49-F238E27FC236}">
                <a16:creationId xmlns:a16="http://schemas.microsoft.com/office/drawing/2014/main" id="{ED215F2E-6EC2-1FE6-066E-C508397450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What is the context? 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446;p80">
            <a:extLst>
              <a:ext uri="{FF2B5EF4-FFF2-40B4-BE49-F238E27FC236}">
                <a16:creationId xmlns:a16="http://schemas.microsoft.com/office/drawing/2014/main" id="{90A947D8-D631-7355-C651-A73A8A9009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556792"/>
            <a:ext cx="9505056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 dirty="0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2"/>
              </a:rPr>
              <a:t>Context</a:t>
            </a:r>
            <a:r>
              <a:rPr lang="en" dirty="0"/>
              <a:t> is an interface to global information about an application environment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Get the context: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Context context = getApplicationContext();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An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dirty="0"/>
              <a:t> is its own context:</a:t>
            </a:r>
            <a:br>
              <a:rPr lang="en" dirty="0"/>
            </a:b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TextView myText = new TextView(</a:t>
            </a:r>
            <a:r>
              <a:rPr lang="en" b="1" dirty="0"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903601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3D45-3B4B-439E-F474-C54A60AE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E59D-9F46-371F-0BAB-CF41DE63F2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38</a:t>
            </a:fld>
            <a:endParaRPr lang="en"/>
          </a:p>
        </p:txBody>
      </p:sp>
      <p:sp>
        <p:nvSpPr>
          <p:cNvPr id="5" name="Google Shape;465;p83">
            <a:extLst>
              <a:ext uri="{FF2B5EF4-FFF2-40B4-BE49-F238E27FC236}">
                <a16:creationId xmlns:a16="http://schemas.microsoft.com/office/drawing/2014/main" id="{A6FA07D7-CC2C-A33C-9B91-2C3D27E603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ViewGroup contains "child" views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466;p83">
            <a:extLst>
              <a:ext uri="{FF2B5EF4-FFF2-40B4-BE49-F238E27FC236}">
                <a16:creationId xmlns:a16="http://schemas.microsoft.com/office/drawing/2014/main" id="{F23EF127-9E84-0955-C0D8-DDD10EFED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28" y="1844824"/>
            <a:ext cx="943304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ConstraintLayout</a:t>
            </a:r>
            <a:r>
              <a:rPr lang="en" dirty="0">
                <a:solidFill>
                  <a:srgbClr val="000000"/>
                </a:solidFill>
              </a:rPr>
              <a:t>: P</a:t>
            </a:r>
            <a:r>
              <a:rPr lang="en" dirty="0"/>
              <a:t>ositions</a:t>
            </a:r>
            <a:r>
              <a:rPr lang="en" dirty="0">
                <a:solidFill>
                  <a:srgbClr val="000000"/>
                </a:solidFill>
              </a:rPr>
              <a:t> UI elements using constraint connections to other elements and to the layout edges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ScrollView</a:t>
            </a:r>
            <a:r>
              <a:rPr lang="en" dirty="0">
                <a:solidFill>
                  <a:srgbClr val="000000"/>
                </a:solidFill>
              </a:rPr>
              <a:t>: Contains one element and enables scrolling 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" u="sng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RecyclerView</a:t>
            </a:r>
            <a:r>
              <a:rPr lang="en" dirty="0">
                <a:solidFill>
                  <a:srgbClr val="000000"/>
                </a:solidFill>
              </a:rPr>
              <a:t>: Contains a list of elements and enables scrolling by adding and removing elements dynamically </a:t>
            </a: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722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839B-7EF4-3F9A-5B9F-9830CDFC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195B-8F41-E522-0B2F-4990EB497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39</a:t>
            </a:fld>
            <a:endParaRPr lang="en"/>
          </a:p>
        </p:txBody>
      </p:sp>
      <p:sp>
        <p:nvSpPr>
          <p:cNvPr id="5" name="Google Shape;472;p84">
            <a:extLst>
              <a:ext uri="{FF2B5EF4-FFF2-40B4-BE49-F238E27FC236}">
                <a16:creationId xmlns:a16="http://schemas.microsoft.com/office/drawing/2014/main" id="{6FA0B0E3-403B-70B0-D1CC-5AD924900D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ViewGroups for layouts </a:t>
            </a:r>
            <a:endParaRPr dirty="0"/>
          </a:p>
        </p:txBody>
      </p:sp>
      <p:sp>
        <p:nvSpPr>
          <p:cNvPr id="6" name="Google Shape;473;p84">
            <a:extLst>
              <a:ext uri="{FF2B5EF4-FFF2-40B4-BE49-F238E27FC236}">
                <a16:creationId xmlns:a16="http://schemas.microsoft.com/office/drawing/2014/main" id="{1A8FE044-FDD7-067A-55B3-DF4491145D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084" y="1720800"/>
            <a:ext cx="941344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 b="1" dirty="0"/>
              <a:t>Layouts</a:t>
            </a:r>
            <a:r>
              <a:rPr lang="en" dirty="0"/>
              <a:t> 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are specific types of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ViewGroups</a:t>
            </a:r>
            <a:r>
              <a:rPr lang="en" dirty="0"/>
              <a:t> (subclasses of </a:t>
            </a:r>
            <a:r>
              <a:rPr lang="en" u="sng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ViewGroup</a:t>
            </a:r>
            <a:r>
              <a:rPr lang="en" dirty="0"/>
              <a:t>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contain child views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can be in a row, column, grid, table, absolute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2197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C705-86BA-41CF-8ABF-790BB4EF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1A6-F6C1-1537-10FB-3450C75F0D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40</a:t>
            </a:fld>
            <a:endParaRPr lang="en"/>
          </a:p>
        </p:txBody>
      </p:sp>
      <p:sp>
        <p:nvSpPr>
          <p:cNvPr id="5" name="Google Shape;479;p85">
            <a:extLst>
              <a:ext uri="{FF2B5EF4-FFF2-40B4-BE49-F238E27FC236}">
                <a16:creationId xmlns:a16="http://schemas.microsoft.com/office/drawing/2014/main" id="{F9482C58-B6EE-5A78-45E2-C269543C7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Common Layout Classes</a:t>
            </a:r>
            <a:endParaRPr dirty="0"/>
          </a:p>
        </p:txBody>
      </p:sp>
      <p:pic>
        <p:nvPicPr>
          <p:cNvPr id="6" name="Google Shape;481;p85">
            <a:extLst>
              <a:ext uri="{FF2B5EF4-FFF2-40B4-BE49-F238E27FC236}">
                <a16:creationId xmlns:a16="http://schemas.microsoft.com/office/drawing/2014/main" id="{C690C06A-64D9-409D-DD44-1281E72B453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9984" y="1772816"/>
            <a:ext cx="1952225" cy="1954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82;p85">
            <a:extLst>
              <a:ext uri="{FF2B5EF4-FFF2-40B4-BE49-F238E27FC236}">
                <a16:creationId xmlns:a16="http://schemas.microsoft.com/office/drawing/2014/main" id="{5AC39A55-6555-BF2C-B413-645AC2410E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738" y="1772817"/>
            <a:ext cx="1952222" cy="195412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83;p85">
            <a:extLst>
              <a:ext uri="{FF2B5EF4-FFF2-40B4-BE49-F238E27FC236}">
                <a16:creationId xmlns:a16="http://schemas.microsoft.com/office/drawing/2014/main" id="{11E21691-C959-29DA-134C-F59A1744DDA4}"/>
              </a:ext>
            </a:extLst>
          </p:cNvPr>
          <p:cNvSpPr txBox="1"/>
          <p:nvPr/>
        </p:nvSpPr>
        <p:spPr>
          <a:xfrm>
            <a:off x="186246" y="3933056"/>
            <a:ext cx="2279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LinearLayout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484;p85">
            <a:extLst>
              <a:ext uri="{FF2B5EF4-FFF2-40B4-BE49-F238E27FC236}">
                <a16:creationId xmlns:a16="http://schemas.microsoft.com/office/drawing/2014/main" id="{DAD989B2-9D0B-6FEB-A0FB-960AFD29E0D6}"/>
              </a:ext>
            </a:extLst>
          </p:cNvPr>
          <p:cNvSpPr txBox="1"/>
          <p:nvPr/>
        </p:nvSpPr>
        <p:spPr>
          <a:xfrm>
            <a:off x="2302209" y="3933056"/>
            <a:ext cx="242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" name="Google Shape;485;p85">
            <a:extLst>
              <a:ext uri="{FF2B5EF4-FFF2-40B4-BE49-F238E27FC236}">
                <a16:creationId xmlns:a16="http://schemas.microsoft.com/office/drawing/2014/main" id="{263B6070-C247-CB7E-D3E0-4A9120FDA0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484" y="1772817"/>
            <a:ext cx="1952223" cy="1954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486;p85">
            <a:extLst>
              <a:ext uri="{FF2B5EF4-FFF2-40B4-BE49-F238E27FC236}">
                <a16:creationId xmlns:a16="http://schemas.microsoft.com/office/drawing/2014/main" id="{20290235-357A-0D87-E0CD-B10112F6CB85}"/>
              </a:ext>
            </a:extLst>
          </p:cNvPr>
          <p:cNvSpPr txBox="1"/>
          <p:nvPr/>
        </p:nvSpPr>
        <p:spPr>
          <a:xfrm>
            <a:off x="4808984" y="3933056"/>
            <a:ext cx="168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GridLayout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" name="Google Shape;487;p85">
            <a:extLst>
              <a:ext uri="{FF2B5EF4-FFF2-40B4-BE49-F238E27FC236}">
                <a16:creationId xmlns:a16="http://schemas.microsoft.com/office/drawing/2014/main" id="{C9B09C48-5452-C629-EE48-2642A6FA673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5234" y="1772816"/>
            <a:ext cx="1952101" cy="19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488;p85">
            <a:extLst>
              <a:ext uri="{FF2B5EF4-FFF2-40B4-BE49-F238E27FC236}">
                <a16:creationId xmlns:a16="http://schemas.microsoft.com/office/drawing/2014/main" id="{0B6E2362-F665-86ED-CF1E-2746C5F7226A}"/>
              </a:ext>
            </a:extLst>
          </p:cNvPr>
          <p:cNvSpPr txBox="1"/>
          <p:nvPr/>
        </p:nvSpPr>
        <p:spPr>
          <a:xfrm>
            <a:off x="6835305" y="3933056"/>
            <a:ext cx="1952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TableLayout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048588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6440-AC2B-A2B3-BC93-6C5EB976F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9A2BA-E5DE-49F9-CE6B-EC2A48F80B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41</a:t>
            </a:fld>
            <a:endParaRPr lang="en"/>
          </a:p>
        </p:txBody>
      </p:sp>
      <p:sp>
        <p:nvSpPr>
          <p:cNvPr id="5" name="Google Shape;496;p86">
            <a:extLst>
              <a:ext uri="{FF2B5EF4-FFF2-40B4-BE49-F238E27FC236}">
                <a16:creationId xmlns:a16="http://schemas.microsoft.com/office/drawing/2014/main" id="{35FC1D2B-00FB-50BB-0526-0A8E9A7B28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Common Layout Classes</a:t>
            </a:r>
            <a:endParaRPr dirty="0"/>
          </a:p>
        </p:txBody>
      </p:sp>
      <p:sp>
        <p:nvSpPr>
          <p:cNvPr id="6" name="Google Shape;497;p86">
            <a:extLst>
              <a:ext uri="{FF2B5EF4-FFF2-40B4-BE49-F238E27FC236}">
                <a16:creationId xmlns:a16="http://schemas.microsoft.com/office/drawing/2014/main" id="{45BE8806-0CEC-70FC-5C94-D0DA087CE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24478" y="1340768"/>
            <a:ext cx="9930477" cy="34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i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r>
              <a:rPr lang="en" dirty="0">
                <a:solidFill>
                  <a:srgbClr val="000000"/>
                </a:solidFill>
              </a:rPr>
              <a:t>: </a:t>
            </a:r>
            <a:r>
              <a:rPr lang="en" dirty="0"/>
              <a:t>Connect views with constraints </a:t>
            </a:r>
            <a:endParaRPr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i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dirty="0">
                <a:solidFill>
                  <a:srgbClr val="000000"/>
                </a:solidFill>
              </a:rPr>
              <a:t>: Horizontal or vertical row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i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RelativeLayout</a:t>
            </a:r>
            <a:r>
              <a:rPr lang="en" dirty="0">
                <a:solidFill>
                  <a:srgbClr val="000000"/>
                </a:solidFill>
              </a:rPr>
              <a:t>: Child views relative to each other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i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TableLayout</a:t>
            </a:r>
            <a:r>
              <a:rPr lang="en" dirty="0">
                <a:solidFill>
                  <a:srgbClr val="000000"/>
                </a:solidFill>
              </a:rPr>
              <a:t>: Rows and columns</a:t>
            </a:r>
            <a:endParaRPr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i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FrameLayout</a:t>
            </a:r>
            <a:r>
              <a:rPr lang="en" dirty="0">
                <a:solidFill>
                  <a:srgbClr val="000000"/>
                </a:solidFill>
              </a:rPr>
              <a:t>: Shows one child of a stack of children</a:t>
            </a:r>
            <a:endParaRPr lang="en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GB" i="1" dirty="0">
                <a:solidFill>
                  <a:srgbClr val="0081BE"/>
                </a:solidFill>
                <a:latin typeface="Consolas" panose="020B0609020204030204" pitchFamily="49" charset="0"/>
              </a:rPr>
              <a:t>Absolute Layout</a:t>
            </a:r>
            <a:r>
              <a:rPr lang="en-GB" i="1" dirty="0"/>
              <a:t>: </a:t>
            </a:r>
            <a:r>
              <a:rPr lang="en-GB" dirty="0"/>
              <a:t>enables you to specify the exact location of its children.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GB" dirty="0"/>
              <a:t> </a:t>
            </a:r>
            <a:r>
              <a:rPr lang="en-GB" i="1" dirty="0">
                <a:solidFill>
                  <a:srgbClr val="0081BE"/>
                </a:solidFill>
                <a:latin typeface="Consolas" panose="020B0609020204030204" pitchFamily="49" charset="0"/>
              </a:rPr>
              <a:t>List View Layout </a:t>
            </a:r>
            <a:r>
              <a:rPr lang="en-GB" b="1" i="1" dirty="0"/>
              <a:t>: </a:t>
            </a:r>
            <a:r>
              <a:rPr lang="en-GB" dirty="0"/>
              <a:t>displays a list of scrollable items.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GB" i="1" dirty="0">
                <a:solidFill>
                  <a:srgbClr val="0081BE"/>
                </a:solidFill>
                <a:latin typeface="Consolas" panose="020B0609020204030204" pitchFamily="49" charset="0"/>
              </a:rPr>
              <a:t>Grid View Layout </a:t>
            </a:r>
            <a:r>
              <a:rPr lang="en-GB" b="1" i="1" dirty="0"/>
              <a:t>: </a:t>
            </a:r>
            <a:r>
              <a:rPr lang="en-GB" dirty="0"/>
              <a:t>displays items in a two-dimensional, scrollable grid</a:t>
            </a: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041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B7D1-E1B9-1651-44B7-CAF1819B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01EE5-4459-0C94-6D17-1EE431CC6C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42</a:t>
            </a:fld>
            <a:endParaRPr lang="en"/>
          </a:p>
        </p:txBody>
      </p:sp>
      <p:sp>
        <p:nvSpPr>
          <p:cNvPr id="5" name="Google Shape;503;p87">
            <a:extLst>
              <a:ext uri="{FF2B5EF4-FFF2-40B4-BE49-F238E27FC236}">
                <a16:creationId xmlns:a16="http://schemas.microsoft.com/office/drawing/2014/main" id="{A2032478-7B4D-AE36-865D-BAB1405B6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93938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Class hierarchy vs. layout hierarchy</a:t>
            </a:r>
            <a:endParaRPr dirty="0"/>
          </a:p>
        </p:txBody>
      </p:sp>
      <p:sp>
        <p:nvSpPr>
          <p:cNvPr id="6" name="Google Shape;504;p87">
            <a:extLst>
              <a:ext uri="{FF2B5EF4-FFF2-40B4-BE49-F238E27FC236}">
                <a16:creationId xmlns:a16="http://schemas.microsoft.com/office/drawing/2014/main" id="{D96463A5-AE35-3A36-E042-73AE18513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457" y="1772816"/>
            <a:ext cx="9716464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dirty="0">
                <a:solidFill>
                  <a:schemeClr val="dk1"/>
                </a:solidFill>
              </a:rPr>
              <a:t> class-hierarchy is standard object-oriented class inheritance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For example,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dirty="0">
                <a:solidFill>
                  <a:schemeClr val="dk1"/>
                </a:solidFill>
              </a:rPr>
              <a:t> is-a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en" dirty="0">
                <a:solidFill>
                  <a:schemeClr val="dk1"/>
                </a:solidFill>
              </a:rPr>
              <a:t> is-a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dirty="0">
                <a:solidFill>
                  <a:schemeClr val="dk1"/>
                </a:solidFill>
              </a:rPr>
              <a:t> is-an Object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Superclass-subclass relationship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dirty="0">
                <a:solidFill>
                  <a:schemeClr val="dk1"/>
                </a:solidFill>
              </a:rPr>
              <a:t>Layout hierarchy is how views are visually arranged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For example,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en" dirty="0">
                <a:solidFill>
                  <a:schemeClr val="dk1"/>
                </a:solidFill>
              </a:rPr>
              <a:t> can contain </a:t>
            </a:r>
            <a:r>
              <a:rPr lang="en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en" dirty="0">
                <a:solidFill>
                  <a:schemeClr val="dk1"/>
                </a:solidFill>
              </a:rPr>
              <a:t>s arranged in a row</a:t>
            </a:r>
            <a:endParaRPr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dirty="0">
                <a:solidFill>
                  <a:schemeClr val="dk1"/>
                </a:solidFill>
              </a:rPr>
              <a:t>Parent-child relationship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812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F0C3-FF5F-C8A8-7B4F-FC5DE427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F44CE-BE57-0526-39EC-DD68666488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43</a:t>
            </a:fld>
            <a:endParaRPr lang="en"/>
          </a:p>
        </p:txBody>
      </p:sp>
      <p:sp>
        <p:nvSpPr>
          <p:cNvPr id="5" name="Google Shape;530;p89">
            <a:extLst>
              <a:ext uri="{FF2B5EF4-FFF2-40B4-BE49-F238E27FC236}">
                <a16:creationId xmlns:a16="http://schemas.microsoft.com/office/drawing/2014/main" id="{54B31768-92A4-EF48-1A34-57CD3D9265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View hierarchy and screen layout</a:t>
            </a:r>
            <a:endParaRPr dirty="0"/>
          </a:p>
        </p:txBody>
      </p:sp>
      <p:pic>
        <p:nvPicPr>
          <p:cNvPr id="6" name="Google Shape;532;p89">
            <a:extLst>
              <a:ext uri="{FF2B5EF4-FFF2-40B4-BE49-F238E27FC236}">
                <a16:creationId xmlns:a16="http://schemas.microsoft.com/office/drawing/2014/main" id="{AF477839-4779-7524-5D82-CE23C47FE1B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536" y="1700808"/>
            <a:ext cx="7560840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7427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6899B-A144-F7A4-0996-D673062975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44</a:t>
            </a:fld>
            <a:endParaRPr lang="e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F30541-4FC1-2874-F025-41C6C2C4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27013"/>
            <a:ext cx="3908412" cy="677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err="1"/>
              <a:t>ConstraintLayout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4A716-76DC-ED4B-487D-1AD64312F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8971"/>
            <a:ext cx="8280919" cy="44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9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4A47-41EE-9CD6-81CE-D3E7430E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1" dirty="0" err="1"/>
              <a:t>LinearLayout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D0AFB-8A25-DFD2-3707-ACD736286C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AC737-2252-9AD5-4D26-2DC896ED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3" y="1454587"/>
            <a:ext cx="4658271" cy="3918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84656-0A31-084E-53AF-C6185EB38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044" y="1263296"/>
            <a:ext cx="4297309" cy="40379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CD75C6-24A3-BC02-87DE-4D241104FC52}"/>
              </a:ext>
            </a:extLst>
          </p:cNvPr>
          <p:cNvSpPr/>
          <p:nvPr/>
        </p:nvSpPr>
        <p:spPr>
          <a:xfrm>
            <a:off x="1769408" y="5441637"/>
            <a:ext cx="20425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i="1" dirty="0" err="1"/>
              <a:t>LinearLayout</a:t>
            </a:r>
            <a:r>
              <a:rPr lang="en-GB" sz="1400" b="1" i="1" dirty="0"/>
              <a:t>: vertical</a:t>
            </a:r>
            <a:endParaRPr lang="en-GB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E3F88C-9BD5-C900-7D55-316AD7378715}"/>
              </a:ext>
            </a:extLst>
          </p:cNvPr>
          <p:cNvSpPr/>
          <p:nvPr/>
        </p:nvSpPr>
        <p:spPr>
          <a:xfrm>
            <a:off x="5796136" y="5429202"/>
            <a:ext cx="22701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b="1" i="1" dirty="0" err="1"/>
              <a:t>LinearLayout</a:t>
            </a:r>
            <a:r>
              <a:rPr lang="en-GB" sz="1400" b="1" i="1" dirty="0"/>
              <a:t>: horizontal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528576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9D7C-1959-E1A7-9877-8E2F290F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1" dirty="0" err="1"/>
              <a:t>RelativeLayout</a:t>
            </a:r>
            <a:br>
              <a:rPr lang="en-GB" sz="3600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3D032-57DE-3A2C-1036-8DFDC6C0F4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DA6B2-E3E0-7992-CFD5-B8D9A8D6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75" y="1484784"/>
            <a:ext cx="9197287" cy="470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51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C043-9714-193E-CF7D-0A4A88B5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1" dirty="0" err="1"/>
              <a:t>TableLayout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84F20-CFD7-C0C8-3911-CADC16A0E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20E2C-7634-1E78-020F-1895910B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98967"/>
            <a:ext cx="8949952" cy="50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98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4184-8B83-B4FC-316B-F733E9D92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 err="1"/>
              <a:t>GridLayout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92E5A-DC78-305C-CCF8-94099529D5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48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B168D-5023-028D-7E45-37F274BC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556792"/>
            <a:ext cx="90297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499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02DF-76D5-C60C-98D7-4A7BA90D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i="1" dirty="0"/>
              <a:t>List View Layout </a:t>
            </a:r>
            <a:br>
              <a:rPr lang="en-GB" sz="3600" dirty="0"/>
            </a:b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19614-3E02-1E11-C70E-4D4CA25D41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73EF1-1B5F-F571-723A-B578634C3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48" y="1484784"/>
            <a:ext cx="8777104" cy="458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757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B888-B38E-98A6-55CD-76959E08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2EA14-CFEA-44EA-9375-40D61612B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50</a:t>
            </a:fld>
            <a:endParaRPr lang="en"/>
          </a:p>
        </p:txBody>
      </p:sp>
      <p:sp>
        <p:nvSpPr>
          <p:cNvPr id="2" name="Google Shape;545;p91">
            <a:extLst>
              <a:ext uri="{FF2B5EF4-FFF2-40B4-BE49-F238E27FC236}">
                <a16:creationId xmlns:a16="http://schemas.microsoft.com/office/drawing/2014/main" id="{CE5E59DA-4F04-C290-3A43-53F461BD1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Layout created in XML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546;p91">
            <a:extLst>
              <a:ext uri="{FF2B5EF4-FFF2-40B4-BE49-F238E27FC236}">
                <a16:creationId xmlns:a16="http://schemas.microsoft.com/office/drawing/2014/main" id="{5077E8FE-69AF-3BAC-1D26-ED04F5D05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2" y="1772816"/>
            <a:ext cx="8520600" cy="37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LinearLayout </a:t>
            </a:r>
            <a:endParaRPr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:orientation=</a:t>
            </a: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"vertical"</a:t>
            </a:r>
            <a:endParaRPr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:layout_width=</a:t>
            </a: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endParaRPr dirty="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android</a:t>
            </a:r>
            <a:r>
              <a:rPr lang="en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:layout_height=</a:t>
            </a: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dirty="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dirty="0">
              <a:solidFill>
                <a:srgbClr val="00008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dirty="0">
                <a:solidFill>
                  <a:srgbClr val="660E7A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dirty="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dirty="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dirty="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en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dirty="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dirty="0">
                <a:solidFill>
                  <a:srgbClr val="660E7A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dirty="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/&gt;</a:t>
            </a:r>
            <a:endParaRPr dirty="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&lt;/LinearLayout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18969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B12E-D8A3-EFB1-3C3A-8C717E69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1CA78-9F41-6E4F-326F-8FD72C99A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51</a:t>
            </a:fld>
            <a:endParaRPr lang="en"/>
          </a:p>
        </p:txBody>
      </p:sp>
      <p:sp>
        <p:nvSpPr>
          <p:cNvPr id="2" name="Google Shape;552;p92">
            <a:extLst>
              <a:ext uri="{FF2B5EF4-FFF2-40B4-BE49-F238E27FC236}">
                <a16:creationId xmlns:a16="http://schemas.microsoft.com/office/drawing/2014/main" id="{52064F33-1135-A6CB-68AF-48D965E573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Layout created in Java Activity code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553;p92">
            <a:extLst>
              <a:ext uri="{FF2B5EF4-FFF2-40B4-BE49-F238E27FC236}">
                <a16:creationId xmlns:a16="http://schemas.microsoft.com/office/drawing/2014/main" id="{BE898293-34F2-89FC-C270-C84EE1246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24400" y="1772816"/>
            <a:ext cx="9481128" cy="3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LinearLayout linearL = new LinearLayout(this);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linearL.setOrientation(LinearLayout.VERTICAL);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TextView myText = new TextView(this);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myText.setText("Display this text!");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linearL.addView(myText);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setContentView(linearL);</a:t>
            </a:r>
            <a:endParaRPr sz="2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681937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53F6D-4180-C3B6-BAF8-72E55F78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7FD19-97E0-930C-4B71-97EFB376DB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52</a:t>
            </a:fld>
            <a:endParaRPr lang="en"/>
          </a:p>
        </p:txBody>
      </p:sp>
      <p:sp>
        <p:nvSpPr>
          <p:cNvPr id="2" name="Google Shape;559;p93">
            <a:extLst>
              <a:ext uri="{FF2B5EF4-FFF2-40B4-BE49-F238E27FC236}">
                <a16:creationId xmlns:a16="http://schemas.microsoft.com/office/drawing/2014/main" id="{F2E044D3-6EF7-152A-9481-5A9012137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Set width and height in Java code</a:t>
            </a:r>
            <a:endParaRPr dirty="0"/>
          </a:p>
        </p:txBody>
      </p:sp>
      <p:sp>
        <p:nvSpPr>
          <p:cNvPr id="3" name="Google Shape;560;p93">
            <a:extLst>
              <a:ext uri="{FF2B5EF4-FFF2-40B4-BE49-F238E27FC236}">
                <a16:creationId xmlns:a16="http://schemas.microsoft.com/office/drawing/2014/main" id="{440A6FFD-8063-5F73-4DAC-4DE10A89FF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8503" y="1628800"/>
            <a:ext cx="928441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 dirty="0"/>
              <a:t>Set the width and height of a view:</a:t>
            </a:r>
            <a:endParaRPr sz="2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LinearLayout.LayoutParams layoutParams = 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  new Linear.LayoutParams(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     LayoutParams.MATCH_PARENT,  </a:t>
            </a:r>
            <a:br>
              <a:rPr lang="en" sz="2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     LayoutParams.MATCH_CONTENT);</a:t>
            </a:r>
            <a:endParaRPr sz="2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myView.setLayoutParams(layoutParams);</a:t>
            </a:r>
            <a:endParaRPr sz="2800" dirty="0">
              <a:solidFill>
                <a:srgbClr val="303336"/>
              </a:solidFill>
              <a:highlight>
                <a:srgbClr val="EFF0F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8997463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EFC4-D94C-55EC-4723-43492C31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4C582-931A-4605-70B4-DA89552678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53</a:t>
            </a:fld>
            <a:endParaRPr lang="en"/>
          </a:p>
        </p:txBody>
      </p:sp>
      <p:sp>
        <p:nvSpPr>
          <p:cNvPr id="2" name="Google Shape;579;p96">
            <a:extLst>
              <a:ext uri="{FF2B5EF4-FFF2-40B4-BE49-F238E27FC236}">
                <a16:creationId xmlns:a16="http://schemas.microsoft.com/office/drawing/2014/main" id="{9718A0EE-7B5F-90BE-BD2C-4E07FDB25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4528" y="259061"/>
            <a:ext cx="959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 dirty="0"/>
              <a:t>The layout editor with ConstraintLayout</a:t>
            </a:r>
            <a:endParaRPr sz="3200" dirty="0"/>
          </a:p>
        </p:txBody>
      </p:sp>
      <p:sp>
        <p:nvSpPr>
          <p:cNvPr id="3" name="Google Shape;581;p96">
            <a:extLst>
              <a:ext uri="{FF2B5EF4-FFF2-40B4-BE49-F238E27FC236}">
                <a16:creationId xmlns:a16="http://schemas.microsoft.com/office/drawing/2014/main" id="{18DA6183-BC6E-487F-450B-264F2638A4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4270" y="1556792"/>
            <a:ext cx="6119397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Connect UI elements to parent layout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Resize and position elements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Align elements to others 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Adjust margins and dimensions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Change attributes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Google Shape;582;p96">
            <a:extLst>
              <a:ext uri="{FF2B5EF4-FFF2-40B4-BE49-F238E27FC236}">
                <a16:creationId xmlns:a16="http://schemas.microsoft.com/office/drawing/2014/main" id="{758954E8-F2AF-767B-F0A2-201AA9D1DA5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1152" y="1556792"/>
            <a:ext cx="3384376" cy="3312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3247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02C0-0C52-64F5-1556-8C517AE5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4262-FFA1-961D-2453-AB4CB6EAE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54</a:t>
            </a:fld>
            <a:endParaRPr lang="en"/>
          </a:p>
        </p:txBody>
      </p:sp>
      <p:sp>
        <p:nvSpPr>
          <p:cNvPr id="2" name="Google Shape;587;p97">
            <a:extLst>
              <a:ext uri="{FF2B5EF4-FFF2-40B4-BE49-F238E27FC236}">
                <a16:creationId xmlns:a16="http://schemas.microsoft.com/office/drawing/2014/main" id="{C977EB00-5D83-4E5F-8291-1C6C2B56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What is ConstraintLayout?</a:t>
            </a:r>
            <a:endParaRPr dirty="0"/>
          </a:p>
        </p:txBody>
      </p:sp>
      <p:sp>
        <p:nvSpPr>
          <p:cNvPr id="3" name="Google Shape;589;p97">
            <a:extLst>
              <a:ext uri="{FF2B5EF4-FFF2-40B4-BE49-F238E27FC236}">
                <a16:creationId xmlns:a16="http://schemas.microsoft.com/office/drawing/2014/main" id="{BB94312C-F834-21EB-AE59-CC2CE02F1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" y="1700808"/>
            <a:ext cx="9772921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Default layout for new Android Studio project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dirty="0"/>
              <a:t> that offers flexibility for layout design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Provides constraints to determine positions and alignment of UI elements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Constraint is a connection to another view, parent layout, or invisible guideline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55771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7E18-5937-383B-7DDD-AB17BDA7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41FE2-D18B-EECE-143D-4203B76CCB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55</a:t>
            </a:fld>
            <a:endParaRPr lang="en"/>
          </a:p>
        </p:txBody>
      </p:sp>
      <p:sp>
        <p:nvSpPr>
          <p:cNvPr id="2" name="Google Shape;594;p98">
            <a:extLst>
              <a:ext uri="{FF2B5EF4-FFF2-40B4-BE49-F238E27FC236}">
                <a16:creationId xmlns:a16="http://schemas.microsoft.com/office/drawing/2014/main" id="{F256D5F3-E628-A74D-8E15-2E481A2AB1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Layout editor main toolbar</a:t>
            </a:r>
            <a:endParaRPr dirty="0"/>
          </a:p>
        </p:txBody>
      </p:sp>
      <p:sp>
        <p:nvSpPr>
          <p:cNvPr id="3" name="Google Shape;596;p98">
            <a:extLst>
              <a:ext uri="{FF2B5EF4-FFF2-40B4-BE49-F238E27FC236}">
                <a16:creationId xmlns:a16="http://schemas.microsoft.com/office/drawing/2014/main" id="{A4F621A2-A777-ED57-9E72-2A70BC08E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708920"/>
            <a:ext cx="8601740" cy="302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Select Design Surface: Design and Blueprint panes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Orientation in Editor: Portrait and Landscape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Device in Editor: Choose device for preview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API Version in Editor: Choose API for preview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Theme in Editor: Choose theme for preview 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dirty="0"/>
              <a:t>Locale in Editor: Choose language/locale for preview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Google Shape;597;p98">
            <a:extLst>
              <a:ext uri="{FF2B5EF4-FFF2-40B4-BE49-F238E27FC236}">
                <a16:creationId xmlns:a16="http://schemas.microsoft.com/office/drawing/2014/main" id="{E97FCD01-DCBE-C8B2-503A-FF50F9482C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8584" y="1556792"/>
            <a:ext cx="6798575" cy="784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25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7917-378B-380A-5660-128D021C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0A346-77E3-53E8-9F14-9BC9E760C2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56</a:t>
            </a:fld>
            <a:endParaRPr lang="en"/>
          </a:p>
        </p:txBody>
      </p:sp>
      <p:sp>
        <p:nvSpPr>
          <p:cNvPr id="2" name="Google Shape;602;p99">
            <a:extLst>
              <a:ext uri="{FF2B5EF4-FFF2-40B4-BE49-F238E27FC236}">
                <a16:creationId xmlns:a16="http://schemas.microsoft.com/office/drawing/2014/main" id="{4940428D-06B4-6EBB-9CA0-E1CDE0975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ConstraintLayout toolbar in layout editor</a:t>
            </a:r>
            <a:endParaRPr dirty="0"/>
          </a:p>
        </p:txBody>
      </p:sp>
      <p:sp>
        <p:nvSpPr>
          <p:cNvPr id="3" name="Google Shape;604;p99">
            <a:extLst>
              <a:ext uri="{FF2B5EF4-FFF2-40B4-BE49-F238E27FC236}">
                <a16:creationId xmlns:a16="http://schemas.microsoft.com/office/drawing/2014/main" id="{73C2B30B-CAE5-9945-26E5-C2185A078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3982" y="2682516"/>
            <a:ext cx="8520600" cy="26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Show: Show Constraints and Show Margins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Autoconnect: Enable or disable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Clear All Constraints: Clear all constraints in layout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Infer Constraints: Create constraints by inference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Default Margins: Set default margins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Pack: Pack or expand selected elements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Align: Align selected elements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Guidelines: Add vertical or horizontal guidelines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Zoom controls: Zoom in or out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5" name="Google Shape;605;p99">
            <a:extLst>
              <a:ext uri="{FF2B5EF4-FFF2-40B4-BE49-F238E27FC236}">
                <a16:creationId xmlns:a16="http://schemas.microsoft.com/office/drawing/2014/main" id="{B26A89B4-A4C1-F06D-F0DE-654A9D1EC47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4568" y="1484784"/>
            <a:ext cx="7159225" cy="883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87228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C71D-7993-2352-F1E0-91D251600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DB6A9-9153-48FE-087F-1FF4123639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57</a:t>
            </a:fld>
            <a:endParaRPr lang="en"/>
          </a:p>
        </p:txBody>
      </p:sp>
      <p:sp>
        <p:nvSpPr>
          <p:cNvPr id="2" name="Google Shape;619;p101">
            <a:extLst>
              <a:ext uri="{FF2B5EF4-FFF2-40B4-BE49-F238E27FC236}">
                <a16:creationId xmlns:a16="http://schemas.microsoft.com/office/drawing/2014/main" id="{71EA1E38-D11E-FCB1-AC93-A2FC696C7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ConstraintLayout handles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621;p101">
            <a:extLst>
              <a:ext uri="{FF2B5EF4-FFF2-40B4-BE49-F238E27FC236}">
                <a16:creationId xmlns:a16="http://schemas.microsoft.com/office/drawing/2014/main" id="{9C48DFEB-A535-B5E7-4FA9-9F7C49E81F82}"/>
              </a:ext>
            </a:extLst>
          </p:cNvPr>
          <p:cNvSpPr txBox="1"/>
          <p:nvPr/>
        </p:nvSpPr>
        <p:spPr>
          <a:xfrm>
            <a:off x="128464" y="1484784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Resizing handle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Constraint line and handle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Constraint handle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Baseline handle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Google Shape;622;p101">
            <a:extLst>
              <a:ext uri="{FF2B5EF4-FFF2-40B4-BE49-F238E27FC236}">
                <a16:creationId xmlns:a16="http://schemas.microsoft.com/office/drawing/2014/main" id="{FCFA1045-8948-7B9B-849C-6576F873C8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63721" y="1772816"/>
            <a:ext cx="3914775" cy="34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7532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9C45-7E53-6572-6D49-333E226A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12775-1D72-B0F0-F3EA-CE8CAECDD5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58</a:t>
            </a:fld>
            <a:endParaRPr lang="en"/>
          </a:p>
        </p:txBody>
      </p:sp>
      <p:sp>
        <p:nvSpPr>
          <p:cNvPr id="9" name="Google Shape;627;p102">
            <a:extLst>
              <a:ext uri="{FF2B5EF4-FFF2-40B4-BE49-F238E27FC236}">
                <a16:creationId xmlns:a16="http://schemas.microsoft.com/office/drawing/2014/main" id="{A876B049-1F96-E280-4AD6-D69CA1C82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Align elements by baseline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0" name="Google Shape;629;p102">
            <a:extLst>
              <a:ext uri="{FF2B5EF4-FFF2-40B4-BE49-F238E27FC236}">
                <a16:creationId xmlns:a16="http://schemas.microsoft.com/office/drawing/2014/main" id="{9BC6B09B-BEC3-53F5-8164-CA4F76956EAD}"/>
              </a:ext>
            </a:extLst>
          </p:cNvPr>
          <p:cNvSpPr txBox="1"/>
          <p:nvPr/>
        </p:nvSpPr>
        <p:spPr>
          <a:xfrm>
            <a:off x="97650" y="1887281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Click the      baseline constraint button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Drag from baseline to other element's baseline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" name="Google Shape;630;p102" descr="Screen Shot 2017-05-08 at 3.01.44 PM.png">
            <a:extLst>
              <a:ext uri="{FF2B5EF4-FFF2-40B4-BE49-F238E27FC236}">
                <a16:creationId xmlns:a16="http://schemas.microsoft.com/office/drawing/2014/main" id="{1A3FE52E-90D4-7077-DC38-06E228FCF14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71350" y="2132856"/>
            <a:ext cx="324650" cy="3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631;p102">
            <a:extLst>
              <a:ext uri="{FF2B5EF4-FFF2-40B4-BE49-F238E27FC236}">
                <a16:creationId xmlns:a16="http://schemas.microsoft.com/office/drawing/2014/main" id="{F5C97EBD-B445-D2F6-0705-BEFBFC346B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350" y="1513963"/>
            <a:ext cx="5195154" cy="343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09701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94A1-EFA9-76FF-4288-90B7124F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189D3-F9BC-328E-81DF-97150DE8DC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59</a:t>
            </a:fld>
            <a:endParaRPr lang="en"/>
          </a:p>
        </p:txBody>
      </p:sp>
      <p:sp>
        <p:nvSpPr>
          <p:cNvPr id="2" name="Google Shape;644;p104">
            <a:extLst>
              <a:ext uri="{FF2B5EF4-FFF2-40B4-BE49-F238E27FC236}">
                <a16:creationId xmlns:a16="http://schemas.microsoft.com/office/drawing/2014/main" id="{53AF25CD-4EBF-16FC-3079-9B055DE8E4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Attributes pane view inspector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646;p104">
            <a:extLst>
              <a:ext uri="{FF2B5EF4-FFF2-40B4-BE49-F238E27FC236}">
                <a16:creationId xmlns:a16="http://schemas.microsoft.com/office/drawing/2014/main" id="{D133E230-0769-FC5F-E6E1-0274CCC3B28F}"/>
              </a:ext>
            </a:extLst>
          </p:cNvPr>
          <p:cNvSpPr txBox="1"/>
          <p:nvPr/>
        </p:nvSpPr>
        <p:spPr>
          <a:xfrm>
            <a:off x="56456" y="1709700"/>
            <a:ext cx="5904656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Vertical view size control specifies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Horizontal view size control specifies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 dirty="0">
                <a:latin typeface="Roboto"/>
                <a:ea typeface="Roboto"/>
                <a:cs typeface="Roboto"/>
                <a:sym typeface="Roboto"/>
              </a:rPr>
              <a:t>Attributes pane close button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Google Shape;647;p104">
            <a:extLst>
              <a:ext uri="{FF2B5EF4-FFF2-40B4-BE49-F238E27FC236}">
                <a16:creationId xmlns:a16="http://schemas.microsoft.com/office/drawing/2014/main" id="{11928BAE-57CF-340D-B931-194FC576168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05128" y="1844824"/>
            <a:ext cx="3384376" cy="352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8549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7E943-EA39-CCCF-39EC-08A501BC3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ED1A5-C22C-7E6D-4E0B-45E06DB5A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60</a:t>
            </a:fld>
            <a:endParaRPr lang="en"/>
          </a:p>
        </p:txBody>
      </p:sp>
      <p:sp>
        <p:nvSpPr>
          <p:cNvPr id="2" name="Google Shape;652;p105">
            <a:extLst>
              <a:ext uri="{FF2B5EF4-FFF2-40B4-BE49-F238E27FC236}">
                <a16:creationId xmlns:a16="http://schemas.microsoft.com/office/drawing/2014/main" id="{A76D17C6-7F75-2E85-1629-0D488B040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6496" y="284581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</a:rPr>
              <a:t>Layout_width and layout_height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Google Shape;654;p105">
            <a:extLst>
              <a:ext uri="{FF2B5EF4-FFF2-40B4-BE49-F238E27FC236}">
                <a16:creationId xmlns:a16="http://schemas.microsoft.com/office/drawing/2014/main" id="{0E7CC91D-68D4-4B3C-5133-5207EBA94376}"/>
              </a:ext>
            </a:extLst>
          </p:cNvPr>
          <p:cNvSpPr txBox="1"/>
          <p:nvPr/>
        </p:nvSpPr>
        <p:spPr>
          <a:xfrm>
            <a:off x="200472" y="1412776"/>
            <a:ext cx="87159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change with size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match_constraint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Expands element to fill its parent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wrap_content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Shrinks element to enclose content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Fixed number of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(density-independent pixels)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Google Shape;655;p105" descr="Screen Shot 2016-05-12 at 5.13.12 PM.png">
            <a:extLst>
              <a:ext uri="{FF2B5EF4-FFF2-40B4-BE49-F238E27FC236}">
                <a16:creationId xmlns:a16="http://schemas.microsoft.com/office/drawing/2014/main" id="{CA6D185B-E742-3F99-6C25-BCB3D6953E5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822" y="2224954"/>
            <a:ext cx="471100" cy="2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56;p105" descr="Screen Shot 2016-05-12 at 5.14.04 PM.png">
            <a:extLst>
              <a:ext uri="{FF2B5EF4-FFF2-40B4-BE49-F238E27FC236}">
                <a16:creationId xmlns:a16="http://schemas.microsoft.com/office/drawing/2014/main" id="{9913F272-471E-EE07-D498-754414A38C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829" y="2729617"/>
            <a:ext cx="471100" cy="182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657;p105" descr="Screen Shot 2016-05-12 at 5.14.18 PM.png">
            <a:extLst>
              <a:ext uri="{FF2B5EF4-FFF2-40B4-BE49-F238E27FC236}">
                <a16:creationId xmlns:a16="http://schemas.microsoft.com/office/drawing/2014/main" id="{6C780E48-FA27-CFF5-1BB7-3715046A6F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822" y="3216776"/>
            <a:ext cx="471100" cy="18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658;p105">
            <a:extLst>
              <a:ext uri="{FF2B5EF4-FFF2-40B4-BE49-F238E27FC236}">
                <a16:creationId xmlns:a16="http://schemas.microsoft.com/office/drawing/2014/main" id="{74C0F7B1-6D95-A3D7-B88C-240ACE2D597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5972" y="3739776"/>
            <a:ext cx="1423092" cy="1489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15531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ABFBB-FACA-5DFC-EB81-EB0C08705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61</a:t>
            </a:fld>
            <a:endParaRPr lang="en"/>
          </a:p>
        </p:txBody>
      </p:sp>
      <p:sp>
        <p:nvSpPr>
          <p:cNvPr id="5" name="Google Shape;671;p107">
            <a:extLst>
              <a:ext uri="{FF2B5EF4-FFF2-40B4-BE49-F238E27FC236}">
                <a16:creationId xmlns:a16="http://schemas.microsoft.com/office/drawing/2014/main" id="{77C05D83-537E-5470-88EA-A786300E2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Set attributes example: TextView</a:t>
            </a:r>
            <a:endParaRPr dirty="0"/>
          </a:p>
        </p:txBody>
      </p:sp>
      <p:pic>
        <p:nvPicPr>
          <p:cNvPr id="6" name="Google Shape;673;p107">
            <a:extLst>
              <a:ext uri="{FF2B5EF4-FFF2-40B4-BE49-F238E27FC236}">
                <a16:creationId xmlns:a16="http://schemas.microsoft.com/office/drawing/2014/main" id="{0FF16F6F-CD29-5A57-61F5-1EB363396ED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40632" y="1340768"/>
            <a:ext cx="6048671" cy="49784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8906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45092-97EE-ADAB-FDAD-CF67F8D2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70C7A-8945-68B4-4635-D51574AED5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62</a:t>
            </a:fld>
            <a:endParaRPr lang="en"/>
          </a:p>
        </p:txBody>
      </p:sp>
      <p:sp>
        <p:nvSpPr>
          <p:cNvPr id="6" name="Google Shape;717;p113">
            <a:extLst>
              <a:ext uri="{FF2B5EF4-FFF2-40B4-BE49-F238E27FC236}">
                <a16:creationId xmlns:a16="http://schemas.microsoft.com/office/drawing/2014/main" id="{7FA60D9D-578A-8DB4-D239-A1A0587AD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Event Handlers</a:t>
            </a:r>
            <a:endParaRPr dirty="0"/>
          </a:p>
        </p:txBody>
      </p:sp>
      <p:sp>
        <p:nvSpPr>
          <p:cNvPr id="7" name="Google Shape;719;p113">
            <a:extLst>
              <a:ext uri="{FF2B5EF4-FFF2-40B4-BE49-F238E27FC236}">
                <a16:creationId xmlns:a16="http://schemas.microsoft.com/office/drawing/2014/main" id="{E94DFB4D-2E20-D55B-3600-2A1CB52C4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5228" y="1484784"/>
            <a:ext cx="9388292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Methods that do something in response to a click 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 method, called an </a:t>
            </a:r>
            <a:r>
              <a:rPr lang="en" b="1" dirty="0"/>
              <a:t>event handler</a:t>
            </a:r>
            <a:r>
              <a:rPr lang="en" dirty="0"/>
              <a:t>, is triggered by a specific event and does something in response to the event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7017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333D-14E3-6ACD-07FC-162D200F6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6E0D0-4896-4B01-8537-FD7AE25CA2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63</a:t>
            </a:fld>
            <a:endParaRPr lang="en"/>
          </a:p>
        </p:txBody>
      </p:sp>
      <p:sp>
        <p:nvSpPr>
          <p:cNvPr id="6" name="Google Shape;724;p114">
            <a:extLst>
              <a:ext uri="{FF2B5EF4-FFF2-40B4-BE49-F238E27FC236}">
                <a16:creationId xmlns:a16="http://schemas.microsoft.com/office/drawing/2014/main" id="{26C0D26C-5DF1-992A-C5AE-B3B79B72E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64" y="188640"/>
            <a:ext cx="96336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Attach in XML and implement in Java</a:t>
            </a:r>
            <a:endParaRPr dirty="0"/>
          </a:p>
        </p:txBody>
      </p:sp>
      <p:sp>
        <p:nvSpPr>
          <p:cNvPr id="7" name="Google Shape;726;p114">
            <a:extLst>
              <a:ext uri="{FF2B5EF4-FFF2-40B4-BE49-F238E27FC236}">
                <a16:creationId xmlns:a16="http://schemas.microsoft.com/office/drawing/2014/main" id="{7FC1943D-DA8A-85E1-D8E6-F02CDD700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5" y="1597842"/>
            <a:ext cx="398235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Attach handler to view in XML layout:</a:t>
            </a: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android:onClick="showToast"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727;p114">
            <a:extLst>
              <a:ext uri="{FF2B5EF4-FFF2-40B4-BE49-F238E27FC236}">
                <a16:creationId xmlns:a16="http://schemas.microsoft.com/office/drawing/2014/main" id="{74017F02-E092-CEB5-9860-E58845695DB0}"/>
              </a:ext>
            </a:extLst>
          </p:cNvPr>
          <p:cNvSpPr txBox="1">
            <a:spLocks/>
          </p:cNvSpPr>
          <p:nvPr/>
        </p:nvSpPr>
        <p:spPr bwMode="auto">
          <a:xfrm>
            <a:off x="4160912" y="1556792"/>
            <a:ext cx="5745088" cy="318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b="1" dirty="0"/>
              <a:t>Implement handler in Java activity:</a:t>
            </a:r>
          </a:p>
          <a:p>
            <a:pPr marL="0" indent="0">
              <a:spcBef>
                <a:spcPts val="100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lang="en-GB" sz="2200" dirty="0" err="1">
                <a:latin typeface="Consolas"/>
                <a:ea typeface="Consolas"/>
                <a:cs typeface="Consolas"/>
                <a:sym typeface="Consolas"/>
              </a:rPr>
              <a:t>showToast</a:t>
            </a: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(View view) {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 String </a:t>
            </a:r>
            <a:r>
              <a:rPr lang="en-GB" sz="2200" dirty="0" err="1"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= "Hello Toast!";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 Toast </a:t>
            </a:r>
            <a:r>
              <a:rPr lang="en-GB" sz="2200" dirty="0" err="1">
                <a:latin typeface="Consolas"/>
                <a:ea typeface="Consolas"/>
                <a:cs typeface="Consolas"/>
                <a:sym typeface="Consolas"/>
              </a:rPr>
              <a:t>toast</a:t>
            </a: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GB" sz="2200" dirty="0" err="1">
                <a:latin typeface="Consolas"/>
                <a:ea typeface="Consolas"/>
                <a:cs typeface="Consolas"/>
                <a:sym typeface="Consolas"/>
              </a:rPr>
              <a:t>Toast.makeText</a:t>
            </a: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(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       this, </a:t>
            </a:r>
            <a:r>
              <a:rPr lang="en-GB" sz="2200" dirty="0" err="1"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, duration);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2200" dirty="0" err="1">
                <a:latin typeface="Consolas"/>
                <a:ea typeface="Consolas"/>
                <a:cs typeface="Consolas"/>
                <a:sym typeface="Consolas"/>
              </a:rPr>
              <a:t>toast.show</a:t>
            </a: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GB" sz="2200" dirty="0"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0" indent="0">
              <a:spcBef>
                <a:spcPts val="1000"/>
              </a:spcBef>
              <a:buFont typeface="Arial" charset="0"/>
              <a:buNone/>
            </a:pPr>
            <a:endParaRPr lang="en-GB" b="1" dirty="0"/>
          </a:p>
        </p:txBody>
      </p:sp>
      <p:cxnSp>
        <p:nvCxnSpPr>
          <p:cNvPr id="9" name="Google Shape;728;p114">
            <a:extLst>
              <a:ext uri="{FF2B5EF4-FFF2-40B4-BE49-F238E27FC236}">
                <a16:creationId xmlns:a16="http://schemas.microsoft.com/office/drawing/2014/main" id="{34186EC5-E444-288A-5184-C84B1856D259}"/>
              </a:ext>
            </a:extLst>
          </p:cNvPr>
          <p:cNvCxnSpPr/>
          <p:nvPr/>
        </p:nvCxnSpPr>
        <p:spPr>
          <a:xfrm flipH="1">
            <a:off x="4110815" y="1540124"/>
            <a:ext cx="10800" cy="32349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766953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49D61-C544-0A75-07B1-1997937D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66CC2-F310-7A61-E57C-9F0F261B44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64</a:t>
            </a:fld>
            <a:endParaRPr lang="en"/>
          </a:p>
        </p:txBody>
      </p:sp>
      <p:sp>
        <p:nvSpPr>
          <p:cNvPr id="6" name="Google Shape;733;p115">
            <a:extLst>
              <a:ext uri="{FF2B5EF4-FFF2-40B4-BE49-F238E27FC236}">
                <a16:creationId xmlns:a16="http://schemas.microsoft.com/office/drawing/2014/main" id="{0929B6DA-313E-AFF6-E581-49BAD6397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6195" y="425238"/>
            <a:ext cx="94267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Alternative: Set click handler in Java</a:t>
            </a:r>
            <a:endParaRPr dirty="0"/>
          </a:p>
        </p:txBody>
      </p:sp>
      <p:sp>
        <p:nvSpPr>
          <p:cNvPr id="7" name="Google Shape;735;p115">
            <a:extLst>
              <a:ext uri="{FF2B5EF4-FFF2-40B4-BE49-F238E27FC236}">
                <a16:creationId xmlns:a16="http://schemas.microsoft.com/office/drawing/2014/main" id="{A4FFB5F3-9346-9849-F937-470C59E98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8464" y="1772816"/>
            <a:ext cx="9644456" cy="3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final Button button = (Button) findViewById(R.id.button_id);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button.setOnClickListener(new View.OnClickListener()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public void onClick(View v) {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String msg = "Hello Toast!";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Toast toast = Toast.makeText(this, msg, duration);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toast.show();</a:t>
            </a:r>
            <a:endParaRPr sz="22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2200" dirty="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 sz="2200" dirty="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855859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1C37-FAB4-D086-AC22-8DC310A8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40FB-D6B2-3654-BCC3-98052F6F26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65</a:t>
            </a:fld>
            <a:endParaRPr lang="en"/>
          </a:p>
        </p:txBody>
      </p:sp>
      <p:pic>
        <p:nvPicPr>
          <p:cNvPr id="6" name="Google Shape;753;p118">
            <a:extLst>
              <a:ext uri="{FF2B5EF4-FFF2-40B4-BE49-F238E27FC236}">
                <a16:creationId xmlns:a16="http://schemas.microsoft.com/office/drawing/2014/main" id="{A70728BB-5FD6-CB35-BA47-C3948CF2B34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480" y="1340767"/>
            <a:ext cx="2903000" cy="43141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54;p118">
            <a:extLst>
              <a:ext uri="{FF2B5EF4-FFF2-40B4-BE49-F238E27FC236}">
                <a16:creationId xmlns:a16="http://schemas.microsoft.com/office/drawing/2014/main" id="{665B32E0-29AC-B75A-01B2-23E4F339A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56" y="188640"/>
            <a:ext cx="9906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Where are the resources in your project?</a:t>
            </a:r>
            <a:endParaRPr dirty="0"/>
          </a:p>
        </p:txBody>
      </p:sp>
      <p:cxnSp>
        <p:nvCxnSpPr>
          <p:cNvPr id="8" name="Google Shape;756;p118">
            <a:extLst>
              <a:ext uri="{FF2B5EF4-FFF2-40B4-BE49-F238E27FC236}">
                <a16:creationId xmlns:a16="http://schemas.microsoft.com/office/drawing/2014/main" id="{6A891EFB-AF77-5306-AC36-06C8CB7A0E7D}"/>
              </a:ext>
            </a:extLst>
          </p:cNvPr>
          <p:cNvCxnSpPr/>
          <p:nvPr/>
        </p:nvCxnSpPr>
        <p:spPr>
          <a:xfrm rot="10800000" flipH="1">
            <a:off x="3286280" y="2276872"/>
            <a:ext cx="1101000" cy="6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" name="Google Shape;757;p118">
            <a:extLst>
              <a:ext uri="{FF2B5EF4-FFF2-40B4-BE49-F238E27FC236}">
                <a16:creationId xmlns:a16="http://schemas.microsoft.com/office/drawing/2014/main" id="{038B164F-2BC5-5E94-A5FE-9E451EFA8F77}"/>
              </a:ext>
            </a:extLst>
          </p:cNvPr>
          <p:cNvSpPr txBox="1"/>
          <p:nvPr/>
        </p:nvSpPr>
        <p:spPr>
          <a:xfrm>
            <a:off x="4387280" y="1940531"/>
            <a:ext cx="4285800" cy="10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resources and resource files</a:t>
            </a:r>
            <a:endParaRPr sz="24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stored in </a:t>
            </a:r>
            <a:r>
              <a:rPr lang="en" sz="2400" b="1" dirty="0"/>
              <a:t>res</a:t>
            </a:r>
            <a:r>
              <a:rPr lang="en" sz="2400" dirty="0"/>
              <a:t> folder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9315763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EF56-0E51-9360-F3C8-671E703D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FF7F5-DF11-C4F9-5AA0-D7297D686C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66</a:t>
            </a:fld>
            <a:endParaRPr lang="en"/>
          </a:p>
        </p:txBody>
      </p:sp>
      <p:sp>
        <p:nvSpPr>
          <p:cNvPr id="6" name="Google Shape;763;p119">
            <a:extLst>
              <a:ext uri="{FF2B5EF4-FFF2-40B4-BE49-F238E27FC236}">
                <a16:creationId xmlns:a16="http://schemas.microsoft.com/office/drawing/2014/main" id="{9CA680A8-3497-2218-56BD-2CD466A434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488" y="56377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Refer to resources in code</a:t>
            </a:r>
            <a:endParaRPr dirty="0"/>
          </a:p>
        </p:txBody>
      </p:sp>
      <p:sp>
        <p:nvSpPr>
          <p:cNvPr id="7" name="Google Shape;765;p119">
            <a:extLst>
              <a:ext uri="{FF2B5EF4-FFF2-40B4-BE49-F238E27FC236}">
                <a16:creationId xmlns:a16="http://schemas.microsoft.com/office/drawing/2014/main" id="{6F0EA0C2-3948-705A-107D-384B781F87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4488" y="1412776"/>
            <a:ext cx="8709300" cy="3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Layout: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R.layout.activity_main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setContentView(R.layout.activity_main);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View: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R.id.recyclerview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rv = (RecyclerView) findViewById(R.id.recyclerview);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String: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 Java:</a:t>
            </a: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R.string.title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 XML:</a:t>
            </a:r>
            <a:r>
              <a:rPr lang="en" sz="2000" dirty="0">
                <a:latin typeface="Consolas"/>
                <a:ea typeface="Consolas"/>
                <a:cs typeface="Consolas"/>
                <a:sym typeface="Consolas"/>
              </a:rPr>
              <a:t> android:text="@string/title"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646072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79F16-D64F-8CDE-5C96-F360D625C3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67</a:t>
            </a:fld>
            <a:endParaRPr lang="en"/>
          </a:p>
        </p:txBody>
      </p:sp>
      <p:sp>
        <p:nvSpPr>
          <p:cNvPr id="5" name="Google Shape;770;p120">
            <a:extLst>
              <a:ext uri="{FF2B5EF4-FFF2-40B4-BE49-F238E27FC236}">
                <a16:creationId xmlns:a16="http://schemas.microsoft.com/office/drawing/2014/main" id="{61157452-739A-7261-00BE-BD159426AF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Measurements</a:t>
            </a:r>
            <a:endParaRPr dirty="0"/>
          </a:p>
        </p:txBody>
      </p:sp>
      <p:sp>
        <p:nvSpPr>
          <p:cNvPr id="6" name="Google Shape;771;p120">
            <a:extLst>
              <a:ext uri="{FF2B5EF4-FFF2-40B4-BE49-F238E27FC236}">
                <a16:creationId xmlns:a16="http://schemas.microsoft.com/office/drawing/2014/main" id="{4B769747-1838-F793-BB8A-CF786E0A05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71" y="1556792"/>
            <a:ext cx="957244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800" dirty="0"/>
              <a:t>Density-independent Pixels (</a:t>
            </a: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 sz="2800" dirty="0"/>
              <a:t>): for Views</a:t>
            </a:r>
            <a:endParaRPr sz="2800"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800" dirty="0"/>
              <a:t>Scale-independent Pixels (</a:t>
            </a:r>
            <a:r>
              <a:rPr lang="en" sz="2800" dirty="0">
                <a:latin typeface="Consolas"/>
                <a:ea typeface="Consolas"/>
                <a:cs typeface="Consolas"/>
                <a:sym typeface="Consolas"/>
              </a:rPr>
              <a:t>sp</a:t>
            </a:r>
            <a:r>
              <a:rPr lang="en" sz="2800" dirty="0"/>
              <a:t>): for text</a:t>
            </a: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0"/>
              </a:spcBef>
              <a:spcAft>
                <a:spcPts val="0"/>
              </a:spcAft>
              <a:buNone/>
            </a:pPr>
            <a:r>
              <a:rPr lang="en" dirty="0"/>
              <a:t>Don't use device-dependent or density-dependent units: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Actual Pixels (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px</a:t>
            </a:r>
            <a:r>
              <a:rPr lang="en" dirty="0"/>
              <a:t>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Actual Measurement (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dirty="0"/>
              <a:t>, 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mm</a:t>
            </a:r>
            <a:r>
              <a:rPr lang="en" dirty="0"/>
              <a:t>)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Points - typography 1/72 inch (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pt</a:t>
            </a:r>
            <a:r>
              <a:rPr lang="en" dirty="0"/>
              <a:t>)</a:t>
            </a:r>
            <a:endParaRPr dirty="0">
              <a:solidFill>
                <a:srgbClr val="999999"/>
              </a:solidFill>
            </a:endParaRPr>
          </a:p>
        </p:txBody>
      </p:sp>
      <p:cxnSp>
        <p:nvCxnSpPr>
          <p:cNvPr id="7" name="Google Shape;773;p120">
            <a:extLst>
              <a:ext uri="{FF2B5EF4-FFF2-40B4-BE49-F238E27FC236}">
                <a16:creationId xmlns:a16="http://schemas.microsoft.com/office/drawing/2014/main" id="{DECED2A0-112A-D23B-FB5D-3BA8F9D55A3F}"/>
              </a:ext>
            </a:extLst>
          </p:cNvPr>
          <p:cNvCxnSpPr/>
          <p:nvPr/>
        </p:nvCxnSpPr>
        <p:spPr>
          <a:xfrm>
            <a:off x="347850" y="2914200"/>
            <a:ext cx="5508300" cy="1595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774;p120">
            <a:extLst>
              <a:ext uri="{FF2B5EF4-FFF2-40B4-BE49-F238E27FC236}">
                <a16:creationId xmlns:a16="http://schemas.microsoft.com/office/drawing/2014/main" id="{8B6B35B8-3C92-103D-3218-11838AACCF87}"/>
              </a:ext>
            </a:extLst>
          </p:cNvPr>
          <p:cNvCxnSpPr/>
          <p:nvPr/>
        </p:nvCxnSpPr>
        <p:spPr>
          <a:xfrm rot="10800000" flipH="1">
            <a:off x="454500" y="2956500"/>
            <a:ext cx="5295000" cy="1510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502855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BE52-E291-14BA-2E2D-9F0C8BCF8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E542E-230D-8CE4-9497-A3D909E0F1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68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0B020A-809A-63C4-48F1-96DD1585E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512" y="2924944"/>
            <a:ext cx="8229600" cy="49006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565528064"/>
      </p:ext>
    </p:extLst>
  </p:cSld>
  <p:clrMapOvr>
    <a:masterClrMapping/>
  </p:clrMapOvr>
</p:sld>
</file>

<file path=ppt/theme/theme1.xml><?xml version="1.0" encoding="utf-8"?>
<a:theme xmlns:a="http://schemas.openxmlformats.org/drawingml/2006/main" name="Bradford PPT_final_A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uob-green-faculty-or-directorate-guide</Template>
  <TotalTime>286</TotalTime>
  <Words>2887</Words>
  <Application>Microsoft Office PowerPoint</Application>
  <PresentationFormat>A4 Paper (210x297 mm)</PresentationFormat>
  <Paragraphs>518</Paragraphs>
  <Slides>68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81" baseType="lpstr">
      <vt:lpstr>Arial</vt:lpstr>
      <vt:lpstr>ArialMT</vt:lpstr>
      <vt:lpstr>Calibri</vt:lpstr>
      <vt:lpstr>Consolas</vt:lpstr>
      <vt:lpstr>Corbel</vt:lpstr>
      <vt:lpstr>Georgia</vt:lpstr>
      <vt:lpstr>Lucida Sans</vt:lpstr>
      <vt:lpstr>Lucida Sans Unicode</vt:lpstr>
      <vt:lpstr>Roboto</vt:lpstr>
      <vt:lpstr>Times New Roman</vt:lpstr>
      <vt:lpstr>Wingdings</vt:lpstr>
      <vt:lpstr>Wingdings 2</vt:lpstr>
      <vt:lpstr>Bradford PPT_final_A</vt:lpstr>
      <vt:lpstr>Mobile Application Development (COS7025-B)     Designing Mobile Apps using Android </vt:lpstr>
      <vt:lpstr>Contents</vt:lpstr>
      <vt:lpstr>PowerPoint Presentation</vt:lpstr>
      <vt:lpstr>Mobile App Components</vt:lpstr>
      <vt:lpstr>Mobile App Components</vt:lpstr>
      <vt:lpstr>Mobile App Components</vt:lpstr>
      <vt:lpstr>Mobile App Components</vt:lpstr>
      <vt:lpstr>PowerPoint Presentation</vt:lpstr>
      <vt:lpstr>There are other Components</vt:lpstr>
      <vt:lpstr>PowerPoint Presentation</vt:lpstr>
      <vt:lpstr>What is an Activity?</vt:lpstr>
      <vt:lpstr>What does an Activity do?</vt:lpstr>
      <vt:lpstr>Examples of activities</vt:lpstr>
      <vt:lpstr>Apps and activities</vt:lpstr>
      <vt:lpstr>Layouts and Activities</vt:lpstr>
      <vt:lpstr>Implement new activities</vt:lpstr>
      <vt:lpstr>Define layout in XML</vt:lpstr>
      <vt:lpstr>2. Define Activity Java class</vt:lpstr>
      <vt:lpstr>3. Connect activity with layout</vt:lpstr>
      <vt:lpstr>4. Declare activity in Android manifest</vt:lpstr>
      <vt:lpstr>Activity lifecycle and state</vt:lpstr>
      <vt:lpstr>Activity states and Mobile app visibility</vt:lpstr>
      <vt:lpstr>Callbacks and when they are called</vt:lpstr>
      <vt:lpstr>Corresponding life cycle methods</vt:lpstr>
      <vt:lpstr>Corresponding life cycle methods</vt:lpstr>
      <vt:lpstr>Corresponding life cycle methods</vt:lpstr>
      <vt:lpstr>Corresponding life cycle methods</vt:lpstr>
      <vt:lpstr>Everything you see is a view</vt:lpstr>
      <vt:lpstr>What is a view?</vt:lpstr>
      <vt:lpstr>Examples of view subclasses</vt:lpstr>
      <vt:lpstr>View attributes</vt:lpstr>
      <vt:lpstr>Create views and layouts</vt:lpstr>
      <vt:lpstr>Android Studio layout editor</vt:lpstr>
      <vt:lpstr>View defined in XML</vt:lpstr>
      <vt:lpstr>View attributes in XML</vt:lpstr>
      <vt:lpstr>Create View in Java code</vt:lpstr>
      <vt:lpstr>What is the context? </vt:lpstr>
      <vt:lpstr>ViewGroup contains "child" views</vt:lpstr>
      <vt:lpstr>ViewGroups for layouts </vt:lpstr>
      <vt:lpstr>Common Layout Classes</vt:lpstr>
      <vt:lpstr>Common Layout Classes</vt:lpstr>
      <vt:lpstr>Class hierarchy vs. layout hierarchy</vt:lpstr>
      <vt:lpstr>View hierarchy and screen layout</vt:lpstr>
      <vt:lpstr>ConstraintLayout</vt:lpstr>
      <vt:lpstr>LinearLayout</vt:lpstr>
      <vt:lpstr>RelativeLayout </vt:lpstr>
      <vt:lpstr>TableLayout</vt:lpstr>
      <vt:lpstr>GridLayout</vt:lpstr>
      <vt:lpstr>List View Layout  </vt:lpstr>
      <vt:lpstr>Layout created in XML</vt:lpstr>
      <vt:lpstr>Layout created in Java Activity code</vt:lpstr>
      <vt:lpstr>Set width and height in Java code</vt:lpstr>
      <vt:lpstr>The layout editor with ConstraintLayout</vt:lpstr>
      <vt:lpstr>What is ConstraintLayout?</vt:lpstr>
      <vt:lpstr>Layout editor main toolbar</vt:lpstr>
      <vt:lpstr>ConstraintLayout toolbar in layout editor</vt:lpstr>
      <vt:lpstr>ConstraintLayout handles</vt:lpstr>
      <vt:lpstr>Align elements by baseline</vt:lpstr>
      <vt:lpstr>Attributes pane view inspector</vt:lpstr>
      <vt:lpstr>Layout_width and layout_height</vt:lpstr>
      <vt:lpstr>Set attributes example: TextView</vt:lpstr>
      <vt:lpstr>Event Handlers</vt:lpstr>
      <vt:lpstr>Attach in XML and implement in Java</vt:lpstr>
      <vt:lpstr>Alternative: Set click handler in Java</vt:lpstr>
      <vt:lpstr>Where are the resources in your project?</vt:lpstr>
      <vt:lpstr>Refer to resources in code</vt:lpstr>
      <vt:lpstr>Measurements</vt:lpstr>
      <vt:lpstr>Any Questions?</vt:lpstr>
    </vt:vector>
  </TitlesOfParts>
  <Company>University of Bradford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(COS7025-B)     Introduction to Android Software  Stack</dc:title>
  <dc:creator>Karim Sadik</dc:creator>
  <cp:lastModifiedBy>Karim Sadik</cp:lastModifiedBy>
  <cp:revision>16</cp:revision>
  <cp:lastPrinted>2014-07-11T09:48:52Z</cp:lastPrinted>
  <dcterms:created xsi:type="dcterms:W3CDTF">2025-07-22T12:14:46Z</dcterms:created>
  <dcterms:modified xsi:type="dcterms:W3CDTF">2025-07-30T08:50:22Z</dcterms:modified>
</cp:coreProperties>
</file>