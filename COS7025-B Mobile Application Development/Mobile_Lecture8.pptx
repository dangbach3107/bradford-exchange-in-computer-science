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405" r:id="rId3"/>
    <p:sldId id="492" r:id="rId4"/>
    <p:sldId id="485" r:id="rId5"/>
    <p:sldId id="486" r:id="rId6"/>
    <p:sldId id="487" r:id="rId7"/>
    <p:sldId id="488" r:id="rId8"/>
    <p:sldId id="493" r:id="rId9"/>
    <p:sldId id="494" r:id="rId10"/>
    <p:sldId id="495" r:id="rId11"/>
    <p:sldId id="496" r:id="rId12"/>
    <p:sldId id="497" r:id="rId13"/>
    <p:sldId id="489" r:id="rId14"/>
    <p:sldId id="490" r:id="rId15"/>
    <p:sldId id="498" r:id="rId16"/>
    <p:sldId id="406" r:id="rId17"/>
    <p:sldId id="449" r:id="rId18"/>
    <p:sldId id="407" r:id="rId19"/>
    <p:sldId id="450" r:id="rId20"/>
    <p:sldId id="458" r:id="rId21"/>
    <p:sldId id="451" r:id="rId22"/>
    <p:sldId id="483" r:id="rId23"/>
    <p:sldId id="453" r:id="rId24"/>
    <p:sldId id="454" r:id="rId25"/>
    <p:sldId id="455" r:id="rId26"/>
    <p:sldId id="456" r:id="rId27"/>
    <p:sldId id="457" r:id="rId28"/>
    <p:sldId id="459" r:id="rId29"/>
    <p:sldId id="460" r:id="rId30"/>
    <p:sldId id="461" r:id="rId31"/>
    <p:sldId id="462" r:id="rId32"/>
    <p:sldId id="463" r:id="rId33"/>
    <p:sldId id="484" r:id="rId34"/>
    <p:sldId id="464" r:id="rId35"/>
    <p:sldId id="465" r:id="rId36"/>
    <p:sldId id="466" r:id="rId37"/>
    <p:sldId id="434" r:id="rId38"/>
  </p:sldIdLst>
  <p:sldSz cx="9906000" cy="6858000" type="A4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orient="horz" pos="1108">
          <p15:clr>
            <a:srgbClr val="A4A3A4"/>
          </p15:clr>
        </p15:guide>
        <p15:guide id="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0081BE"/>
    <a:srgbClr val="9E0F1D"/>
    <a:srgbClr val="693B68"/>
    <a:srgbClr val="360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77" d="100"/>
          <a:sy n="77" d="100"/>
        </p:scale>
        <p:origin x="1066" y="72"/>
      </p:cViewPr>
      <p:guideLst>
        <p:guide orient="horz" pos="1071"/>
        <p:guide orient="horz" pos="1108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50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22EBD4A-5895-A54E-A055-EDAC0AE85B12}" type="datetimeFigureOut">
              <a:rPr lang="en-GB"/>
              <a:pPr>
                <a:defRPr/>
              </a:pPr>
              <a:t>10/11/2025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47DD014-F3DA-9946-8CC1-301B1D9983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72004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C6EAC80-80B2-FE4F-B44C-ECDD3CC6FD34}" type="datetimeFigureOut">
              <a:rPr lang="en-GB"/>
              <a:pPr>
                <a:defRPr/>
              </a:pPr>
              <a:t>10/11/2025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138381A-76B6-2948-B558-3F95756377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2752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916839"/>
            <a:ext cx="8420100" cy="1470025"/>
          </a:xfrm>
        </p:spPr>
        <p:txBody>
          <a:bodyPr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672607"/>
            <a:ext cx="6934200" cy="1752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568D4F-4E96-4841-A1F5-19AC2D41DEB5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8E8C3C-0935-FD48-B11D-125A6C8E73D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5450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114425"/>
            <a:ext cx="8485605" cy="51228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F4441D-FCF9-B841-8F75-F62C4FB0DAB0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EEE868-5A68-4147-BDAB-52F2EBBCC5A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509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80963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29928"/>
            <a:ext cx="8485605" cy="78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8485605" cy="446566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A35C8-07AA-F94B-83B0-C4A730E41B1B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B0B1DF-C791-F345-ACE0-CA99EFF1D83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284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ln w="12700" cap="rnd">
            <a:solidFill>
              <a:srgbClr val="87A529"/>
            </a:solidFill>
          </a:ln>
        </p:spPr>
        <p:txBody>
          <a:bodyPr lIns="108000" tIns="108000" rIns="108000" bIns="108000"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995428-EAB3-764C-8677-F1F25470B456}" type="datetime3">
              <a:rPr lang="en-GB"/>
              <a:pPr>
                <a:defRPr/>
              </a:pPr>
              <a:t>10 November,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20A639-F880-524E-92E8-3486672BD7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483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2D2F54-982D-E743-AA1F-7772CD9012E2}" type="datetime3">
              <a:rPr lang="en-GB"/>
              <a:pPr>
                <a:defRPr/>
              </a:pPr>
              <a:t>10 November,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2D634-E916-BD41-9F1F-E85E7417C3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84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4521999"/>
            <a:ext cx="8420100" cy="864096"/>
          </a:xfrm>
        </p:spPr>
        <p:txBody>
          <a:bodyPr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39323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460636" y="1196400"/>
            <a:ext cx="4984728" cy="3240712"/>
          </a:xfrm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25123-537D-E741-BE56-D25E2B04354C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E7C140-4BC7-DD46-8CA3-C0DD924A0C2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476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8" idx="3"/>
          </p:cNvCxnSpPr>
          <p:nvPr userDrawn="1"/>
        </p:nvCxnSpPr>
        <p:spPr>
          <a:xfrm>
            <a:off x="4627563" y="3176588"/>
            <a:ext cx="649287" cy="0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2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76312" y="1917112"/>
            <a:ext cx="2520000" cy="2520000"/>
          </a:xfrm>
          <a:noFill/>
          <a:ln w="12700">
            <a:solidFill>
              <a:srgbClr val="87A529"/>
            </a:solidFill>
            <a:prstDash val="solid"/>
          </a:ln>
        </p:spPr>
        <p:txBody>
          <a:bodyPr lIns="108000" tIns="108000" rIns="108000" bIns="108000"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107960" y="1917112"/>
            <a:ext cx="2520000" cy="2520000"/>
          </a:xfrm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869160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7BB531-FD53-6A42-8437-AB036AED9633}" type="datetime3">
              <a:rPr lang="en-GB"/>
              <a:pPr>
                <a:defRPr/>
              </a:pPr>
              <a:t>10 November, 2025</a:t>
            </a:fld>
            <a:endParaRPr lang="en-GB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C009A3-AF77-304F-92E2-22002205EF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435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H="1">
            <a:off x="4632325" y="3425825"/>
            <a:ext cx="476250" cy="0"/>
          </a:xfrm>
          <a:prstGeom prst="line">
            <a:avLst/>
          </a:prstGeom>
          <a:ln w="12700" cmpd="sng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1789" y="2166556"/>
            <a:ext cx="2520000" cy="2520000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056" y="2166556"/>
            <a:ext cx="2520000" cy="2520000"/>
          </a:xfrm>
          <a:ln w="12700">
            <a:solidFill>
              <a:srgbClr val="87A529"/>
            </a:solidFill>
          </a:ln>
        </p:spPr>
        <p:txBody>
          <a:bodyPr lIns="108000" tIns="108000" rIns="108000" bIns="108000"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BD460E-B54D-E546-92EF-4D2902D3E54F}" type="datetime3">
              <a:rPr lang="en-GB"/>
              <a:pPr>
                <a:defRPr/>
              </a:pPr>
              <a:t>10 November,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1FE47B-26B3-1A40-A83C-170A74EA22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71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80963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2852936"/>
            <a:ext cx="8420100" cy="1362075"/>
          </a:xfrm>
        </p:spPr>
        <p:txBody>
          <a:bodyPr/>
          <a:lstStyle>
            <a:lvl1pPr algn="l">
              <a:defRPr sz="4000" b="1" cap="none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4509120"/>
            <a:ext cx="8420100" cy="10801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DE044D-56C9-D045-AD41-9211A2AB6C0C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FC4CA-12F0-4A4C-8629-C1CFD830D16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6713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1114426"/>
            <a:ext cx="5054084" cy="5122886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47C88-C818-9543-9F1E-2A7C341B416F}" type="datetime3">
              <a:rPr lang="en-GB"/>
              <a:pPr>
                <a:defRPr/>
              </a:pPr>
              <a:t>10 November,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63A9D8-66EC-444B-9E6C-54113037B3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62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2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34120"/>
            <a:ext cx="8485605" cy="7559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1771650"/>
            <a:ext cx="5054084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noFill/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035336-AB8F-714D-8E4E-F432E240A60F}" type="datetime3">
              <a:rPr lang="en-GB"/>
              <a:pPr>
                <a:defRPr/>
              </a:pPr>
              <a:t>10 November, 2025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FB0D13-D08B-4549-AC14-0B4B4B9AF6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948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114426"/>
            <a:ext cx="5079603" cy="5122886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A1A8-B470-1540-864F-AF2C7D81F41B}" type="datetime3">
              <a:rPr lang="en-GB"/>
              <a:pPr>
                <a:defRPr/>
              </a:pPr>
              <a:t>10 November,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09793B-AD38-1A42-AA9D-4E06B7A01C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753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2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01600"/>
            <a:ext cx="1584325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solidFill>
            <a:schemeClr val="accent1"/>
          </a:solidFill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42541-E997-4F49-85EF-4CCCF00D0EF9}" type="datetime3">
              <a:rPr lang="en-GB"/>
              <a:pPr>
                <a:defRPr/>
              </a:pPr>
              <a:t>10 November, 2025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48B3D1-E818-B04E-A1F5-49B7F19227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092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2060575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114426"/>
            <a:ext cx="5079603" cy="5122886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CD75EA-DCC8-9840-917C-FAC56344F17F}" type="datetime3">
              <a:rPr lang="en-GB"/>
              <a:pPr>
                <a:defRPr/>
              </a:pPr>
              <a:t>10 November,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17B891-E3D7-6F45-BE23-3A0F1D2E5D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107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65735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2060575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32130F-0913-DF45-95C6-89DBAA63D3E9}" type="datetime3">
              <a:rPr lang="en-GB"/>
              <a:pPr>
                <a:defRPr/>
              </a:pPr>
              <a:t>10 November, 2025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0DA09-FF99-0649-8968-06384E36B9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8267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114426"/>
            <a:ext cx="4062928" cy="5011744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1114426"/>
            <a:ext cx="4048894" cy="5011744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9D680-5E09-F74D-8047-C1E5DBBD3B29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01427-B512-7248-A4CA-C97BF0071E5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23996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1771650"/>
            <a:ext cx="4048894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A3276-1A0C-D446-AB2F-569EC9556028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353AB-A865-4446-87DC-AEDFA62A292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4131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112356"/>
            <a:ext cx="4062928" cy="5013814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1114426"/>
            <a:ext cx="4049713" cy="50101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7C966C-6B72-5141-B469-5EAA79BF385D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72F7F-CAE4-184F-BD3C-1874F5B871D7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7885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65735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1773238"/>
            <a:ext cx="4049713" cy="43513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BA733-5E18-704D-8A3E-0849B336BAB7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331DDB-933F-9844-BB22-08B7C960913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96633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1124744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1916832"/>
            <a:ext cx="4068137" cy="432048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1124744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1916832"/>
            <a:ext cx="4071620" cy="432048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441FF-F6A3-EF42-B4DC-77CDBD117C18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25D98B-0F68-2E43-BC3B-3280CEDF0E33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12550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934045"/>
            <a:ext cx="8485188" cy="766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1772816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2492896"/>
            <a:ext cx="4068137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1772816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2492896"/>
            <a:ext cx="4071620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EDFE4-4D8A-7846-A0C4-2F016432D8F3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C8BE3B-F668-DB4C-A0F2-E43A7C187F3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17190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9EE141-945D-9B45-B69D-164338EB0C16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937DF-DC3B-2B40-8064-4D2CB8147FB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03255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934045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F9FF54-C48D-DC49-B8E9-9BFF9633E595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EB4C0-1156-3142-A0E4-36DE16FEE6C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08154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5386D1-55F4-274E-8E31-C05C80C0997C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1AFC6-2595-E641-8B02-9202243DB65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19129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E7F3F-C7CA-C949-BDCC-28B438452C1D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34A02-E4AB-AB4F-8B80-E8ACE1C484D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40175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5DABA-A733-ED44-BAF2-74BAD90DD168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C0E16-F279-204C-8F1E-D763784F2CE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8777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5A72E8-4729-7444-BC73-110EEAA2260D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3C102-2AC3-CA4A-8F5C-9BEDD08B54D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84188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D6B6C-6107-6748-9690-0C5DCB979249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14FEE-8ACB-AB48-9E72-F40339A1EC0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88167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732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8B28D9-145B-CE40-BF66-564217847540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D08EE-0A1B-6E44-89A9-50D76CE33D2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96729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C4DF8-4B58-784F-A4DF-275A1FD47115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C1FFD0-77F3-3E4D-9850-85A2DA222CF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29570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934045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1875" y="1772221"/>
            <a:ext cx="8485188" cy="44650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746FC-89C8-8947-B99E-11FCA650D660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2278C-87C0-7B46-A362-15FBE108517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27465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62FF4-CB32-924A-B752-B19D91491121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8AC8-2546-FA4C-962F-2DDF922E55C7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74398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732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81EED1-0220-C642-864B-0421ABAEC11B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35F82-2AA4-BD40-8936-9C1C38FBEED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87742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2492375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7"/>
          <p:cNvSpPr>
            <a:spLocks noGrp="1"/>
          </p:cNvSpPr>
          <p:nvPr>
            <p:ph sz="quarter" idx="13"/>
          </p:nvPr>
        </p:nvSpPr>
        <p:spPr>
          <a:xfrm>
            <a:off x="1025951" y="5013176"/>
            <a:ext cx="7709488" cy="576263"/>
          </a:xfr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305300" y="3429000"/>
            <a:ext cx="1943100" cy="5048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6A427-9C52-914A-9F28-4E7A3B6702C1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B1150-2EA3-BA46-9C62-F9F06C80496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95398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/>
          <p:nvPr/>
        </p:nvSpPr>
        <p:spPr>
          <a:xfrm>
            <a:off x="-12133" y="-50433"/>
            <a:ext cx="9918025" cy="13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9044" tIns="99044" rIns="99044" bIns="9904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title"/>
          </p:nvPr>
        </p:nvSpPr>
        <p:spPr>
          <a:xfrm>
            <a:off x="337675" y="227760"/>
            <a:ext cx="923065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body" idx="1"/>
          </p:nvPr>
        </p:nvSpPr>
        <p:spPr>
          <a:xfrm>
            <a:off x="337675" y="1435033"/>
            <a:ext cx="923065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95285" lvl="0" indent="-412737" rtl="0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marL="990570" lvl="1" indent="-385221" rtl="0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167">
                <a:solidFill>
                  <a:srgbClr val="000000"/>
                </a:solidFill>
              </a:defRPr>
            </a:lvl2pPr>
            <a:lvl3pPr marL="1485854" lvl="2" indent="-34394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marL="1981139" lvl="3" indent="-34394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marL="2476424" lvl="4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marL="2971709" lvl="5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marL="3466993" lvl="6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marL="3962278" lvl="7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marL="4457563" lvl="8" indent="-343948" rtl="0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sldNum" idx="12"/>
          </p:nvPr>
        </p:nvSpPr>
        <p:spPr>
          <a:xfrm>
            <a:off x="9178496" y="6319223"/>
            <a:ext cx="594425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48123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31875" y="44450"/>
            <a:ext cx="8485188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31875" y="1114425"/>
            <a:ext cx="8485188" cy="5122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Rectangle 9"/>
          <p:cNvSpPr/>
          <p:nvPr/>
        </p:nvSpPr>
        <p:spPr bwMode="auto">
          <a:xfrm>
            <a:off x="387350" y="6340475"/>
            <a:ext cx="496888" cy="35877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 dirty="0">
              <a:solidFill>
                <a:schemeClr val="bg1"/>
              </a:solidFill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505075" y="6340475"/>
            <a:ext cx="7011988" cy="358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904875" y="6340475"/>
            <a:ext cx="1598613" cy="3587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1875" y="6337300"/>
            <a:ext cx="1473200" cy="365125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56516A83-91EE-AB41-A586-9B58DDBC6DE5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5075" y="6337300"/>
            <a:ext cx="7005638" cy="365125"/>
          </a:xfrm>
          <a:prstGeom prst="rect">
            <a:avLst/>
          </a:prstGeom>
        </p:spPr>
        <p:txBody>
          <a:bodyPr vert="horz" lIns="108000" tIns="0" rIns="10800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7825" y="6337300"/>
            <a:ext cx="51435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B3990C44-6740-6B49-8695-A99901BF4C4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30" r:id="rId2"/>
    <p:sldLayoutId id="2147484531" r:id="rId3"/>
    <p:sldLayoutId id="2147484532" r:id="rId4"/>
    <p:sldLayoutId id="2147484533" r:id="rId5"/>
    <p:sldLayoutId id="2147484534" r:id="rId6"/>
    <p:sldLayoutId id="2147484535" r:id="rId7"/>
    <p:sldLayoutId id="2147484536" r:id="rId8"/>
    <p:sldLayoutId id="2147484537" r:id="rId9"/>
    <p:sldLayoutId id="2147484538" r:id="rId10"/>
    <p:sldLayoutId id="2147484539" r:id="rId11"/>
    <p:sldLayoutId id="2147484540" r:id="rId12"/>
    <p:sldLayoutId id="2147484541" r:id="rId13"/>
    <p:sldLayoutId id="2147484542" r:id="rId14"/>
    <p:sldLayoutId id="2147484543" r:id="rId15"/>
    <p:sldLayoutId id="2147484544" r:id="rId16"/>
    <p:sldLayoutId id="2147484545" r:id="rId17"/>
    <p:sldLayoutId id="2147484546" r:id="rId18"/>
    <p:sldLayoutId id="2147484547" r:id="rId19"/>
    <p:sldLayoutId id="2147484548" r:id="rId20"/>
    <p:sldLayoutId id="2147484549" r:id="rId21"/>
    <p:sldLayoutId id="2147484550" r:id="rId22"/>
    <p:sldLayoutId id="2147484551" r:id="rId23"/>
    <p:sldLayoutId id="2147484552" r:id="rId24"/>
    <p:sldLayoutId id="2147484553" r:id="rId25"/>
    <p:sldLayoutId id="2147484554" r:id="rId26"/>
    <p:sldLayoutId id="2147484555" r:id="rId27"/>
    <p:sldLayoutId id="2147484556" r:id="rId28"/>
    <p:sldLayoutId id="2147484557" r:id="rId29"/>
    <p:sldLayoutId id="2147484558" r:id="rId30"/>
    <p:sldLayoutId id="2147484559" r:id="rId31"/>
    <p:sldLayoutId id="2147484560" r:id="rId32"/>
    <p:sldLayoutId id="2147484561" r:id="rId33"/>
    <p:sldLayoutId id="2147484562" r:id="rId34"/>
    <p:sldLayoutId id="2147484564" r:id="rId3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rgbClr val="87A529"/>
          </a:solidFill>
          <a:latin typeface="Georgia" panose="02040502050405020303" pitchFamily="18" charset="0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develop/sensors-and-location/location/migration" TargetMode="External"/><Relationship Id="rId2" Type="http://schemas.openxmlformats.org/officeDocument/2006/relationships/hyperlink" Target="http://developer.android.com/reference/android/location/package-summary.html" TargetMode="External"/><Relationship Id="rId1" Type="http://schemas.openxmlformats.org/officeDocument/2006/relationships/slideLayout" Target="../slideLayouts/slideLayout35.xml"/><Relationship Id="rId4" Type="http://schemas.openxmlformats.org/officeDocument/2006/relationships/hyperlink" Target="https://developers.google.com/maps/documentation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reference/android/Manifest.permission.html#ACCESS_FINE_LOCATION" TargetMode="External"/><Relationship Id="rId2" Type="http://schemas.openxmlformats.org/officeDocument/2006/relationships/hyperlink" Target="http://developer.android.com/reference/android/Manifest.permission.html#ACCESS_COARSE_LOCATION" TargetMode="External"/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reference/com/google/android/gms/location/FusedLocationProviderApi.html#getLastLocation(com.google.android.gms.common.api.GoogleApiClient)" TargetMode="External"/><Relationship Id="rId2" Type="http://schemas.openxmlformats.org/officeDocument/2006/relationships/hyperlink" Target="https://developers.google.com/location-context/fused-location-provider" TargetMode="Externa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reference/android/location/Address.html" TargetMode="External"/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2_HZObVbe-g" TargetMode="External"/><Relationship Id="rId2" Type="http://schemas.openxmlformats.org/officeDocument/2006/relationships/hyperlink" Target="https://developers.google.com/maps/documentation/javascript/get-api-key" TargetMode="External"/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google.com/maps/documentation" TargetMode="External"/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developers.google.com/" TargetMode="External"/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ecbee.com/blogs/android-tutorials-google-map-drawing-routes-between-two-points" TargetMode="External"/><Relationship Id="rId2" Type="http://schemas.openxmlformats.org/officeDocument/2006/relationships/hyperlink" Target="https://www.javacodegeeks.com/2011/02/android-google-maps-tutorial.html" TargetMode="External"/><Relationship Id="rId1" Type="http://schemas.openxmlformats.org/officeDocument/2006/relationships/slideLayout" Target="../slideLayouts/slideLayout35.xml"/><Relationship Id="rId4" Type="http://schemas.openxmlformats.org/officeDocument/2006/relationships/hyperlink" Target="https://code.tutsplus.com/getting-started-with-google-maps-for-android-basics--cms-24635t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50"/>
          <p:cNvSpPr>
            <a:spLocks noGrp="1" noChangeArrowheads="1"/>
          </p:cNvSpPr>
          <p:nvPr>
            <p:ph type="title"/>
          </p:nvPr>
        </p:nvSpPr>
        <p:spPr>
          <a:xfrm>
            <a:off x="416496" y="1312895"/>
            <a:ext cx="9230650" cy="7636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GB" altLang="en-US" sz="3600" dirty="0">
                <a:solidFill>
                  <a:schemeClr val="bg1"/>
                </a:solidFill>
                <a:latin typeface="Georgia" panose="02040502050405020303" pitchFamily="18" charset="0"/>
              </a:rPr>
              <a:t>Mobile Application Development (COS7025-B)</a:t>
            </a:r>
            <a:br>
              <a:rPr lang="en-GB" altLang="en-US" sz="3600" dirty="0">
                <a:solidFill>
                  <a:schemeClr val="bg1"/>
                </a:solidFill>
                <a:latin typeface="Georgia" panose="02040502050405020303" pitchFamily="18" charset="0"/>
              </a:rPr>
            </a:br>
            <a:br>
              <a:rPr lang="en-GB" altLang="en-US" sz="1300" dirty="0">
                <a:solidFill>
                  <a:srgbClr val="003399"/>
                </a:solidFill>
                <a:latin typeface="Georgia" panose="02040502050405020303" pitchFamily="18" charset="0"/>
              </a:rPr>
            </a:br>
            <a:br>
              <a:rPr lang="en-GB" altLang="en-US" sz="900" dirty="0">
                <a:solidFill>
                  <a:srgbClr val="003399"/>
                </a:solidFill>
              </a:rPr>
            </a:br>
            <a:r>
              <a:rPr lang="en-GB" altLang="en-US" sz="36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  <a:t>Mobile Apps Architecture &amp;</a:t>
            </a:r>
            <a:r>
              <a:rPr lang="en-GB" altLang="en-US" sz="3600" dirty="0">
                <a:solidFill>
                  <a:srgbClr val="003399"/>
                </a:solidFill>
                <a:latin typeface="Georgia" panose="02040502050405020303" pitchFamily="18" charset="0"/>
              </a:rPr>
              <a:t> </a:t>
            </a:r>
            <a:br>
              <a:rPr lang="en-GB" altLang="en-US" sz="900" dirty="0">
                <a:solidFill>
                  <a:srgbClr val="003399"/>
                </a:solidFill>
                <a:latin typeface="Georgia" panose="02040502050405020303" pitchFamily="18" charset="0"/>
              </a:rPr>
            </a:br>
            <a:r>
              <a:rPr lang="en-GB" altLang="en-US" sz="36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  <a:t>Designing Mobile Apps using Android</a:t>
            </a:r>
            <a:br>
              <a:rPr lang="en-GB" altLang="en-US" sz="36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</a:br>
            <a:r>
              <a:rPr lang="en-US" sz="3600" b="1" i="0" u="none" strike="noStrike" baseline="0" dirty="0">
                <a:solidFill>
                  <a:srgbClr val="0070C0"/>
                </a:solidFill>
                <a:latin typeface="Georgia" panose="02040502050405020303" pitchFamily="18" charset="0"/>
              </a:rPr>
              <a:t>Maps, Location and Runtime Permissions</a:t>
            </a:r>
            <a:endParaRPr lang="es-ES" altLang="en-US" sz="3600" dirty="0">
              <a:solidFill>
                <a:srgbClr val="0081BE"/>
              </a:solidFill>
              <a:latin typeface="Georgia" panose="02040502050405020303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71B4BE5D-D4C9-A14A-A707-5B27380E2328}" type="slidenum">
              <a:rPr lang="en-GB" smtClean="0"/>
              <a:pPr>
                <a:defRPr/>
              </a:pPr>
              <a:t>1</a:t>
            </a:fld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4294967295"/>
          </p:nvPr>
        </p:nvSpPr>
        <p:spPr>
          <a:xfrm>
            <a:off x="0" y="6337300"/>
            <a:ext cx="1473200" cy="365125"/>
          </a:xfrm>
        </p:spPr>
        <p:txBody>
          <a:bodyPr/>
          <a:lstStyle/>
          <a:p>
            <a:pPr>
              <a:defRPr/>
            </a:pPr>
            <a:fld id="{03F7D35D-8950-BF46-B66A-37F1FDD14F3C}" type="datetime3">
              <a:rPr lang="en-GB"/>
              <a:pPr>
                <a:defRPr/>
              </a:pPr>
              <a:t>10 November,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2900363" y="6337300"/>
            <a:ext cx="7005637" cy="365125"/>
          </a:xfrm>
        </p:spPr>
        <p:txBody>
          <a:bodyPr/>
          <a:lstStyle/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Rectangle 168"/>
          <p:cNvSpPr>
            <a:spLocks noChangeArrowheads="1"/>
          </p:cNvSpPr>
          <p:nvPr/>
        </p:nvSpPr>
        <p:spPr bwMode="auto">
          <a:xfrm>
            <a:off x="2385307" y="3633138"/>
            <a:ext cx="4968552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UY" altLang="en-US" sz="2000" b="1" dirty="0">
                <a:solidFill>
                  <a:schemeClr val="tx1"/>
                </a:solidFill>
              </a:rPr>
              <a:t>Karim Hammoud Sadik</a:t>
            </a:r>
          </a:p>
          <a:p>
            <a:endParaRPr lang="es-UY" altLang="en-US" sz="2000" b="1" dirty="0">
              <a:solidFill>
                <a:schemeClr val="tx1"/>
              </a:solidFill>
            </a:endParaRPr>
          </a:p>
          <a:p>
            <a:r>
              <a:rPr lang="es-UY" altLang="en-US" sz="2000" b="1" dirty="0" err="1">
                <a:solidFill>
                  <a:schemeClr val="tx1"/>
                </a:solidFill>
              </a:rPr>
              <a:t>Lecture</a:t>
            </a:r>
            <a:r>
              <a:rPr lang="es-UY" altLang="en-US" sz="2000" b="1" dirty="0">
                <a:solidFill>
                  <a:schemeClr val="tx1"/>
                </a:solidFill>
              </a:rPr>
              <a:t> #8</a:t>
            </a:r>
            <a:endParaRPr lang="es-ES" altLang="en-US" sz="2000" b="1" dirty="0">
              <a:solidFill>
                <a:schemeClr val="tx1"/>
              </a:solidFill>
            </a:endParaRPr>
          </a:p>
        </p:txBody>
      </p:sp>
      <p:pic>
        <p:nvPicPr>
          <p:cNvPr id="11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520" y="4607870"/>
            <a:ext cx="960698" cy="1540889"/>
          </a:xfrm>
          <a:prstGeom prst="rect">
            <a:avLst/>
          </a:prstGeom>
        </p:spPr>
      </p:pic>
      <p:pic>
        <p:nvPicPr>
          <p:cNvPr id="12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85048" y="4869160"/>
            <a:ext cx="1103818" cy="1101508"/>
          </a:xfrm>
          <a:prstGeom prst="rect">
            <a:avLst/>
          </a:prstGeom>
        </p:spPr>
      </p:pic>
      <p:sp>
        <p:nvSpPr>
          <p:cNvPr id="13" name="object 2"/>
          <p:cNvSpPr txBox="1">
            <a:spLocks/>
          </p:cNvSpPr>
          <p:nvPr/>
        </p:nvSpPr>
        <p:spPr bwMode="auto">
          <a:xfrm>
            <a:off x="5121609" y="6042039"/>
            <a:ext cx="1625256" cy="259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GB" sz="1600" b="1" dirty="0">
                <a:solidFill>
                  <a:srgbClr val="7030A0"/>
                </a:solidFill>
              </a:rPr>
              <a:t>Android</a:t>
            </a:r>
            <a:r>
              <a:rPr lang="en-GB" sz="1600" b="1" spc="-155" dirty="0">
                <a:solidFill>
                  <a:srgbClr val="7030A0"/>
                </a:solidFill>
              </a:rPr>
              <a:t> </a:t>
            </a:r>
            <a:r>
              <a:rPr lang="en-GB" sz="1600" b="1" dirty="0">
                <a:solidFill>
                  <a:srgbClr val="7030A0"/>
                </a:solidFill>
              </a:rPr>
              <a:t>Studio</a:t>
            </a:r>
            <a:endParaRPr lang="en-GB" sz="1600" b="1" spc="-100" dirty="0">
              <a:solidFill>
                <a:srgbClr val="7030A0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01369">
            <a:off x="2770480" y="4707233"/>
            <a:ext cx="803112" cy="1496807"/>
          </a:xfrm>
          <a:prstGeom prst="rect">
            <a:avLst/>
          </a:prstGeom>
        </p:spPr>
      </p:pic>
      <p:pic>
        <p:nvPicPr>
          <p:cNvPr id="15" name="Picture 2" descr="Android framework details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53" r="41013"/>
          <a:stretch>
            <a:fillRect/>
          </a:stretch>
        </p:blipFill>
        <p:spPr bwMode="auto">
          <a:xfrm>
            <a:off x="7751333" y="3987613"/>
            <a:ext cx="1394740" cy="2374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55B40-594C-87A4-67E1-018DC8F27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B490B-786A-691E-A082-ABCA10D53D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</a:t>
            </a:fld>
            <a:endParaRPr lang="en"/>
          </a:p>
        </p:txBody>
      </p:sp>
      <p:sp>
        <p:nvSpPr>
          <p:cNvPr id="6" name="Google Shape;488;p94">
            <a:extLst>
              <a:ext uri="{FF2B5EF4-FFF2-40B4-BE49-F238E27FC236}">
                <a16:creationId xmlns:a16="http://schemas.microsoft.com/office/drawing/2014/main" id="{FB4163B3-F9C3-376B-F66E-7D6BBA661F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480" y="436193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Contents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72099F4-B58F-675E-0EEA-25425212D595}"/>
              </a:ext>
            </a:extLst>
          </p:cNvPr>
          <p:cNvSpPr txBox="1">
            <a:spLocks/>
          </p:cNvSpPr>
          <p:nvPr/>
        </p:nvSpPr>
        <p:spPr bwMode="auto">
          <a:xfrm>
            <a:off x="-303366" y="1556792"/>
            <a:ext cx="9760683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48249" lvl="1" indent="-342900"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Lucida Sans Unicode" charset="0"/>
                <a:ea typeface="MS PGothic" charset="-128"/>
                <a:cs typeface="Lucida Sans Unicode" charset="0"/>
              </a:rPr>
              <a:t>Mobile App Development Architecture Models</a:t>
            </a:r>
          </a:p>
          <a:p>
            <a:pPr marL="948249" lvl="1" indent="-342900"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Lucida Sans Unicode" charset="0"/>
                <a:ea typeface="MS PGothic" charset="-128"/>
                <a:cs typeface="Lucida Sans Unicode" charset="0"/>
              </a:rPr>
              <a:t>How to use Google Map API with Android</a:t>
            </a:r>
          </a:p>
          <a:p>
            <a:pPr marL="948249" lvl="1" indent="-342900"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Lucida Sans Unicode" charset="0"/>
                <a:ea typeface="MS PGothic" charset="-128"/>
                <a:cs typeface="Lucida Sans Unicode" charset="0"/>
              </a:rPr>
              <a:t>Examples of how to find your location using Android App</a:t>
            </a:r>
          </a:p>
          <a:p>
            <a:pPr marL="948249" lvl="1" indent="-342900"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Lucida Sans Unicode" charset="0"/>
                <a:ea typeface="MS PGothic" charset="-128"/>
                <a:cs typeface="Lucida Sans Unicode" charset="0"/>
              </a:rPr>
              <a:t>How to set Runtime Permissions</a:t>
            </a:r>
          </a:p>
        </p:txBody>
      </p:sp>
    </p:spTree>
    <p:extLst>
      <p:ext uri="{BB962C8B-B14F-4D97-AF65-F5344CB8AC3E}">
        <p14:creationId xmlns:p14="http://schemas.microsoft.com/office/powerpoint/2010/main" val="2977182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624D-68E3-27CF-7C7A-DA739B7C1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28E5D-3EEF-FC46-8746-E6372D549B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</a:t>
            </a:fld>
            <a:endParaRPr lang="en"/>
          </a:p>
        </p:txBody>
      </p:sp>
      <p:sp>
        <p:nvSpPr>
          <p:cNvPr id="6" name="Google Shape;488;p94">
            <a:extLst>
              <a:ext uri="{FF2B5EF4-FFF2-40B4-BE49-F238E27FC236}">
                <a16:creationId xmlns:a16="http://schemas.microsoft.com/office/drawing/2014/main" id="{F8B51836-1FD1-2BFB-89EE-D9977564BB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479" y="436193"/>
            <a:ext cx="950044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3200" b="1" i="0" u="none" strike="noStrike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Mobile Application Development Architecture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BE8B080-2F50-EDC8-C386-FC89563CB362}"/>
              </a:ext>
            </a:extLst>
          </p:cNvPr>
          <p:cNvSpPr txBox="1">
            <a:spLocks/>
          </p:cNvSpPr>
          <p:nvPr/>
        </p:nvSpPr>
        <p:spPr bwMode="auto">
          <a:xfrm>
            <a:off x="-35632" y="1882552"/>
            <a:ext cx="9941632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2964" indent="-342900">
              <a:buFont typeface="Arial" panose="020B0604020202020204" pitchFamily="34" charset="0"/>
              <a:buChar char="•"/>
            </a:pPr>
            <a:r>
              <a:rPr lang="en-US" sz="2233" b="0" i="0" dirty="0">
                <a:effectLst/>
                <a:latin typeface="Roboto" panose="02000000000000000000" pitchFamily="2" charset="0"/>
              </a:rPr>
              <a:t>Mobile application architecture refers to the structural design that defines how different components of a mobile app interact to deliver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2776348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109E1-7885-61BC-AA0F-E90BCDA78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B33DB-F7E2-D92E-22B6-AB8F18D7A2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</a:t>
            </a:fld>
            <a:endParaRPr lang="en"/>
          </a:p>
        </p:txBody>
      </p:sp>
      <p:sp>
        <p:nvSpPr>
          <p:cNvPr id="6" name="Google Shape;488;p94">
            <a:extLst>
              <a:ext uri="{FF2B5EF4-FFF2-40B4-BE49-F238E27FC236}">
                <a16:creationId xmlns:a16="http://schemas.microsoft.com/office/drawing/2014/main" id="{193B8905-7446-3A81-A63D-C4DC3E6F87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464" y="476672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-US" b="1" i="0" dirty="0">
                <a:effectLst/>
                <a:latin typeface="Roboto" panose="02000000000000000000" pitchFamily="2" charset="0"/>
              </a:rPr>
              <a:t>Key Layers of Mobile App Architecture</a:t>
            </a:r>
            <a:br>
              <a:rPr lang="en-US" b="1" i="0" dirty="0">
                <a:effectLst/>
                <a:latin typeface="Roboto" panose="02000000000000000000" pitchFamily="2" charset="0"/>
              </a:rPr>
            </a:b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7DB5F1-D4B3-E012-296C-24C1E4CAC99E}"/>
              </a:ext>
            </a:extLst>
          </p:cNvPr>
          <p:cNvSpPr txBox="1"/>
          <p:nvPr/>
        </p:nvSpPr>
        <p:spPr>
          <a:xfrm>
            <a:off x="56456" y="1340768"/>
            <a:ext cx="9500441" cy="4721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buNone/>
            </a:pPr>
            <a:endParaRPr lang="en-US" sz="2000" b="0" i="0" dirty="0">
              <a:effectLst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l">
              <a:lnSpc>
                <a:spcPts val="1650"/>
              </a:lnSpc>
              <a:buNone/>
            </a:pPr>
            <a:r>
              <a:rPr lang="en-US" sz="2000" b="0" i="0" dirty="0"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Mobile app architecture typically consists of three layers:</a:t>
            </a:r>
          </a:p>
          <a:p>
            <a:pPr algn="l">
              <a:lnSpc>
                <a:spcPts val="1650"/>
              </a:lnSpc>
              <a:buNone/>
            </a:pPr>
            <a:endParaRPr lang="en-US" sz="2000" b="0" i="0" dirty="0">
              <a:effectLst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l">
              <a:spcAft>
                <a:spcPts val="600"/>
              </a:spcAft>
              <a:buFont typeface="+mj-lt"/>
              <a:buAutoNum type="arabicPeriod"/>
            </a:pPr>
            <a:r>
              <a:rPr lang="en-US" sz="2000" b="1" i="0" dirty="0"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Presentation Layer</a:t>
            </a:r>
            <a:r>
              <a:rPr lang="en-US" sz="2000" b="0" i="0" dirty="0"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: </a:t>
            </a:r>
            <a:r>
              <a:rPr lang="en-US" sz="2200" b="0" i="0" dirty="0">
                <a:effectLst/>
                <a:latin typeface="+mn-lt"/>
                <a:cs typeface="Lucida Sans Unicode" panose="020B0602030504020204" pitchFamily="34" charset="0"/>
              </a:rPr>
              <a:t>This is the user interface (UI) that users interact with. It includes screens, navigation, and visual elements. For example, in a messaging app, the chat interface and contact list are part of this layer.</a:t>
            </a:r>
          </a:p>
          <a:p>
            <a:pPr algn="l">
              <a:lnSpc>
                <a:spcPts val="1650"/>
              </a:lnSpc>
              <a:buFont typeface="+mj-lt"/>
              <a:buAutoNum type="arabicPeriod"/>
            </a:pPr>
            <a:endParaRPr lang="en-US" sz="2000" b="0" i="0" dirty="0">
              <a:effectLst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l">
              <a:spcAft>
                <a:spcPts val="600"/>
              </a:spcAft>
              <a:buFont typeface="+mj-lt"/>
              <a:buAutoNum type="arabicPeriod"/>
            </a:pPr>
            <a:r>
              <a:rPr lang="en-US" sz="2000" b="1" i="0" dirty="0"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Business Layer</a:t>
            </a:r>
            <a:r>
              <a:rPr lang="en-US" sz="2000" b="0" i="0" dirty="0"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: </a:t>
            </a:r>
            <a:r>
              <a:rPr lang="en-US" sz="2200" b="0" i="0" dirty="0">
                <a:effectLst/>
                <a:latin typeface="+mn-lt"/>
                <a:cs typeface="Lucida Sans Unicode" panose="020B0602030504020204" pitchFamily="34" charset="0"/>
              </a:rPr>
              <a:t>This layer contains the core logic of the application, such as computations, validations, and background tasks. For instance, in a messaging app, it handles sending and receiving messages, encrypting data, and managing notifications.</a:t>
            </a:r>
          </a:p>
          <a:p>
            <a:pPr algn="l">
              <a:lnSpc>
                <a:spcPts val="1650"/>
              </a:lnSpc>
              <a:buFont typeface="+mj-lt"/>
              <a:buAutoNum type="arabicPeriod"/>
            </a:pPr>
            <a:endParaRPr lang="en-US" sz="2000" b="0" i="0" dirty="0">
              <a:effectLst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l">
              <a:spcAft>
                <a:spcPts val="600"/>
              </a:spcAft>
              <a:buFont typeface="+mj-lt"/>
              <a:buAutoNum type="arabicPeriod"/>
            </a:pPr>
            <a:r>
              <a:rPr lang="en-US" sz="2000" b="1" i="0" dirty="0"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Data Layer</a:t>
            </a:r>
            <a:r>
              <a:rPr lang="en-US" sz="2000" b="0" i="0" dirty="0"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: </a:t>
            </a:r>
            <a:r>
              <a:rPr lang="en-US" sz="2200" b="0" i="0" dirty="0">
                <a:effectLst/>
                <a:latin typeface="+mn-lt"/>
                <a:cs typeface="Lucida Sans Unicode" panose="020B0602030504020204" pitchFamily="34" charset="0"/>
              </a:rPr>
              <a:t>This layer manages data storage and retrieval, connecting to databases or APIs. It abstracts the complexities of data handling, ensuring smooth communication between the app and its backend.</a:t>
            </a:r>
          </a:p>
        </p:txBody>
      </p:sp>
    </p:spTree>
    <p:extLst>
      <p:ext uri="{BB962C8B-B14F-4D97-AF65-F5344CB8AC3E}">
        <p14:creationId xmlns:p14="http://schemas.microsoft.com/office/powerpoint/2010/main" val="2948135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D30CB-5048-C0D0-E078-C076C7A55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06CEF-5B24-D771-6832-08051BF1AE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5</a:t>
            </a:fld>
            <a:endParaRPr lang="en"/>
          </a:p>
        </p:txBody>
      </p:sp>
      <p:sp>
        <p:nvSpPr>
          <p:cNvPr id="6" name="Google Shape;488;p94">
            <a:extLst>
              <a:ext uri="{FF2B5EF4-FFF2-40B4-BE49-F238E27FC236}">
                <a16:creationId xmlns:a16="http://schemas.microsoft.com/office/drawing/2014/main" id="{A432B030-0A33-2F54-DF1F-2CFC927531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480" y="436193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Common Architectural Patterns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4F4EB34-0FB0-D016-635B-D2B477EF2D51}"/>
              </a:ext>
            </a:extLst>
          </p:cNvPr>
          <p:cNvSpPr txBox="1">
            <a:spLocks/>
          </p:cNvSpPr>
          <p:nvPr/>
        </p:nvSpPr>
        <p:spPr bwMode="auto">
          <a:xfrm>
            <a:off x="12238" y="1268759"/>
            <a:ext cx="9893762" cy="505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0" i="0" dirty="0">
                <a:solidFill>
                  <a:srgbClr val="444444"/>
                </a:solidFill>
                <a:effectLst/>
                <a:latin typeface="+mn-lt"/>
              </a:rPr>
              <a:t>Several architectural patterns are used in mobile app development, each suited to specific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0" i="0" dirty="0">
                <a:solidFill>
                  <a:srgbClr val="444444"/>
                </a:solidFill>
                <a:effectLst/>
                <a:latin typeface="+mn-lt"/>
              </a:rPr>
              <a:t>project needs:</a:t>
            </a:r>
          </a:p>
          <a:p>
            <a:pPr algn="l">
              <a:lnSpc>
                <a:spcPts val="1650"/>
              </a:lnSpc>
              <a:buNone/>
            </a:pPr>
            <a:endParaRPr lang="en-US" sz="2000" b="0" i="0" dirty="0">
              <a:solidFill>
                <a:srgbClr val="444444"/>
              </a:solidFill>
              <a:effectLst/>
              <a:latin typeface="Roboto" panose="02000000000000000000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444444"/>
                </a:solidFill>
                <a:effectLst/>
              </a:rPr>
              <a:t>Model-View-Controller (MVC)</a:t>
            </a:r>
            <a:r>
              <a:rPr lang="en-US" sz="2000" b="0" i="0" dirty="0">
                <a:solidFill>
                  <a:srgbClr val="444444"/>
                </a:solidFill>
                <a:effectLst/>
              </a:rPr>
              <a:t>: 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+mn-lt"/>
              </a:rPr>
              <a:t>Separates the app into three components—Model (data), View (UI), and Controller (logic). It is ideal for small to medium-sized apps with straightforward requirements.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444444"/>
                </a:solidFill>
                <a:effectLst/>
              </a:rPr>
              <a:t>Model-View-</a:t>
            </a:r>
            <a:r>
              <a:rPr lang="en-US" sz="2000" b="1" i="0" dirty="0" err="1">
                <a:solidFill>
                  <a:srgbClr val="444444"/>
                </a:solidFill>
                <a:effectLst/>
              </a:rPr>
              <a:t>ViewModel</a:t>
            </a:r>
            <a:r>
              <a:rPr lang="en-US" sz="2000" b="1" i="0" dirty="0">
                <a:solidFill>
                  <a:srgbClr val="444444"/>
                </a:solidFill>
                <a:effectLst/>
              </a:rPr>
              <a:t> (MVVM)</a:t>
            </a:r>
            <a:r>
              <a:rPr lang="en-US" sz="2000" b="0" i="0" dirty="0">
                <a:solidFill>
                  <a:srgbClr val="444444"/>
                </a:solidFill>
                <a:effectLst/>
              </a:rPr>
              <a:t>: 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+mn-lt"/>
              </a:rPr>
              <a:t>Introduces a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+mn-lt"/>
              </a:rPr>
              <a:t>ViewModel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+mn-lt"/>
              </a:rPr>
              <a:t> to bridge the Model and View, enabling better separation of concerns and data binding. It is suitable for apps with complex UIs and interactions.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444444"/>
                </a:solidFill>
                <a:effectLst/>
              </a:rPr>
              <a:t>VIPER (View-Interactor-Presenter-Entity-Router)</a:t>
            </a:r>
            <a:r>
              <a:rPr lang="en-US" sz="2000" b="0" i="0" dirty="0">
                <a:solidFill>
                  <a:srgbClr val="444444"/>
                </a:solidFill>
                <a:effectLst/>
              </a:rPr>
              <a:t>: 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+mn-lt"/>
              </a:rPr>
              <a:t>Focuses on modularity and scalability by dividing responsibilities into distinct layers. It is ideal for large, complex projects requiring high maintainability.</a:t>
            </a:r>
          </a:p>
        </p:txBody>
      </p:sp>
    </p:spTree>
    <p:extLst>
      <p:ext uri="{BB962C8B-B14F-4D97-AF65-F5344CB8AC3E}">
        <p14:creationId xmlns:p14="http://schemas.microsoft.com/office/powerpoint/2010/main" val="392395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FAFF5-7F54-E5AE-450E-34F274F7E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24120-6813-3DC5-59BD-1F76C0C5E9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6</a:t>
            </a:fld>
            <a:endParaRPr lang="en"/>
          </a:p>
        </p:txBody>
      </p:sp>
      <p:sp>
        <p:nvSpPr>
          <p:cNvPr id="6" name="Google Shape;488;p94">
            <a:extLst>
              <a:ext uri="{FF2B5EF4-FFF2-40B4-BE49-F238E27FC236}">
                <a16:creationId xmlns:a16="http://schemas.microsoft.com/office/drawing/2014/main" id="{D4CE6204-1FC1-3890-DAEF-654672A737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480" y="436193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b="1" i="0" dirty="0">
                <a:solidFill>
                  <a:srgbClr val="000000"/>
                </a:solidFill>
                <a:effectLst/>
                <a:latin typeface="+mn-lt"/>
              </a:rPr>
              <a:t>Principles for Effective Architecture</a:t>
            </a:r>
            <a:endParaRPr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0D3A346-49E3-60A1-DFFA-8C9B90666332}"/>
              </a:ext>
            </a:extLst>
          </p:cNvPr>
          <p:cNvSpPr txBox="1">
            <a:spLocks/>
          </p:cNvSpPr>
          <p:nvPr/>
        </p:nvSpPr>
        <p:spPr bwMode="auto">
          <a:xfrm>
            <a:off x="72658" y="1628800"/>
            <a:ext cx="9760683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+mn-lt"/>
                <a:ea typeface="Roboto" panose="02000000000000000000" pitchFamily="2" charset="0"/>
                <a:cs typeface="Roboto" panose="02000000000000000000" pitchFamily="2" charset="0"/>
              </a:rPr>
              <a:t>Separation of Concerns</a:t>
            </a:r>
            <a:r>
              <a:rPr lang="en-US" sz="2000" b="0" i="0" dirty="0">
                <a:effectLst/>
                <a:latin typeface="+mn-lt"/>
                <a:ea typeface="Roboto" panose="02000000000000000000" pitchFamily="2" charset="0"/>
                <a:cs typeface="Roboto" panose="02000000000000000000" pitchFamily="2" charset="0"/>
              </a:rPr>
              <a:t>: Each component should handle a specific responsibility, reducing dependencies and improving testability.</a:t>
            </a:r>
          </a:p>
          <a:p>
            <a:pPr algn="l">
              <a:lnSpc>
                <a:spcPts val="1650"/>
              </a:lnSpc>
              <a:buFont typeface="Arial" panose="020B0604020202020204" pitchFamily="34" charset="0"/>
              <a:buChar char="•"/>
            </a:pPr>
            <a:endParaRPr lang="en-US" sz="2000" b="0" i="0" dirty="0">
              <a:effectLst/>
              <a:latin typeface="+mn-lt"/>
            </a:endParaRPr>
          </a:p>
          <a:p>
            <a:pPr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+mn-lt"/>
              </a:rPr>
              <a:t>Scalability</a:t>
            </a:r>
            <a:r>
              <a:rPr lang="en-US" sz="2000" b="0" i="0" dirty="0">
                <a:effectLst/>
                <a:latin typeface="+mn-lt"/>
              </a:rPr>
              <a:t>: The architecture should support growth in user base and features.</a:t>
            </a:r>
          </a:p>
          <a:p>
            <a:pPr algn="l">
              <a:lnSpc>
                <a:spcPts val="1650"/>
              </a:lnSpc>
              <a:buFont typeface="Arial" panose="020B0604020202020204" pitchFamily="34" charset="0"/>
              <a:buChar char="•"/>
            </a:pPr>
            <a:endParaRPr lang="en-US" sz="2000" b="0" i="0" dirty="0">
              <a:effectLst/>
              <a:latin typeface="+mn-lt"/>
            </a:endParaRPr>
          </a:p>
          <a:p>
            <a:pPr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+mn-lt"/>
              </a:rPr>
              <a:t>Maintainability</a:t>
            </a:r>
            <a:r>
              <a:rPr lang="en-US" sz="2000" b="0" i="0" dirty="0">
                <a:effectLst/>
                <a:latin typeface="+mn-lt"/>
              </a:rPr>
              <a:t>: Modular design ensures easier updates and debugging.</a:t>
            </a:r>
          </a:p>
          <a:p>
            <a:pPr algn="l">
              <a:lnSpc>
                <a:spcPts val="1650"/>
              </a:lnSpc>
              <a:buFont typeface="Arial" panose="020B0604020202020204" pitchFamily="34" charset="0"/>
              <a:buChar char="•"/>
            </a:pPr>
            <a:endParaRPr lang="en-US" sz="2000" b="0" i="0" dirty="0">
              <a:effectLst/>
              <a:latin typeface="+mn-lt"/>
            </a:endParaRPr>
          </a:p>
          <a:p>
            <a:pPr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+mn-lt"/>
              </a:rPr>
              <a:t>Performance</a:t>
            </a:r>
            <a:r>
              <a:rPr lang="en-US" sz="2000" b="0" i="0" dirty="0">
                <a:effectLst/>
                <a:latin typeface="+mn-lt"/>
              </a:rPr>
              <a:t>: Optimize for speed and resource efficiency.</a:t>
            </a:r>
          </a:p>
          <a:p>
            <a:pPr algn="l">
              <a:lnSpc>
                <a:spcPts val="1650"/>
              </a:lnSpc>
              <a:buFont typeface="Arial" panose="020B0604020202020204" pitchFamily="34" charset="0"/>
              <a:buChar char="•"/>
            </a:pPr>
            <a:endParaRPr lang="en-US" sz="2000" b="0" i="0" dirty="0">
              <a:effectLst/>
              <a:latin typeface="+mn-lt"/>
            </a:endParaRPr>
          </a:p>
          <a:p>
            <a:pPr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+mn-lt"/>
              </a:rPr>
              <a:t>Security</a:t>
            </a:r>
            <a:r>
              <a:rPr lang="en-US" sz="2000" b="0" i="0" dirty="0">
                <a:effectLst/>
                <a:latin typeface="+mn-lt"/>
              </a:rPr>
              <a:t>: Implement robust measures like encryption and secure authentication.</a:t>
            </a:r>
          </a:p>
          <a:p>
            <a:pPr marL="110064" indent="0">
              <a:buNone/>
            </a:pPr>
            <a:endParaRPr lang="en-GB" altLang="en-US" sz="2633" dirty="0">
              <a:latin typeface="Lucida Sans Unicode" charset="0"/>
              <a:ea typeface="MS PGothic" charset="-128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78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6BF5F-D302-FBBC-5F50-0279995DB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23DD9-5E23-7A84-6CB7-621653A20D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7</a:t>
            </a:fld>
            <a:endParaRPr lang="en"/>
          </a:p>
        </p:txBody>
      </p:sp>
      <p:sp>
        <p:nvSpPr>
          <p:cNvPr id="6" name="Google Shape;488;p94">
            <a:extLst>
              <a:ext uri="{FF2B5EF4-FFF2-40B4-BE49-F238E27FC236}">
                <a16:creationId xmlns:a16="http://schemas.microsoft.com/office/drawing/2014/main" id="{3FBB6EDA-1F1D-0EB3-FC84-D9052881A1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063" y="476672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altLang="en-US" sz="36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  <a:t>MVC - Basics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C8C08A4-515D-6A17-43D2-5CD40212B59E}"/>
              </a:ext>
            </a:extLst>
          </p:cNvPr>
          <p:cNvSpPr txBox="1">
            <a:spLocks/>
          </p:cNvSpPr>
          <p:nvPr/>
        </p:nvSpPr>
        <p:spPr bwMode="auto">
          <a:xfrm>
            <a:off x="14063" y="1412776"/>
            <a:ext cx="9760683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2000" dirty="0"/>
              <a:t>Android applications are designed around an architecture called Model-View-Controller, or MVC for short. </a:t>
            </a:r>
          </a:p>
          <a:p>
            <a:pPr>
              <a:defRPr/>
            </a:pPr>
            <a:r>
              <a:rPr lang="en-GB" sz="2000" dirty="0"/>
              <a:t>MVC states that any object in your application must be a model object, a view object, or a controller object.</a:t>
            </a:r>
          </a:p>
          <a:p>
            <a:pPr>
              <a:defRPr/>
            </a:pPr>
            <a:r>
              <a:rPr lang="en-GB" sz="2000" dirty="0"/>
              <a:t>Invented by </a:t>
            </a:r>
            <a:r>
              <a:rPr lang="en-US" sz="2000" dirty="0"/>
              <a:t>Trygve Reenskaug,1979</a:t>
            </a:r>
            <a:endParaRPr lang="en-GB" sz="2000" dirty="0"/>
          </a:p>
          <a:p>
            <a:pPr>
              <a:defRPr/>
            </a:pPr>
            <a:r>
              <a:rPr lang="en-GB" sz="2000" dirty="0"/>
              <a:t>It is a best practice – I highly advice it! [coursework]</a:t>
            </a:r>
          </a:p>
          <a:p>
            <a:pPr marL="110064" indent="0">
              <a:buNone/>
            </a:pPr>
            <a:endParaRPr lang="en-GB" altLang="en-US" sz="2633" dirty="0">
              <a:latin typeface="Lucida Sans Unicode" charset="0"/>
              <a:ea typeface="MS PGothic" charset="-128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372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321E5-C074-A6DF-12E9-4E70AB088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8A347-7F67-9D5E-9D50-A620309CEC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8</a:t>
            </a:fld>
            <a:endParaRPr lang="en"/>
          </a:p>
        </p:txBody>
      </p:sp>
      <p:sp>
        <p:nvSpPr>
          <p:cNvPr id="6" name="Google Shape;488;p94">
            <a:extLst>
              <a:ext uri="{FF2B5EF4-FFF2-40B4-BE49-F238E27FC236}">
                <a16:creationId xmlns:a16="http://schemas.microsoft.com/office/drawing/2014/main" id="{954D60DD-9AB7-F2E0-2716-2710AB95D3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063" y="476672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altLang="en-US" sz="36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  <a:t>MVC - Basics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655D9CCD-9449-D058-9602-BD8E0CE61147}"/>
              </a:ext>
            </a:extLst>
          </p:cNvPr>
          <p:cNvSpPr txBox="1">
            <a:spLocks/>
          </p:cNvSpPr>
          <p:nvPr/>
        </p:nvSpPr>
        <p:spPr bwMode="auto">
          <a:xfrm>
            <a:off x="86636" y="1341433"/>
            <a:ext cx="9819364" cy="417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In what cases</a:t>
            </a:r>
            <a:r>
              <a:rPr lang="en-GB" dirty="0"/>
              <a:t> is this pattern worth using?</a:t>
            </a:r>
          </a:p>
          <a:p>
            <a:pPr lvl="1">
              <a:spcAft>
                <a:spcPts val="1200"/>
              </a:spcAft>
            </a:pPr>
            <a:r>
              <a:rPr lang="en-GB" dirty="0"/>
              <a:t>When you need a faster development process.</a:t>
            </a:r>
          </a:p>
          <a:p>
            <a:pPr lvl="1">
              <a:spcAft>
                <a:spcPts val="1200"/>
              </a:spcAft>
            </a:pPr>
            <a:r>
              <a:rPr lang="en-GB" dirty="0"/>
              <a:t>  When you want to create a simple client/server application.</a:t>
            </a:r>
          </a:p>
          <a:p>
            <a:pPr lvl="1">
              <a:spcAft>
                <a:spcPts val="1200"/>
              </a:spcAft>
            </a:pPr>
            <a:r>
              <a:rPr lang="en-GB" dirty="0"/>
              <a:t> When you want to work with simple data.</a:t>
            </a:r>
          </a:p>
          <a:p>
            <a:pPr lvl="1">
              <a:spcAft>
                <a:spcPts val="1200"/>
              </a:spcAft>
            </a:pPr>
            <a:r>
              <a:rPr lang="en-GB" dirty="0"/>
              <a:t>  When there is one directional flow of instructions on a screen.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138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C06EF-00E7-5344-A803-EF3F3314C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3676B-EC8C-9876-FE93-7395014B78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9</a:t>
            </a:fld>
            <a:endParaRPr lang="en"/>
          </a:p>
        </p:txBody>
      </p:sp>
      <p:sp>
        <p:nvSpPr>
          <p:cNvPr id="6" name="Google Shape;488;p94">
            <a:extLst>
              <a:ext uri="{FF2B5EF4-FFF2-40B4-BE49-F238E27FC236}">
                <a16:creationId xmlns:a16="http://schemas.microsoft.com/office/drawing/2014/main" id="{64EE28C2-3712-DD06-DC80-9E1EAAF492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063" y="476672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altLang="en-US" sz="36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  <a:t>MVC - Model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9F919-9CD5-9F30-53E6-FE2B4ED7110B}"/>
              </a:ext>
            </a:extLst>
          </p:cNvPr>
          <p:cNvSpPr txBox="1">
            <a:spLocks/>
          </p:cNvSpPr>
          <p:nvPr/>
        </p:nvSpPr>
        <p:spPr bwMode="auto">
          <a:xfrm>
            <a:off x="45368" y="1484784"/>
            <a:ext cx="9871619" cy="3349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>
                <a:latin typeface="Georgia" panose="02040502050405020303" pitchFamily="18" charset="0"/>
                <a:ea typeface="MS PGothic" charset="-128"/>
                <a:cs typeface="Lucida Sans Unicode" charset="0"/>
              </a:rPr>
              <a:t>A model object holds the application’s data and “business logic.” </a:t>
            </a:r>
            <a:endParaRPr lang="en-GB" altLang="en-US" sz="1100" dirty="0">
              <a:latin typeface="Georgia" panose="02040502050405020303" pitchFamily="18" charset="0"/>
              <a:ea typeface="MS PGothic" charset="-128"/>
              <a:cs typeface="Lucida Sans Unicode" charset="0"/>
            </a:endParaRPr>
          </a:p>
          <a:p>
            <a:r>
              <a:rPr lang="en-GB" altLang="en-US" dirty="0">
                <a:latin typeface="Georgia" panose="02040502050405020303" pitchFamily="18" charset="0"/>
                <a:ea typeface="MS PGothic" charset="-128"/>
                <a:cs typeface="Lucida Sans Unicode" charset="0"/>
              </a:rPr>
              <a:t>Model classes are typically designed to model the things your app is concerned with, such as a user, a product in a store, a photo on a server, or a television show. Or a true-false question. </a:t>
            </a:r>
            <a:endParaRPr lang="en-GB" altLang="en-US" sz="1100" dirty="0">
              <a:latin typeface="Georgia" panose="02040502050405020303" pitchFamily="18" charset="0"/>
              <a:ea typeface="MS PGothic" charset="-128"/>
              <a:cs typeface="Lucida Sans Unicode" charset="0"/>
            </a:endParaRPr>
          </a:p>
          <a:p>
            <a:r>
              <a:rPr lang="en-GB" altLang="en-US" u="sng" dirty="0">
                <a:latin typeface="Georgia" panose="02040502050405020303" pitchFamily="18" charset="0"/>
                <a:ea typeface="MS PGothic" charset="-128"/>
                <a:cs typeface="Lucida Sans Unicode" charset="0"/>
              </a:rPr>
              <a:t>Model objects have no knowledge of the user interface; their sole purpose is holding and managing data. </a:t>
            </a:r>
            <a:endParaRPr lang="en-GB" altLang="en-US" sz="1100" u="sng" dirty="0">
              <a:latin typeface="Georgia" panose="02040502050405020303" pitchFamily="18" charset="0"/>
              <a:ea typeface="MS PGothic" charset="-128"/>
              <a:cs typeface="Lucida Sans Unicode" charset="0"/>
            </a:endParaRPr>
          </a:p>
          <a:p>
            <a:r>
              <a:rPr lang="en-GB" altLang="en-US" dirty="0">
                <a:latin typeface="Georgia" panose="02040502050405020303" pitchFamily="18" charset="0"/>
                <a:ea typeface="MS PGothic" charset="-128"/>
                <a:cs typeface="Lucida Sans Unicode" charset="0"/>
              </a:rPr>
              <a:t>In Android applications, model classes are generally custom classes you create. </a:t>
            </a:r>
            <a:endParaRPr lang="en-US" altLang="en-US" dirty="0">
              <a:latin typeface="Georgia" panose="02040502050405020303" pitchFamily="18" charset="0"/>
              <a:ea typeface="MS PGothic" charset="-128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21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507A8-A198-F88A-D121-1FCF01A4D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8971C-72F8-A25D-C42E-BC43DB9895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10</a:t>
            </a:fld>
            <a:endParaRPr lang="en"/>
          </a:p>
        </p:txBody>
      </p:sp>
      <p:sp>
        <p:nvSpPr>
          <p:cNvPr id="6" name="Google Shape;488;p94">
            <a:extLst>
              <a:ext uri="{FF2B5EF4-FFF2-40B4-BE49-F238E27FC236}">
                <a16:creationId xmlns:a16="http://schemas.microsoft.com/office/drawing/2014/main" id="{04F58B86-FDE2-32CF-222A-F084F4B83F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063" y="476672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altLang="en-US" sz="36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  <a:t>MVC - View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5C4BD-2D75-8967-B742-E82596F95897}"/>
              </a:ext>
            </a:extLst>
          </p:cNvPr>
          <p:cNvSpPr txBox="1">
            <a:spLocks/>
          </p:cNvSpPr>
          <p:nvPr/>
        </p:nvSpPr>
        <p:spPr bwMode="auto">
          <a:xfrm>
            <a:off x="220171" y="1412776"/>
            <a:ext cx="8984356" cy="2160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>
                <a:latin typeface="Georgia" panose="02040502050405020303" pitchFamily="18" charset="0"/>
                <a:ea typeface="MS PGothic" charset="-128"/>
                <a:cs typeface="Lucida Sans Unicode" charset="0"/>
              </a:rPr>
              <a:t>View objects know how to draw themselves on the screen and how to respond to user input, like touches. </a:t>
            </a:r>
          </a:p>
          <a:p>
            <a:endParaRPr lang="en-GB" altLang="en-US">
              <a:latin typeface="Georgia" panose="02040502050405020303" pitchFamily="18" charset="0"/>
              <a:ea typeface="MS PGothic" charset="-128"/>
              <a:cs typeface="Lucida Sans Unicode" charset="0"/>
            </a:endParaRPr>
          </a:p>
          <a:p>
            <a:r>
              <a:rPr lang="en-GB" altLang="en-US">
                <a:latin typeface="Georgia" panose="02040502050405020303" pitchFamily="18" charset="0"/>
                <a:ea typeface="MS PGothic" charset="-128"/>
                <a:cs typeface="Lucida Sans Unicode" charset="0"/>
              </a:rPr>
              <a:t>A simple rule of thumb is that if you can see it on screen, then it is a view. Android provides a wealth of configurable view classes. </a:t>
            </a:r>
            <a:endParaRPr lang="en-GB" altLang="en-US" dirty="0">
              <a:latin typeface="Georgia" panose="02040502050405020303" pitchFamily="18" charset="0"/>
              <a:ea typeface="MS PGothic" charset="-128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30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6DCD4-D564-099A-7713-A84136465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37FD8-8344-030A-D41E-7AB3E7D97B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11</a:t>
            </a:fld>
            <a:endParaRPr lang="en"/>
          </a:p>
        </p:txBody>
      </p:sp>
      <p:sp>
        <p:nvSpPr>
          <p:cNvPr id="6" name="Google Shape;488;p94">
            <a:extLst>
              <a:ext uri="{FF2B5EF4-FFF2-40B4-BE49-F238E27FC236}">
                <a16:creationId xmlns:a16="http://schemas.microsoft.com/office/drawing/2014/main" id="{394F9C10-66A4-8F27-AC85-9A47E012F8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063" y="476672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altLang="en-US" sz="36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  <a:t>MVC - Controller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5A981-BE10-767D-34BD-8B09AF5A95D0}"/>
              </a:ext>
            </a:extLst>
          </p:cNvPr>
          <p:cNvSpPr txBox="1">
            <a:spLocks/>
          </p:cNvSpPr>
          <p:nvPr/>
        </p:nvSpPr>
        <p:spPr bwMode="auto">
          <a:xfrm>
            <a:off x="14063" y="1340768"/>
            <a:ext cx="9879347" cy="2601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>
                <a:latin typeface="Georgia" panose="02040502050405020303" pitchFamily="18" charset="0"/>
                <a:ea typeface="MS PGothic" charset="-128"/>
                <a:cs typeface="Lucida Sans Unicode" charset="0"/>
              </a:rPr>
              <a:t>Controller objects tie the view and model objects together. They contain “application logic.” </a:t>
            </a:r>
          </a:p>
          <a:p>
            <a:endParaRPr lang="en-GB" altLang="en-US" sz="1100" dirty="0">
              <a:latin typeface="Georgia" panose="02040502050405020303" pitchFamily="18" charset="0"/>
              <a:ea typeface="MS PGothic" charset="-128"/>
              <a:cs typeface="Lucida Sans Unicode" charset="0"/>
            </a:endParaRPr>
          </a:p>
          <a:p>
            <a:r>
              <a:rPr lang="en-GB" altLang="en-US" dirty="0">
                <a:latin typeface="Georgia" panose="02040502050405020303" pitchFamily="18" charset="0"/>
                <a:ea typeface="MS PGothic" charset="-128"/>
                <a:cs typeface="Lucida Sans Unicode" charset="0"/>
              </a:rPr>
              <a:t>Controllers are designed to respond to various events triggered by view objects and to manage the flow of data to and from model objects and the view layer. </a:t>
            </a:r>
          </a:p>
          <a:p>
            <a:endParaRPr lang="en-GB" altLang="en-US" sz="1100" dirty="0">
              <a:latin typeface="Georgia" panose="02040502050405020303" pitchFamily="18" charset="0"/>
              <a:ea typeface="MS PGothic" charset="-128"/>
              <a:cs typeface="Lucida Sans Unicode" charset="0"/>
            </a:endParaRPr>
          </a:p>
          <a:p>
            <a:r>
              <a:rPr lang="en-GB" altLang="en-US" dirty="0">
                <a:latin typeface="Georgia" panose="02040502050405020303" pitchFamily="18" charset="0"/>
                <a:ea typeface="MS PGothic" charset="-128"/>
                <a:cs typeface="Lucida Sans Unicode" charset="0"/>
              </a:rPr>
              <a:t>In Android, a controller is typically a subclass of Activity, Fragment, or Service. (You learned about fragments and services in this module). </a:t>
            </a:r>
            <a:endParaRPr lang="en-US" altLang="en-US" dirty="0">
              <a:latin typeface="Georgia" panose="02040502050405020303" pitchFamily="18" charset="0"/>
              <a:ea typeface="MS PGothic" charset="-128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04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40B1E-9E15-428B-2C59-9E18ACEB9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BA9BE-9980-716A-3C63-97102A9375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12</a:t>
            </a:fld>
            <a:endParaRPr lang="en"/>
          </a:p>
        </p:txBody>
      </p:sp>
      <p:sp>
        <p:nvSpPr>
          <p:cNvPr id="6" name="Google Shape;488;p94">
            <a:extLst>
              <a:ext uri="{FF2B5EF4-FFF2-40B4-BE49-F238E27FC236}">
                <a16:creationId xmlns:a16="http://schemas.microsoft.com/office/drawing/2014/main" id="{F50774AC-B667-B7E2-4EE1-285ACA1A3C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063" y="476672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altLang="en-US" dirty="0">
                <a:latin typeface="Georgia" charset="0"/>
                <a:ea typeface="MS PGothic" charset="-128"/>
                <a:cs typeface="ＭＳ Ｐゴシック" charset="-128"/>
              </a:rPr>
              <a:t>MVC bigger picture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432CA900-69A2-423B-2558-865FC33F74C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600" y="1556792"/>
            <a:ext cx="6419850" cy="2203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F2396081-DA5E-50A7-AE42-070BF63CD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72" t="14568" r="64925" b="49257"/>
          <a:stretch>
            <a:fillRect/>
          </a:stretch>
        </p:blipFill>
        <p:spPr bwMode="auto">
          <a:xfrm>
            <a:off x="1496616" y="3847282"/>
            <a:ext cx="6624736" cy="2734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0547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83DA4-274B-C069-69F2-A7B903DE5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42F72-9604-CEDD-7EA3-AA11209C8D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13</a:t>
            </a:fld>
            <a:endParaRPr lang="en"/>
          </a:p>
        </p:txBody>
      </p:sp>
      <p:sp>
        <p:nvSpPr>
          <p:cNvPr id="6" name="Google Shape;488;p94">
            <a:extLst>
              <a:ext uri="{FF2B5EF4-FFF2-40B4-BE49-F238E27FC236}">
                <a16:creationId xmlns:a16="http://schemas.microsoft.com/office/drawing/2014/main" id="{559F186C-8899-FCC9-29F1-2DC241728D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480" y="436193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Contents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B6476D-E7AF-7E41-D54F-C8058196382B}"/>
              </a:ext>
            </a:extLst>
          </p:cNvPr>
          <p:cNvPicPr/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8" t="9781" r="13224" b="10342"/>
          <a:stretch/>
        </p:blipFill>
        <p:spPr bwMode="auto">
          <a:xfrm>
            <a:off x="1640632" y="1772816"/>
            <a:ext cx="6840760" cy="40154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33340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CB59B-74BD-1187-FC0E-777F5FB13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4E3A8-F050-0321-F7D5-F9A8178868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14</a:t>
            </a:fld>
            <a:endParaRPr lang="en"/>
          </a:p>
        </p:txBody>
      </p:sp>
      <p:sp>
        <p:nvSpPr>
          <p:cNvPr id="6" name="Google Shape;488;p94">
            <a:extLst>
              <a:ext uri="{FF2B5EF4-FFF2-40B4-BE49-F238E27FC236}">
                <a16:creationId xmlns:a16="http://schemas.microsoft.com/office/drawing/2014/main" id="{C64AF0C0-BA46-3C23-058E-EC4B34499D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6496" y="404664"/>
            <a:ext cx="984954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3200" b="1" dirty="0"/>
              <a:t>Communication between the Components</a:t>
            </a:r>
            <a:endParaRPr sz="3200" dirty="0">
              <a:solidFill>
                <a:srgbClr val="FFFFFF"/>
              </a:solidFill>
            </a:endParaRP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0EC2EFFB-875E-E129-6413-897A8D6AE26E}"/>
              </a:ext>
            </a:extLst>
          </p:cNvPr>
          <p:cNvSpPr txBox="1">
            <a:spLocks/>
          </p:cNvSpPr>
          <p:nvPr/>
        </p:nvSpPr>
        <p:spPr bwMode="auto">
          <a:xfrm>
            <a:off x="-33401" y="1242574"/>
            <a:ext cx="9906000" cy="5601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/>
              <a:t>User Interaction with View:</a:t>
            </a:r>
            <a:r>
              <a:rPr lang="en-GB"/>
              <a:t> The user interacts with the View, such as clicking a button or entering text into a form.</a:t>
            </a:r>
          </a:p>
          <a:p>
            <a:r>
              <a:rPr lang="en-GB" b="1"/>
              <a:t>View Receives User Input:</a:t>
            </a:r>
            <a:r>
              <a:rPr lang="en-GB"/>
              <a:t> The View receives the user input and forwards it to the Controller.</a:t>
            </a:r>
          </a:p>
          <a:p>
            <a:r>
              <a:rPr lang="en-GB" b="1"/>
              <a:t>Controller Processes User Input:</a:t>
            </a:r>
            <a:r>
              <a:rPr lang="en-GB"/>
              <a:t> The Controller receives the user input from the View. It interprets the input, performs any necessary operations (such as updating the Model), and decides how to respond.</a:t>
            </a:r>
          </a:p>
          <a:p>
            <a:r>
              <a:rPr lang="en-GB" b="1"/>
              <a:t>Controller Updates Model:</a:t>
            </a:r>
            <a:r>
              <a:rPr lang="en-GB"/>
              <a:t> The Controller updates the Model based on the user input or application logic.</a:t>
            </a:r>
          </a:p>
          <a:p>
            <a:r>
              <a:rPr lang="en-GB" b="1"/>
              <a:t>Model Notifies View of Changes:</a:t>
            </a:r>
            <a:r>
              <a:rPr lang="en-GB"/>
              <a:t> If the Model changes, it notifies the View.</a:t>
            </a:r>
          </a:p>
          <a:p>
            <a:r>
              <a:rPr lang="en-GB" b="1"/>
              <a:t>View Requests Data from Model:</a:t>
            </a:r>
            <a:r>
              <a:rPr lang="en-GB"/>
              <a:t> The View requests data from the Model to update its display.</a:t>
            </a:r>
          </a:p>
          <a:p>
            <a:r>
              <a:rPr lang="en-GB" b="1"/>
              <a:t>Controller Updates View:</a:t>
            </a:r>
            <a:r>
              <a:rPr lang="en-GB"/>
              <a:t> The Controller updates the View based on the changes in the Model or in response to user input.</a:t>
            </a:r>
          </a:p>
          <a:p>
            <a:r>
              <a:rPr lang="en-GB" b="1"/>
              <a:t>View Renders Updated UI:</a:t>
            </a:r>
            <a:r>
              <a:rPr lang="en-GB"/>
              <a:t> The View renders the updated UI based on the changes made by the Controller.</a:t>
            </a:r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012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2CC7-6E17-BBE9-6C54-8AFF671B4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B12C4-24CE-98E9-6C7F-A74AC7C252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15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47937A-6BEA-FC85-F2AC-77C717186FF4}"/>
              </a:ext>
            </a:extLst>
          </p:cNvPr>
          <p:cNvSpPr txBox="1"/>
          <p:nvPr/>
        </p:nvSpPr>
        <p:spPr>
          <a:xfrm>
            <a:off x="204596" y="2551837"/>
            <a:ext cx="95683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en-US" sz="36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  <a:t>Designing Mobile Apps using Android</a:t>
            </a:r>
            <a:br>
              <a:rPr lang="en-GB" altLang="en-US" sz="36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</a:br>
            <a:r>
              <a:rPr lang="en-US" sz="3600" b="1" i="0" u="none" strike="noStrike" baseline="0" dirty="0">
                <a:solidFill>
                  <a:srgbClr val="0070C0"/>
                </a:solidFill>
                <a:latin typeface="Georgia" panose="02040502050405020303" pitchFamily="18" charset="0"/>
              </a:rPr>
              <a:t>Maps, Location and Runtime Permissions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080238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2F66F-72FE-2F2E-089F-D64B3C9B0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80A63-AC8F-89AE-3D59-82A74DBC6F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16</a:t>
            </a:fld>
            <a:endParaRPr lang="en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702B255-10E7-F963-AAC6-8EBF1F9B0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Location Aware Applications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E45B5D4-848D-548C-6C19-0CD872902330}"/>
              </a:ext>
            </a:extLst>
          </p:cNvPr>
          <p:cNvSpPr txBox="1">
            <a:spLocks/>
          </p:cNvSpPr>
          <p:nvPr/>
        </p:nvSpPr>
        <p:spPr bwMode="auto">
          <a:xfrm>
            <a:off x="177359" y="1188047"/>
            <a:ext cx="9728641" cy="2240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Mobile users take their devices with them everywhere and adding location awareness to your app offers users a more contextual experience.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603EE1-8BEB-667A-6DFD-8573A7C3B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720" y="2996952"/>
            <a:ext cx="5780374" cy="305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573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84724-1063-7E16-8809-37E3B195D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A32D0-8C51-9776-291B-0FF9275AF0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17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4E1899-0B0D-A852-4FCF-F1796BE4C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675" y="36086"/>
            <a:ext cx="9230650" cy="763600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Discussions: Benefits of Location awareness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655E956-6006-ECB1-910D-E40353179A09}"/>
              </a:ext>
            </a:extLst>
          </p:cNvPr>
          <p:cNvSpPr txBox="1">
            <a:spLocks/>
          </p:cNvSpPr>
          <p:nvPr/>
        </p:nvSpPr>
        <p:spPr bwMode="auto">
          <a:xfrm>
            <a:off x="128464" y="1503052"/>
            <a:ext cx="9136254" cy="780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sz="2800" dirty="0">
                <a:latin typeface="Georgia" panose="02040502050405020303" pitchFamily="18" charset="0"/>
              </a:rPr>
              <a:t>What we need is a simple app that gives away users’ last known location</a:t>
            </a:r>
          </a:p>
        </p:txBody>
      </p:sp>
      <p:pic>
        <p:nvPicPr>
          <p:cNvPr id="6" name="Picture 2" descr="Final step of the WalkMyAndroid app">
            <a:extLst>
              <a:ext uri="{FF2B5EF4-FFF2-40B4-BE49-F238E27FC236}">
                <a16:creationId xmlns:a16="http://schemas.microsoft.com/office/drawing/2014/main" id="{D4A79870-746C-1D87-DCEF-BDF24475D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144" y="2262426"/>
            <a:ext cx="2237771" cy="3975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1735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4358A-B79A-61C0-6DE5-7B74CC9F6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68CDB-6A14-0E53-380D-CDA27DCB83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18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AD102F-7E00-2CE0-2FDB-6C4BDF1A2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Location services in Android</a:t>
            </a:r>
            <a:endParaRPr lang="en-GB" sz="3600" b="1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BC2EEB-26D3-C069-D471-117EAC1EA1FF}"/>
              </a:ext>
            </a:extLst>
          </p:cNvPr>
          <p:cNvSpPr txBox="1">
            <a:spLocks/>
          </p:cNvSpPr>
          <p:nvPr/>
        </p:nvSpPr>
        <p:spPr bwMode="auto">
          <a:xfrm>
            <a:off x="85799" y="1303301"/>
            <a:ext cx="9687121" cy="446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>
                <a:latin typeface="Georgia" panose="02040502050405020303" pitchFamily="18" charset="0"/>
              </a:rPr>
              <a:t>There are a number of ways of doing this – various way of detecting location, change over years</a:t>
            </a:r>
          </a:p>
          <a:p>
            <a:pPr lvl="1"/>
            <a:r>
              <a:rPr lang="en-US" sz="2000">
                <a:latin typeface="Georgia" panose="02040502050405020303" pitchFamily="18" charset="0"/>
              </a:rPr>
              <a:t>Android framework location APIs (</a:t>
            </a:r>
            <a:r>
              <a:rPr lang="en-US" sz="2000">
                <a:latin typeface="Georgia" panose="02040502050405020303" pitchFamily="18" charset="0"/>
                <a:hlinkClick r:id="rId2"/>
              </a:rPr>
              <a:t>android.location</a:t>
            </a:r>
            <a:r>
              <a:rPr lang="en-US" sz="2000">
                <a:latin typeface="Georgia" panose="02040502050405020303" pitchFamily="18" charset="0"/>
              </a:rPr>
              <a:t>)</a:t>
            </a:r>
          </a:p>
          <a:p>
            <a:pPr lvl="1"/>
            <a:r>
              <a:rPr lang="en-US" sz="2000">
                <a:latin typeface="Georgia" panose="02040502050405020303" pitchFamily="18" charset="0"/>
              </a:rPr>
              <a:t>The </a:t>
            </a:r>
            <a:r>
              <a:rPr lang="en-US" sz="2000">
                <a:latin typeface="Georgia" panose="02040502050405020303" pitchFamily="18" charset="0"/>
                <a:hlinkClick r:id="rId3"/>
              </a:rPr>
              <a:t>Google Play services location APIs</a:t>
            </a:r>
            <a:br>
              <a:rPr lang="en-US">
                <a:latin typeface="Georgia" panose="02040502050405020303" pitchFamily="18" charset="0"/>
              </a:rPr>
            </a:br>
            <a:endParaRPr lang="en-US">
              <a:latin typeface="Georgia" panose="02040502050405020303" pitchFamily="18" charset="0"/>
            </a:endParaRPr>
          </a:p>
          <a:p>
            <a:r>
              <a:rPr lang="en-US">
                <a:latin typeface="Georgia" panose="02040502050405020303" pitchFamily="18" charset="0"/>
              </a:rPr>
              <a:t>The </a:t>
            </a:r>
            <a:r>
              <a:rPr lang="en-US">
                <a:latin typeface="Georgia" panose="02040502050405020303" pitchFamily="18" charset="0"/>
                <a:hlinkClick r:id="rId3"/>
              </a:rPr>
              <a:t>Google Play services location APIs </a:t>
            </a:r>
            <a:r>
              <a:rPr lang="en-US">
                <a:latin typeface="Georgia" panose="02040502050405020303" pitchFamily="18" charset="0"/>
              </a:rPr>
              <a:t>are preferred over the Android framework location APIs (</a:t>
            </a:r>
            <a:r>
              <a:rPr lang="en-US">
                <a:latin typeface="Georgia" panose="02040502050405020303" pitchFamily="18" charset="0"/>
                <a:hlinkClick r:id="rId2"/>
              </a:rPr>
              <a:t>android.location</a:t>
            </a:r>
            <a:r>
              <a:rPr lang="en-US">
                <a:latin typeface="Georgia" panose="02040502050405020303" pitchFamily="18" charset="0"/>
              </a:rPr>
              <a:t>) as a way of adding location awareness to your app. 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C5DCCC-15FE-37CF-4467-FA281EA24DAC}"/>
              </a:ext>
            </a:extLst>
          </p:cNvPr>
          <p:cNvSpPr/>
          <p:nvPr/>
        </p:nvSpPr>
        <p:spPr>
          <a:xfrm>
            <a:off x="1410369" y="5736074"/>
            <a:ext cx="68307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u="sng" kern="0" dirty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https://developers.google.com/maps/documentation</a:t>
            </a:r>
            <a:r>
              <a:rPr lang="en-GB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0010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9C32D-DDAF-54C8-A281-6ACA29D9C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EEDB7-6605-DFC3-1D43-239E8C0211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19</a:t>
            </a:fld>
            <a:endParaRPr lang="e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D74351A-F5B6-F546-7321-92FD165C0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0648"/>
            <a:ext cx="9777535" cy="763600"/>
          </a:xfrm>
        </p:spPr>
        <p:txBody>
          <a:bodyPr/>
          <a:lstStyle/>
          <a:p>
            <a:r>
              <a:rPr lang="en-US" sz="3600" b="1">
                <a:solidFill>
                  <a:schemeClr val="bg1"/>
                </a:solidFill>
              </a:rPr>
              <a:t>Google API to access google play services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2" name="Content Placeholder 6">
            <a:extLst>
              <a:ext uri="{FF2B5EF4-FFF2-40B4-BE49-F238E27FC236}">
                <a16:creationId xmlns:a16="http://schemas.microsoft.com/office/drawing/2014/main" id="{35FD43AC-7E1E-0BD1-8EF1-41CEB73C2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3422" y="1442591"/>
            <a:ext cx="8485188" cy="4334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698077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E9019-E913-876E-7961-E8D422DDE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FD76B-CEED-BF8A-8C01-59A6142068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20</a:t>
            </a:fld>
            <a:endParaRPr lang="e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647799B-2EAB-F985-CC91-9FAA64418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Google Play services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8748E2A-B01F-2D97-038E-03C4A0035429}"/>
              </a:ext>
            </a:extLst>
          </p:cNvPr>
          <p:cNvSpPr txBox="1">
            <a:spLocks/>
          </p:cNvSpPr>
          <p:nvPr/>
        </p:nvSpPr>
        <p:spPr bwMode="auto">
          <a:xfrm>
            <a:off x="-33604" y="1124744"/>
            <a:ext cx="10074014" cy="137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latin typeface="Georgia" panose="02040502050405020303" pitchFamily="18" charset="0"/>
              </a:rPr>
              <a:t>From the SDK manager, we also need to install Google Play services.</a:t>
            </a:r>
          </a:p>
          <a:p>
            <a:r>
              <a:rPr lang="en-GB">
                <a:latin typeface="Georgia" panose="02040502050405020303" pitchFamily="18" charset="0"/>
              </a:rPr>
              <a:t>Go to SDK Tools tab and select the Google Play services checkbox.</a:t>
            </a:r>
            <a:endParaRPr lang="en-GB" dirty="0">
              <a:latin typeface="Georgia" panose="020405020504050203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DD3558-96BC-2BE4-AC67-66C5DC875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688" y="2396031"/>
            <a:ext cx="6350846" cy="415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154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8B95A-BD27-CAFF-3569-5FC624DA6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CAC83-F136-5F91-95FF-B04F434039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21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58BC97-1D50-2C80-461D-BC19148EC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675" y="227760"/>
            <a:ext cx="9435246" cy="763600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Adding Google Play services via Gradle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C26EC53-6C40-3AA8-2C5F-406403A1287E}"/>
              </a:ext>
            </a:extLst>
          </p:cNvPr>
          <p:cNvSpPr txBox="1">
            <a:spLocks/>
          </p:cNvSpPr>
          <p:nvPr/>
        </p:nvSpPr>
        <p:spPr bwMode="auto">
          <a:xfrm>
            <a:off x="107503" y="1155145"/>
            <a:ext cx="9665417" cy="3751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Georgia" panose="02040502050405020303" pitchFamily="18" charset="0"/>
              </a:rPr>
              <a:t>To add Google Play services to your project, add the following line of code to the </a:t>
            </a:r>
            <a:r>
              <a:rPr lang="en-GB" b="1" dirty="0">
                <a:solidFill>
                  <a:srgbClr val="FF0000"/>
                </a:solidFill>
                <a:latin typeface="Georgia" panose="02040502050405020303" pitchFamily="18" charset="0"/>
              </a:rPr>
              <a:t>dependencies section </a:t>
            </a:r>
            <a:r>
              <a:rPr lang="en-GB" dirty="0">
                <a:latin typeface="Georgia" panose="02040502050405020303" pitchFamily="18" charset="0"/>
              </a:rPr>
              <a:t>in your app-level </a:t>
            </a:r>
            <a:r>
              <a:rPr lang="en-GB" b="1" i="1" dirty="0" err="1">
                <a:latin typeface="Georgia" panose="02040502050405020303" pitchFamily="18" charset="0"/>
              </a:rPr>
              <a:t>build.gradle</a:t>
            </a:r>
            <a:r>
              <a:rPr lang="en-GB" b="1" i="1" dirty="0">
                <a:latin typeface="Georgia" panose="02040502050405020303" pitchFamily="18" charset="0"/>
              </a:rPr>
              <a:t> (Module: app)</a:t>
            </a:r>
            <a:r>
              <a:rPr lang="en-GB" dirty="0">
                <a:latin typeface="Georgia" panose="02040502050405020303" pitchFamily="18" charset="0"/>
              </a:rPr>
              <a:t> file:</a:t>
            </a:r>
          </a:p>
          <a:p>
            <a:pPr marL="0" indent="0">
              <a:buFont typeface="Arial" charset="0"/>
              <a:buNone/>
            </a:pPr>
            <a:endParaRPr lang="en-GB" dirty="0"/>
          </a:p>
          <a:p>
            <a:pPr marL="0" indent="0">
              <a:buFont typeface="Arial" charset="0"/>
              <a:buNone/>
            </a:pPr>
            <a:r>
              <a:rPr lang="en-GB" sz="2800" b="1" i="1" dirty="0">
                <a:solidFill>
                  <a:srgbClr val="3366CC"/>
                </a:solidFill>
              </a:rPr>
              <a:t>implementation(</a:t>
            </a:r>
            <a:r>
              <a:rPr lang="en-GB" sz="2800" b="1" i="1" dirty="0" err="1">
                <a:solidFill>
                  <a:srgbClr val="3366CC"/>
                </a:solidFill>
              </a:rPr>
              <a:t>libs.play.services.maps</a:t>
            </a:r>
            <a:r>
              <a:rPr lang="en-GB" sz="2800" b="1" i="1" dirty="0">
                <a:solidFill>
                  <a:srgbClr val="3366CC"/>
                </a:solidFill>
              </a:rPr>
              <a:t>)</a:t>
            </a:r>
          </a:p>
          <a:p>
            <a:pPr marL="0" indent="0">
              <a:buFont typeface="Arial" charset="0"/>
              <a:buNone/>
            </a:pPr>
            <a:endParaRPr lang="en-GB" sz="1100" b="1" dirty="0">
              <a:latin typeface="Georgia" panose="02040502050405020303" pitchFamily="18" charset="0"/>
            </a:endParaRPr>
          </a:p>
          <a:p>
            <a:pPr marL="0" indent="0">
              <a:buFont typeface="Arial" charset="0"/>
              <a:buNone/>
            </a:pPr>
            <a:r>
              <a:rPr lang="en-GB" b="1" dirty="0">
                <a:latin typeface="Georgia" panose="02040502050405020303" pitchFamily="18" charset="0"/>
              </a:rPr>
              <a:t>In old version of android studio, we used the following</a:t>
            </a:r>
          </a:p>
          <a:p>
            <a:pPr marL="0" indent="0">
              <a:buFont typeface="Arial" charset="0"/>
              <a:buNone/>
            </a:pPr>
            <a:endParaRPr lang="en-GB" sz="1100" b="1" dirty="0">
              <a:latin typeface="Georgia" panose="02040502050405020303" pitchFamily="18" charset="0"/>
            </a:endParaRPr>
          </a:p>
          <a:p>
            <a:pPr marL="0" indent="0">
              <a:buFont typeface="Arial" charset="0"/>
              <a:buNone/>
            </a:pPr>
            <a:r>
              <a:rPr lang="en-GB" sz="2000" b="1" i="1" dirty="0">
                <a:latin typeface="Georgia" panose="02040502050405020303" pitchFamily="18" charset="0"/>
              </a:rPr>
              <a:t>compile '</a:t>
            </a:r>
            <a:r>
              <a:rPr lang="en-GB" sz="2000" b="1" i="1" dirty="0" err="1">
                <a:latin typeface="Georgia" panose="02040502050405020303" pitchFamily="18" charset="0"/>
              </a:rPr>
              <a:t>com.</a:t>
            </a:r>
            <a:r>
              <a:rPr lang="en-GB" sz="2000" b="1" i="1" dirty="0" err="1">
                <a:solidFill>
                  <a:srgbClr val="C00000"/>
                </a:solidFill>
                <a:latin typeface="Georgia" panose="02040502050405020303" pitchFamily="18" charset="0"/>
              </a:rPr>
              <a:t>google.android.gms</a:t>
            </a:r>
            <a:r>
              <a:rPr lang="en-GB" sz="2000" b="1" i="1" dirty="0" err="1">
                <a:latin typeface="Georgia" panose="02040502050405020303" pitchFamily="18" charset="0"/>
              </a:rPr>
              <a:t>:play-services-location:</a:t>
            </a:r>
            <a:r>
              <a:rPr lang="en-GB" sz="2000" b="1" i="1" dirty="0" err="1">
                <a:solidFill>
                  <a:srgbClr val="C00000"/>
                </a:solidFill>
                <a:latin typeface="Georgia" panose="02040502050405020303" pitchFamily="18" charset="0"/>
              </a:rPr>
              <a:t>XX.X.X</a:t>
            </a:r>
            <a:r>
              <a:rPr lang="en-GB" sz="2000" b="1" i="1" dirty="0">
                <a:latin typeface="Georgia" panose="02040502050405020303" pitchFamily="18" charset="0"/>
              </a:rPr>
              <a:t>'</a:t>
            </a:r>
            <a:endParaRPr lang="en-US" sz="2000" b="1" i="1" dirty="0"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117914-1FDF-9266-E9B1-413E87ED0085}"/>
              </a:ext>
            </a:extLst>
          </p:cNvPr>
          <p:cNvSpPr txBox="1"/>
          <p:nvPr/>
        </p:nvSpPr>
        <p:spPr>
          <a:xfrm>
            <a:off x="1064568" y="5949891"/>
            <a:ext cx="7272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CMSS10"/>
              </a:rPr>
              <a:t>(where </a:t>
            </a:r>
            <a:r>
              <a:rPr lang="en-US" sz="1800" b="0" i="0" u="none" strike="noStrike" baseline="0" dirty="0">
                <a:latin typeface="CMTT10"/>
              </a:rPr>
              <a:t>XX.X.X </a:t>
            </a:r>
            <a:r>
              <a:rPr lang="en-US" sz="1800" b="0" i="0" u="none" strike="noStrike" baseline="0" dirty="0">
                <a:latin typeface="CMSS10"/>
              </a:rPr>
              <a:t>is the latest version for Google Play Services)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6972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1DFB2-AB7C-ED40-70B8-84169460E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DD83F-1B8D-67E5-6B28-82FC0A418F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22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1908F1-1001-072A-344F-1B3E88109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Specify App permissions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0A922F-C16A-E5DB-4BFB-23EDEC637D44}"/>
              </a:ext>
            </a:extLst>
          </p:cNvPr>
          <p:cNvSpPr txBox="1">
            <a:spLocks/>
          </p:cNvSpPr>
          <p:nvPr/>
        </p:nvSpPr>
        <p:spPr bwMode="auto">
          <a:xfrm>
            <a:off x="15078" y="1196169"/>
            <a:ext cx="9700084" cy="3961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Georgia" panose="02040502050405020303" pitchFamily="18" charset="0"/>
              </a:rPr>
              <a:t>Apps that use location services must request location permissions. Android offers two location permissions: </a:t>
            </a:r>
            <a:r>
              <a:rPr lang="en-US" dirty="0">
                <a:latin typeface="Georgia" panose="02040502050405020303" pitchFamily="18" charset="0"/>
                <a:hlinkClick r:id="rId2"/>
              </a:rPr>
              <a:t>ACCESS_COARSE_LOCATION</a:t>
            </a:r>
            <a:r>
              <a:rPr lang="en-US" dirty="0">
                <a:latin typeface="Georgia" panose="02040502050405020303" pitchFamily="18" charset="0"/>
              </a:rPr>
              <a:t> and </a:t>
            </a:r>
            <a:r>
              <a:rPr lang="en-US" dirty="0">
                <a:latin typeface="Georgia" panose="02040502050405020303" pitchFamily="18" charset="0"/>
                <a:hlinkClick r:id="rId3"/>
              </a:rPr>
              <a:t>ACCESS_FINE_LOCATION</a:t>
            </a:r>
            <a:r>
              <a:rPr lang="en-US" dirty="0">
                <a:latin typeface="Georgia" panose="02040502050405020303" pitchFamily="18" charset="0"/>
              </a:rPr>
              <a:t>. </a:t>
            </a:r>
          </a:p>
          <a:p>
            <a:r>
              <a:rPr lang="en-US" dirty="0">
                <a:latin typeface="Georgia" panose="02040502050405020303" pitchFamily="18" charset="0"/>
              </a:rPr>
              <a:t>The permission you choose determines the accuracy of the location returned by the API. If you specify </a:t>
            </a:r>
            <a:r>
              <a:rPr lang="en-US" dirty="0">
                <a:latin typeface="Georgia" panose="02040502050405020303" pitchFamily="18" charset="0"/>
                <a:hlinkClick r:id="rId2"/>
              </a:rPr>
              <a:t>ACCESS_COARSE_LOCATION</a:t>
            </a:r>
            <a:r>
              <a:rPr lang="en-US" dirty="0">
                <a:latin typeface="Georgia" panose="02040502050405020303" pitchFamily="18" charset="0"/>
              </a:rPr>
              <a:t>, the API returns a location with an accuracy approximately equivalent to a city block.</a:t>
            </a:r>
          </a:p>
          <a:p>
            <a:r>
              <a:rPr lang="en-US" dirty="0">
                <a:latin typeface="Georgia" panose="02040502050405020303" pitchFamily="18" charset="0"/>
              </a:rPr>
              <a:t>Now, where would you specify this permission?</a:t>
            </a:r>
          </a:p>
        </p:txBody>
      </p:sp>
      <p:sp>
        <p:nvSpPr>
          <p:cNvPr id="2" name="Rectangle 1"/>
          <p:cNvSpPr/>
          <p:nvPr/>
        </p:nvSpPr>
        <p:spPr>
          <a:xfrm>
            <a:off x="549575" y="5165914"/>
            <a:ext cx="86289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In </a:t>
            </a:r>
            <a:r>
              <a:rPr lang="en-GB" altLang="en-US" sz="1800" b="1" i="1" dirty="0" err="1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AndroidManifestxml</a:t>
            </a:r>
            <a:r>
              <a:rPr lang="en-GB" altLang="en-US" sz="1800" b="1" i="1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 </a:t>
            </a:r>
            <a:r>
              <a:rPr lang="en-GB" b="1" dirty="0"/>
              <a:t>file</a:t>
            </a:r>
          </a:p>
          <a:p>
            <a:endParaRPr lang="en-GB" dirty="0"/>
          </a:p>
          <a:p>
            <a:r>
              <a:rPr lang="en-GB" b="1" dirty="0">
                <a:solidFill>
                  <a:srgbClr val="0070C0"/>
                </a:solidFill>
              </a:rPr>
              <a:t>&lt;uses-permission </a:t>
            </a:r>
            <a:r>
              <a:rPr lang="en-GB" b="1" dirty="0" err="1">
                <a:solidFill>
                  <a:srgbClr val="0070C0"/>
                </a:solidFill>
              </a:rPr>
              <a:t>android:name</a:t>
            </a:r>
            <a:r>
              <a:rPr lang="en-GB" b="1" dirty="0">
                <a:solidFill>
                  <a:srgbClr val="0070C0"/>
                </a:solidFill>
              </a:rPr>
              <a:t>="</a:t>
            </a:r>
            <a:r>
              <a:rPr lang="en-GB" b="1" dirty="0" err="1">
                <a:solidFill>
                  <a:srgbClr val="0070C0"/>
                </a:solidFill>
              </a:rPr>
              <a:t>android.permission.ACCESS_COARSE_LOCATION</a:t>
            </a:r>
            <a:r>
              <a:rPr lang="en-GB" b="1" dirty="0">
                <a:solidFill>
                  <a:srgbClr val="0070C0"/>
                </a:solidFill>
              </a:rPr>
              <a:t>"/&gt;</a:t>
            </a:r>
          </a:p>
          <a:p>
            <a:r>
              <a:rPr lang="en-GB" b="1" dirty="0">
                <a:solidFill>
                  <a:srgbClr val="0070C0"/>
                </a:solidFill>
              </a:rPr>
              <a:t>&lt;uses-permission </a:t>
            </a:r>
            <a:r>
              <a:rPr lang="en-GB" b="1" dirty="0" err="1">
                <a:solidFill>
                  <a:srgbClr val="0070C0"/>
                </a:solidFill>
              </a:rPr>
              <a:t>android:name</a:t>
            </a:r>
            <a:r>
              <a:rPr lang="en-GB" b="1" dirty="0">
                <a:solidFill>
                  <a:srgbClr val="0070C0"/>
                </a:solidFill>
              </a:rPr>
              <a:t>="</a:t>
            </a:r>
            <a:r>
              <a:rPr lang="en-GB" b="1" dirty="0" err="1">
                <a:solidFill>
                  <a:srgbClr val="0070C0"/>
                </a:solidFill>
              </a:rPr>
              <a:t>android.permission.ACCESS_FINE_LOCATION</a:t>
            </a:r>
            <a:r>
              <a:rPr lang="en-GB" b="1" dirty="0">
                <a:solidFill>
                  <a:srgbClr val="0070C0"/>
                </a:solidFill>
              </a:rPr>
              <a:t>"/&gt;</a:t>
            </a:r>
          </a:p>
        </p:txBody>
      </p:sp>
    </p:spTree>
    <p:extLst>
      <p:ext uri="{BB962C8B-B14F-4D97-AF65-F5344CB8AC3E}">
        <p14:creationId xmlns:p14="http://schemas.microsoft.com/office/powerpoint/2010/main" val="1950629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5126C-D815-7FDE-FDD2-42206C4B0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21DB0-CC98-5397-14F9-E0C7F4DC8F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23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DE00EE-F626-5EE1-C520-1697688DB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58" y="-57863"/>
            <a:ext cx="9230650" cy="763600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Connect to Google Play services in your app (code)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49E7763-43F8-BDB4-A123-49E8CC855920}"/>
              </a:ext>
            </a:extLst>
          </p:cNvPr>
          <p:cNvSpPr txBox="1">
            <a:spLocks/>
          </p:cNvSpPr>
          <p:nvPr/>
        </p:nvSpPr>
        <p:spPr bwMode="auto">
          <a:xfrm>
            <a:off x="-9671" y="1419296"/>
            <a:ext cx="9915671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925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Georgia" panose="02040502050405020303" pitchFamily="18" charset="0"/>
              </a:rPr>
              <a:t>To connect to the Location API provided by play services, you need to create an instance of the Fused Location client.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65ACCC-22F6-D221-29CD-7C0AD0F097B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02" y="3537198"/>
            <a:ext cx="8940735" cy="75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988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F2642-6F48-579B-2321-8F877E050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BA47B-414F-01A6-8E4B-A38C95265F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24</a:t>
            </a:fld>
            <a:endParaRPr lang="e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1CDAFE-160B-0F10-7EA3-AEAB76EB4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675" y="23713"/>
            <a:ext cx="9230650" cy="763600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Georgia" panose="02040502050405020303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Fused location provider</a:t>
            </a:r>
            <a:r>
              <a:rPr lang="en-US" sz="3200" b="1" dirty="0">
                <a:solidFill>
                  <a:schemeClr val="bg1"/>
                </a:solidFill>
                <a:latin typeface="Georgia" panose="02040502050405020303" pitchFamily="18" charset="0"/>
              </a:rPr>
              <a:t> to retrieve the device's last known location</a:t>
            </a:r>
            <a:endParaRPr lang="en-GB" sz="3200" b="1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C94E19-A357-AB4E-F34E-EC325CF36012}"/>
              </a:ext>
            </a:extLst>
          </p:cNvPr>
          <p:cNvSpPr txBox="1">
            <a:spLocks/>
          </p:cNvSpPr>
          <p:nvPr/>
        </p:nvSpPr>
        <p:spPr bwMode="auto">
          <a:xfrm>
            <a:off x="0" y="1156776"/>
            <a:ext cx="9885798" cy="1458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Georgia" panose="02040502050405020303" pitchFamily="18" charset="0"/>
              </a:rPr>
              <a:t>Once you have connected to Google Play services, you can use the fused location client’s </a:t>
            </a:r>
            <a:r>
              <a:rPr lang="en-US" sz="2000" i="1" dirty="0" err="1">
                <a:latin typeface="Georgia" panose="02040502050405020303" pitchFamily="18" charset="0"/>
                <a:hlinkClick r:id="rId3"/>
              </a:rPr>
              <a:t>getLastLocation</a:t>
            </a:r>
            <a:r>
              <a:rPr lang="en-US" sz="2000" i="1" dirty="0">
                <a:latin typeface="Georgia" panose="02040502050405020303" pitchFamily="18" charset="0"/>
                <a:hlinkClick r:id="rId3"/>
              </a:rPr>
              <a:t>()</a:t>
            </a:r>
            <a:r>
              <a:rPr lang="en-US" sz="2000" dirty="0">
                <a:latin typeface="Georgia" panose="02040502050405020303" pitchFamily="18" charset="0"/>
              </a:rPr>
              <a:t> method to retrieve the device location. 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52A75FBF-2702-4FF7-51B6-A00D0B39553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03" y="2984618"/>
            <a:ext cx="7794049" cy="33967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7279A5-E742-4781-2976-4A546F2C639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61" y="2356692"/>
            <a:ext cx="8940735" cy="5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45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9B393-99AF-1359-F617-4DC4C92E4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7C271-9164-98C1-997A-F14E0700AE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25</a:t>
            </a:fld>
            <a:endParaRPr lang="e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80145ED-96AF-D865-A812-6B2017689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675" y="13977"/>
            <a:ext cx="9230650" cy="763600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What about getting an address using Google API?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0430588-1C34-F778-D2BF-8E8C68C4400E}"/>
              </a:ext>
            </a:extLst>
          </p:cNvPr>
          <p:cNvSpPr txBox="1">
            <a:spLocks/>
          </p:cNvSpPr>
          <p:nvPr/>
        </p:nvSpPr>
        <p:spPr bwMode="auto">
          <a:xfrm>
            <a:off x="-59702" y="1268760"/>
            <a:ext cx="9940821" cy="5170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55000" lnSpcReduction="200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54048" indent="-571500">
              <a:buFont typeface="Arial" panose="020B0604020202020204" pitchFamily="34" charset="0"/>
              <a:buChar char="•"/>
            </a:pPr>
            <a:r>
              <a:rPr lang="en-US" sz="3800" dirty="0">
                <a:latin typeface="Georgia" panose="02040502050405020303" pitchFamily="18" charset="0"/>
              </a:rPr>
              <a:t>It is very simple..</a:t>
            </a:r>
          </a:p>
          <a:p>
            <a:pPr marL="654048" indent="-571500">
              <a:buFont typeface="Arial" panose="020B0604020202020204" pitchFamily="34" charset="0"/>
              <a:buChar char="•"/>
            </a:pPr>
            <a:r>
              <a:rPr lang="en-US" sz="3800" dirty="0">
                <a:latin typeface="Georgia" panose="02040502050405020303" pitchFamily="18" charset="0"/>
              </a:rPr>
              <a:t>You have to use </a:t>
            </a:r>
            <a:r>
              <a:rPr lang="en-US" sz="3800" b="1" i="1" dirty="0">
                <a:latin typeface="Georgia" panose="02040502050405020303" pitchFamily="18" charset="0"/>
              </a:rPr>
              <a:t>Geocoder</a:t>
            </a:r>
            <a:r>
              <a:rPr lang="en-US" sz="3800" dirty="0">
                <a:latin typeface="Georgia" panose="02040502050405020303" pitchFamily="18" charset="0"/>
              </a:rPr>
              <a:t> class.</a:t>
            </a:r>
          </a:p>
          <a:p>
            <a:pPr marL="654048" indent="-571500">
              <a:buFont typeface="Arial" panose="020B0604020202020204" pitchFamily="34" charset="0"/>
              <a:buChar char="•"/>
            </a:pPr>
            <a:r>
              <a:rPr lang="en-US" sz="3800" dirty="0">
                <a:latin typeface="Georgia" panose="02040502050405020303" pitchFamily="18" charset="0"/>
              </a:rPr>
              <a:t>It can be initiated as:</a:t>
            </a:r>
          </a:p>
          <a:p>
            <a:pPr marL="0" indent="0">
              <a:buFont typeface="Arial" charset="0"/>
              <a:buNone/>
            </a:pPr>
            <a:endParaRPr lang="en-US" sz="1900" dirty="0">
              <a:latin typeface="Georgia" panose="02040502050405020303" pitchFamily="18" charset="0"/>
            </a:endParaRPr>
          </a:p>
          <a:p>
            <a:pPr marL="457200" lvl="1" indent="0">
              <a:buFont typeface="Arial" charset="0"/>
              <a:buNone/>
            </a:pPr>
            <a:r>
              <a:rPr lang="en-US" sz="3200" dirty="0">
                <a:latin typeface="Georgia" panose="02040502050405020303" pitchFamily="18" charset="0"/>
              </a:rPr>
              <a:t>Geocoder </a:t>
            </a:r>
            <a:r>
              <a:rPr lang="en-US" sz="3200" dirty="0" err="1">
                <a:latin typeface="Georgia" panose="02040502050405020303" pitchFamily="18" charset="0"/>
              </a:rPr>
              <a:t>geocoder</a:t>
            </a:r>
            <a:r>
              <a:rPr lang="en-US" sz="3200" dirty="0">
                <a:latin typeface="Georgia" panose="02040502050405020303" pitchFamily="18" charset="0"/>
              </a:rPr>
              <a:t> = </a:t>
            </a:r>
            <a:r>
              <a:rPr lang="en-US" sz="3200" b="1" dirty="0">
                <a:latin typeface="Georgia" panose="02040502050405020303" pitchFamily="18" charset="0"/>
              </a:rPr>
              <a:t>new Geocoder(this, </a:t>
            </a:r>
            <a:r>
              <a:rPr lang="en-US" sz="3200" b="1" dirty="0" err="1">
                <a:latin typeface="Georgia" panose="02040502050405020303" pitchFamily="18" charset="0"/>
              </a:rPr>
              <a:t>Locale.</a:t>
            </a:r>
            <a:r>
              <a:rPr lang="en-US" sz="3200" b="1" i="1" dirty="0" err="1">
                <a:latin typeface="Georgia" panose="02040502050405020303" pitchFamily="18" charset="0"/>
              </a:rPr>
              <a:t>getDefault</a:t>
            </a:r>
            <a:r>
              <a:rPr lang="en-US" sz="3200" b="1" i="1" dirty="0">
                <a:latin typeface="Georgia" panose="02040502050405020303" pitchFamily="18" charset="0"/>
              </a:rPr>
              <a:t>());</a:t>
            </a:r>
          </a:p>
          <a:p>
            <a:endParaRPr lang="en-US" sz="1600" dirty="0"/>
          </a:p>
          <a:p>
            <a:pPr marL="654048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Georgia" panose="02040502050405020303" pitchFamily="18" charset="0"/>
              </a:rPr>
              <a:t>Once </a:t>
            </a:r>
            <a:r>
              <a:rPr lang="en-US" sz="3600" dirty="0" err="1">
                <a:latin typeface="Georgia" panose="02040502050405020303" pitchFamily="18" charset="0"/>
              </a:rPr>
              <a:t>initialised</a:t>
            </a:r>
            <a:r>
              <a:rPr lang="en-US" sz="3600" dirty="0">
                <a:latin typeface="Georgia" panose="02040502050405020303" pitchFamily="18" charset="0"/>
              </a:rPr>
              <a:t>, Geocoder allows retrieving addresses using </a:t>
            </a:r>
            <a:r>
              <a:rPr lang="en-US" sz="3600" b="1" i="1" dirty="0" err="1">
                <a:latin typeface="Georgia" panose="02040502050405020303" pitchFamily="18" charset="0"/>
              </a:rPr>
              <a:t>getFromLocation</a:t>
            </a:r>
            <a:r>
              <a:rPr lang="en-US" sz="3600" dirty="0">
                <a:latin typeface="Georgia" panose="02040502050405020303" pitchFamily="18" charset="0"/>
              </a:rPr>
              <a:t> method and passing the longitude and latitude you found in the previous code</a:t>
            </a:r>
          </a:p>
          <a:p>
            <a:pPr marL="0" indent="0">
              <a:buFont typeface="Arial" charset="0"/>
              <a:buNone/>
            </a:pPr>
            <a:r>
              <a:rPr lang="en-US" i="1" dirty="0"/>
              <a:t>   </a:t>
            </a:r>
            <a:endParaRPr lang="en-US" sz="1600" i="1" dirty="0"/>
          </a:p>
          <a:p>
            <a:pPr marL="0" indent="0">
              <a:buFont typeface="Arial" charset="0"/>
              <a:buNone/>
            </a:pPr>
            <a:r>
              <a:rPr lang="en-US" sz="3300" i="1" dirty="0"/>
              <a:t>List&lt;Address&gt; addresses = </a:t>
            </a:r>
            <a:r>
              <a:rPr lang="en-US" sz="3300" i="1" dirty="0" err="1"/>
              <a:t>geocoder.getFromLocation</a:t>
            </a:r>
            <a:r>
              <a:rPr lang="en-US" sz="3300" i="1" dirty="0"/>
              <a:t>(latitude, longitude,1);</a:t>
            </a:r>
            <a:br>
              <a:rPr lang="en-US" i="1" dirty="0"/>
            </a:br>
            <a:endParaRPr lang="en-US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300" i="1" dirty="0">
                <a:latin typeface="Georgia" panose="02040502050405020303" pitchFamily="18" charset="0"/>
              </a:rPr>
              <a:t>The Address class has various options to </a:t>
            </a:r>
            <a:r>
              <a:rPr lang="en-US" sz="3300" i="1" dirty="0" err="1">
                <a:latin typeface="Georgia" panose="02040502050405020303" pitchFamily="18" charset="0"/>
              </a:rPr>
              <a:t>retreieve</a:t>
            </a:r>
            <a:r>
              <a:rPr lang="en-US" sz="3300" i="1" dirty="0">
                <a:latin typeface="Georgia" panose="02040502050405020303" pitchFamily="18" charset="0"/>
              </a:rPr>
              <a:t> part of address: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00" i="1" dirty="0">
                <a:latin typeface="Georgia" panose="02040502050405020303" pitchFamily="18" charset="0"/>
              </a:rPr>
              <a:t>Look at: </a:t>
            </a:r>
            <a:r>
              <a:rPr lang="en-US" sz="3300" i="1" dirty="0">
                <a:hlinkClick r:id="rId2"/>
              </a:rPr>
              <a:t>https://developer.android.com/reference/android/location/Address.html</a:t>
            </a:r>
            <a:r>
              <a:rPr lang="en-US" sz="3300" i="1" dirty="0"/>
              <a:t> </a:t>
            </a:r>
          </a:p>
          <a:p>
            <a:pPr marL="0" indent="0">
              <a:buFont typeface="Arial" charset="0"/>
              <a:buNone/>
            </a:pPr>
            <a:endParaRPr lang="en-US" i="1" dirty="0"/>
          </a:p>
          <a:p>
            <a:endParaRPr lang="en-US" i="1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581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AD8C5-0A12-CA29-B72D-4A7D23324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86556B4-B429-AAA6-11FC-8BC1C435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Google Map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20F21F-D7E0-2A94-2F95-C8368974528C}"/>
              </a:ext>
            </a:extLst>
          </p:cNvPr>
          <p:cNvSpPr txBox="1"/>
          <p:nvPr/>
        </p:nvSpPr>
        <p:spPr>
          <a:xfrm>
            <a:off x="0" y="1382668"/>
            <a:ext cx="92711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Lucida Sans Unicode" panose="020B0602030504020204" pitchFamily="34" charset="0"/>
                <a:ea typeface="MS PGothic" pitchFamily="34" charset="-128"/>
                <a:cs typeface="Lucida Sans Unicode" panose="020B0602030504020204" pitchFamily="34" charset="0"/>
              </a:rPr>
              <a:t>Android allows us to integrate google maps in our application.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89059-1D4A-5D60-9994-CF9C28DF71FE}"/>
              </a:ext>
            </a:extLst>
          </p:cNvPr>
          <p:cNvSpPr txBox="1">
            <a:spLocks/>
          </p:cNvSpPr>
          <p:nvPr/>
        </p:nvSpPr>
        <p:spPr bwMode="auto">
          <a:xfrm>
            <a:off x="154173" y="2204864"/>
            <a:ext cx="6336704" cy="4180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85000" lnSpcReduction="100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sz="3100" b="1" dirty="0"/>
              <a:t>Benefits? </a:t>
            </a:r>
          </a:p>
          <a:p>
            <a:r>
              <a:rPr lang="en-GB" sz="2600" dirty="0">
                <a:latin typeface="Georgia" panose="02040502050405020303" pitchFamily="18" charset="0"/>
              </a:rPr>
              <a:t>We can show any location on the map.</a:t>
            </a:r>
          </a:p>
          <a:p>
            <a:r>
              <a:rPr lang="en-GB" sz="2600" dirty="0">
                <a:latin typeface="Georgia" panose="02040502050405020303" pitchFamily="18" charset="0"/>
              </a:rPr>
              <a:t>We can show different routes on the map.</a:t>
            </a:r>
          </a:p>
          <a:p>
            <a:r>
              <a:rPr lang="en-GB" sz="2600" dirty="0">
                <a:latin typeface="Georgia" panose="02040502050405020303" pitchFamily="18" charset="0"/>
              </a:rPr>
              <a:t>We can also customize the map according to your choices.</a:t>
            </a:r>
          </a:p>
          <a:p>
            <a:r>
              <a:rPr lang="en-GB" sz="2600" dirty="0">
                <a:latin typeface="Georgia" panose="02040502050405020303" pitchFamily="18" charset="0"/>
              </a:rPr>
              <a:t>Helps people to find your business. </a:t>
            </a:r>
          </a:p>
          <a:p>
            <a:r>
              <a:rPr lang="en-GB" sz="2600" dirty="0">
                <a:latin typeface="Georgia" panose="02040502050405020303" pitchFamily="18" charset="0"/>
              </a:rPr>
              <a:t>Allows people to quickly contact our business. </a:t>
            </a:r>
          </a:p>
          <a:p>
            <a:r>
              <a:rPr lang="en-GB" sz="2600" dirty="0">
                <a:latin typeface="Georgia" panose="02040502050405020303" pitchFamily="18" charset="0"/>
              </a:rPr>
              <a:t>Offers customer credibility through reviews.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B81D0A-2E12-711E-F726-3F4F69CB2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227" y="1916832"/>
            <a:ext cx="2504728" cy="430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04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AB303-7111-3DBF-0350-2BBD89808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D045E-C588-1963-23C2-B92E767691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27</a:t>
            </a:fld>
            <a:endParaRPr lang="e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048E962-0D6A-59C2-3CA1-11FDC7460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Google Map Platform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2C33B4B-96F7-CAB8-14BD-4B976C01AB93}"/>
              </a:ext>
            </a:extLst>
          </p:cNvPr>
          <p:cNvSpPr txBox="1">
            <a:spLocks/>
          </p:cNvSpPr>
          <p:nvPr/>
        </p:nvSpPr>
        <p:spPr bwMode="auto">
          <a:xfrm>
            <a:off x="-42576" y="1259557"/>
            <a:ext cx="9933634" cy="5370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Georgia" panose="02040502050405020303" pitchFamily="18" charset="0"/>
              </a:rPr>
              <a:t>The Maps JavaScript API lets us to customize maps with our own content and imagery for display on mobile devices (and on the web).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000" dirty="0">
              <a:latin typeface="Georgia" panose="0204050205040502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Georgia" panose="02040502050405020303" pitchFamily="18" charset="0"/>
              </a:rPr>
              <a:t>The Maps JavaScript API features four basic map types:</a:t>
            </a:r>
          </a:p>
          <a:p>
            <a:pPr marL="895350" indent="-354013">
              <a:buFont typeface="Wingdings" panose="05000000000000000000" pitchFamily="2" charset="2"/>
              <a:buChar char="v"/>
              <a:tabLst>
                <a:tab pos="895350" algn="l"/>
              </a:tabLst>
            </a:pPr>
            <a:r>
              <a:rPr lang="en-GB" sz="2000" dirty="0">
                <a:latin typeface="Georgia" panose="02040502050405020303" pitchFamily="18" charset="0"/>
              </a:rPr>
              <a:t>	 </a:t>
            </a:r>
            <a:r>
              <a:rPr lang="en-GB" sz="1800" b="1" dirty="0">
                <a:latin typeface="Georgia" panose="02040502050405020303" pitchFamily="18" charset="0"/>
              </a:rPr>
              <a:t>Roadmap: </a:t>
            </a:r>
            <a:r>
              <a:rPr lang="en-GB" sz="1800" dirty="0">
                <a:latin typeface="Georgia" panose="02040502050405020303" pitchFamily="18" charset="0"/>
              </a:rPr>
              <a:t>Displays the default road map view. This is    the default map type.</a:t>
            </a:r>
          </a:p>
          <a:p>
            <a:pPr marL="895350" indent="-354013">
              <a:buFont typeface="Wingdings" panose="05000000000000000000" pitchFamily="2" charset="2"/>
              <a:buChar char="v"/>
              <a:tabLst>
                <a:tab pos="895350" algn="l"/>
              </a:tabLst>
            </a:pPr>
            <a:r>
              <a:rPr lang="en-GB" sz="1800" dirty="0">
                <a:latin typeface="Georgia" panose="02040502050405020303" pitchFamily="18" charset="0"/>
              </a:rPr>
              <a:t>	 </a:t>
            </a:r>
            <a:r>
              <a:rPr lang="en-GB" sz="1800" b="1" dirty="0">
                <a:latin typeface="Georgia" panose="02040502050405020303" pitchFamily="18" charset="0"/>
              </a:rPr>
              <a:t>Satellite: </a:t>
            </a:r>
            <a:r>
              <a:rPr lang="en-GB" sz="1800" dirty="0">
                <a:latin typeface="Georgia" panose="02040502050405020303" pitchFamily="18" charset="0"/>
              </a:rPr>
              <a:t>Displays Google Earth satellite images </a:t>
            </a:r>
          </a:p>
          <a:p>
            <a:pPr marL="895350" indent="-354013">
              <a:buFont typeface="Wingdings" panose="05000000000000000000" pitchFamily="2" charset="2"/>
              <a:buChar char="v"/>
              <a:tabLst>
                <a:tab pos="895350" algn="l"/>
              </a:tabLst>
            </a:pPr>
            <a:r>
              <a:rPr lang="en-GB" sz="1800" dirty="0">
                <a:latin typeface="Georgia" panose="02040502050405020303" pitchFamily="18" charset="0"/>
              </a:rPr>
              <a:t>	 </a:t>
            </a:r>
            <a:r>
              <a:rPr lang="en-GB" sz="1800" b="1" dirty="0">
                <a:latin typeface="Georgia" panose="02040502050405020303" pitchFamily="18" charset="0"/>
              </a:rPr>
              <a:t>Hybrid:</a:t>
            </a:r>
            <a:r>
              <a:rPr lang="en-GB" sz="1800" dirty="0">
                <a:latin typeface="Georgia" panose="02040502050405020303" pitchFamily="18" charset="0"/>
              </a:rPr>
              <a:t> Displays a mixture of normal and satellite views</a:t>
            </a:r>
          </a:p>
          <a:p>
            <a:pPr marL="895350" indent="-354013">
              <a:buFont typeface="Wingdings" panose="05000000000000000000" pitchFamily="2" charset="2"/>
              <a:buChar char="v"/>
              <a:tabLst>
                <a:tab pos="895350" algn="l"/>
              </a:tabLst>
            </a:pPr>
            <a:r>
              <a:rPr lang="en-GB" sz="1800" dirty="0">
                <a:latin typeface="Georgia" panose="02040502050405020303" pitchFamily="18" charset="0"/>
              </a:rPr>
              <a:t>	 </a:t>
            </a:r>
            <a:r>
              <a:rPr lang="en-GB" sz="1800" b="1" dirty="0">
                <a:latin typeface="Georgia" panose="02040502050405020303" pitchFamily="18" charset="0"/>
              </a:rPr>
              <a:t>Terrain:</a:t>
            </a:r>
            <a:r>
              <a:rPr lang="en-GB" sz="1800" dirty="0">
                <a:latin typeface="Georgia" panose="02040502050405020303" pitchFamily="18" charset="0"/>
              </a:rPr>
              <a:t> Displays a physical map based on terrain information.</a:t>
            </a:r>
          </a:p>
          <a:p>
            <a:pPr marL="895350" indent="-354013">
              <a:buFont typeface="Wingdings" panose="05000000000000000000" pitchFamily="2" charset="2"/>
              <a:buChar char="v"/>
              <a:tabLst>
                <a:tab pos="895350" algn="l"/>
              </a:tabLst>
            </a:pPr>
            <a:endParaRPr lang="en-GB" sz="1000" dirty="0">
              <a:latin typeface="Georgia" panose="0204050205040502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Georgia" panose="02040502050405020303" pitchFamily="18" charset="0"/>
              </a:rPr>
              <a:t>We can modify using layers and styles, controls and events, and various services and libraries.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630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9A85B-32C8-F0FB-C520-64D89B637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72ED9-EB99-4E75-F8BA-BBD1AB3DDB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28</a:t>
            </a:fld>
            <a:endParaRPr lang="en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09BE0E2-25C1-C29D-E934-3CAD68D21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</a:rPr>
              <a:t>Maps JavaScript API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7643FA-B79D-B1D1-CC0B-1D5FE98FE8FF}"/>
              </a:ext>
            </a:extLst>
          </p:cNvPr>
          <p:cNvSpPr txBox="1">
            <a:spLocks/>
          </p:cNvSpPr>
          <p:nvPr/>
        </p:nvSpPr>
        <p:spPr bwMode="auto">
          <a:xfrm>
            <a:off x="0" y="1291096"/>
            <a:ext cx="99060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GB" dirty="0">
                <a:latin typeface="Georgia" panose="02040502050405020303" pitchFamily="18" charset="0"/>
              </a:rPr>
              <a:t>Google Maps Platform products are secured from unauthorized use by restricting API calls and provide proper authentication credentials. </a:t>
            </a:r>
          </a:p>
          <a:p>
            <a:pPr>
              <a:lnSpc>
                <a:spcPct val="120000"/>
              </a:lnSpc>
            </a:pPr>
            <a:r>
              <a:rPr lang="en-GB" dirty="0">
                <a:latin typeface="Georgia" panose="02040502050405020303" pitchFamily="18" charset="0"/>
              </a:rPr>
              <a:t>These credentials are in the form of an API key - a unique alphanumeric string that associates your Google billing account with your project, and with the specific API or SDK.</a:t>
            </a:r>
          </a:p>
          <a:p>
            <a:pPr>
              <a:lnSpc>
                <a:spcPct val="120000"/>
              </a:lnSpc>
            </a:pPr>
            <a:r>
              <a:rPr lang="en-GB" dirty="0">
                <a:latin typeface="Georgia" panose="02040502050405020303" pitchFamily="18" charset="0"/>
              </a:rPr>
              <a:t>How to generate and restrict API keys for Google Maps Platform: </a:t>
            </a:r>
          </a:p>
          <a:p>
            <a:pPr marL="0" indent="0" algn="ctr">
              <a:lnSpc>
                <a:spcPct val="120000"/>
              </a:lnSpc>
              <a:buFont typeface="Arial" charset="0"/>
              <a:buNone/>
            </a:pPr>
            <a:r>
              <a:rPr lang="en-GB" sz="1600" dirty="0">
                <a:latin typeface="Georgia" panose="02040502050405020303" pitchFamily="18" charset="0"/>
                <a:hlinkClick r:id="rId2"/>
              </a:rPr>
              <a:t>https://developers.google.com/maps/documentation/javascript/get-api-key</a:t>
            </a:r>
            <a:endParaRPr lang="en-GB" sz="1600" dirty="0">
              <a:latin typeface="Georgia" panose="02040502050405020303" pitchFamily="18" charset="0"/>
            </a:endParaRPr>
          </a:p>
          <a:p>
            <a:pPr marL="0" indent="0" algn="ctr">
              <a:buFont typeface="Arial" charset="0"/>
              <a:buNone/>
            </a:pPr>
            <a:r>
              <a:rPr lang="en-GB" sz="1600" dirty="0">
                <a:latin typeface="Georgia" panose="02040502050405020303" pitchFamily="18" charset="0"/>
                <a:hlinkClick r:id="rId3"/>
              </a:rPr>
              <a:t>https://www.youtube.com/watch?v=2_HZObVbe-g</a:t>
            </a:r>
            <a:r>
              <a:rPr lang="en-GB" sz="1600" dirty="0">
                <a:latin typeface="Georgia" panose="020405020504050203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04672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04D26-BEF7-C5F7-0384-70015914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93A4E-100A-C7CC-4959-5FAD6A2573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29</a:t>
            </a:fld>
            <a:endParaRPr lang="e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CB7D393-F47F-E600-B7F7-839D28A0A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Restricting API keys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65230BD-905F-2500-D52C-A12C36EC7902}"/>
              </a:ext>
            </a:extLst>
          </p:cNvPr>
          <p:cNvSpPr txBox="1">
            <a:spLocks/>
          </p:cNvSpPr>
          <p:nvPr/>
        </p:nvSpPr>
        <p:spPr bwMode="auto">
          <a:xfrm>
            <a:off x="33942" y="1196752"/>
            <a:ext cx="9398741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>
                <a:latin typeface="Georgia" panose="02040502050405020303" pitchFamily="18" charset="0"/>
              </a:rPr>
              <a:t>Restricting API keys adds security to the application by ensuring only authorized requests are made.</a:t>
            </a:r>
          </a:p>
          <a:p>
            <a:r>
              <a:rPr lang="en-GB" sz="2800" dirty="0">
                <a:latin typeface="Georgia" panose="02040502050405020303" pitchFamily="18" charset="0"/>
              </a:rPr>
              <a:t>Under Key restrictions, set the following restrictions:</a:t>
            </a:r>
          </a:p>
          <a:p>
            <a:pPr marL="0" indent="0">
              <a:buFont typeface="Arial" charset="0"/>
              <a:buNone/>
            </a:pPr>
            <a:r>
              <a:rPr lang="en-GB" b="1" dirty="0"/>
              <a:t>	</a:t>
            </a:r>
            <a:r>
              <a:rPr lang="en-GB" b="1" dirty="0">
                <a:latin typeface="Georgia" panose="02040502050405020303" pitchFamily="18" charset="0"/>
              </a:rPr>
              <a:t>Application restrictions.</a:t>
            </a:r>
          </a:p>
          <a:p>
            <a:pPr marL="0" indent="0">
              <a:buFont typeface="Arial" charset="0"/>
              <a:buNone/>
            </a:pPr>
            <a:r>
              <a:rPr lang="en-GB" b="1" dirty="0">
                <a:latin typeface="Georgia" panose="02040502050405020303" pitchFamily="18" charset="0"/>
              </a:rPr>
              <a:t>	API restrictions.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04E74B-F13B-BA2F-9B53-1BF87CBA107D}"/>
              </a:ext>
            </a:extLst>
          </p:cNvPr>
          <p:cNvSpPr/>
          <p:nvPr/>
        </p:nvSpPr>
        <p:spPr>
          <a:xfrm>
            <a:off x="1410370" y="5736074"/>
            <a:ext cx="63352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u="sng" kern="0" dirty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https://developers.google.com/maps/documentation</a:t>
            </a:r>
            <a:r>
              <a:rPr lang="en-GB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93207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0BA8B-14F6-AF7F-5B71-C03E1E551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FFCD9-2084-F296-AE43-33FEE10BBE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30</a:t>
            </a:fld>
            <a:endParaRPr lang="en"/>
          </a:p>
        </p:txBody>
      </p:sp>
      <p:sp>
        <p:nvSpPr>
          <p:cNvPr id="14" name="Title 5">
            <a:extLst>
              <a:ext uri="{FF2B5EF4-FFF2-40B4-BE49-F238E27FC236}">
                <a16:creationId xmlns:a16="http://schemas.microsoft.com/office/drawing/2014/main" id="{0C0CA3F0-F7D8-2795-7EE1-AC2D54928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227013"/>
            <a:ext cx="9229725" cy="763587"/>
          </a:xfrm>
        </p:spPr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Application restrictions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24133F-F246-DB35-E5F0-412C8A89D35B}"/>
              </a:ext>
            </a:extLst>
          </p:cNvPr>
          <p:cNvSpPr txBox="1"/>
          <p:nvPr/>
        </p:nvSpPr>
        <p:spPr>
          <a:xfrm>
            <a:off x="6356" y="1346494"/>
            <a:ext cx="9974335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GB" sz="2200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To accept requests from the list of website that we supply, select HTTP referrers (web sites) from the list of Application restrictions.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endParaRPr lang="en-GB" sz="2200" dirty="0">
              <a:latin typeface="Georgia" panose="02040502050405020303" pitchFamily="18" charset="0"/>
              <a:ea typeface="MS PGothic" pitchFamily="34" charset="-128"/>
              <a:cs typeface="Lucida Sans Unicode" panose="020B0602030504020204" pitchFamily="34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GB" sz="2200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Specify one or more referrer web sites. For example, *.google.com accepts all sites ending in  google.com, such as </a:t>
            </a:r>
            <a:r>
              <a:rPr lang="en-GB" sz="1400" b="1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  <a:hlinkClick r:id="rId2"/>
              </a:rPr>
              <a:t>https://developers.google.com</a:t>
            </a:r>
            <a:r>
              <a:rPr lang="en-GB" sz="1400" b="1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 </a:t>
            </a:r>
            <a:r>
              <a:rPr lang="en-GB" sz="1400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.</a:t>
            </a:r>
          </a:p>
        </p:txBody>
      </p:sp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DFC18079-E3CE-5513-E06C-A8E36314B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38138" y="3429000"/>
            <a:ext cx="7511857" cy="284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5549195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775C6-E2E4-4701-5C0A-20D756EB3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6094E-EFDC-66F2-125D-8669F4C87B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31</a:t>
            </a:fld>
            <a:endParaRPr lang="en"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7051C46A-02A0-0482-10BC-0C925504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227013"/>
            <a:ext cx="9229725" cy="763587"/>
          </a:xfrm>
        </p:spPr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API Restrictions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98015AA-BC6D-3B50-D68E-D88E1E591F12}"/>
              </a:ext>
            </a:extLst>
          </p:cNvPr>
          <p:cNvSpPr txBox="1">
            <a:spLocks/>
          </p:cNvSpPr>
          <p:nvPr/>
        </p:nvSpPr>
        <p:spPr bwMode="auto">
          <a:xfrm>
            <a:off x="0" y="1125312"/>
            <a:ext cx="9906000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Georgia" panose="02040502050405020303" pitchFamily="18" charset="0"/>
              </a:rPr>
              <a:t>Select Maps JavaScript API from Select APIs dropdown. If the Maps JavaScript API is not listed, enable it.</a:t>
            </a:r>
          </a:p>
          <a:p>
            <a:endParaRPr lang="en-GB" sz="1200" dirty="0">
              <a:latin typeface="Georgia" panose="02040502050405020303" pitchFamily="18" charset="0"/>
            </a:endParaRPr>
          </a:p>
          <a:p>
            <a:r>
              <a:rPr lang="en-GB" dirty="0">
                <a:latin typeface="Georgia" panose="02040502050405020303" pitchFamily="18" charset="0"/>
              </a:rPr>
              <a:t>If our project uses Places Library, also select Places API. Similarly, if our project uses other services in the JavaScript API (Directions Service, Distance Matrix Service, Elevation Service, and/or Geocoding Service), enable and select the corresponding API in this list.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37135E-3F96-FE70-2AE3-A08441188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040" y="3429000"/>
            <a:ext cx="3970176" cy="289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586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13F7C-E108-B4AB-9F53-FF940893F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DBFA3-A7BA-F1D3-21E4-46D0CF9E98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32</a:t>
            </a:fld>
            <a:endParaRPr lang="en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5732428-2BE9-8FF4-5686-81262ECD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Loading the Maps JavaScript API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B8864C-1198-E2AF-2A1C-D0E70BE441B6}"/>
              </a:ext>
            </a:extLst>
          </p:cNvPr>
          <p:cNvSpPr txBox="1"/>
          <p:nvPr/>
        </p:nvSpPr>
        <p:spPr>
          <a:xfrm>
            <a:off x="133079" y="1517909"/>
            <a:ext cx="9505056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The Maps JavaScript API is loaded using a script tag, which can be added inline in your HTML file. 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altLang="en-US" sz="2000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To load the Maps JavaScript API inline in an HTML file:</a:t>
            </a:r>
          </a:p>
          <a:p>
            <a:pPr lvl="0">
              <a:lnSpc>
                <a:spcPct val="120000"/>
              </a:lnSpc>
            </a:pPr>
            <a:endParaRPr lang="en-GB" altLang="en-US" sz="2400" dirty="0">
              <a:latin typeface="Lucida Sans Unicode" panose="020B0602030504020204" pitchFamily="34" charset="0"/>
              <a:ea typeface="MS PGothic" pitchFamily="34" charset="-128"/>
              <a:cs typeface="Lucida Sans Unicode" panose="020B0602030504020204" pitchFamily="34" charset="0"/>
            </a:endParaRP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GB" altLang="en-US" sz="2400" dirty="0">
              <a:latin typeface="Lucida Sans Unicode" panose="020B0602030504020204" pitchFamily="34" charset="0"/>
              <a:ea typeface="MS PGothic" pitchFamily="34" charset="-128"/>
              <a:cs typeface="Lucida Sans Unicode" panose="020B0602030504020204" pitchFamily="34" charset="0"/>
            </a:endParaRP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GB" altLang="en-US" sz="2400" dirty="0">
              <a:latin typeface="Lucida Sans Unicode" panose="020B0602030504020204" pitchFamily="34" charset="0"/>
              <a:ea typeface="MS PGothic" pitchFamily="34" charset="-128"/>
              <a:cs typeface="Lucida Sans Unicode" panose="020B0602030504020204" pitchFamily="34" charset="0"/>
            </a:endParaRP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Map Options: </a:t>
            </a:r>
            <a:r>
              <a:rPr lang="en-GB" altLang="en-US" sz="2000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There are two required options for every map: centre and zoom. (Optional, </a:t>
            </a:r>
            <a:r>
              <a:rPr lang="en-GB" altLang="en-US" sz="2000" dirty="0" err="1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mapTypeId</a:t>
            </a:r>
            <a:r>
              <a:rPr lang="en-GB" altLang="en-US" sz="2000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: 'satellite‘)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GB" altLang="en-US" sz="2400" dirty="0">
              <a:latin typeface="Lucida Sans Unicode" panose="020B0602030504020204" pitchFamily="34" charset="0"/>
              <a:ea typeface="MS PGothic" pitchFamily="34" charset="-128"/>
              <a:cs typeface="Lucida Sans Unicode" panose="020B0602030504020204" pitchFamily="34" charset="0"/>
            </a:endParaRPr>
          </a:p>
          <a:p>
            <a:pPr lvl="0">
              <a:lnSpc>
                <a:spcPct val="120000"/>
              </a:lnSpc>
            </a:pPr>
            <a:endParaRPr lang="en-US" altLang="en-US" sz="2400" dirty="0">
              <a:latin typeface="Lucida Sans Unicode" panose="020B0602030504020204" pitchFamily="34" charset="0"/>
              <a:ea typeface="MS PGothic" pitchFamily="34" charset="-128"/>
              <a:cs typeface="Lucida Sans Unicode" panose="020B0602030504020204" pitchFamily="34" charset="0"/>
            </a:endParaRPr>
          </a:p>
          <a:p>
            <a:endParaRPr lang="en-GB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7F099D-367B-9239-B136-BECFEE6D9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69" y="2768138"/>
            <a:ext cx="8829675" cy="1085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006611-81E5-931F-501E-B8201EBDC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13" y="5104216"/>
            <a:ext cx="7770877" cy="121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9271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53271-F432-88B5-0C37-F7D65F753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7A15B-C60B-4CC2-D995-BA33F72228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33</a:t>
            </a:fld>
            <a:endParaRPr lang="en"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B269697F-83EE-C292-F4AA-A86C037D2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227013"/>
            <a:ext cx="9229725" cy="763587"/>
          </a:xfrm>
        </p:spPr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Restricting API keys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FD63631-52C5-20BF-E040-E199971DC236}"/>
              </a:ext>
            </a:extLst>
          </p:cNvPr>
          <p:cNvSpPr txBox="1">
            <a:spLocks/>
          </p:cNvSpPr>
          <p:nvPr/>
        </p:nvSpPr>
        <p:spPr bwMode="auto">
          <a:xfrm>
            <a:off x="35495" y="908720"/>
            <a:ext cx="9737425" cy="3185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  <a:p>
            <a:r>
              <a:rPr lang="en-GB" dirty="0">
                <a:latin typeface="Georgia" panose="02040502050405020303" pitchFamily="18" charset="0"/>
              </a:rPr>
              <a:t>To prevent theft of our API key, we need to secure it so only our Android app can use the key. </a:t>
            </a:r>
          </a:p>
          <a:p>
            <a:r>
              <a:rPr lang="en-GB" dirty="0">
                <a:latin typeface="Georgia" panose="02040502050405020303" pitchFamily="18" charset="0"/>
              </a:rPr>
              <a:t>If left unrestricted, anyone with our key could use it to call Google Maps Platform APIs and cause you to get billed.</a:t>
            </a:r>
          </a:p>
          <a:p>
            <a:r>
              <a:rPr lang="en-GB" dirty="0">
                <a:latin typeface="Georgia" panose="02040502050405020303" pitchFamily="18" charset="0"/>
              </a:rPr>
              <a:t>Get your SHA-1 certificate.</a:t>
            </a:r>
          </a:p>
        </p:txBody>
      </p:sp>
    </p:spTree>
    <p:extLst>
      <p:ext uri="{BB962C8B-B14F-4D97-AF65-F5344CB8AC3E}">
        <p14:creationId xmlns:p14="http://schemas.microsoft.com/office/powerpoint/2010/main" val="39812680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C179F-90DB-3B1B-F062-6C7FB7EFD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B679B0D-C1A8-D4B5-B775-7421B9790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675" y="-10143"/>
            <a:ext cx="9230650" cy="763600"/>
          </a:xfrm>
        </p:spPr>
        <p:txBody>
          <a:bodyPr/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Loading the Maps  API Key in Android Studio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0B111C-51FF-A16E-2F96-A4CAC64C0A4A}"/>
              </a:ext>
            </a:extLst>
          </p:cNvPr>
          <p:cNvSpPr txBox="1"/>
          <p:nvPr/>
        </p:nvSpPr>
        <p:spPr>
          <a:xfrm>
            <a:off x="200472" y="1196752"/>
            <a:ext cx="9705528" cy="519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To load the Maps API Key in </a:t>
            </a:r>
            <a:r>
              <a:rPr lang="en-GB" altLang="en-US" sz="2400" b="1" i="1" dirty="0" err="1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AndroidManifestxml</a:t>
            </a:r>
            <a:r>
              <a:rPr lang="en-GB" altLang="en-US" sz="2400" b="1" i="1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 </a:t>
            </a:r>
            <a:r>
              <a:rPr lang="en-GB" altLang="en-US" sz="2400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file:</a:t>
            </a:r>
          </a:p>
          <a:p>
            <a:r>
              <a:rPr lang="en-GB" sz="1000" dirty="0">
                <a:solidFill>
                  <a:srgbClr val="003399"/>
                </a:solidFill>
                <a:latin typeface="Courier New" panose="02070309020205020404" pitchFamily="49" charset="0"/>
              </a:rPr>
              <a:t>    </a:t>
            </a:r>
          </a:p>
          <a:p>
            <a:r>
              <a:rPr lang="en-GB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&lt;/activity&gt;</a:t>
            </a:r>
          </a:p>
          <a:p>
            <a:r>
              <a:rPr lang="en-GB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     &lt;meta-data</a:t>
            </a:r>
          </a:p>
          <a:p>
            <a:r>
              <a:rPr lang="en-GB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      </a:t>
            </a:r>
            <a:r>
              <a:rPr lang="en-GB" sz="1800" b="1" i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android:name</a:t>
            </a:r>
            <a:r>
              <a:rPr lang="en-GB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="</a:t>
            </a:r>
            <a:r>
              <a:rPr lang="en-GB" sz="1800" b="1" i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com.google.android.geo.API_KEY</a:t>
            </a:r>
            <a:r>
              <a:rPr lang="en-GB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"</a:t>
            </a:r>
          </a:p>
          <a:p>
            <a:r>
              <a:rPr lang="en-GB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      </a:t>
            </a:r>
            <a:r>
              <a:rPr lang="en-GB" sz="1800" b="1" i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android:value</a:t>
            </a:r>
            <a:r>
              <a:rPr lang="en-GB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="AIzaSyCOQCuXjuSLJ5wiL-HdTG8mVNgH0aa6Ovc"/&gt;</a:t>
            </a:r>
            <a:endParaRPr lang="en-GB" altLang="en-US" sz="2400" b="1" i="1" dirty="0">
              <a:solidFill>
                <a:srgbClr val="003399"/>
              </a:solidFill>
              <a:latin typeface="Lucida Sans Unicode" panose="020B0602030504020204" pitchFamily="34" charset="0"/>
              <a:ea typeface="MS PGothic" pitchFamily="34" charset="-128"/>
              <a:cs typeface="Lucida Sans Unicode" panose="020B0602030504020204" pitchFamily="34" charset="0"/>
            </a:endParaRP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en-US" sz="1200" b="1" dirty="0">
              <a:latin typeface="Georgia" panose="02040502050405020303" pitchFamily="18" charset="0"/>
              <a:ea typeface="MS PGothic" pitchFamily="34" charset="-128"/>
              <a:cs typeface="Lucida Sans Unicode" panose="020B0602030504020204" pitchFamily="34" charset="0"/>
            </a:endParaRP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Map Options: </a:t>
            </a:r>
            <a:r>
              <a:rPr lang="en-GB" altLang="en-US" sz="2400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There are more options for every map: </a:t>
            </a:r>
            <a:r>
              <a:rPr lang="en-GB" altLang="en-US" sz="2400" b="1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position</a:t>
            </a:r>
            <a:r>
              <a:rPr lang="en-GB" altLang="en-US" sz="2400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, </a:t>
            </a:r>
            <a:r>
              <a:rPr lang="en-GB" altLang="en-US" sz="2400" b="1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title</a:t>
            </a:r>
            <a:r>
              <a:rPr lang="en-GB" altLang="en-US" sz="2400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, and </a:t>
            </a:r>
            <a:r>
              <a:rPr lang="en-GB" altLang="en-US" sz="2400" b="1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snippet</a:t>
            </a:r>
            <a:r>
              <a:rPr lang="en-GB" altLang="en-US" sz="2400" dirty="0">
                <a:latin typeface="Georgia" panose="02040502050405020303" pitchFamily="18" charset="0"/>
                <a:ea typeface="MS PGothic" pitchFamily="34" charset="-128"/>
                <a:cs typeface="Lucida Sans Unicode" panose="020B0602030504020204" pitchFamily="34" charset="0"/>
              </a:rPr>
              <a:t> (see below)</a:t>
            </a:r>
          </a:p>
          <a:p>
            <a:pPr lvl="0">
              <a:lnSpc>
                <a:spcPct val="120000"/>
              </a:lnSpc>
            </a:pPr>
            <a:endParaRPr lang="en-GB" sz="1000" b="1" i="1" dirty="0">
              <a:solidFill>
                <a:srgbClr val="003399"/>
              </a:solidFill>
              <a:latin typeface="Courier New" panose="02070309020205020404" pitchFamily="49" charset="0"/>
            </a:endParaRPr>
          </a:p>
          <a:p>
            <a:pPr lvl="0">
              <a:lnSpc>
                <a:spcPct val="120000"/>
              </a:lnSpc>
            </a:pPr>
            <a:r>
              <a:rPr lang="en-GB" sz="1800" b="1" i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LatLng</a:t>
            </a:r>
            <a:r>
              <a:rPr lang="en-GB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 </a:t>
            </a:r>
            <a:r>
              <a:rPr lang="en-GB" sz="1800" b="1" i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myLatLng</a:t>
            </a:r>
            <a:r>
              <a:rPr lang="en-GB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 = new </a:t>
            </a:r>
            <a:r>
              <a:rPr lang="en-GB" sz="1800" b="1" i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LatLng</a:t>
            </a:r>
            <a:r>
              <a:rPr lang="en-GB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(53.79598400,-1.75939800);</a:t>
            </a:r>
          </a:p>
          <a:p>
            <a:r>
              <a:rPr lang="en-US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    </a:t>
            </a:r>
            <a:r>
              <a:rPr lang="en-US" sz="1800" b="1" i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googleMap.addMarker</a:t>
            </a:r>
            <a:r>
              <a:rPr lang="en-US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(new </a:t>
            </a:r>
            <a:r>
              <a:rPr lang="en-US" sz="1800" b="1" i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MarkerOptions</a:t>
            </a:r>
            <a:r>
              <a:rPr lang="en-US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().</a:t>
            </a:r>
            <a:r>
              <a:rPr lang="en-US" sz="1800" b="1" dirty="0">
                <a:latin typeface="Courier New" panose="02070309020205020404" pitchFamily="49" charset="0"/>
              </a:rPr>
              <a:t>position</a:t>
            </a:r>
            <a:r>
              <a:rPr lang="en-US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(</a:t>
            </a:r>
            <a:r>
              <a:rPr lang="en-US" sz="1800" b="1" i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myLatLng</a:t>
            </a:r>
            <a:r>
              <a:rPr lang="en-US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).</a:t>
            </a:r>
            <a:r>
              <a:rPr lang="en-US" sz="1800" b="1" dirty="0">
                <a:latin typeface="Courier New" panose="02070309020205020404" pitchFamily="49" charset="0"/>
              </a:rPr>
              <a:t>title</a:t>
            </a:r>
            <a:r>
              <a:rPr lang="en-US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("   Location Information   ").</a:t>
            </a:r>
            <a:r>
              <a:rPr lang="en-US" sz="1800" b="1" dirty="0">
                <a:latin typeface="Courier New" panose="02070309020205020404" pitchFamily="49" charset="0"/>
              </a:rPr>
              <a:t>snippet</a:t>
            </a:r>
            <a:r>
              <a:rPr lang="en-US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(“Place Name  "));</a:t>
            </a:r>
            <a:endParaRPr lang="en-GB" altLang="en-US" sz="2400" b="1" i="1" dirty="0">
              <a:solidFill>
                <a:srgbClr val="003399"/>
              </a:solidFill>
              <a:latin typeface="Lucida Sans Unicode" panose="020B0602030504020204" pitchFamily="34" charset="0"/>
              <a:ea typeface="MS PGothic" pitchFamily="34" charset="-128"/>
              <a:cs typeface="Lucida Sans Unicode" panose="020B0602030504020204" pitchFamily="34" charset="0"/>
            </a:endParaRPr>
          </a:p>
          <a:p>
            <a:pPr lvl="0">
              <a:lnSpc>
                <a:spcPct val="120000"/>
              </a:lnSpc>
            </a:pPr>
            <a:r>
              <a:rPr lang="en-GB" sz="1800" b="1" i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googleMap.moveCamera</a:t>
            </a:r>
            <a:r>
              <a:rPr lang="en-GB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(</a:t>
            </a:r>
            <a:r>
              <a:rPr lang="en-GB" sz="1800" b="1" i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CameraUpdateFactory.newLatLngZoom</a:t>
            </a:r>
            <a:r>
              <a:rPr lang="en-GB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(new </a:t>
            </a:r>
            <a:r>
              <a:rPr lang="en-GB" sz="1800" b="1" i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LatLng</a:t>
            </a:r>
            <a:r>
              <a:rPr lang="en-GB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(</a:t>
            </a:r>
            <a:r>
              <a:rPr lang="en-GB" b="1" i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myLatLng</a:t>
            </a:r>
            <a:r>
              <a:rPr lang="en-GB" sz="1800" b="1" i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.latitude</a:t>
            </a:r>
            <a:r>
              <a:rPr lang="en-GB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, </a:t>
            </a:r>
            <a:r>
              <a:rPr lang="en-GB" b="1" i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myLatLng</a:t>
            </a:r>
            <a:r>
              <a:rPr lang="en-GB" sz="1800" b="1" i="1" dirty="0" err="1">
                <a:solidFill>
                  <a:srgbClr val="003399"/>
                </a:solidFill>
                <a:latin typeface="Courier New" panose="02070309020205020404" pitchFamily="49" charset="0"/>
              </a:rPr>
              <a:t>.longitude</a:t>
            </a:r>
            <a:r>
              <a:rPr lang="en-GB" sz="1800" b="1" i="1" dirty="0">
                <a:solidFill>
                  <a:srgbClr val="003399"/>
                </a:solidFill>
                <a:latin typeface="Courier New" panose="02070309020205020404" pitchFamily="49" charset="0"/>
              </a:rPr>
              <a:t>), 12f));</a:t>
            </a:r>
            <a:endParaRPr lang="en-US" altLang="en-US" sz="2000" b="1" i="1" dirty="0">
              <a:solidFill>
                <a:srgbClr val="003399"/>
              </a:solidFill>
              <a:latin typeface="Lucida Sans Unicode" panose="020B0602030504020204" pitchFamily="34" charset="0"/>
              <a:ea typeface="MS PGothic" pitchFamily="34" charset="-128"/>
              <a:cs typeface="Lucida Sans Unicode" panose="020B0602030504020204" pitchFamily="34" charset="0"/>
            </a:endParaRPr>
          </a:p>
          <a:p>
            <a:endParaRPr lang="en-GB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5241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688EF-01BC-E576-161E-C688AA134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1207B-7B6A-5441-5CBC-B32995AC8C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35</a:t>
            </a:fld>
            <a:endParaRPr lang="e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2077E55-1635-2E7A-1171-9764EE94F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Maps Activity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3" name="Content Placeholder 7">
            <a:extLst>
              <a:ext uri="{FF2B5EF4-FFF2-40B4-BE49-F238E27FC236}">
                <a16:creationId xmlns:a16="http://schemas.microsoft.com/office/drawing/2014/main" id="{D5ACDA04-9F4D-9C8A-0C9B-271655C41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8464" y="1319839"/>
            <a:ext cx="8187952" cy="4997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10530971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F8B4C-5319-5B84-44E0-6DF62A2E5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E346C-C32C-EBE0-BF96-2DCBB5406B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36</a:t>
            </a:fld>
            <a:endParaRPr lang="e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E09DCDC-5D5A-D795-9CAA-CBA01BAFD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Google Maps Tutorial </a:t>
            </a:r>
            <a:endParaRPr lang="en-GB" sz="36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E9A431-7737-25F2-A66F-C6E09125E9DE}"/>
              </a:ext>
            </a:extLst>
          </p:cNvPr>
          <p:cNvSpPr txBox="1"/>
          <p:nvPr/>
        </p:nvSpPr>
        <p:spPr>
          <a:xfrm>
            <a:off x="124249" y="1356875"/>
            <a:ext cx="96486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Georgia" panose="02040502050405020303" pitchFamily="18" charset="0"/>
              </a:rPr>
              <a:t>Please see the link below </a:t>
            </a:r>
          </a:p>
          <a:p>
            <a:r>
              <a:rPr lang="en-US" sz="2400" b="0" i="0" dirty="0">
                <a:solidFill>
                  <a:srgbClr val="555555"/>
                </a:solidFill>
                <a:effectLst/>
                <a:latin typeface="Georgia" panose="02040502050405020303" pitchFamily="18" charset="0"/>
              </a:rPr>
              <a:t> about the Google Maps Tutorial With Example In Android Studio [Step by Step]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FDA35E-9FA8-21D0-23B1-CF23676E7732}"/>
              </a:ext>
            </a:extLst>
          </p:cNvPr>
          <p:cNvSpPr txBox="1"/>
          <p:nvPr/>
        </p:nvSpPr>
        <p:spPr>
          <a:xfrm>
            <a:off x="97573" y="3645024"/>
            <a:ext cx="956832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hlinkClick r:id="rId2"/>
              </a:rPr>
              <a:t>https://www.javacodegeeks.com/2011/02/android-google-maps-tutorial.html</a:t>
            </a:r>
            <a:endParaRPr lang="en-GB" b="1" dirty="0"/>
          </a:p>
          <a:p>
            <a:endParaRPr lang="en-GB" sz="1400" b="1" dirty="0"/>
          </a:p>
          <a:p>
            <a:r>
              <a:rPr lang="en-GB" b="1" dirty="0">
                <a:solidFill>
                  <a:srgbClr val="0070C0"/>
                </a:solidFill>
                <a:hlinkClick r:id="rId3"/>
              </a:rPr>
              <a:t>https://www.specbee.com/blogs/android-tutorials-google-map-drawing-routes-between-two-points</a:t>
            </a:r>
            <a:endParaRPr lang="en-GB" b="1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70ACB4-6FD4-5E48-24D7-8F06E445E3A7}"/>
              </a:ext>
            </a:extLst>
          </p:cNvPr>
          <p:cNvSpPr txBox="1"/>
          <p:nvPr/>
        </p:nvSpPr>
        <p:spPr>
          <a:xfrm>
            <a:off x="43154" y="3049729"/>
            <a:ext cx="9525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hlinkClick r:id="rId4"/>
              </a:rPr>
              <a:t>https://code.tutsplus.com/getting-started-with-google-maps-for-android-basics--cms-24635t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4033510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946FE-FF38-947F-95C2-1CF94FE88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4F80E-76A6-9456-6B5F-3ED7326C2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37</a:t>
            </a:fld>
            <a:endParaRPr lang="e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EF13CE-1272-68E0-AFB9-1FB59CC2D2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0512" y="2924944"/>
            <a:ext cx="8229600" cy="490067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600" dirty="0">
                <a:solidFill>
                  <a:schemeClr val="tx1"/>
                </a:solidFill>
                <a:latin typeface="Georgia" panose="02040502050405020303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132837496"/>
      </p:ext>
    </p:extLst>
  </p:cSld>
  <p:clrMapOvr>
    <a:masterClrMapping/>
  </p:clrMapOvr>
</p:sld>
</file>

<file path=ppt/theme/theme1.xml><?xml version="1.0" encoding="utf-8"?>
<a:theme xmlns:a="http://schemas.openxmlformats.org/drawingml/2006/main" name="Bradford PPT_final_A">
  <a:themeElements>
    <a:clrScheme name="UOB Green">
      <a:dk1>
        <a:sysClr val="windowText" lastClr="000000"/>
      </a:dk1>
      <a:lt1>
        <a:sysClr val="window" lastClr="FFFFFF"/>
      </a:lt1>
      <a:dk2>
        <a:srgbClr val="005359"/>
      </a:dk2>
      <a:lt2>
        <a:srgbClr val="FFFFFF"/>
      </a:lt2>
      <a:accent1>
        <a:srgbClr val="87A529"/>
      </a:accent1>
      <a:accent2>
        <a:srgbClr val="009EB2"/>
      </a:accent2>
      <a:accent3>
        <a:srgbClr val="395E14"/>
      </a:accent3>
      <a:accent4>
        <a:srgbClr val="E6E7E8"/>
      </a:accent4>
      <a:accent5>
        <a:srgbClr val="C0E064"/>
      </a:accent5>
      <a:accent6>
        <a:srgbClr val="005359"/>
      </a:accent6>
      <a:hlink>
        <a:srgbClr val="009EB2"/>
      </a:hlink>
      <a:folHlink>
        <a:srgbClr val="87A52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81BE"/>
          </a:solidFill>
        </a:ln>
        <a:effectLst/>
      </a:spPr>
      <a:bodyPr anchor="ctr"/>
      <a:lstStyle>
        <a:defPPr algn="ctr">
          <a:defRPr dirty="0">
            <a:latin typeface="Lucida Sans"/>
            <a:cs typeface="Lucida Sans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87A529"/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Lucida Sans Unicode" panose="020B0602030504020204" pitchFamily="34" charset="0"/>
            <a:cs typeface="Lucida Sans Unicode" panose="020B0602030504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uob-green-faculty-or-directorate-guide</Template>
  <TotalTime>761</TotalTime>
  <Words>2294</Words>
  <Application>Microsoft Office PowerPoint</Application>
  <PresentationFormat>A4 Paper (210x297 mm)</PresentationFormat>
  <Paragraphs>240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Arial</vt:lpstr>
      <vt:lpstr>Calibri</vt:lpstr>
      <vt:lpstr>CMSS10</vt:lpstr>
      <vt:lpstr>CMTT10</vt:lpstr>
      <vt:lpstr>Courier New</vt:lpstr>
      <vt:lpstr>Georgia</vt:lpstr>
      <vt:lpstr>Lucida Sans</vt:lpstr>
      <vt:lpstr>Lucida Sans Unicode</vt:lpstr>
      <vt:lpstr>Roboto</vt:lpstr>
      <vt:lpstr>Wingdings</vt:lpstr>
      <vt:lpstr>Bradford PPT_final_A</vt:lpstr>
      <vt:lpstr>Mobile Application Development (COS7025-B)   Mobile Apps Architecture &amp;  Designing Mobile Apps using Android Maps, Location and Runtime Permissions</vt:lpstr>
      <vt:lpstr>Contents</vt:lpstr>
      <vt:lpstr>Mobile Application Development Architecture</vt:lpstr>
      <vt:lpstr>Key Layers of Mobile App Architecture </vt:lpstr>
      <vt:lpstr>Common Architectural Patterns</vt:lpstr>
      <vt:lpstr>Principles for Effective Architecture</vt:lpstr>
      <vt:lpstr>MVC - Basics</vt:lpstr>
      <vt:lpstr>MVC - Basics</vt:lpstr>
      <vt:lpstr>MVC - Model</vt:lpstr>
      <vt:lpstr>MVC - View</vt:lpstr>
      <vt:lpstr>MVC - Controller</vt:lpstr>
      <vt:lpstr>MVC bigger picture</vt:lpstr>
      <vt:lpstr>Contents</vt:lpstr>
      <vt:lpstr>Communication between the Components</vt:lpstr>
      <vt:lpstr>PowerPoint Presentation</vt:lpstr>
      <vt:lpstr>Location Aware Applications</vt:lpstr>
      <vt:lpstr>Discussions: Benefits of Location awareness</vt:lpstr>
      <vt:lpstr>Location services in Android</vt:lpstr>
      <vt:lpstr>Google API to access google play services</vt:lpstr>
      <vt:lpstr>Google Play services</vt:lpstr>
      <vt:lpstr>Adding Google Play services via Gradle</vt:lpstr>
      <vt:lpstr>Specify App permissions</vt:lpstr>
      <vt:lpstr>Connect to Google Play services in your app (code)</vt:lpstr>
      <vt:lpstr>Fused location provider to retrieve the device's last known location</vt:lpstr>
      <vt:lpstr>What about getting an address using Google API?</vt:lpstr>
      <vt:lpstr>Google Map</vt:lpstr>
      <vt:lpstr>Google Map Platform</vt:lpstr>
      <vt:lpstr>Maps JavaScript API</vt:lpstr>
      <vt:lpstr>Restricting API keys</vt:lpstr>
      <vt:lpstr>Application restrictions</vt:lpstr>
      <vt:lpstr>API Restrictions</vt:lpstr>
      <vt:lpstr>Loading the Maps JavaScript API</vt:lpstr>
      <vt:lpstr>Restricting API keys</vt:lpstr>
      <vt:lpstr>Loading the Maps  API Key in Android Studio</vt:lpstr>
      <vt:lpstr>Maps Activity</vt:lpstr>
      <vt:lpstr>Google Maps Tutorial </vt:lpstr>
      <vt:lpstr>Any Questions?</vt:lpstr>
    </vt:vector>
  </TitlesOfParts>
  <Company>University of Bradford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 (COS7025-B)     Introduction to Android Software  Stack</dc:title>
  <dc:creator>Karim Sadik</dc:creator>
  <cp:lastModifiedBy>Karim Sadik</cp:lastModifiedBy>
  <cp:revision>33</cp:revision>
  <cp:lastPrinted>2014-07-11T09:48:52Z</cp:lastPrinted>
  <dcterms:created xsi:type="dcterms:W3CDTF">2025-07-22T12:14:46Z</dcterms:created>
  <dcterms:modified xsi:type="dcterms:W3CDTF">2025-11-10T10:44:18Z</dcterms:modified>
</cp:coreProperties>
</file>