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258" r:id="rId6"/>
    <p:sldId id="400" r:id="rId7"/>
    <p:sldId id="401" r:id="rId8"/>
    <p:sldId id="279" r:id="rId9"/>
    <p:sldId id="328" r:id="rId10"/>
    <p:sldId id="402" r:id="rId11"/>
    <p:sldId id="403" r:id="rId12"/>
    <p:sldId id="404" r:id="rId13"/>
    <p:sldId id="405" r:id="rId14"/>
    <p:sldId id="406" r:id="rId15"/>
    <p:sldId id="408" r:id="rId16"/>
    <p:sldId id="409" r:id="rId17"/>
    <p:sldId id="410" r:id="rId18"/>
    <p:sldId id="411" r:id="rId19"/>
    <p:sldId id="413" r:id="rId20"/>
    <p:sldId id="414" r:id="rId21"/>
    <p:sldId id="412" r:id="rId22"/>
    <p:sldId id="416" r:id="rId23"/>
    <p:sldId id="417" r:id="rId24"/>
    <p:sldId id="418" r:id="rId25"/>
    <p:sldId id="419" r:id="rId26"/>
    <p:sldId id="422" r:id="rId27"/>
    <p:sldId id="420" r:id="rId28"/>
    <p:sldId id="421" r:id="rId29"/>
    <p:sldId id="423" r:id="rId30"/>
    <p:sldId id="424" r:id="rId31"/>
    <p:sldId id="425" r:id="rId32"/>
    <p:sldId id="407" r:id="rId33"/>
    <p:sldId id="415" r:id="rId34"/>
    <p:sldId id="354" r:id="rId35"/>
  </p:sldIdLst>
  <p:sldSz cx="9906000" cy="6858000" type="A4"/>
  <p:notesSz cx="6858000" cy="9144000"/>
  <p:custDataLst>
    <p:tags r:id="rId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FBD"/>
    <a:srgbClr val="FFD03B"/>
    <a:srgbClr val="FF0066"/>
    <a:srgbClr val="FF33CC"/>
    <a:srgbClr val="0000FF"/>
    <a:srgbClr val="D5C3D7"/>
    <a:srgbClr val="FFE79B"/>
    <a:srgbClr val="FFE181"/>
    <a:srgbClr val="FFDA65"/>
    <a:srgbClr val="96C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3FFBA-F94E-4022-98F7-A6B636BB08D7}" v="16" dt="2024-11-17T12:25:28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7" autoAdjust="0"/>
    <p:restoredTop sz="95226" autoAdjust="0"/>
  </p:normalViewPr>
  <p:slideViewPr>
    <p:cSldViewPr showGuides="1">
      <p:cViewPr varScale="1">
        <p:scale>
          <a:sx n="82" d="100"/>
          <a:sy n="82" d="100"/>
        </p:scale>
        <p:origin x="725" y="58"/>
      </p:cViewPr>
      <p:guideLst>
        <p:guide orient="horz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g Kabir" userId="e9b0da40-aef8-480a-bb63-d1daacecf555" providerId="ADAL" clId="{4AB3FFBA-F94E-4022-98F7-A6B636BB08D7}"/>
    <pc:docChg chg="undo custSel addSld delSld modSld sldOrd">
      <pc:chgData name="Sohag Kabir" userId="e9b0da40-aef8-480a-bb63-d1daacecf555" providerId="ADAL" clId="{4AB3FFBA-F94E-4022-98F7-A6B636BB08D7}" dt="2024-11-17T12:28:52.640" v="290" actId="20577"/>
      <pc:docMkLst>
        <pc:docMk/>
      </pc:docMkLst>
      <pc:sldChg chg="modSp mod">
        <pc:chgData name="Sohag Kabir" userId="e9b0da40-aef8-480a-bb63-d1daacecf555" providerId="ADAL" clId="{4AB3FFBA-F94E-4022-98F7-A6B636BB08D7}" dt="2024-11-17T09:14:54.480" v="117" actId="5793"/>
        <pc:sldMkLst>
          <pc:docMk/>
          <pc:sldMk cId="1234101355" sldId="258"/>
        </pc:sldMkLst>
        <pc:spChg chg="mod">
          <ac:chgData name="Sohag Kabir" userId="e9b0da40-aef8-480a-bb63-d1daacecf555" providerId="ADAL" clId="{4AB3FFBA-F94E-4022-98F7-A6B636BB08D7}" dt="2024-11-17T09:14:54.480" v="117" actId="5793"/>
          <ac:spMkLst>
            <pc:docMk/>
            <pc:sldMk cId="1234101355" sldId="258"/>
            <ac:spMk id="8" creationId="{6EDEE5A8-4100-3011-D9EC-9F66AE6FE78C}"/>
          </ac:spMkLst>
        </pc:spChg>
      </pc:sldChg>
      <pc:sldChg chg="modSp mod">
        <pc:chgData name="Sohag Kabir" userId="e9b0da40-aef8-480a-bb63-d1daacecf555" providerId="ADAL" clId="{4AB3FFBA-F94E-4022-98F7-A6B636BB08D7}" dt="2024-11-17T12:10:43.133" v="249" actId="20577"/>
        <pc:sldMkLst>
          <pc:docMk/>
          <pc:sldMk cId="616367942" sldId="279"/>
        </pc:sldMkLst>
        <pc:spChg chg="mod">
          <ac:chgData name="Sohag Kabir" userId="e9b0da40-aef8-480a-bb63-d1daacecf555" providerId="ADAL" clId="{4AB3FFBA-F94E-4022-98F7-A6B636BB08D7}" dt="2024-11-17T12:10:43.133" v="249" actId="20577"/>
          <ac:spMkLst>
            <pc:docMk/>
            <pc:sldMk cId="616367942" sldId="279"/>
            <ac:spMk id="4" creationId="{DA18133F-B1B9-780E-4BEC-4D0626A2AF33}"/>
          </ac:spMkLst>
        </pc:spChg>
      </pc:sldChg>
      <pc:sldChg chg="modSp">
        <pc:chgData name="Sohag Kabir" userId="e9b0da40-aef8-480a-bb63-d1daacecf555" providerId="ADAL" clId="{4AB3FFBA-F94E-4022-98F7-A6B636BB08D7}" dt="2024-11-17T12:11:14.524" v="250" actId="1076"/>
        <pc:sldMkLst>
          <pc:docMk/>
          <pc:sldMk cId="4080867092" sldId="328"/>
        </pc:sldMkLst>
        <pc:spChg chg="mod">
          <ac:chgData name="Sohag Kabir" userId="e9b0da40-aef8-480a-bb63-d1daacecf555" providerId="ADAL" clId="{4AB3FFBA-F94E-4022-98F7-A6B636BB08D7}" dt="2024-11-17T12:11:14.524" v="250" actId="1076"/>
          <ac:spMkLst>
            <pc:docMk/>
            <pc:sldMk cId="4080867092" sldId="328"/>
            <ac:spMk id="3" creationId="{C5753561-433C-6ED5-A65F-D25F9210DBE7}"/>
          </ac:spMkLst>
        </pc:spChg>
      </pc:sldChg>
      <pc:sldChg chg="del">
        <pc:chgData name="Sohag Kabir" userId="e9b0da40-aef8-480a-bb63-d1daacecf555" providerId="ADAL" clId="{4AB3FFBA-F94E-4022-98F7-A6B636BB08D7}" dt="2024-11-17T09:24:13.039" v="234" actId="2696"/>
        <pc:sldMkLst>
          <pc:docMk/>
          <pc:sldMk cId="3521441372" sldId="359"/>
        </pc:sldMkLst>
      </pc:sldChg>
      <pc:sldChg chg="modSp mod modAnim">
        <pc:chgData name="Sohag Kabir" userId="e9b0da40-aef8-480a-bb63-d1daacecf555" providerId="ADAL" clId="{4AB3FFBA-F94E-4022-98F7-A6B636BB08D7}" dt="2024-11-17T12:08:21.161" v="241" actId="14100"/>
        <pc:sldMkLst>
          <pc:docMk/>
          <pc:sldMk cId="1093870904" sldId="400"/>
        </pc:sldMkLst>
        <pc:spChg chg="mod">
          <ac:chgData name="Sohag Kabir" userId="e9b0da40-aef8-480a-bb63-d1daacecf555" providerId="ADAL" clId="{4AB3FFBA-F94E-4022-98F7-A6B636BB08D7}" dt="2024-11-17T12:08:21.161" v="241" actId="14100"/>
          <ac:spMkLst>
            <pc:docMk/>
            <pc:sldMk cId="1093870904" sldId="400"/>
            <ac:spMk id="2" creationId="{DE13D453-4D7B-47BF-AED4-27D56C3644AA}"/>
          </ac:spMkLst>
        </pc:spChg>
        <pc:spChg chg="mod">
          <ac:chgData name="Sohag Kabir" userId="e9b0da40-aef8-480a-bb63-d1daacecf555" providerId="ADAL" clId="{4AB3FFBA-F94E-4022-98F7-A6B636BB08D7}" dt="2024-11-17T12:07:34.177" v="235" actId="1076"/>
          <ac:spMkLst>
            <pc:docMk/>
            <pc:sldMk cId="1093870904" sldId="400"/>
            <ac:spMk id="10" creationId="{5B96E07D-8480-4EDF-01C8-6773684A8F2C}"/>
          </ac:spMkLst>
        </pc:spChg>
      </pc:sldChg>
      <pc:sldChg chg="modSp mod ord">
        <pc:chgData name="Sohag Kabir" userId="e9b0da40-aef8-480a-bb63-d1daacecf555" providerId="ADAL" clId="{4AB3FFBA-F94E-4022-98F7-A6B636BB08D7}" dt="2024-11-17T12:28:52.640" v="290" actId="20577"/>
        <pc:sldMkLst>
          <pc:docMk/>
          <pc:sldMk cId="1887591407" sldId="407"/>
        </pc:sldMkLst>
        <pc:spChg chg="mod">
          <ac:chgData name="Sohag Kabir" userId="e9b0da40-aef8-480a-bb63-d1daacecf555" providerId="ADAL" clId="{4AB3FFBA-F94E-4022-98F7-A6B636BB08D7}" dt="2024-11-17T09:16:00.127" v="126" actId="20577"/>
          <ac:spMkLst>
            <pc:docMk/>
            <pc:sldMk cId="1887591407" sldId="407"/>
            <ac:spMk id="2" creationId="{DE13D453-4D7B-47BF-AED4-27D56C3644AA}"/>
          </ac:spMkLst>
        </pc:spChg>
        <pc:spChg chg="mod">
          <ac:chgData name="Sohag Kabir" userId="e9b0da40-aef8-480a-bb63-d1daacecf555" providerId="ADAL" clId="{4AB3FFBA-F94E-4022-98F7-A6B636BB08D7}" dt="2024-11-17T12:28:52.640" v="290" actId="20577"/>
          <ac:spMkLst>
            <pc:docMk/>
            <pc:sldMk cId="1887591407" sldId="407"/>
            <ac:spMk id="9" creationId="{324E0D25-B09F-A254-3CF8-2548CFB73BC4}"/>
          </ac:spMkLst>
        </pc:spChg>
      </pc:sldChg>
      <pc:sldChg chg="modSp">
        <pc:chgData name="Sohag Kabir" userId="e9b0da40-aef8-480a-bb63-d1daacecf555" providerId="ADAL" clId="{4AB3FFBA-F94E-4022-98F7-A6B636BB08D7}" dt="2024-11-17T12:16:05.518" v="253" actId="20577"/>
        <pc:sldMkLst>
          <pc:docMk/>
          <pc:sldMk cId="581686749" sldId="412"/>
        </pc:sldMkLst>
        <pc:spChg chg="mod">
          <ac:chgData name="Sohag Kabir" userId="e9b0da40-aef8-480a-bb63-d1daacecf555" providerId="ADAL" clId="{4AB3FFBA-F94E-4022-98F7-A6B636BB08D7}" dt="2024-11-17T12:16:05.518" v="253" actId="20577"/>
          <ac:spMkLst>
            <pc:docMk/>
            <pc:sldMk cId="581686749" sldId="412"/>
            <ac:spMk id="10" creationId="{79FDE9C8-9366-87E7-C88E-FB328680359B}"/>
          </ac:spMkLst>
        </pc:spChg>
      </pc:sldChg>
      <pc:sldChg chg="modSp mod">
        <pc:chgData name="Sohag Kabir" userId="e9b0da40-aef8-480a-bb63-d1daacecf555" providerId="ADAL" clId="{4AB3FFBA-F94E-4022-98F7-A6B636BB08D7}" dt="2024-11-17T09:23:40.583" v="233"/>
        <pc:sldMkLst>
          <pc:docMk/>
          <pc:sldMk cId="2447030898" sldId="415"/>
        </pc:sldMkLst>
        <pc:spChg chg="mod">
          <ac:chgData name="Sohag Kabir" userId="e9b0da40-aef8-480a-bb63-d1daacecf555" providerId="ADAL" clId="{4AB3FFBA-F94E-4022-98F7-A6B636BB08D7}" dt="2024-11-17T09:21:16.829" v="211" actId="255"/>
          <ac:spMkLst>
            <pc:docMk/>
            <pc:sldMk cId="2447030898" sldId="415"/>
            <ac:spMk id="2" creationId="{DE13D453-4D7B-47BF-AED4-27D56C3644AA}"/>
          </ac:spMkLst>
        </pc:spChg>
        <pc:spChg chg="mod">
          <ac:chgData name="Sohag Kabir" userId="e9b0da40-aef8-480a-bb63-d1daacecf555" providerId="ADAL" clId="{4AB3FFBA-F94E-4022-98F7-A6B636BB08D7}" dt="2024-11-17T09:23:40.583" v="233"/>
          <ac:spMkLst>
            <pc:docMk/>
            <pc:sldMk cId="2447030898" sldId="415"/>
            <ac:spMk id="9" creationId="{324E0D25-B09F-A254-3CF8-2548CFB73BC4}"/>
          </ac:spMkLst>
        </pc:spChg>
      </pc:sldChg>
      <pc:sldChg chg="modSp mod modAnim">
        <pc:chgData name="Sohag Kabir" userId="e9b0da40-aef8-480a-bb63-d1daacecf555" providerId="ADAL" clId="{4AB3FFBA-F94E-4022-98F7-A6B636BB08D7}" dt="2024-11-17T12:17:40.245" v="258"/>
        <pc:sldMkLst>
          <pc:docMk/>
          <pc:sldMk cId="3278967945" sldId="416"/>
        </pc:sldMkLst>
        <pc:spChg chg="mod">
          <ac:chgData name="Sohag Kabir" userId="e9b0da40-aef8-480a-bb63-d1daacecf555" providerId="ADAL" clId="{4AB3FFBA-F94E-4022-98F7-A6B636BB08D7}" dt="2024-11-17T12:17:23.769" v="256" actId="12"/>
          <ac:spMkLst>
            <pc:docMk/>
            <pc:sldMk cId="3278967945" sldId="416"/>
            <ac:spMk id="9" creationId="{B2563FBC-3BA6-2537-001F-00AF9EA81C88}"/>
          </ac:spMkLst>
        </pc:spChg>
      </pc:sldChg>
      <pc:sldChg chg="modSp mod">
        <pc:chgData name="Sohag Kabir" userId="e9b0da40-aef8-480a-bb63-d1daacecf555" providerId="ADAL" clId="{4AB3FFBA-F94E-4022-98F7-A6B636BB08D7}" dt="2024-11-17T12:21:50.635" v="270" actId="1076"/>
        <pc:sldMkLst>
          <pc:docMk/>
          <pc:sldMk cId="1142169486" sldId="417"/>
        </pc:sldMkLst>
        <pc:spChg chg="mod">
          <ac:chgData name="Sohag Kabir" userId="e9b0da40-aef8-480a-bb63-d1daacecf555" providerId="ADAL" clId="{4AB3FFBA-F94E-4022-98F7-A6B636BB08D7}" dt="2024-11-17T12:21:50.635" v="270" actId="1076"/>
          <ac:spMkLst>
            <pc:docMk/>
            <pc:sldMk cId="1142169486" sldId="417"/>
            <ac:spMk id="3" creationId="{FD7B26F1-0A09-3559-2594-20A797393021}"/>
          </ac:spMkLst>
        </pc:spChg>
        <pc:spChg chg="mod">
          <ac:chgData name="Sohag Kabir" userId="e9b0da40-aef8-480a-bb63-d1daacecf555" providerId="ADAL" clId="{4AB3FFBA-F94E-4022-98F7-A6B636BB08D7}" dt="2024-11-17T12:21:44.391" v="268" actId="1076"/>
          <ac:spMkLst>
            <pc:docMk/>
            <pc:sldMk cId="1142169486" sldId="417"/>
            <ac:spMk id="9" creationId="{B2563FBC-3BA6-2537-001F-00AF9EA81C88}"/>
          </ac:spMkLst>
        </pc:spChg>
      </pc:sldChg>
      <pc:sldChg chg="modSp mod">
        <pc:chgData name="Sohag Kabir" userId="e9b0da40-aef8-480a-bb63-d1daacecf555" providerId="ADAL" clId="{4AB3FFBA-F94E-4022-98F7-A6B636BB08D7}" dt="2024-11-17T12:23:47.220" v="274" actId="14100"/>
        <pc:sldMkLst>
          <pc:docMk/>
          <pc:sldMk cId="2953361872" sldId="418"/>
        </pc:sldMkLst>
        <pc:spChg chg="mod">
          <ac:chgData name="Sohag Kabir" userId="e9b0da40-aef8-480a-bb63-d1daacecf555" providerId="ADAL" clId="{4AB3FFBA-F94E-4022-98F7-A6B636BB08D7}" dt="2024-11-17T12:23:47.220" v="274" actId="14100"/>
          <ac:spMkLst>
            <pc:docMk/>
            <pc:sldMk cId="2953361872" sldId="418"/>
            <ac:spMk id="8" creationId="{EC9EC0A2-5E68-115D-52EB-03D9B049522E}"/>
          </ac:spMkLst>
        </pc:spChg>
        <pc:spChg chg="mod">
          <ac:chgData name="Sohag Kabir" userId="e9b0da40-aef8-480a-bb63-d1daacecf555" providerId="ADAL" clId="{4AB3FFBA-F94E-4022-98F7-A6B636BB08D7}" dt="2024-11-17T12:22:49.646" v="272" actId="20577"/>
          <ac:spMkLst>
            <pc:docMk/>
            <pc:sldMk cId="2953361872" sldId="418"/>
            <ac:spMk id="11" creationId="{29169BB7-FB9A-0DAF-AA41-674812D4B3DD}"/>
          </ac:spMkLst>
        </pc:spChg>
      </pc:sldChg>
      <pc:sldChg chg="modSp mod">
        <pc:chgData name="Sohag Kabir" userId="e9b0da40-aef8-480a-bb63-d1daacecf555" providerId="ADAL" clId="{4AB3FFBA-F94E-4022-98F7-A6B636BB08D7}" dt="2024-11-17T12:24:08.858" v="275" actId="1076"/>
        <pc:sldMkLst>
          <pc:docMk/>
          <pc:sldMk cId="3962218030" sldId="419"/>
        </pc:sldMkLst>
        <pc:spChg chg="mod">
          <ac:chgData name="Sohag Kabir" userId="e9b0da40-aef8-480a-bb63-d1daacecf555" providerId="ADAL" clId="{4AB3FFBA-F94E-4022-98F7-A6B636BB08D7}" dt="2024-11-17T12:24:08.858" v="275" actId="1076"/>
          <ac:spMkLst>
            <pc:docMk/>
            <pc:sldMk cId="3962218030" sldId="419"/>
            <ac:spMk id="11" creationId="{29169BB7-FB9A-0DAF-AA41-674812D4B3DD}"/>
          </ac:spMkLst>
        </pc:spChg>
      </pc:sldChg>
      <pc:sldChg chg="modSp mod">
        <pc:chgData name="Sohag Kabir" userId="e9b0da40-aef8-480a-bb63-d1daacecf555" providerId="ADAL" clId="{4AB3FFBA-F94E-4022-98F7-A6B636BB08D7}" dt="2024-11-17T09:12:09.949" v="32" actId="255"/>
        <pc:sldMkLst>
          <pc:docMk/>
          <pc:sldMk cId="2061137731" sldId="424"/>
        </pc:sldMkLst>
        <pc:spChg chg="mod">
          <ac:chgData name="Sohag Kabir" userId="e9b0da40-aef8-480a-bb63-d1daacecf555" providerId="ADAL" clId="{4AB3FFBA-F94E-4022-98F7-A6B636BB08D7}" dt="2024-11-17T09:12:09.949" v="32" actId="255"/>
          <ac:spMkLst>
            <pc:docMk/>
            <pc:sldMk cId="2061137731" sldId="424"/>
            <ac:spMk id="9" creationId="{44239C81-05F3-16CF-6C1B-128B5B3BE82F}"/>
          </ac:spMkLst>
        </pc:spChg>
        <pc:picChg chg="mod">
          <ac:chgData name="Sohag Kabir" userId="e9b0da40-aef8-480a-bb63-d1daacecf555" providerId="ADAL" clId="{4AB3FFBA-F94E-4022-98F7-A6B636BB08D7}" dt="2024-11-17T09:10:24.914" v="22" actId="1076"/>
          <ac:picMkLst>
            <pc:docMk/>
            <pc:sldMk cId="2061137731" sldId="424"/>
            <ac:picMk id="3" creationId="{BE7576B0-A6E6-121C-CAA5-7483ABFB3F33}"/>
          </ac:picMkLst>
        </pc:picChg>
      </pc:sldChg>
      <pc:sldChg chg="addSp delSp modSp add mod">
        <pc:chgData name="Sohag Kabir" userId="e9b0da40-aef8-480a-bb63-d1daacecf555" providerId="ADAL" clId="{4AB3FFBA-F94E-4022-98F7-A6B636BB08D7}" dt="2024-11-17T12:27:13.649" v="278" actId="12"/>
        <pc:sldMkLst>
          <pc:docMk/>
          <pc:sldMk cId="3751150740" sldId="425"/>
        </pc:sldMkLst>
        <pc:spChg chg="mod">
          <ac:chgData name="Sohag Kabir" userId="e9b0da40-aef8-480a-bb63-d1daacecf555" providerId="ADAL" clId="{4AB3FFBA-F94E-4022-98F7-A6B636BB08D7}" dt="2024-11-17T09:11:35.027" v="24"/>
          <ac:spMkLst>
            <pc:docMk/>
            <pc:sldMk cId="3751150740" sldId="425"/>
            <ac:spMk id="2" creationId="{DE13D453-4D7B-47BF-AED4-27D56C3644AA}"/>
          </ac:spMkLst>
        </pc:spChg>
        <pc:spChg chg="add mod">
          <ac:chgData name="Sohag Kabir" userId="e9b0da40-aef8-480a-bb63-d1daacecf555" providerId="ADAL" clId="{4AB3FFBA-F94E-4022-98F7-A6B636BB08D7}" dt="2024-11-17T12:27:13.649" v="278" actId="12"/>
          <ac:spMkLst>
            <pc:docMk/>
            <pc:sldMk cId="3751150740" sldId="425"/>
            <ac:spMk id="5" creationId="{A00C5BD7-CD60-D2B1-08F5-E003287AB8E5}"/>
          </ac:spMkLst>
        </pc:spChg>
        <pc:spChg chg="mod">
          <ac:chgData name="Sohag Kabir" userId="e9b0da40-aef8-480a-bb63-d1daacecf555" providerId="ADAL" clId="{4AB3FFBA-F94E-4022-98F7-A6B636BB08D7}" dt="2024-11-17T09:19:20.310" v="206" actId="20577"/>
          <ac:spMkLst>
            <pc:docMk/>
            <pc:sldMk cId="3751150740" sldId="425"/>
            <ac:spMk id="8" creationId="{EC9EC0A2-5E68-115D-52EB-03D9B049522E}"/>
          </ac:spMkLst>
        </pc:spChg>
        <pc:spChg chg="del mod">
          <ac:chgData name="Sohag Kabir" userId="e9b0da40-aef8-480a-bb63-d1daacecf555" providerId="ADAL" clId="{4AB3FFBA-F94E-4022-98F7-A6B636BB08D7}" dt="2024-11-17T09:11:40.254" v="28" actId="478"/>
          <ac:spMkLst>
            <pc:docMk/>
            <pc:sldMk cId="3751150740" sldId="425"/>
            <ac:spMk id="9" creationId="{44239C81-05F3-16CF-6C1B-128B5B3BE82F}"/>
          </ac:spMkLst>
        </pc:spChg>
        <pc:picChg chg="del mod">
          <ac:chgData name="Sohag Kabir" userId="e9b0da40-aef8-480a-bb63-d1daacecf555" providerId="ADAL" clId="{4AB3FFBA-F94E-4022-98F7-A6B636BB08D7}" dt="2024-11-17T09:11:36.698" v="26" actId="478"/>
          <ac:picMkLst>
            <pc:docMk/>
            <pc:sldMk cId="3751150740" sldId="425"/>
            <ac:picMk id="3" creationId="{BE7576B0-A6E6-121C-CAA5-7483ABFB3F3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6BECCB-7C71-7345-A5A2-F60CB0E20467}" type="datetimeFigureOut">
              <a:rPr lang="en-GB"/>
              <a:pPr>
                <a:defRPr/>
              </a:pPr>
              <a:t>17/11/2024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ADAF51-FF12-CA43-900E-043F7389A44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54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DA0FA5-5D29-7B45-8F3A-96EA1D15B80A}" type="datetimeFigureOut">
              <a:rPr lang="en-GB"/>
              <a:pPr>
                <a:defRPr/>
              </a:pPr>
              <a:t>17/11/2024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687475-B03E-7245-9DAE-B0A12B4FC5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564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08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ACD6-29D2-2848-BEDC-606464A5B308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220EC-324F-0142-ADB7-E82420EFE0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08693-8D1A-A44C-AE67-942CA08B9687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ADBA-EE88-1840-8B71-40682D16500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28162"/>
            <a:ext cx="8485605" cy="780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8485605" cy="53285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ECACE-57B6-4046-9252-D954F3001C09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BB69-B244-A945-B2FE-1757326D27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79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11F15-D298-9040-B765-C154DF8EF6B8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D3873-FA79-C04C-A812-5E517E0A36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61B09-456C-8F49-B98C-600891BD3AA1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CB21A-4DBE-8640-A1B9-E10FD6211AB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9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115C0-7569-1944-9CC4-CD69F8B1B381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9A484-57CE-FE4F-B6B9-41CA4D3D141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AC31E-B512-CA45-9F01-FED17CFC0DEF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BAAD-3567-5449-BA34-98DF5D76DA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8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54681-AB38-6444-98D5-BBD5BA84816D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8D661-7855-F14B-8AA6-252FA0A881E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0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E611A-1751-7C46-931A-ECAE714F5E92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D912-52B9-434D-9B28-D10416F358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38C7B-9D24-A64A-B21C-8A266EADA6F8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D0DC-C5F3-194F-9E56-4AE1F77D04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645024"/>
            <a:ext cx="2407" cy="2664296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908720"/>
            <a:ext cx="5054084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632074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DD8D-5686-D04B-9A44-99E54E4E89FB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623B7-B941-3444-8A02-04DF95FFF5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4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222AF-7D3D-C74A-84D1-040B0E9C47C9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47520-5547-EB48-9E3D-CF85C605AB6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501008"/>
            <a:ext cx="2407" cy="2808312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>
            <a:lvl1pPr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48805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5434-6B3F-194B-9261-F2C835AEE536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152CE-70D9-BC47-8F81-41904687DE4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44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1AA5D-4117-DC42-8767-9087B666EFBF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EF3D2-1C91-1E4C-9342-2EE3F832DB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2"/>
          </p:cNvCxnSpPr>
          <p:nvPr userDrawn="1"/>
        </p:nvCxnSpPr>
        <p:spPr>
          <a:xfrm>
            <a:off x="7761288" y="3501008"/>
            <a:ext cx="0" cy="2841055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1484883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0775-884F-014D-97CD-CFAC1EB97F57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0EC1-6015-9E4C-92A4-40AB233061D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F82E0-DCC6-3B4D-916D-E7EAED9E6A79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37F0-DF90-F846-ABA0-1302F2399DB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8720"/>
            <a:ext cx="4062928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908720"/>
            <a:ext cx="4048894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00D4E-A622-FB43-952A-26ECAC58E771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E6BE-8E52-F942-8389-771123B341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77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C629B-A50C-0445-8E68-BBB0859FBECE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DD14F-4A84-994F-A228-E50DC0AAE8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63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6500"/>
            <a:ext cx="4062928" cy="521966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908720"/>
            <a:ext cx="4049713" cy="52158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DE37-ACB5-264B-A188-F2EB6964BDAC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35E10-CC8D-DC4B-A7C1-FEE34BC3F3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4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7C654-22A4-454E-BBEB-982D2A07AAE4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2E79-2DCC-0D4E-B1D4-E609E386D3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4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908720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556792"/>
            <a:ext cx="4068137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908720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556792"/>
            <a:ext cx="4071620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C771-7AA4-7249-BE21-F659D49D5547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0ACD-C46A-6247-B9ED-0226EB75D5E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4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E51F6-1146-2643-8637-F0364099E70E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C2E58-1523-3A4B-9193-0DF71EE8C9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2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0D911-13CE-8A4E-9B37-78B9A3F143CE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1744-0495-9844-9FE7-EF4F3CF89F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B0A47-A6D7-F048-BBE1-76A29F845552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29CAE-05A9-A044-A232-BEF85D6E0CA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85F4-DE21-D544-A997-1A21370EF487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5FA83-759A-E348-80E3-349341B978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8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B53B-45ED-0145-B634-24D485CAACE7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58-78BF-D04C-BDFD-E5D3C88FFD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6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75FD-D4AF-6445-ACEA-8336DA6D0CF5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F40C-CBC7-5D4A-A593-3BD62A4473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0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36A3-D940-2C4B-AFE7-807CF8BA8BEE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6EF15-4B8E-7547-B7CE-9D6FB34334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4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F755A-FDCA-3844-BE8E-8CAB7C08EFED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AD4AB-3AC8-B247-9C7B-63DF4AE6D3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94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49EC-F0C7-1F46-A221-26A63CC849FC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F552B-A5B4-6548-94A2-F6D4B62790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0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41957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908720"/>
            <a:ext cx="8485188" cy="5328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ACA5E-C129-E442-B6E9-3376EC454D86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993A-0960-8E40-BC9F-05F4340AAE6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4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EB9A7-46BC-384A-982D-247DA68BE2B0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E092F-0198-C34E-A916-A08E497944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98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08B1-7053-494B-9C2C-D1FDCF6FB947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71B31-AFE1-394E-9AC0-851A462B721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33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83713-ED5A-B046-A406-EF29CD277822}" type="datetime3">
              <a:rPr lang="en-GB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A79B0-DC01-8341-A6E5-FE1D9E2297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933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773238"/>
            <a:ext cx="84851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64768" y="6340475"/>
            <a:ext cx="6652294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04874" y="6340475"/>
            <a:ext cx="195989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4874" y="6337300"/>
            <a:ext cx="1959893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F1F1A1D-5A50-6948-991C-837CA57582C3}" type="datetime3">
              <a:rPr lang="en-GB" smtClean="0"/>
              <a:pPr>
                <a:defRPr/>
              </a:pPr>
              <a:t>17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C5149AA-8A9E-5444-AB41-F9FF35F082E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  <p:sldLayoutId id="2147484221" r:id="rId33"/>
    <p:sldLayoutId id="2147484222" r:id="rId3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manual/sharding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276312" y="1917112"/>
            <a:ext cx="3143788" cy="2520000"/>
          </a:xfrm>
          <a:prstGeom prst="rect">
            <a:avLst/>
          </a:prstGeom>
          <a:noFill/>
          <a:ln w="12700">
            <a:solidFill>
              <a:srgbClr val="87A529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2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Large Scale Data Driven Applications</a:t>
            </a:r>
          </a:p>
        </p:txBody>
      </p:sp>
      <p:pic>
        <p:nvPicPr>
          <p:cNvPr id="8" name="Picture Placeholder 7" descr="A picture containing sitting, large, ride, white&#10;&#10;Description automatically generated">
            <a:extLst>
              <a:ext uri="{FF2B5EF4-FFF2-40B4-BE49-F238E27FC236}">
                <a16:creationId xmlns:a16="http://schemas.microsoft.com/office/drawing/2014/main" id="{87EED139-1016-44E1-8501-F6FBB1F754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r="16676"/>
          <a:stretch>
            <a:fillRect/>
          </a:stretch>
        </p:blipFill>
        <p:spPr>
          <a:xfrm>
            <a:off x="2108200" y="1917700"/>
            <a:ext cx="2519363" cy="2519363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2A7F24C1-BF6E-43D8-A57F-60FFBF172E5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85900" y="4869160"/>
            <a:ext cx="6934200" cy="62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32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Replication and Sharding in MongoDB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DF220EC-324F-0142-ADB7-E82420EFE078}" type="slidenum">
              <a:rPr lang="en-GB" smtClean="0"/>
              <a:pPr>
                <a:spcAft>
                  <a:spcPts val="600"/>
                </a:spcAft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56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44624"/>
            <a:ext cx="5602259" cy="780762"/>
          </a:xfrm>
        </p:spPr>
        <p:txBody>
          <a:bodyPr/>
          <a:lstStyle/>
          <a:p>
            <a:r>
              <a:rPr lang="en-GB" sz="3200" dirty="0"/>
              <a:t>Outlines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12" y="1052736"/>
            <a:ext cx="8784976" cy="2628292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By the end of this lecture, students should be able to:</a:t>
            </a:r>
          </a:p>
          <a:p>
            <a:pPr marL="0" indent="0">
              <a:buNone/>
              <a:defRPr/>
            </a:pPr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Understand the purpose of replication and </a:t>
            </a:r>
            <a:r>
              <a:rPr lang="en-GB" sz="22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in MongoDB.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Describe the concepts and components of replication and </a:t>
            </a:r>
            <a:r>
              <a:rPr lang="en-GB" sz="22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Differentiate between replication and </a:t>
            </a:r>
            <a:r>
              <a:rPr lang="en-GB" sz="22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and explain when to use each.</a:t>
            </a:r>
          </a:p>
          <a:p>
            <a:pPr marL="0" indent="0">
              <a:buNone/>
              <a:defRPr/>
            </a:pP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0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116632"/>
            <a:ext cx="9128125" cy="767465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Overview of MongoDB as a Distributed Database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306" y="980728"/>
            <a:ext cx="4719191" cy="3888432"/>
          </a:xfrm>
        </p:spPr>
        <p:txBody>
          <a:bodyPr wrap="square" rtlCol="0" anchor="t">
            <a:normAutofit lnSpcReduction="1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MongoDB is a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document-oriented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, NoSQL database built to handle large-scale applications with unstructured or semi-structured data.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Why Distributed Databases?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Traditional databases often struggle with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scalability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in high-traffic or large-data scenarios.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Distributed databases allow data to be stored across multiple machines, improving scalability and redundancy.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2DBCB-D975-BA29-6AFC-F2E8F76D4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90" y="1584986"/>
            <a:ext cx="4666388" cy="3068150"/>
          </a:xfrm>
          <a:prstGeom prst="rect">
            <a:avLst/>
          </a:prstGeom>
          <a:noFill/>
        </p:spPr>
      </p:pic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03502C58-DBEC-301A-A46A-F5525C72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17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6E07D-8480-4EDF-01C8-6773684A8F2C}"/>
              </a:ext>
            </a:extLst>
          </p:cNvPr>
          <p:cNvSpPr txBox="1"/>
          <p:nvPr/>
        </p:nvSpPr>
        <p:spPr>
          <a:xfrm>
            <a:off x="5601072" y="4653136"/>
            <a:ext cx="3644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Centralised VS distributed databases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81A0B-6130-6C91-C397-727855DBBEBB}"/>
              </a:ext>
            </a:extLst>
          </p:cNvPr>
          <p:cNvSpPr txBox="1"/>
          <p:nvPr/>
        </p:nvSpPr>
        <p:spPr>
          <a:xfrm>
            <a:off x="2432720" y="5948710"/>
            <a:ext cx="7473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Image source: https://medium.com/towards-data-engineering/data-intensive-system-building-blocks-distributed-databases-4af9e3de98c5</a:t>
            </a:r>
          </a:p>
        </p:txBody>
      </p:sp>
    </p:spTree>
    <p:extLst>
      <p:ext uri="{BB962C8B-B14F-4D97-AF65-F5344CB8AC3E}">
        <p14:creationId xmlns:p14="http://schemas.microsoft.com/office/powerpoint/2010/main" val="109387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60" y="33711"/>
            <a:ext cx="9361040" cy="780762"/>
          </a:xfrm>
        </p:spPr>
        <p:txBody>
          <a:bodyPr/>
          <a:lstStyle/>
          <a:p>
            <a:r>
              <a:rPr lang="en-GB" sz="2800" dirty="0"/>
              <a:t>Challenges Addressed by Replication and Sharding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30" y="980728"/>
            <a:ext cx="8913441" cy="2243574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Parallelism: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Critical applications require 24/7 availability; any downtime can lead to significant losses.</a:t>
            </a:r>
          </a:p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Scalability and Flexibility: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Large applications often exceed single-machine capacity, needing horizontal scaling to manage large datasets and high loads.</a:t>
            </a:r>
          </a:p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Fault Tolerance: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Protects against data loss and provides fault tolerance.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493B1-E4D9-89D0-9122-51F5B0EB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3294856"/>
            <a:ext cx="2582416" cy="2582416"/>
          </a:xfrm>
          <a:prstGeom prst="rect">
            <a:avLst/>
          </a:prstGeom>
        </p:spPr>
      </p:pic>
      <p:pic>
        <p:nvPicPr>
          <p:cNvPr id="1027" name="Picture 3" descr="Premium Vector | Flexibility scalability line icon Outline vector">
            <a:extLst>
              <a:ext uri="{FF2B5EF4-FFF2-40B4-BE49-F238E27FC236}">
                <a16:creationId xmlns:a16="http://schemas.microsoft.com/office/drawing/2014/main" id="{F6A1FD04-D7BC-61CB-705F-E99BE1F0C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418" y="3027352"/>
            <a:ext cx="3023781" cy="302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Redundancy Icon Images – Browse 1,892 Stock Photos, Vectors, and Video |  Adobe Stock">
            <a:extLst>
              <a:ext uri="{FF2B5EF4-FFF2-40B4-BE49-F238E27FC236}">
                <a16:creationId xmlns:a16="http://schemas.microsoft.com/office/drawing/2014/main" id="{D2EE83C0-7F7E-D860-F89D-6FF5BA0F2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026" y="3274497"/>
            <a:ext cx="2451559" cy="245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54FE08-8C92-CFCF-2EE4-0DC11BD46312}"/>
              </a:ext>
            </a:extLst>
          </p:cNvPr>
          <p:cNvSpPr txBox="1"/>
          <p:nvPr/>
        </p:nvSpPr>
        <p:spPr>
          <a:xfrm>
            <a:off x="1168768" y="5794107"/>
            <a:ext cx="1565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6A04D-E531-3E93-390D-187E47457257}"/>
              </a:ext>
            </a:extLst>
          </p:cNvPr>
          <p:cNvSpPr txBox="1"/>
          <p:nvPr/>
        </p:nvSpPr>
        <p:spPr>
          <a:xfrm>
            <a:off x="3729419" y="5794107"/>
            <a:ext cx="3752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Scalability and Flexibility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A0D70-90F7-5029-2E9C-F9278C7F3DF7}"/>
              </a:ext>
            </a:extLst>
          </p:cNvPr>
          <p:cNvSpPr txBox="1"/>
          <p:nvPr/>
        </p:nvSpPr>
        <p:spPr>
          <a:xfrm>
            <a:off x="7513507" y="5776252"/>
            <a:ext cx="182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Redundancy</a:t>
            </a:r>
          </a:p>
        </p:txBody>
      </p:sp>
    </p:spTree>
    <p:extLst>
      <p:ext uri="{BB962C8B-B14F-4D97-AF65-F5344CB8AC3E}">
        <p14:creationId xmlns:p14="http://schemas.microsoft.com/office/powerpoint/2010/main" val="284170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40" y="55817"/>
            <a:ext cx="9730560" cy="780762"/>
          </a:xfrm>
        </p:spPr>
        <p:txBody>
          <a:bodyPr/>
          <a:lstStyle/>
          <a:p>
            <a:r>
              <a:rPr lang="en-GB" sz="3000" dirty="0"/>
              <a:t>What are Replication and Sharding in MongoDB?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8133F-B1B9-780E-4BEC-4D0626A2AF33}"/>
              </a:ext>
            </a:extLst>
          </p:cNvPr>
          <p:cNvSpPr txBox="1"/>
          <p:nvPr/>
        </p:nvSpPr>
        <p:spPr>
          <a:xfrm>
            <a:off x="377825" y="692696"/>
            <a:ext cx="8823647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GB" altLang="en-US" sz="20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en-GB" alt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Replication: </a:t>
            </a:r>
            <a:r>
              <a:rPr lang="en-GB" alt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Copies data across multiple nodes to ensure data redundancy, fault tolerance, and high availability.</a:t>
            </a:r>
          </a:p>
          <a:p>
            <a:pPr lvl="0" eaLnBrk="0" hangingPunct="0"/>
            <a:endParaRPr lang="en-GB" alt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 eaLnBrk="0" hangingPunct="0">
              <a:buFont typeface="Helvetica" panose="020B0604020202020204" pitchFamily="34" charset="0"/>
              <a:buChar char="‒"/>
            </a:pP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Make data available even if one or more servers fail.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en-US" sz="22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en-GB" alt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Sharding: </a:t>
            </a:r>
            <a:r>
              <a:rPr lang="en-GB" alt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Divides large datasets across multiple machines to enable horizontal scaling.</a:t>
            </a:r>
          </a:p>
          <a:p>
            <a:pPr marL="800100" lvl="1" indent="-342900" eaLnBrk="0" hangingPunct="0">
              <a:buFont typeface="Helvetica" panose="020B0604020202020204" pitchFamily="34" charset="0"/>
              <a:buChar char="‒"/>
            </a:pPr>
            <a:endParaRPr lang="en-GB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 eaLnBrk="0" hangingPunct="0">
              <a:buFont typeface="Helvetica" panose="020B0604020202020204" pitchFamily="34" charset="0"/>
              <a:buChar char="‒"/>
            </a:pP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Handle large data volumes and distribute the load, improving read and write performance.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rgbClr val="404040"/>
              </a:solidFill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proxima-nov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50" dirty="0">
              <a:solidFill>
                <a:srgbClr val="404040"/>
              </a:solidFill>
              <a:latin typeface="proxima-nova"/>
            </a:endParaRPr>
          </a:p>
        </p:txBody>
      </p:sp>
    </p:spTree>
    <p:extLst>
      <p:ext uri="{BB962C8B-B14F-4D97-AF65-F5344CB8AC3E}">
        <p14:creationId xmlns:p14="http://schemas.microsoft.com/office/powerpoint/2010/main" val="61636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What We’ll Cover Today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53561-433C-6ED5-A65F-D25F9210D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20" y="1196752"/>
            <a:ext cx="8862359" cy="2766566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Replication in MongoDB: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Concepts, components, benefits, and use cases.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 Sharding in MongoDB: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Concepts, components, benefits, and use cases.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Comparison and Best Practices: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When to use each, how to implement, and best practices for combining replication and </a:t>
            </a:r>
            <a:r>
              <a:rPr lang="en-GB" sz="22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86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What is Replication?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37C1D-663C-26E5-D76D-CFFD867EBE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84" t="26684" r="16034" b="2653"/>
          <a:stretch/>
        </p:blipFill>
        <p:spPr>
          <a:xfrm>
            <a:off x="5180249" y="2029781"/>
            <a:ext cx="4707766" cy="29523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4E0D25-B09F-A254-3CF8-2548CFB73BC4}"/>
              </a:ext>
            </a:extLst>
          </p:cNvPr>
          <p:cNvSpPr txBox="1"/>
          <p:nvPr/>
        </p:nvSpPr>
        <p:spPr>
          <a:xfrm>
            <a:off x="271039" y="896763"/>
            <a:ext cx="518601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Replication is a group of 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mongod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 processes that keep the same  data across multiple servers.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Replication provides redundancy and increases data availability with multiple copies of data on different database servers.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Replication protects a database from the loss of a single server. Replication also allows you to recover from hardware failure and service interruptions.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With extra copies of the data, you can give one to disaster recovery, reporting, or backup.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A4A8C-1316-D874-CAB4-A4DA95BA533E}"/>
              </a:ext>
            </a:extLst>
          </p:cNvPr>
          <p:cNvSpPr txBox="1"/>
          <p:nvPr/>
        </p:nvSpPr>
        <p:spPr>
          <a:xfrm>
            <a:off x="5889104" y="4982109"/>
            <a:ext cx="4016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Source: https://www.ithack.it/knowledge-base/replication-in-mongodb/</a:t>
            </a:r>
          </a:p>
        </p:txBody>
      </p:sp>
    </p:spTree>
    <p:extLst>
      <p:ext uri="{BB962C8B-B14F-4D97-AF65-F5344CB8AC3E}">
        <p14:creationId xmlns:p14="http://schemas.microsoft.com/office/powerpoint/2010/main" val="87697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How Replication Works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3E5C7-0527-7A64-54F0-96D203693F49}"/>
              </a:ext>
            </a:extLst>
          </p:cNvPr>
          <p:cNvSpPr txBox="1"/>
          <p:nvPr/>
        </p:nvSpPr>
        <p:spPr>
          <a:xfrm>
            <a:off x="395287" y="977781"/>
            <a:ext cx="87605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MongoDB achieves replication by the use of </a:t>
            </a:r>
            <a:r>
              <a:rPr lang="en-GB" sz="22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replica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2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set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 replica set is a group of MongoDB servers that maintain the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same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data set. In a replica set, one node is primary node that receives all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write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operations.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 group of two or more nodes (generally minimum 3 nodes are required).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All other instances, such as secondaries, apply operations from the primary so that they have the same data set.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Replica set can have only one primary node.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7703C-7CC7-13AA-A5A0-2088DF30BAE9}"/>
              </a:ext>
            </a:extLst>
          </p:cNvPr>
          <p:cNvSpPr txBox="1"/>
          <p:nvPr/>
        </p:nvSpPr>
        <p:spPr>
          <a:xfrm>
            <a:off x="514408" y="5102438"/>
            <a:ext cx="8302128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Each replica set node must belong to one, and only one, replica set. Replica set nodes cannot belong to more than one replica set.</a:t>
            </a:r>
          </a:p>
        </p:txBody>
      </p:sp>
    </p:spTree>
    <p:extLst>
      <p:ext uri="{BB962C8B-B14F-4D97-AF65-F5344CB8AC3E}">
        <p14:creationId xmlns:p14="http://schemas.microsoft.com/office/powerpoint/2010/main" val="308513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How Replication Works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8F6D7-C31A-D0A7-D33B-14AEE36948E2}"/>
              </a:ext>
            </a:extLst>
          </p:cNvPr>
          <p:cNvSpPr txBox="1"/>
          <p:nvPr/>
        </p:nvSpPr>
        <p:spPr>
          <a:xfrm>
            <a:off x="377825" y="980728"/>
            <a:ext cx="54683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Primary Node: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Handles all write operations and synchronises data with secondary nodes.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Secondary Nodes: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Replicate data from the primary and can be promoted to primary if the original primary fails.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If the primary fails, an election is hold to select a new primary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If cost constraints prevent adding a secondary, consider adding a mongod instance as an arbiter to the replica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Arbiter Node: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Participates in elections but does not store data, ensuring an odd number of voting members to avoid split-brain scenarios.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4C85F7-97FB-4A91-FF23-E52D3AF72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45" y="1052736"/>
            <a:ext cx="3524250" cy="133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F2A974-C114-2119-43AA-3D123E9B1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527" y="3429000"/>
            <a:ext cx="399644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0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How Replication Works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pic>
        <p:nvPicPr>
          <p:cNvPr id="4" name="Picture 2" descr="MongoDB Replication">
            <a:extLst>
              <a:ext uri="{FF2B5EF4-FFF2-40B4-BE49-F238E27FC236}">
                <a16:creationId xmlns:a16="http://schemas.microsoft.com/office/drawing/2014/main" id="{057ACA64-820D-EFD0-371C-54BE0ABA1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315" y="1484784"/>
            <a:ext cx="3458398" cy="249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8F6D7-C31A-D0A7-D33B-14AEE36948E2}"/>
              </a:ext>
            </a:extLst>
          </p:cNvPr>
          <p:cNvSpPr txBox="1"/>
          <p:nvPr/>
        </p:nvSpPr>
        <p:spPr>
          <a:xfrm>
            <a:off x="275434" y="1265984"/>
            <a:ext cx="590465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primary node receives all write operations and records changes in the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oplog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(operation log).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Secondary nodes continuously copy changes from the primary's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oplog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apply them to their own data 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Secondary nodes may lag slightly behind the primary but are eventually consistent.</a:t>
            </a:r>
          </a:p>
        </p:txBody>
      </p:sp>
    </p:spTree>
    <p:extLst>
      <p:ext uri="{BB962C8B-B14F-4D97-AF65-F5344CB8AC3E}">
        <p14:creationId xmlns:p14="http://schemas.microsoft.com/office/powerpoint/2010/main" val="2969403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Automatic Failover and Elections in Replica Sets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8F6D7-C31A-D0A7-D33B-14AEE36948E2}"/>
              </a:ext>
            </a:extLst>
          </p:cNvPr>
          <p:cNvSpPr txBox="1"/>
          <p:nvPr/>
        </p:nvSpPr>
        <p:spPr>
          <a:xfrm>
            <a:off x="156446" y="1124744"/>
            <a:ext cx="59046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MongoDB performs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automatic failover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if the primary node goes down, promoting one of the secondary nodes to primary.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Secondary nodes vote to elect a new primary, with the arbiter (if present) assisting in achieving a majority.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After the recovery of the failed node, it again join the replica set and works as a secondary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Failover ensures minimal downtime and maintains high availability.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B23C1-8228-51AD-B342-F2328A41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102" y="1457032"/>
            <a:ext cx="3713553" cy="281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Read and Write Concerns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8F6D7-C31A-D0A7-D33B-14AEE36948E2}"/>
              </a:ext>
            </a:extLst>
          </p:cNvPr>
          <p:cNvSpPr txBox="1"/>
          <p:nvPr/>
        </p:nvSpPr>
        <p:spPr>
          <a:xfrm>
            <a:off x="243147" y="980728"/>
            <a:ext cx="87569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Write Concern: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Determines how many nodes must acknowledge a write operation before considering it successful (e.g., majority, all).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Read Concern: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Specifies the level of consistency required for read operations (e.g., primary,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primaryPreferred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or secondary).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Primary: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Reads from the primary node only (strong consistency).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PrimaryPreferred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Reads from primary but can switch to secondaries if the primary is unavailable.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Secondary: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Reads from secondary nodes (for load balancing).</a:t>
            </a:r>
          </a:p>
        </p:txBody>
      </p:sp>
    </p:spTree>
    <p:extLst>
      <p:ext uri="{BB962C8B-B14F-4D97-AF65-F5344CB8AC3E}">
        <p14:creationId xmlns:p14="http://schemas.microsoft.com/office/powerpoint/2010/main" val="3495980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Set Up a Replica Set (Command-Line Approach)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3D1B2-76A5-BA4B-43E9-4D2CD0FC132D}"/>
              </a:ext>
            </a:extLst>
          </p:cNvPr>
          <p:cNvSpPr txBox="1"/>
          <p:nvPr/>
        </p:nvSpPr>
        <p:spPr>
          <a:xfrm>
            <a:off x="1150137" y="2738620"/>
            <a:ext cx="7848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rebuchet MS" panose="020B0603020202020204" pitchFamily="34" charset="0"/>
              </a:rPr>
              <a:t>mongod --port "PORT" --</a:t>
            </a:r>
            <a:r>
              <a:rPr lang="en-GB" b="1" dirty="0" err="1">
                <a:latin typeface="Trebuchet MS" panose="020B0603020202020204" pitchFamily="34" charset="0"/>
              </a:rPr>
              <a:t>dbpath</a:t>
            </a:r>
            <a:r>
              <a:rPr lang="en-GB" b="1" dirty="0">
                <a:latin typeface="Trebuchet MS" panose="020B0603020202020204" pitchFamily="34" charset="0"/>
              </a:rPr>
              <a:t> "YOUR_DB_DATA_PATH" --</a:t>
            </a:r>
            <a:r>
              <a:rPr lang="en-GB" b="1" dirty="0" err="1">
                <a:latin typeface="Trebuchet MS" panose="020B0603020202020204" pitchFamily="34" charset="0"/>
              </a:rPr>
              <a:t>replSet</a:t>
            </a:r>
            <a:r>
              <a:rPr lang="en-GB" b="1" dirty="0">
                <a:latin typeface="Trebuchet MS" panose="020B0603020202020204" pitchFamily="34" charset="0"/>
              </a:rPr>
              <a:t> "REPLICA_SET_INSTANCE_NAME"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421548" y="970530"/>
            <a:ext cx="900863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To convert to replica set, following are the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Shutdown already running MongoDB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Start the MongoDB server by specifying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-- </a:t>
            </a: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replSet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option. Following is the basic syntax for starting a MongoDB server instance and configure it to be part of a replica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2059F-7A33-7596-53AA-694489B6D9FB}"/>
              </a:ext>
            </a:extLst>
          </p:cNvPr>
          <p:cNvSpPr txBox="1"/>
          <p:nvPr/>
        </p:nvSpPr>
        <p:spPr>
          <a:xfrm>
            <a:off x="421548" y="3592360"/>
            <a:ext cx="8923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--port “PORT”: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Specifies the port number on which the MongoDB server instance will listen for connections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--</a:t>
            </a:r>
            <a:r>
              <a:rPr lang="en-GB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dbpath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 “YOUR_DB_DATA_PATH”: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Specifies the file path to the directory where the MongoDB instance stores its data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--</a:t>
            </a:r>
            <a:r>
              <a:rPr lang="en-GB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replSet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 “REPLICA_SET_INSTANCE_NAME”: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Specifies the name of the replica set to which this MongoDB instance belongs.</a:t>
            </a:r>
          </a:p>
        </p:txBody>
      </p:sp>
    </p:spTree>
    <p:extLst>
      <p:ext uri="{BB962C8B-B14F-4D97-AF65-F5344CB8AC3E}">
        <p14:creationId xmlns:p14="http://schemas.microsoft.com/office/powerpoint/2010/main" val="368825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Set Up a Replica Set (Command-Line Approach)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421548" y="970530"/>
            <a:ext cx="90086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Example: To start a MongoDB instance on port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27017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storing data in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/data/db1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and part of a replica set named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rs0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E1FB7-1CBE-D9AE-9B22-B6ACB894A14D}"/>
              </a:ext>
            </a:extLst>
          </p:cNvPr>
          <p:cNvSpPr txBox="1"/>
          <p:nvPr/>
        </p:nvSpPr>
        <p:spPr>
          <a:xfrm>
            <a:off x="1568624" y="1786451"/>
            <a:ext cx="6768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rebuchet MS" panose="020B0603020202020204" pitchFamily="34" charset="0"/>
              </a:rPr>
              <a:t>mongod --port 27017 --</a:t>
            </a:r>
            <a:r>
              <a:rPr lang="en-GB" sz="2000" b="1" dirty="0" err="1">
                <a:latin typeface="Trebuchet MS" panose="020B0603020202020204" pitchFamily="34" charset="0"/>
              </a:rPr>
              <a:t>dbpath</a:t>
            </a:r>
            <a:r>
              <a:rPr lang="en-GB" sz="2000" b="1" dirty="0">
                <a:latin typeface="Trebuchet MS" panose="020B0603020202020204" pitchFamily="34" charset="0"/>
              </a:rPr>
              <a:t> /data/db1 --</a:t>
            </a:r>
            <a:r>
              <a:rPr lang="en-GB" sz="2000" b="1" dirty="0" err="1">
                <a:latin typeface="Trebuchet MS" panose="020B0603020202020204" pitchFamily="34" charset="0"/>
              </a:rPr>
              <a:t>replSet</a:t>
            </a:r>
            <a:r>
              <a:rPr lang="en-GB" sz="2000" b="1" dirty="0">
                <a:latin typeface="Trebuchet MS" panose="020B0603020202020204" pitchFamily="34" charset="0"/>
              </a:rPr>
              <a:t> rs0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7B248-739D-0106-DBFC-88996A3E3CD3}"/>
              </a:ext>
            </a:extLst>
          </p:cNvPr>
          <p:cNvSpPr txBox="1"/>
          <p:nvPr/>
        </p:nvSpPr>
        <p:spPr>
          <a:xfrm>
            <a:off x="389904" y="2335462"/>
            <a:ext cx="7587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Use the mongo shell to connect to this instance as follows.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59C02-4F56-E929-F71D-40894D470551}"/>
              </a:ext>
            </a:extLst>
          </p:cNvPr>
          <p:cNvSpPr txBox="1"/>
          <p:nvPr/>
        </p:nvSpPr>
        <p:spPr>
          <a:xfrm>
            <a:off x="1524240" y="2740872"/>
            <a:ext cx="4953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rebuchet MS" panose="020B0603020202020204" pitchFamily="34" charset="0"/>
              </a:rPr>
              <a:t>mongo --port 27017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17B60-A3CF-481E-D7CC-CA1B4C3E03AB}"/>
              </a:ext>
            </a:extLst>
          </p:cNvPr>
          <p:cNvSpPr txBox="1"/>
          <p:nvPr/>
        </p:nvSpPr>
        <p:spPr>
          <a:xfrm>
            <a:off x="428372" y="3371450"/>
            <a:ext cx="853663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 Mongo client, issue the command </a:t>
            </a:r>
            <a:r>
              <a:rPr lang="en-GB" sz="2000" b="1" dirty="0" err="1">
                <a:latin typeface="Trebuchet MS" panose="020B0603020202020204" pitchFamily="34" charset="0"/>
                <a:cs typeface="Helvetica" panose="020B0604020202020204" pitchFamily="34" charset="0"/>
              </a:rPr>
              <a:t>rs.initiate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() 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to initiate a new replica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To check the replica set configuration, issue the command </a:t>
            </a:r>
            <a:r>
              <a:rPr lang="en-GB" sz="2000" b="1" dirty="0" err="1">
                <a:latin typeface="Trebuchet MS" panose="020B0603020202020204" pitchFamily="34" charset="0"/>
                <a:cs typeface="Helvetica" panose="020B0604020202020204" pitchFamily="34" charset="0"/>
              </a:rPr>
              <a:t>rs.conf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To check the status of replica set issue the command </a:t>
            </a:r>
            <a:r>
              <a:rPr lang="en-GB" sz="2000" b="1" dirty="0" err="1">
                <a:latin typeface="Trebuchet MS" panose="020B0603020202020204" pitchFamily="34" charset="0"/>
                <a:cs typeface="Helvetica" panose="020B0604020202020204" pitchFamily="34" charset="0"/>
              </a:rPr>
              <a:t>rs.status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()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18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Set Up a Replica Set (Configuration Files)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448684" y="1223608"/>
            <a:ext cx="900863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Ensure MongoDB is installed on all machines intended to be part of the replica 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Create a separate configuration file for each instance, specifying the port and database paths for each MongoDB instance. Example (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mongod1.conf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for Instance 1):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E1FB7-1CBE-D9AE-9B22-B6ACB894A14D}"/>
              </a:ext>
            </a:extLst>
          </p:cNvPr>
          <p:cNvSpPr txBox="1"/>
          <p:nvPr/>
        </p:nvSpPr>
        <p:spPr>
          <a:xfrm>
            <a:off x="2731511" y="2821140"/>
            <a:ext cx="5317833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Trebuchet MS" panose="020B0603020202020204" pitchFamily="34" charset="0"/>
              </a:rPr>
              <a:t>replication: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</a:t>
            </a:r>
            <a:r>
              <a:rPr lang="en-GB" b="1" dirty="0" err="1">
                <a:latin typeface="Trebuchet MS" panose="020B0603020202020204" pitchFamily="34" charset="0"/>
              </a:rPr>
              <a:t>replSetName</a:t>
            </a:r>
            <a:r>
              <a:rPr lang="en-GB" b="1" dirty="0">
                <a:latin typeface="Trebuchet MS" panose="020B0603020202020204" pitchFamily="34" charset="0"/>
              </a:rPr>
              <a:t>: "rs0"  # Name of the replica set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net: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port: 27017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storage: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</a:t>
            </a:r>
            <a:r>
              <a:rPr lang="en-GB" b="1" dirty="0" err="1">
                <a:latin typeface="Trebuchet MS" panose="020B0603020202020204" pitchFamily="34" charset="0"/>
              </a:rPr>
              <a:t>dbPath</a:t>
            </a:r>
            <a:r>
              <a:rPr lang="en-GB" b="1" dirty="0">
                <a:latin typeface="Trebuchet MS" panose="020B0603020202020204" pitchFamily="34" charset="0"/>
              </a:rPr>
              <a:t>: "/data/db1"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CF8E9-41C0-3685-FC35-6E17719CAC47}"/>
              </a:ext>
            </a:extLst>
          </p:cNvPr>
          <p:cNvSpPr txBox="1"/>
          <p:nvPr/>
        </p:nvSpPr>
        <p:spPr>
          <a:xfrm>
            <a:off x="284816" y="814223"/>
            <a:ext cx="4953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Add Members to Replica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EA886-86EA-A110-2E7B-14A4B104A8E1}"/>
              </a:ext>
            </a:extLst>
          </p:cNvPr>
          <p:cNvSpPr txBox="1"/>
          <p:nvPr/>
        </p:nvSpPr>
        <p:spPr>
          <a:xfrm>
            <a:off x="504023" y="4616658"/>
            <a:ext cx="8897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Start each MongoDB instance with its corresponding configuration file. Use the --config option to specify the configuration file.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39592-E634-AF96-CC6A-A13BEA82565A}"/>
              </a:ext>
            </a:extLst>
          </p:cNvPr>
          <p:cNvSpPr txBox="1"/>
          <p:nvPr/>
        </p:nvSpPr>
        <p:spPr>
          <a:xfrm>
            <a:off x="2761686" y="5348661"/>
            <a:ext cx="463958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Trebuchet MS" panose="020B0603020202020204" pitchFamily="34" charset="0"/>
              </a:rPr>
              <a:t>mongod --config /path/to/mongod1.conf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mongod --config /path/to/mongod2.conf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mongod --config /path/to/mongod3.conf</a:t>
            </a:r>
          </a:p>
        </p:txBody>
      </p:sp>
    </p:spTree>
    <p:extLst>
      <p:ext uri="{BB962C8B-B14F-4D97-AF65-F5344CB8AC3E}">
        <p14:creationId xmlns:p14="http://schemas.microsoft.com/office/powerpoint/2010/main" val="1305565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Set Up a Replica Set (Configuration Files)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448684" y="1223608"/>
            <a:ext cx="90086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Connect to one of the running MongoDB instances using the mongo shell. For 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E1FB7-1CBE-D9AE-9B22-B6ACB894A14D}"/>
              </a:ext>
            </a:extLst>
          </p:cNvPr>
          <p:cNvSpPr txBox="1"/>
          <p:nvPr/>
        </p:nvSpPr>
        <p:spPr>
          <a:xfrm>
            <a:off x="2648745" y="1957573"/>
            <a:ext cx="244827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Trebuchet MS" panose="020B0603020202020204" pitchFamily="34" charset="0"/>
              </a:rPr>
              <a:t>mongo --port 27017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CF8E9-41C0-3685-FC35-6E17719CAC47}"/>
              </a:ext>
            </a:extLst>
          </p:cNvPr>
          <p:cNvSpPr txBox="1"/>
          <p:nvPr/>
        </p:nvSpPr>
        <p:spPr>
          <a:xfrm>
            <a:off x="284816" y="814223"/>
            <a:ext cx="4953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Add Members to Replica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EA886-86EA-A110-2E7B-14A4B104A8E1}"/>
              </a:ext>
            </a:extLst>
          </p:cNvPr>
          <p:cNvSpPr txBox="1"/>
          <p:nvPr/>
        </p:nvSpPr>
        <p:spPr>
          <a:xfrm>
            <a:off x="504023" y="2560762"/>
            <a:ext cx="8897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Run the </a:t>
            </a:r>
            <a:r>
              <a:rPr lang="en-GB" sz="2000" b="1" dirty="0" err="1">
                <a:latin typeface="Trebuchet MS" panose="020B0603020202020204" pitchFamily="34" charset="0"/>
                <a:cs typeface="Helvetica" panose="020B0604020202020204" pitchFamily="34" charset="0"/>
              </a:rPr>
              <a:t>rs.initiate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()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command to initialise the replica set. This command configures the current instance as the primary.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39592-E634-AF96-CC6A-A13BEA82565A}"/>
              </a:ext>
            </a:extLst>
          </p:cNvPr>
          <p:cNvSpPr txBox="1"/>
          <p:nvPr/>
        </p:nvSpPr>
        <p:spPr>
          <a:xfrm>
            <a:off x="2144688" y="3495293"/>
            <a:ext cx="6897247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 err="1">
                <a:latin typeface="Trebuchet MS" panose="020B0603020202020204" pitchFamily="34" charset="0"/>
              </a:rPr>
              <a:t>rs.initiate</a:t>
            </a:r>
            <a:r>
              <a:rPr lang="en-GB" b="1" dirty="0">
                <a:latin typeface="Trebuchet MS" panose="020B0603020202020204" pitchFamily="34" charset="0"/>
              </a:rPr>
              <a:t>({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_id: "rs0",  // Replica set name (must match "</a:t>
            </a:r>
            <a:r>
              <a:rPr lang="en-GB" b="1" dirty="0" err="1">
                <a:latin typeface="Trebuchet MS" panose="020B0603020202020204" pitchFamily="34" charset="0"/>
              </a:rPr>
              <a:t>replSetName</a:t>
            </a:r>
            <a:r>
              <a:rPr lang="en-GB" b="1" dirty="0">
                <a:latin typeface="Trebuchet MS" panose="020B0603020202020204" pitchFamily="34" charset="0"/>
              </a:rPr>
              <a:t>")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members: [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  { _id: 0, host: "localhost:27017" },  // Instance 1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  { _id: 1, host: "localhost:27018" },  // Instance 2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  { _id: 2, host: "localhost:27019" }   // Instance 3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  ]</a:t>
            </a:r>
          </a:p>
          <a:p>
            <a:r>
              <a:rPr lang="en-GB" b="1" dirty="0">
                <a:latin typeface="Trebuchet MS" panose="020B060302020202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16407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Set Up a Replica Set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421548" y="970530"/>
            <a:ext cx="9008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Adding a Member to a Replica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7B248-739D-0106-DBFC-88996A3E3CD3}"/>
              </a:ext>
            </a:extLst>
          </p:cNvPr>
          <p:cNvSpPr txBox="1"/>
          <p:nvPr/>
        </p:nvSpPr>
        <p:spPr>
          <a:xfrm>
            <a:off x="456236" y="1567545"/>
            <a:ext cx="75874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Use the 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rs.add()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command to add a new member to the replica set. Example: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59C02-4F56-E929-F71D-40894D470551}"/>
              </a:ext>
            </a:extLst>
          </p:cNvPr>
          <p:cNvSpPr txBox="1"/>
          <p:nvPr/>
        </p:nvSpPr>
        <p:spPr>
          <a:xfrm>
            <a:off x="3152064" y="2263072"/>
            <a:ext cx="3384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rebuchet MS" panose="020B0603020202020204" pitchFamily="34" charset="0"/>
              </a:rPr>
              <a:t>rs.add("localhost:27020");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17B60-A3CF-481E-D7CC-CA1B4C3E03AB}"/>
              </a:ext>
            </a:extLst>
          </p:cNvPr>
          <p:cNvSpPr txBox="1"/>
          <p:nvPr/>
        </p:nvSpPr>
        <p:spPr>
          <a:xfrm>
            <a:off x="457467" y="3585727"/>
            <a:ext cx="85366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Use the </a:t>
            </a:r>
            <a:r>
              <a:rPr lang="en-GB" sz="2000" b="1" dirty="0" err="1">
                <a:latin typeface="Trebuchet MS" panose="020B0603020202020204" pitchFamily="34" charset="0"/>
                <a:cs typeface="Helvetica" panose="020B0604020202020204" pitchFamily="34" charset="0"/>
              </a:rPr>
              <a:t>rs.remove</a:t>
            </a:r>
            <a:r>
              <a:rPr lang="en-GB" sz="2000" b="1" dirty="0">
                <a:latin typeface="Trebuchet MS" panose="020B0603020202020204" pitchFamily="34" charset="0"/>
                <a:cs typeface="Helvetica" panose="020B0604020202020204" pitchFamily="34" charset="0"/>
              </a:rPr>
              <a:t>()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command to remove the specified member from the replica 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6BF12-DCD8-D9E5-FC74-21E516744928}"/>
              </a:ext>
            </a:extLst>
          </p:cNvPr>
          <p:cNvSpPr txBox="1"/>
          <p:nvPr/>
        </p:nvSpPr>
        <p:spPr>
          <a:xfrm>
            <a:off x="3021977" y="4306759"/>
            <a:ext cx="4105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 err="1">
                <a:latin typeface="Trebuchet MS" panose="020B0603020202020204" pitchFamily="34" charset="0"/>
              </a:rPr>
              <a:t>rs.remove</a:t>
            </a:r>
            <a:r>
              <a:rPr lang="en-GB" sz="2000" b="1" dirty="0">
                <a:latin typeface="Trebuchet MS" panose="020B0603020202020204" pitchFamily="34" charset="0"/>
              </a:rPr>
              <a:t>("localhost:27019");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1046E-D591-0111-7472-2809C4A54348}"/>
              </a:ext>
            </a:extLst>
          </p:cNvPr>
          <p:cNvSpPr txBox="1"/>
          <p:nvPr/>
        </p:nvSpPr>
        <p:spPr>
          <a:xfrm>
            <a:off x="456236" y="2872164"/>
            <a:ext cx="4953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Removing a Member from a Replica Set</a:t>
            </a:r>
          </a:p>
        </p:txBody>
      </p:sp>
    </p:spTree>
    <p:extLst>
      <p:ext uri="{BB962C8B-B14F-4D97-AF65-F5344CB8AC3E}">
        <p14:creationId xmlns:p14="http://schemas.microsoft.com/office/powerpoint/2010/main" val="1960118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Sharding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377825" y="692697"/>
            <a:ext cx="50072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 is a method for distributing data across multiple machines.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MongoDB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splits data into chunks and distributes them across multiple shards.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Sharding in MongoDB is critical for scalability in distributed systems.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716DB-990E-3F0F-67F5-689D9C9C9D93}"/>
              </a:ext>
            </a:extLst>
          </p:cNvPr>
          <p:cNvSpPr txBox="1"/>
          <p:nvPr/>
        </p:nvSpPr>
        <p:spPr>
          <a:xfrm>
            <a:off x="377825" y="3478453"/>
            <a:ext cx="837289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Database systems with large data sets can challenge the capacity of a single server. 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For example, high query rates can use the CPU capacity of the server, and these  stress the I/O capacity of disk drives.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FDE9C8-9366-87E7-C88E-FB328680359B}"/>
              </a:ext>
            </a:extLst>
          </p:cNvPr>
          <p:cNvSpPr txBox="1"/>
          <p:nvPr/>
        </p:nvSpPr>
        <p:spPr>
          <a:xfrm>
            <a:off x="377825" y="4852030"/>
            <a:ext cx="784887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There are two methods for addressing system growth: vertical and horizontal scaling.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Vertical Scaling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Horizontal Scaling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467CE5-4B14-6075-A575-C3FC128D63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8" t="16562" r="4932" b="12104"/>
          <a:stretch/>
        </p:blipFill>
        <p:spPr>
          <a:xfrm>
            <a:off x="5228602" y="999728"/>
            <a:ext cx="4608512" cy="18383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B71337-FFEA-1EA5-1239-1DE6F8B86864}"/>
              </a:ext>
            </a:extLst>
          </p:cNvPr>
          <p:cNvSpPr txBox="1"/>
          <p:nvPr/>
        </p:nvSpPr>
        <p:spPr>
          <a:xfrm>
            <a:off x="5137352" y="2919566"/>
            <a:ext cx="47345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Source: https://www.atatus.com/blog/database-sharding-what-is-it-and-how-it-works/</a:t>
            </a:r>
          </a:p>
        </p:txBody>
      </p:sp>
    </p:spTree>
    <p:extLst>
      <p:ext uri="{BB962C8B-B14F-4D97-AF65-F5344CB8AC3E}">
        <p14:creationId xmlns:p14="http://schemas.microsoft.com/office/powerpoint/2010/main" val="58168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Sharding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286047" y="1340642"/>
            <a:ext cx="90086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Vertical Scaling involves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Increasing the capacity of a single server, such as using a more powerful CPU, adding more RAM, or increasing the amount of storage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Limitations in available technology may restrict a single machine from being sufficiently powerful for a given workload.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Additionally, Cloud-based providers have hard ceilings based on available hardware configurations. As a result, there is a practical maximum for vertical scaling.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B26F1-0A09-3559-2594-20A797393021}"/>
              </a:ext>
            </a:extLst>
          </p:cNvPr>
          <p:cNvSpPr txBox="1"/>
          <p:nvPr/>
        </p:nvSpPr>
        <p:spPr>
          <a:xfrm>
            <a:off x="260160" y="939446"/>
            <a:ext cx="72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 Two methods for addressing system growth</a:t>
            </a:r>
          </a:p>
        </p:txBody>
      </p:sp>
    </p:spTree>
    <p:extLst>
      <p:ext uri="{BB962C8B-B14F-4D97-AF65-F5344CB8AC3E}">
        <p14:creationId xmlns:p14="http://schemas.microsoft.com/office/powerpoint/2010/main" val="327896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Sharding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63FBC-3BA6-2537-001F-00AF9EA81C88}"/>
              </a:ext>
            </a:extLst>
          </p:cNvPr>
          <p:cNvSpPr txBox="1"/>
          <p:nvPr/>
        </p:nvSpPr>
        <p:spPr>
          <a:xfrm>
            <a:off x="260160" y="1012765"/>
            <a:ext cx="900863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Horizontal Scaling involves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Dividing the system dataset and load over multiple servers, adding additional servers to increase capacity as required.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While each machine may have limited speed or capacity, distributing the workload across multiple machines can achieve greater efficiency than relying on a single high-performance server.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Expanding the capacity of the deployment only requires adding additional servers as needed, which can be a lower overall cost than high-end hardware for a single machine.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trade off is increased complexity in infrastructure and maintenance for the deployment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B26F1-0A09-3559-2594-20A797393021}"/>
              </a:ext>
            </a:extLst>
          </p:cNvPr>
          <p:cNvSpPr txBox="1"/>
          <p:nvPr/>
        </p:nvSpPr>
        <p:spPr>
          <a:xfrm>
            <a:off x="243147" y="812710"/>
            <a:ext cx="72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 Two methods for addressing system growth</a:t>
            </a:r>
          </a:p>
        </p:txBody>
      </p:sp>
    </p:spTree>
    <p:extLst>
      <p:ext uri="{BB962C8B-B14F-4D97-AF65-F5344CB8AC3E}">
        <p14:creationId xmlns:p14="http://schemas.microsoft.com/office/powerpoint/2010/main" val="1142169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Components of a Sharded Cluster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E7770-D915-4BF8-285A-E085467E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904" y="1432385"/>
            <a:ext cx="5673081" cy="3517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9EC0A2-5E68-115D-52EB-03D9B049522E}"/>
              </a:ext>
            </a:extLst>
          </p:cNvPr>
          <p:cNvSpPr txBox="1"/>
          <p:nvPr/>
        </p:nvSpPr>
        <p:spPr>
          <a:xfrm>
            <a:off x="4952260" y="4950360"/>
            <a:ext cx="42492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https://progressivecoder.substack.com/p/mongodb-sharding-architecture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69BB7-FB9A-0DAF-AA41-674812D4B3DD}"/>
              </a:ext>
            </a:extLst>
          </p:cNvPr>
          <p:cNvSpPr txBox="1"/>
          <p:nvPr/>
        </p:nvSpPr>
        <p:spPr>
          <a:xfrm>
            <a:off x="359321" y="1268760"/>
            <a:ext cx="34849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Shards: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Store subsets of the dataset. Each shard is a replica set for redundancy and fault tolerance.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Config Servers: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Store metadata and manage the cluster's mapping of data to shards.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Query Routers (mongos):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Route client requests to the appropriate shards based on the shard key.</a:t>
            </a:r>
          </a:p>
        </p:txBody>
      </p:sp>
    </p:spTree>
    <p:extLst>
      <p:ext uri="{BB962C8B-B14F-4D97-AF65-F5344CB8AC3E}">
        <p14:creationId xmlns:p14="http://schemas.microsoft.com/office/powerpoint/2010/main" val="2953361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Shard Keys and Data Distribution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69BB7-FB9A-0DAF-AA41-674812D4B3DD}"/>
              </a:ext>
            </a:extLst>
          </p:cNvPr>
          <p:cNvSpPr txBox="1"/>
          <p:nvPr/>
        </p:nvSpPr>
        <p:spPr>
          <a:xfrm>
            <a:off x="283233" y="847441"/>
            <a:ext cx="9505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Shard Key: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A field or combination of fields used to determine how data is distributed across shards.</a:t>
            </a:r>
          </a:p>
          <a:p>
            <a:endParaRPr lang="en-GB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F10ABE-45D9-4356-F704-9FD8E6421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82341"/>
              </p:ext>
            </p:extLst>
          </p:nvPr>
        </p:nvGraphicFramePr>
        <p:xfrm>
          <a:off x="2720752" y="1457423"/>
          <a:ext cx="6321872" cy="18516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264374">
                  <a:extLst>
                    <a:ext uri="{9D8B030D-6E8A-4147-A177-3AD203B41FA5}">
                      <a16:colId xmlns:a16="http://schemas.microsoft.com/office/drawing/2014/main" val="1986954334"/>
                    </a:ext>
                  </a:extLst>
                </a:gridCol>
                <a:gridCol w="1512746">
                  <a:extLst>
                    <a:ext uri="{9D8B030D-6E8A-4147-A177-3AD203B41FA5}">
                      <a16:colId xmlns:a16="http://schemas.microsoft.com/office/drawing/2014/main" val="2437274447"/>
                    </a:ext>
                  </a:extLst>
                </a:gridCol>
                <a:gridCol w="1016003">
                  <a:extLst>
                    <a:ext uri="{9D8B030D-6E8A-4147-A177-3AD203B41FA5}">
                      <a16:colId xmlns:a16="http://schemas.microsoft.com/office/drawing/2014/main" val="2971319583"/>
                    </a:ext>
                  </a:extLst>
                </a:gridCol>
                <a:gridCol w="1031473">
                  <a:extLst>
                    <a:ext uri="{9D8B030D-6E8A-4147-A177-3AD203B41FA5}">
                      <a16:colId xmlns:a16="http://schemas.microsoft.com/office/drawing/2014/main" val="2810554949"/>
                    </a:ext>
                  </a:extLst>
                </a:gridCol>
                <a:gridCol w="1497276">
                  <a:extLst>
                    <a:ext uri="{9D8B030D-6E8A-4147-A177-3AD203B41FA5}">
                      <a16:colId xmlns:a16="http://schemas.microsoft.com/office/drawing/2014/main" val="2290278227"/>
                    </a:ext>
                  </a:extLst>
                </a:gridCol>
              </a:tblGrid>
              <a:tr h="283118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product_id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product_name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price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quantity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776716919"/>
                  </a:ext>
                </a:extLst>
              </a:tr>
              <a:tr h="28311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Laptop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10.99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Electronics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16646257"/>
                  </a:ext>
                </a:extLst>
              </a:tr>
              <a:tr h="283118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2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Shirt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13.65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Clothing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374366320"/>
                  </a:ext>
                </a:extLst>
              </a:tr>
              <a:tr h="28311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3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Headphone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12.90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30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Electronics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10856402"/>
                  </a:ext>
                </a:extLst>
              </a:tr>
              <a:tr h="283118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Toothpaste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132.72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Home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641976893"/>
                  </a:ext>
                </a:extLst>
              </a:tr>
              <a:tr h="28311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Hat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10.11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70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Clothing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21349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FDB1D2-33A5-CB93-2866-635512B76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577554"/>
              </p:ext>
            </p:extLst>
          </p:nvPr>
        </p:nvGraphicFramePr>
        <p:xfrm>
          <a:off x="2530638" y="3568426"/>
          <a:ext cx="5976665" cy="92583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95333">
                  <a:extLst>
                    <a:ext uri="{9D8B030D-6E8A-4147-A177-3AD203B41FA5}">
                      <a16:colId xmlns:a16="http://schemas.microsoft.com/office/drawing/2014/main" val="3525224214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941494180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1289503392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3598017473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1350541967"/>
                    </a:ext>
                  </a:extLst>
                </a:gridCol>
              </a:tblGrid>
              <a:tr h="240047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product_id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product_name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price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quantity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216244225"/>
                  </a:ext>
                </a:extLst>
              </a:tr>
              <a:tr h="24004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Laptop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10.99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Electronics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68652896"/>
                  </a:ext>
                </a:extLst>
              </a:tr>
              <a:tr h="240047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3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Headphone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12.90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30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Electronics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27372197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35FA64-CDDF-2E8E-C969-CC029A13E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85368"/>
              </p:ext>
            </p:extLst>
          </p:nvPr>
        </p:nvGraphicFramePr>
        <p:xfrm>
          <a:off x="2530637" y="4588621"/>
          <a:ext cx="5976665" cy="9258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95333">
                  <a:extLst>
                    <a:ext uri="{9D8B030D-6E8A-4147-A177-3AD203B41FA5}">
                      <a16:colId xmlns:a16="http://schemas.microsoft.com/office/drawing/2014/main" val="3181238476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1756492239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2008687221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1385995412"/>
                    </a:ext>
                  </a:extLst>
                </a:gridCol>
                <a:gridCol w="1195333">
                  <a:extLst>
                    <a:ext uri="{9D8B030D-6E8A-4147-A177-3AD203B41FA5}">
                      <a16:colId xmlns:a16="http://schemas.microsoft.com/office/drawing/2014/main" val="1779836159"/>
                    </a:ext>
                  </a:extLst>
                </a:gridCol>
              </a:tblGrid>
              <a:tr h="265541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product_id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product_name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price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quantity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39716048"/>
                  </a:ext>
                </a:extLst>
              </a:tr>
              <a:tr h="265541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2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Shirt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13.65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Clothing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037631150"/>
                  </a:ext>
                </a:extLst>
              </a:tr>
              <a:tr h="265541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Hat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10.11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70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Clothing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5237256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39E106-CE37-9DE2-CC70-D8D781AD9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711588"/>
              </p:ext>
            </p:extLst>
          </p:nvPr>
        </p:nvGraphicFramePr>
        <p:xfrm>
          <a:off x="2530636" y="5608816"/>
          <a:ext cx="5976665" cy="6172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06746">
                  <a:extLst>
                    <a:ext uri="{9D8B030D-6E8A-4147-A177-3AD203B41FA5}">
                      <a16:colId xmlns:a16="http://schemas.microsoft.com/office/drawing/2014/main" val="2399459041"/>
                    </a:ext>
                  </a:extLst>
                </a:gridCol>
                <a:gridCol w="1306746">
                  <a:extLst>
                    <a:ext uri="{9D8B030D-6E8A-4147-A177-3AD203B41FA5}">
                      <a16:colId xmlns:a16="http://schemas.microsoft.com/office/drawing/2014/main" val="2603068206"/>
                    </a:ext>
                  </a:extLst>
                </a:gridCol>
                <a:gridCol w="1306746">
                  <a:extLst>
                    <a:ext uri="{9D8B030D-6E8A-4147-A177-3AD203B41FA5}">
                      <a16:colId xmlns:a16="http://schemas.microsoft.com/office/drawing/2014/main" val="514973338"/>
                    </a:ext>
                  </a:extLst>
                </a:gridCol>
                <a:gridCol w="1306746">
                  <a:extLst>
                    <a:ext uri="{9D8B030D-6E8A-4147-A177-3AD203B41FA5}">
                      <a16:colId xmlns:a16="http://schemas.microsoft.com/office/drawing/2014/main" val="1970171967"/>
                    </a:ext>
                  </a:extLst>
                </a:gridCol>
                <a:gridCol w="749681">
                  <a:extLst>
                    <a:ext uri="{9D8B030D-6E8A-4147-A177-3AD203B41FA5}">
                      <a16:colId xmlns:a16="http://schemas.microsoft.com/office/drawing/2014/main" val="1799861964"/>
                    </a:ext>
                  </a:extLst>
                </a:gridCol>
              </a:tblGrid>
              <a:tr h="190024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solidFill>
                            <a:srgbClr val="313030"/>
                          </a:solidFill>
                          <a:effectLst/>
                        </a:rPr>
                        <a:t>product_id</a:t>
                      </a:r>
                      <a:endParaRPr lang="en-GB" sz="1400" b="1" dirty="0">
                        <a:solidFill>
                          <a:srgbClr val="31303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313030"/>
                          </a:solidFill>
                          <a:effectLst/>
                        </a:rPr>
                        <a:t>product_name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price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313030"/>
                          </a:solidFill>
                          <a:effectLst/>
                        </a:rPr>
                        <a:t>quantity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13030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49901900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Product D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132.72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313030"/>
                          </a:solidFill>
                          <a:effectLst/>
                        </a:rPr>
                        <a:t>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313030"/>
                          </a:solidFill>
                          <a:effectLst/>
                        </a:rPr>
                        <a:t>Home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170441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6057C3F-001B-CC5D-AD3C-800B765E2237}"/>
              </a:ext>
            </a:extLst>
          </p:cNvPr>
          <p:cNvSpPr txBox="1"/>
          <p:nvPr/>
        </p:nvSpPr>
        <p:spPr>
          <a:xfrm>
            <a:off x="377825" y="1993375"/>
            <a:ext cx="2306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shard the store table based on the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category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column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7F3B65-9192-0214-229A-2A57CE8D9D76}"/>
              </a:ext>
            </a:extLst>
          </p:cNvPr>
          <p:cNvSpPr txBox="1"/>
          <p:nvPr/>
        </p:nvSpPr>
        <p:spPr>
          <a:xfrm>
            <a:off x="15779" y="3811982"/>
            <a:ext cx="24961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b="1" dirty="0">
                <a:latin typeface="Helvetica" panose="020B0604020202020204" pitchFamily="34" charset="0"/>
                <a:cs typeface="Helvetica" panose="020B0604020202020204" pitchFamily="34" charset="0"/>
              </a:rPr>
              <a:t>Shard 1 - Electronics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51B08B-684E-6B38-1B30-503A39617ED0}"/>
              </a:ext>
            </a:extLst>
          </p:cNvPr>
          <p:cNvSpPr txBox="1"/>
          <p:nvPr/>
        </p:nvSpPr>
        <p:spPr>
          <a:xfrm>
            <a:off x="283233" y="4819416"/>
            <a:ext cx="24961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b="1" dirty="0">
                <a:latin typeface="Helvetica" panose="020B0604020202020204" pitchFamily="34" charset="0"/>
                <a:cs typeface="Helvetica" panose="020B0604020202020204" pitchFamily="34" charset="0"/>
              </a:rPr>
              <a:t>Shard 2 - Clothing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524A5-495C-4A27-C190-D85C6EA5D794}"/>
              </a:ext>
            </a:extLst>
          </p:cNvPr>
          <p:cNvSpPr txBox="1"/>
          <p:nvPr/>
        </p:nvSpPr>
        <p:spPr>
          <a:xfrm>
            <a:off x="488504" y="5677311"/>
            <a:ext cx="24961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b="1" dirty="0">
                <a:latin typeface="Helvetica" panose="020B0604020202020204" pitchFamily="34" charset="0"/>
                <a:cs typeface="Helvetica" panose="020B0604020202020204" pitchFamily="34" charset="0"/>
              </a:rPr>
              <a:t>Shard 3 - Home</a:t>
            </a:r>
          </a:p>
        </p:txBody>
      </p:sp>
    </p:spTree>
    <p:extLst>
      <p:ext uri="{BB962C8B-B14F-4D97-AF65-F5344CB8AC3E}">
        <p14:creationId xmlns:p14="http://schemas.microsoft.com/office/powerpoint/2010/main" val="396221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Types of Sharding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69BB7-FB9A-0DAF-AA41-674812D4B3DD}"/>
              </a:ext>
            </a:extLst>
          </p:cNvPr>
          <p:cNvSpPr txBox="1"/>
          <p:nvPr/>
        </p:nvSpPr>
        <p:spPr>
          <a:xfrm>
            <a:off x="243147" y="908720"/>
            <a:ext cx="884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Range-Based Sharding: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Data is divided into contiguous ranges based on the shard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97261-9803-D36E-A4DF-124A886FE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18459"/>
            <a:ext cx="5899342" cy="19405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2569FA-CA94-6152-7E6B-F499573AA6D3}"/>
              </a:ext>
            </a:extLst>
          </p:cNvPr>
          <p:cNvSpPr txBox="1"/>
          <p:nvPr/>
        </p:nvSpPr>
        <p:spPr>
          <a:xfrm>
            <a:off x="451755" y="3933056"/>
            <a:ext cx="8424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A relatively simple approach for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and gives you a meaningful way to map data to shards.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Depending on how you’re picking these ranges, you can easily overload shards.</a:t>
            </a:r>
          </a:p>
        </p:txBody>
      </p:sp>
    </p:spTree>
    <p:extLst>
      <p:ext uri="{BB962C8B-B14F-4D97-AF65-F5344CB8AC3E}">
        <p14:creationId xmlns:p14="http://schemas.microsoft.com/office/powerpoint/2010/main" val="208258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Types of Sharding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73D386-0122-11F8-98F5-C81F7D3746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90"/>
          <a:stretch/>
        </p:blipFill>
        <p:spPr>
          <a:xfrm>
            <a:off x="473837" y="908720"/>
            <a:ext cx="8439603" cy="53812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7C3E65-387B-D99E-8597-88FB1F6E5BBF}"/>
              </a:ext>
            </a:extLst>
          </p:cNvPr>
          <p:cNvSpPr txBox="1"/>
          <p:nvPr/>
        </p:nvSpPr>
        <p:spPr>
          <a:xfrm>
            <a:off x="4376936" y="5907066"/>
            <a:ext cx="4953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Source: https://planetscale.com/blog/types-of-sharding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F735D-C186-43C6-4B2A-25ED76408CA4}"/>
              </a:ext>
            </a:extLst>
          </p:cNvPr>
          <p:cNvSpPr txBox="1"/>
          <p:nvPr/>
        </p:nvSpPr>
        <p:spPr>
          <a:xfrm>
            <a:off x="5241032" y="1052736"/>
            <a:ext cx="367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Range-Based Sharding: Example </a:t>
            </a:r>
          </a:p>
        </p:txBody>
      </p:sp>
    </p:spTree>
    <p:extLst>
      <p:ext uri="{BB962C8B-B14F-4D97-AF65-F5344CB8AC3E}">
        <p14:creationId xmlns:p14="http://schemas.microsoft.com/office/powerpoint/2010/main" val="651534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Types of Sharding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69BB7-FB9A-0DAF-AA41-674812D4B3DD}"/>
              </a:ext>
            </a:extLst>
          </p:cNvPr>
          <p:cNvSpPr txBox="1"/>
          <p:nvPr/>
        </p:nvSpPr>
        <p:spPr>
          <a:xfrm>
            <a:off x="377825" y="390381"/>
            <a:ext cx="88421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Hashed Sharding: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Data is distributed based on a hash of the shard key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Uses either a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single field hashed index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or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 compound hashed index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as the shard key to partition data across your sharded cluster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B5225F-A8AF-3C83-4274-6BD6B13EF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696" y="1891755"/>
            <a:ext cx="5998046" cy="2142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27FAD6-C817-D6C9-2B8F-1C438306CD80}"/>
              </a:ext>
            </a:extLst>
          </p:cNvPr>
          <p:cNvSpPr txBox="1"/>
          <p:nvPr/>
        </p:nvSpPr>
        <p:spPr>
          <a:xfrm>
            <a:off x="377825" y="3974629"/>
            <a:ext cx="86796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This method takes human guesswork out of the equation. </a:t>
            </a:r>
          </a:p>
          <a:p>
            <a:pPr marL="742950" lvl="1" indent="-285750">
              <a:buFont typeface="Helvetica" panose="020B0604020202020204" pitchFamily="34" charset="0"/>
              <a:buChar char="‒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Instead of relying on humans to estimate data distribution across ranges, hashing ensures an even distribution, provided the shard key has high cardinality.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There’s less chance of overloading a shard because you’re distributing the data based on a well-proven hash function.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The main downside of this approach is having the extra hashing step</a:t>
            </a:r>
          </a:p>
        </p:txBody>
      </p:sp>
    </p:spTree>
    <p:extLst>
      <p:ext uri="{BB962C8B-B14F-4D97-AF65-F5344CB8AC3E}">
        <p14:creationId xmlns:p14="http://schemas.microsoft.com/office/powerpoint/2010/main" val="261633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F8EC08-86BF-3D81-B5FA-743AD683ED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0981" r="-42" b="3970"/>
          <a:stretch/>
        </p:blipFill>
        <p:spPr>
          <a:xfrm>
            <a:off x="1136576" y="1028461"/>
            <a:ext cx="7128792" cy="52992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Types of Sharding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69BB7-FB9A-0DAF-AA41-674812D4B3DD}"/>
              </a:ext>
            </a:extLst>
          </p:cNvPr>
          <p:cNvSpPr txBox="1"/>
          <p:nvPr/>
        </p:nvSpPr>
        <p:spPr>
          <a:xfrm>
            <a:off x="6015658" y="319097"/>
            <a:ext cx="34950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Hashed Sharding: Example</a:t>
            </a:r>
          </a:p>
        </p:txBody>
      </p:sp>
    </p:spTree>
    <p:extLst>
      <p:ext uri="{BB962C8B-B14F-4D97-AF65-F5344CB8AC3E}">
        <p14:creationId xmlns:p14="http://schemas.microsoft.com/office/powerpoint/2010/main" val="2893905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Data Routing and Query Execution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EC0A2-5E68-115D-52EB-03D9B049522E}"/>
              </a:ext>
            </a:extLst>
          </p:cNvPr>
          <p:cNvSpPr txBox="1"/>
          <p:nvPr/>
        </p:nvSpPr>
        <p:spPr>
          <a:xfrm>
            <a:off x="5673080" y="5834196"/>
            <a:ext cx="31126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https://www.mongodb.com/docs/manual/sharding/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7576B0-A6E6-121C-CAA5-7483ABFB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20" y="1196752"/>
            <a:ext cx="3764477" cy="26715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239C81-05F3-16CF-6C1B-128B5B3BE82F}"/>
              </a:ext>
            </a:extLst>
          </p:cNvPr>
          <p:cNvSpPr txBox="1"/>
          <p:nvPr/>
        </p:nvSpPr>
        <p:spPr>
          <a:xfrm>
            <a:off x="377824" y="908720"/>
            <a:ext cx="52232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Query Router (mongos):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Determines which shards store the required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Sends queries to relevant shards only, optimising query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Config Servers: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Maintain the cluster's metadata (e.g., shard key ranges).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Update and distribute metadata to query routers.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ensures queries are processed efficiently, even for massive datasets.</a:t>
            </a:r>
          </a:p>
        </p:txBody>
      </p:sp>
    </p:spTree>
    <p:extLst>
      <p:ext uri="{BB962C8B-B14F-4D97-AF65-F5344CB8AC3E}">
        <p14:creationId xmlns:p14="http://schemas.microsoft.com/office/powerpoint/2010/main" val="2061137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7" y="0"/>
            <a:ext cx="9662853" cy="780762"/>
          </a:xfrm>
        </p:spPr>
        <p:txBody>
          <a:bodyPr/>
          <a:lstStyle/>
          <a:p>
            <a:r>
              <a:rPr lang="en-GB" sz="3000" dirty="0"/>
              <a:t>Challenges and Considerations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EC0A2-5E68-115D-52EB-03D9B049522E}"/>
              </a:ext>
            </a:extLst>
          </p:cNvPr>
          <p:cNvSpPr txBox="1"/>
          <p:nvPr/>
        </p:nvSpPr>
        <p:spPr>
          <a:xfrm>
            <a:off x="440790" y="5044653"/>
            <a:ext cx="9267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More Details on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https://www.mongodb.com/docs/manual/sharding/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C5BD7-CD60-D2B1-08F5-E003287AB8E5}"/>
              </a:ext>
            </a:extLst>
          </p:cNvPr>
          <p:cNvSpPr txBox="1"/>
          <p:nvPr/>
        </p:nvSpPr>
        <p:spPr>
          <a:xfrm>
            <a:off x="387490" y="982018"/>
            <a:ext cx="881398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Choosing the Right Shard Key: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Poor shard key choice can lead to unbalanced data distribution ("hot shards").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Increased Complexity: 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Requires additional management for config servers and query routers.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Operational Costs: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More resources are needed to maintain a sharded cluster.</a:t>
            </a:r>
          </a:p>
        </p:txBody>
      </p:sp>
    </p:spTree>
    <p:extLst>
      <p:ext uri="{BB962C8B-B14F-4D97-AF65-F5344CB8AC3E}">
        <p14:creationId xmlns:p14="http://schemas.microsoft.com/office/powerpoint/2010/main" val="3751150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Comparing Replication and </a:t>
            </a:r>
            <a:r>
              <a:rPr lang="en-GB" sz="3000" dirty="0" err="1"/>
              <a:t>Sharding</a:t>
            </a:r>
            <a:endParaRPr lang="en-GB" sz="30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E0D25-B09F-A254-3CF8-2548CFB73BC4}"/>
              </a:ext>
            </a:extLst>
          </p:cNvPr>
          <p:cNvSpPr txBox="1"/>
          <p:nvPr/>
        </p:nvSpPr>
        <p:spPr>
          <a:xfrm>
            <a:off x="380492" y="908720"/>
            <a:ext cx="91450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Replication: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Provides data redundancy and high availability by copying data across multiple nodes.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Ensures data consistency across replicas.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Enables horizontal scaling by splitting data into smaller parts (shards) across multiple nodes.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Distributes data and read/write operations to balance the load.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Difference in Purpose: 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Replication is about fault tolerance and availability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is about managing scale and performance.</a:t>
            </a:r>
            <a:endParaRPr lang="en-GB" sz="2000" dirty="0">
              <a:latin typeface="Trebuchet MS" panose="020B0603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591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2600" dirty="0"/>
              <a:t>Applications of Replication and </a:t>
            </a:r>
            <a:r>
              <a:rPr lang="en-GB" sz="2600" dirty="0" err="1"/>
              <a:t>Sharding</a:t>
            </a:r>
            <a:r>
              <a:rPr lang="en-GB" sz="2600" dirty="0"/>
              <a:t> in Real Life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E0D25-B09F-A254-3CF8-2548CFB73BC4}"/>
              </a:ext>
            </a:extLst>
          </p:cNvPr>
          <p:cNvSpPr txBox="1"/>
          <p:nvPr/>
        </p:nvSpPr>
        <p:spPr>
          <a:xfrm>
            <a:off x="380492" y="908720"/>
            <a:ext cx="91450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Replication: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E-commerce platforms requiring continuous availability.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Financial applications where redundancy ensures data recovery.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Distributed applications with users in different regions can benefit from replica sets by directing local reads to nearby secondaries.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Sharding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Social media applications managing large volumes of user data and activity logs.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IoT systems collecting and processing data from millions of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Combining Both: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Large-scale applications often use both for maximum availability and scalability.</a:t>
            </a:r>
            <a:endParaRPr lang="en-GB" sz="2000" dirty="0">
              <a:latin typeface="Trebuchet MS" panose="020B0603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030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31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AEA833-7FC5-4738-B55E-A41BE3BB8F6F}"/>
              </a:ext>
            </a:extLst>
          </p:cNvPr>
          <p:cNvSpPr txBox="1">
            <a:spLocks/>
          </p:cNvSpPr>
          <p:nvPr/>
        </p:nvSpPr>
        <p:spPr bwMode="auto">
          <a:xfrm>
            <a:off x="3800872" y="2996952"/>
            <a:ext cx="216023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None/>
            </a:pPr>
            <a:r>
              <a:rPr lang="en-GB" sz="3600" dirty="0">
                <a:latin typeface="Comic Sans MS" panose="030F0702030302020204" pitchFamily="66" charset="0"/>
              </a:rPr>
              <a:t>Questions?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6644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4tdmoahdib7mdmitiproiyp2m6ucjj"/>
</p:tagLst>
</file>

<file path=ppt/theme/theme1.xml><?xml version="1.0" encoding="utf-8"?>
<a:theme xmlns:a="http://schemas.openxmlformats.org/drawingml/2006/main" name="UOB3687_Bradford PPT_Green_External_TEMPLATE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62028F1181324286088878907BF764" ma:contentTypeVersion="14" ma:contentTypeDescription="Create a new document." ma:contentTypeScope="" ma:versionID="90976bd7b8c99da3d8fa7de315a6c862">
  <xsd:schema xmlns:xsd="http://www.w3.org/2001/XMLSchema" xmlns:xs="http://www.w3.org/2001/XMLSchema" xmlns:p="http://schemas.microsoft.com/office/2006/metadata/properties" xmlns:ns3="8112531f-664b-410e-b854-b0b109d7936d" xmlns:ns4="b544e34c-2ecd-4376-93c2-9ba4477ab504" targetNamespace="http://schemas.microsoft.com/office/2006/metadata/properties" ma:root="true" ma:fieldsID="40b278b0f625431f435dc1ad5c24d1a0" ns3:_="" ns4:_="">
    <xsd:import namespace="8112531f-664b-410e-b854-b0b109d7936d"/>
    <xsd:import namespace="b544e34c-2ecd-4376-93c2-9ba4477ab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2531f-664b-410e-b854-b0b109d79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4e34c-2ecd-4376-93c2-9ba4477ab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9E357C-CCDC-4DFE-B552-9384A2F6389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112531f-664b-410e-b854-b0b109d7936d"/>
    <ds:schemaRef ds:uri="b544e34c-2ecd-4376-93c2-9ba4477ab504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2CE5C33-72EA-487D-B241-32E996B7F0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933D7E-1225-4F91-9BD7-501C0957F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2531f-664b-410e-b854-b0b109d7936d"/>
    <ds:schemaRef ds:uri="b544e34c-2ecd-4376-93c2-9ba4477ab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16478</TotalTime>
  <Words>2716</Words>
  <Application>Microsoft Office PowerPoint</Application>
  <PresentationFormat>A4 Paper (210x297 mm)</PresentationFormat>
  <Paragraphs>376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Comic Sans MS</vt:lpstr>
      <vt:lpstr>Courier 10 Pitch</vt:lpstr>
      <vt:lpstr>Georgia</vt:lpstr>
      <vt:lpstr>Helvetica</vt:lpstr>
      <vt:lpstr>Lucida Sans</vt:lpstr>
      <vt:lpstr>Lucida Sans Unicode</vt:lpstr>
      <vt:lpstr>proxima-nova</vt:lpstr>
      <vt:lpstr>Trebuchet MS</vt:lpstr>
      <vt:lpstr>UOB3687_Bradford PPT_Green_External_TEMPLATE</vt:lpstr>
      <vt:lpstr>Large Scale Data Driven Applications</vt:lpstr>
      <vt:lpstr>Outlines</vt:lpstr>
      <vt:lpstr>Overview of MongoDB as a Distributed Database</vt:lpstr>
      <vt:lpstr>Challenges Addressed by Replication and Sharding</vt:lpstr>
      <vt:lpstr>What are Replication and Sharding in MongoDB?</vt:lpstr>
      <vt:lpstr>What We’ll Cover Today</vt:lpstr>
      <vt:lpstr>What is Replication?</vt:lpstr>
      <vt:lpstr>How Replication Works in MongoDB</vt:lpstr>
      <vt:lpstr>How Replication Works in MongoDB</vt:lpstr>
      <vt:lpstr>How Replication Works in MongoDB</vt:lpstr>
      <vt:lpstr>Automatic Failover and Elections in Replica Sets</vt:lpstr>
      <vt:lpstr>Read and Write Concerns</vt:lpstr>
      <vt:lpstr>Set Up a Replica Set (Command-Line Approach)</vt:lpstr>
      <vt:lpstr>Set Up a Replica Set (Command-Line Approach)</vt:lpstr>
      <vt:lpstr>Set Up a Replica Set (Configuration Files)</vt:lpstr>
      <vt:lpstr>Set Up a Replica Set (Configuration Files)</vt:lpstr>
      <vt:lpstr>Set Up a Replica Set</vt:lpstr>
      <vt:lpstr>Sharding in MongoDB</vt:lpstr>
      <vt:lpstr>Sharding in MongoDB</vt:lpstr>
      <vt:lpstr>Sharding in MongoDB</vt:lpstr>
      <vt:lpstr>Components of a Sharded Cluster</vt:lpstr>
      <vt:lpstr>Shard Keys and Data Distribution</vt:lpstr>
      <vt:lpstr>Types of Sharding</vt:lpstr>
      <vt:lpstr>Types of Sharding</vt:lpstr>
      <vt:lpstr>Types of Sharding</vt:lpstr>
      <vt:lpstr>Types of Sharding</vt:lpstr>
      <vt:lpstr>Data Routing and Query Execution</vt:lpstr>
      <vt:lpstr>Challenges and Considerations</vt:lpstr>
      <vt:lpstr>Comparing Replication and Sharding</vt:lpstr>
      <vt:lpstr>Applications of Replication and Sharding in Real Life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SK</dc:creator>
  <cp:lastModifiedBy>Sohag Kabir</cp:lastModifiedBy>
  <cp:revision>72</cp:revision>
  <dcterms:created xsi:type="dcterms:W3CDTF">2020-01-19T15:58:01Z</dcterms:created>
  <dcterms:modified xsi:type="dcterms:W3CDTF">2024-11-17T12:29:36Z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0x0101004462028F1181324286088878907BF764</vt:lpwstr>
  </property>
</Properties>
</file>