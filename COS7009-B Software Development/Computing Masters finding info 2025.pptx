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4" r:id="rId2"/>
    <p:sldMasterId id="2147483687" r:id="rId3"/>
    <p:sldMasterId id="2147483694" r:id="rId4"/>
  </p:sldMasterIdLst>
  <p:notesMasterIdLst>
    <p:notesMasterId r:id="rId51"/>
  </p:notesMasterIdLst>
  <p:sldIdLst>
    <p:sldId id="283" r:id="rId5"/>
    <p:sldId id="286" r:id="rId6"/>
    <p:sldId id="319" r:id="rId7"/>
    <p:sldId id="287" r:id="rId8"/>
    <p:sldId id="368" r:id="rId9"/>
    <p:sldId id="288" r:id="rId10"/>
    <p:sldId id="289" r:id="rId11"/>
    <p:sldId id="369" r:id="rId12"/>
    <p:sldId id="278" r:id="rId13"/>
    <p:sldId id="290" r:id="rId14"/>
    <p:sldId id="291" r:id="rId15"/>
    <p:sldId id="274" r:id="rId16"/>
    <p:sldId id="370" r:id="rId17"/>
    <p:sldId id="341" r:id="rId18"/>
    <p:sldId id="371" r:id="rId19"/>
    <p:sldId id="372" r:id="rId20"/>
    <p:sldId id="348" r:id="rId21"/>
    <p:sldId id="349" r:id="rId22"/>
    <p:sldId id="305" r:id="rId23"/>
    <p:sldId id="306" r:id="rId24"/>
    <p:sldId id="309" r:id="rId25"/>
    <p:sldId id="308" r:id="rId26"/>
    <p:sldId id="314" r:id="rId27"/>
    <p:sldId id="310" r:id="rId28"/>
    <p:sldId id="312" r:id="rId29"/>
    <p:sldId id="311" r:id="rId30"/>
    <p:sldId id="307" r:id="rId31"/>
    <p:sldId id="313" r:id="rId32"/>
    <p:sldId id="373" r:id="rId33"/>
    <p:sldId id="293" r:id="rId34"/>
    <p:sldId id="335" r:id="rId35"/>
    <p:sldId id="328" r:id="rId36"/>
    <p:sldId id="363" r:id="rId37"/>
    <p:sldId id="327" r:id="rId38"/>
    <p:sldId id="364" r:id="rId39"/>
    <p:sldId id="326" r:id="rId40"/>
    <p:sldId id="361" r:id="rId41"/>
    <p:sldId id="362" r:id="rId42"/>
    <p:sldId id="332" r:id="rId43"/>
    <p:sldId id="323" r:id="rId44"/>
    <p:sldId id="300" r:id="rId45"/>
    <p:sldId id="303" r:id="rId46"/>
    <p:sldId id="384" r:id="rId47"/>
    <p:sldId id="343" r:id="rId48"/>
    <p:sldId id="329" r:id="rId49"/>
    <p:sldId id="342"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93C9BF-CF87-B291-641D-EEF995B6926B}" v="90" dt="2025-09-26T11:08:1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2"/>
    <p:restoredTop sz="94681"/>
  </p:normalViewPr>
  <p:slideViewPr>
    <p:cSldViewPr snapToGrid="0">
      <p:cViewPr varScale="1">
        <p:scale>
          <a:sx n="77" d="100"/>
          <a:sy n="77" d="100"/>
        </p:scale>
        <p:origin x="2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CA8B3F-0520-4EBD-B153-A7FBDE503892}" type="datetimeFigureOut">
              <a:t>9/26/2025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4DB444-680F-4D2D-8318-D5BA3FDB8529}" type="slidenum">
              <a:t>‹#›</a:t>
            </a:fld>
            <a:endParaRPr lang="en-US"/>
          </a:p>
        </p:txBody>
      </p:sp>
    </p:spTree>
    <p:extLst>
      <p:ext uri="{BB962C8B-B14F-4D97-AF65-F5344CB8AC3E}">
        <p14:creationId xmlns:p14="http://schemas.microsoft.com/office/powerpoint/2010/main" val="260298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02A598FB-7C65-448B-A91C-491243DB44CD}" type="slidenum">
              <a:rPr lang="en-GB" smtClean="0"/>
              <a:pPr/>
              <a:t>31</a:t>
            </a:fld>
            <a:endParaRPr lang="en-GB"/>
          </a:p>
        </p:txBody>
      </p:sp>
    </p:spTree>
    <p:extLst>
      <p:ext uri="{BB962C8B-B14F-4D97-AF65-F5344CB8AC3E}">
        <p14:creationId xmlns:p14="http://schemas.microsoft.com/office/powerpoint/2010/main" val="3732741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02A598FB-7C65-448B-A91C-491243DB44CD}" type="slidenum">
              <a:rPr lang="en-GB" smtClean="0"/>
              <a:pPr/>
              <a:t>32</a:t>
            </a:fld>
            <a:endParaRPr lang="en-GB"/>
          </a:p>
        </p:txBody>
      </p:sp>
    </p:spTree>
    <p:extLst>
      <p:ext uri="{BB962C8B-B14F-4D97-AF65-F5344CB8AC3E}">
        <p14:creationId xmlns:p14="http://schemas.microsoft.com/office/powerpoint/2010/main" val="2123646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381000" y="685800"/>
            <a:ext cx="6096000" cy="3429000"/>
          </a:xfrm>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charset="0"/>
                <a:cs typeface="Arial" charset="0"/>
              </a:defRPr>
            </a:lvl1pPr>
            <a:lvl2pPr marL="742950" indent="-285750">
              <a:defRPr sz="3200">
                <a:solidFill>
                  <a:schemeClr val="tx1"/>
                </a:solidFill>
                <a:latin typeface="Arial" charset="0"/>
                <a:cs typeface="Arial" charset="0"/>
              </a:defRPr>
            </a:lvl2pPr>
            <a:lvl3pPr marL="1143000" indent="-228600">
              <a:defRPr sz="3200">
                <a:solidFill>
                  <a:schemeClr val="tx1"/>
                </a:solidFill>
                <a:latin typeface="Arial" charset="0"/>
                <a:cs typeface="Arial" charset="0"/>
              </a:defRPr>
            </a:lvl3pPr>
            <a:lvl4pPr marL="1600200" indent="-228600">
              <a:defRPr sz="3200">
                <a:solidFill>
                  <a:schemeClr val="tx1"/>
                </a:solidFill>
                <a:latin typeface="Arial" charset="0"/>
                <a:cs typeface="Arial" charset="0"/>
              </a:defRPr>
            </a:lvl4pPr>
            <a:lvl5pPr marL="2057400" indent="-228600">
              <a:defRPr sz="3200">
                <a:solidFill>
                  <a:schemeClr val="tx1"/>
                </a:solidFill>
                <a:latin typeface="Arial" charset="0"/>
                <a:cs typeface="Arial" charset="0"/>
              </a:defRPr>
            </a:lvl5pPr>
            <a:lvl6pPr marL="2514600" indent="-228600" eaLnBrk="0" fontAlgn="base" hangingPunct="0">
              <a:spcBef>
                <a:spcPct val="0"/>
              </a:spcBef>
              <a:spcAft>
                <a:spcPct val="0"/>
              </a:spcAft>
              <a:defRPr sz="3200">
                <a:solidFill>
                  <a:schemeClr val="tx1"/>
                </a:solidFill>
                <a:latin typeface="Arial" charset="0"/>
                <a:cs typeface="Arial" charset="0"/>
              </a:defRPr>
            </a:lvl6pPr>
            <a:lvl7pPr marL="2971800" indent="-228600" eaLnBrk="0" fontAlgn="base" hangingPunct="0">
              <a:spcBef>
                <a:spcPct val="0"/>
              </a:spcBef>
              <a:spcAft>
                <a:spcPct val="0"/>
              </a:spcAft>
              <a:defRPr sz="3200">
                <a:solidFill>
                  <a:schemeClr val="tx1"/>
                </a:solidFill>
                <a:latin typeface="Arial" charset="0"/>
                <a:cs typeface="Arial" charset="0"/>
              </a:defRPr>
            </a:lvl7pPr>
            <a:lvl8pPr marL="3429000" indent="-228600" eaLnBrk="0" fontAlgn="base" hangingPunct="0">
              <a:spcBef>
                <a:spcPct val="0"/>
              </a:spcBef>
              <a:spcAft>
                <a:spcPct val="0"/>
              </a:spcAft>
              <a:defRPr sz="3200">
                <a:solidFill>
                  <a:schemeClr val="tx1"/>
                </a:solidFill>
                <a:latin typeface="Arial" charset="0"/>
                <a:cs typeface="Arial" charset="0"/>
              </a:defRPr>
            </a:lvl8pPr>
            <a:lvl9pPr marL="3886200" indent="-228600" eaLnBrk="0" fontAlgn="base" hangingPunct="0">
              <a:spcBef>
                <a:spcPct val="0"/>
              </a:spcBef>
              <a:spcAft>
                <a:spcPct val="0"/>
              </a:spcAft>
              <a:defRPr sz="3200">
                <a:solidFill>
                  <a:schemeClr val="tx1"/>
                </a:solidFill>
                <a:latin typeface="Arial" charset="0"/>
                <a:cs typeface="Arial" charset="0"/>
              </a:defRPr>
            </a:lvl9pPr>
          </a:lstStyle>
          <a:p>
            <a:fld id="{72F61D27-D015-4BA6-8AEE-369A9E6EE59D}" type="slidenum">
              <a:rPr lang="en-GB" altLang="en-US" sz="1200" smtClean="0"/>
              <a:pPr/>
              <a:t>40</a:t>
            </a:fld>
            <a:endParaRPr lang="en-GB" altLang="en-US" sz="1200"/>
          </a:p>
        </p:txBody>
      </p:sp>
    </p:spTree>
    <p:extLst>
      <p:ext uri="{BB962C8B-B14F-4D97-AF65-F5344CB8AC3E}">
        <p14:creationId xmlns:p14="http://schemas.microsoft.com/office/powerpoint/2010/main" val="2621229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xfrm>
            <a:off x="-223838" y="808038"/>
            <a:ext cx="7185026" cy="4041775"/>
          </a:xfrm>
          <a:ln/>
        </p:spPr>
      </p:sp>
      <p:sp>
        <p:nvSpPr>
          <p:cNvPr id="54275" name="Notes Placeholder 2"/>
          <p:cNvSpPr>
            <a:spLocks noGrp="1"/>
          </p:cNvSpPr>
          <p:nvPr>
            <p:ph type="body" idx="1"/>
          </p:nvPr>
        </p:nvSpPr>
        <p:spPr>
          <a:noFill/>
          <a:ln/>
        </p:spPr>
        <p:txBody>
          <a:bodyPr/>
          <a:lstStyle/>
          <a:p>
            <a:endParaRPr lang="en-US"/>
          </a:p>
        </p:txBody>
      </p:sp>
      <p:sp>
        <p:nvSpPr>
          <p:cNvPr id="54276" name="Slide Number Placeholder 3"/>
          <p:cNvSpPr>
            <a:spLocks noGrp="1"/>
          </p:cNvSpPr>
          <p:nvPr>
            <p:ph type="sldNum" sz="quarter" idx="5"/>
          </p:nvPr>
        </p:nvSpPr>
        <p:spPr>
          <a:noFill/>
        </p:spPr>
        <p:txBody>
          <a:bodyPr/>
          <a:lstStyle/>
          <a:p>
            <a:fld id="{5C78AE12-B113-48C1-9BFB-17014A57420F}" type="slidenum">
              <a:rPr lang="en-GB" smtClean="0"/>
              <a:pPr/>
              <a:t>41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2394E-FC02-8D75-BD78-445F412677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C9BE5B9-3A9D-901F-C1A6-343C87CCD9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38563EE-93CC-0088-4BC6-C86677DB7ED1}"/>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5" name="Footer Placeholder 4">
            <a:extLst>
              <a:ext uri="{FF2B5EF4-FFF2-40B4-BE49-F238E27FC236}">
                <a16:creationId xmlns:a16="http://schemas.microsoft.com/office/drawing/2014/main" id="{689E9C32-964E-61BB-85E4-0182DE02F8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787F2C-1517-C3DA-9D0C-574823DDDE62}"/>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2379153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F932F-D56B-E04B-B832-02235B1FBC9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3E8C37F-EB90-4DF6-ED27-C8BD3A9020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A8C1EC-DE1F-9BF8-59DF-66491549316D}"/>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5" name="Footer Placeholder 4">
            <a:extLst>
              <a:ext uri="{FF2B5EF4-FFF2-40B4-BE49-F238E27FC236}">
                <a16:creationId xmlns:a16="http://schemas.microsoft.com/office/drawing/2014/main" id="{2236A530-474C-2707-E806-89C508656C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CAC432-01D8-75BE-0A70-98E5630A8017}"/>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398343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93A8-4B06-83F1-B973-33DC080880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3B4BBEB-630D-1B47-8EBB-1382F17E8C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B19798-C333-F0E9-6C1A-667E39638E39}"/>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5" name="Footer Placeholder 4">
            <a:extLst>
              <a:ext uri="{FF2B5EF4-FFF2-40B4-BE49-F238E27FC236}">
                <a16:creationId xmlns:a16="http://schemas.microsoft.com/office/drawing/2014/main" id="{A271395F-DF3B-A0BE-90A3-65323E59D4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08F98B-7090-EC5C-A4AA-0AD993D1FCE5}"/>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1479725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DD06-06CB-C587-8C50-D856F4F107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A176B0D-ADA3-1952-BD43-40DCFDB0A2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42283D9-6E12-23F7-D2E9-55706150E4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4A58CE9-ACFB-3C9C-B6C3-031D46478DFE}"/>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6" name="Footer Placeholder 5">
            <a:extLst>
              <a:ext uri="{FF2B5EF4-FFF2-40B4-BE49-F238E27FC236}">
                <a16:creationId xmlns:a16="http://schemas.microsoft.com/office/drawing/2014/main" id="{B579E413-2BCC-0621-04D5-422A8CD12E4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044D98-AEA5-697D-684B-492D6040A94A}"/>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3661500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710CF-AEC9-403A-F956-843F33436EE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769BCEE-5607-3EEC-90AA-615CD8A9FA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8BDCD-A6A6-5E20-B239-EF97A782D5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03BC957-3EA2-983A-48D2-44CB0FAEE8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6398C2-A863-FA99-A81E-8868065E97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8605018-0262-E989-AE34-8F33A4C6ED34}"/>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8" name="Footer Placeholder 7">
            <a:extLst>
              <a:ext uri="{FF2B5EF4-FFF2-40B4-BE49-F238E27FC236}">
                <a16:creationId xmlns:a16="http://schemas.microsoft.com/office/drawing/2014/main" id="{F93F5B3B-EC3D-174D-E561-3405F0F043A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B10F762-BBD9-8B00-912C-CB255850F1F5}"/>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2845262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E2A13-C46E-D688-9F25-77C2725A4AB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D763BA6-EB5A-63ED-77E8-028070A1D8D2}"/>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4" name="Footer Placeholder 3">
            <a:extLst>
              <a:ext uri="{FF2B5EF4-FFF2-40B4-BE49-F238E27FC236}">
                <a16:creationId xmlns:a16="http://schemas.microsoft.com/office/drawing/2014/main" id="{C575BC89-7481-B464-0685-4B862763F27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E932451-17ED-B2E7-E37F-EB6AA9DCCD5C}"/>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2281866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7EFB5B-A106-26DA-3ED2-62FC3A8D46AE}"/>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3" name="Footer Placeholder 2">
            <a:extLst>
              <a:ext uri="{FF2B5EF4-FFF2-40B4-BE49-F238E27FC236}">
                <a16:creationId xmlns:a16="http://schemas.microsoft.com/office/drawing/2014/main" id="{627FC273-FD4C-132A-1347-F80659D314E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2F9CA1A-23EB-C095-4B03-A9B45DF816DD}"/>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3956720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03410-EAE1-2F89-42B2-EAECFA9EB5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C2D320A-14F3-C8B6-8392-3987E939F2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59B9CFC-2C6E-5240-6127-A8BAA3F7F8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17D622-AD51-B8B3-EF76-823C3341258F}"/>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6" name="Footer Placeholder 5">
            <a:extLst>
              <a:ext uri="{FF2B5EF4-FFF2-40B4-BE49-F238E27FC236}">
                <a16:creationId xmlns:a16="http://schemas.microsoft.com/office/drawing/2014/main" id="{1D4A2DC7-D872-32EE-208B-0E0FEAE0BA5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842229D-A054-0EA4-340A-2AD06C9ABFFA}"/>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2728867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B685B-8878-9038-356D-4D84772298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EC6592A-E951-DBE6-30B5-EC0600D14C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6DEC84F-F582-8BC7-BA66-2A0D9087B7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774A5A-7284-EBF8-EA93-70A01C8144AF}"/>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6" name="Footer Placeholder 5">
            <a:extLst>
              <a:ext uri="{FF2B5EF4-FFF2-40B4-BE49-F238E27FC236}">
                <a16:creationId xmlns:a16="http://schemas.microsoft.com/office/drawing/2014/main" id="{35A6F9A4-12C5-BB03-C46C-7FC3161611F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5226A38-D382-5EB7-C854-22FE3860A955}"/>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468993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08D23-0974-23FA-566F-D4ED33076B0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A86EB38-C249-F159-0871-7CC47FEF03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1E0D270-7170-C11E-69CB-52CCECB60B43}"/>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5" name="Footer Placeholder 4">
            <a:extLst>
              <a:ext uri="{FF2B5EF4-FFF2-40B4-BE49-F238E27FC236}">
                <a16:creationId xmlns:a16="http://schemas.microsoft.com/office/drawing/2014/main" id="{B4FA05B7-D568-E924-692F-A41FF58987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0BB964-41A0-279F-0E2E-964AEEAA1C91}"/>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1138608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4534E2-648C-29FE-25BF-7CD79D84F2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066CDBB-12B9-9A32-03B8-2A953057B7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3207DAD-5200-8AEC-2318-1A1305C859DA}"/>
              </a:ext>
            </a:extLst>
          </p:cNvPr>
          <p:cNvSpPr>
            <a:spLocks noGrp="1"/>
          </p:cNvSpPr>
          <p:nvPr>
            <p:ph type="dt" sz="half" idx="10"/>
          </p:nvPr>
        </p:nvSpPr>
        <p:spPr/>
        <p:txBody>
          <a:bodyPr/>
          <a:lstStyle/>
          <a:p>
            <a:fld id="{72342B65-732B-4481-AB04-2459D02FA570}" type="datetimeFigureOut">
              <a:rPr lang="en-GB" smtClean="0"/>
              <a:t>26/09/2025</a:t>
            </a:fld>
            <a:endParaRPr lang="en-GB"/>
          </a:p>
        </p:txBody>
      </p:sp>
      <p:sp>
        <p:nvSpPr>
          <p:cNvPr id="5" name="Footer Placeholder 4">
            <a:extLst>
              <a:ext uri="{FF2B5EF4-FFF2-40B4-BE49-F238E27FC236}">
                <a16:creationId xmlns:a16="http://schemas.microsoft.com/office/drawing/2014/main" id="{A437A94B-9703-7237-7721-AB5EB79A60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3E8C78-2E1C-D8BD-1D5C-30782C7389DA}"/>
              </a:ext>
            </a:extLst>
          </p:cNvPr>
          <p:cNvSpPr>
            <a:spLocks noGrp="1"/>
          </p:cNvSpPr>
          <p:nvPr>
            <p:ph type="sldNum" sz="quarter" idx="12"/>
          </p:nvPr>
        </p:nvSpPr>
        <p:spPr/>
        <p:txBody>
          <a:bodyPr/>
          <a:lstStyle/>
          <a:p>
            <a:fld id="{FE19D1CF-57BD-4E4C-B2D6-0C7FABC3C115}" type="slidenum">
              <a:rPr lang="en-GB" smtClean="0"/>
              <a:t>‹#›</a:t>
            </a:fld>
            <a:endParaRPr lang="en-GB"/>
          </a:p>
        </p:txBody>
      </p:sp>
    </p:spTree>
    <p:extLst>
      <p:ext uri="{BB962C8B-B14F-4D97-AF65-F5344CB8AC3E}">
        <p14:creationId xmlns:p14="http://schemas.microsoft.com/office/powerpoint/2010/main" val="904785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8E17C-DB2F-6D0D-D940-BEAD21A03D23}"/>
              </a:ext>
            </a:extLst>
          </p:cNvPr>
          <p:cNvSpPr>
            <a:spLocks noGrp="1"/>
          </p:cNvSpPr>
          <p:nvPr>
            <p:ph type="ctrTitle"/>
          </p:nvPr>
        </p:nvSpPr>
        <p:spPr>
          <a:xfrm>
            <a:off x="1524000" y="1122363"/>
            <a:ext cx="9144000" cy="2387600"/>
          </a:xfrm>
        </p:spPr>
        <p:txBody>
          <a:bodyPr anchor="b">
            <a:normAutofit/>
          </a:bodyPr>
          <a:lstStyle>
            <a:lvl1pPr algn="ctr">
              <a:defRPr sz="5100" b="1"/>
            </a:lvl1pPr>
          </a:lstStyle>
          <a:p>
            <a:r>
              <a:rPr lang="en-US"/>
              <a:t>Click to edit Master title style</a:t>
            </a:r>
            <a:endParaRPr lang="en-GB"/>
          </a:p>
        </p:txBody>
      </p:sp>
      <p:sp>
        <p:nvSpPr>
          <p:cNvPr id="3" name="Subtitle 2">
            <a:extLst>
              <a:ext uri="{FF2B5EF4-FFF2-40B4-BE49-F238E27FC236}">
                <a16:creationId xmlns:a16="http://schemas.microsoft.com/office/drawing/2014/main" id="{107311E1-9656-257F-C3B5-C5BB70CBB392}"/>
              </a:ext>
            </a:extLst>
          </p:cNvPr>
          <p:cNvSpPr>
            <a:spLocks noGrp="1"/>
          </p:cNvSpPr>
          <p:nvPr>
            <p:ph type="subTitle" idx="1"/>
          </p:nvPr>
        </p:nvSpPr>
        <p:spPr>
          <a:xfrm>
            <a:off x="1524000" y="3602038"/>
            <a:ext cx="9144000" cy="1655762"/>
          </a:xfrm>
        </p:spPr>
        <p:txBody>
          <a:bodyPr>
            <a:normAutofit/>
          </a:bodyPr>
          <a:lstStyle>
            <a:lvl1pPr marL="0" indent="0" algn="ctr">
              <a:buNone/>
              <a:defRPr sz="185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A66BC82-A446-E20B-FB9B-E1843CAFD857}"/>
              </a:ext>
            </a:extLst>
          </p:cNvPr>
          <p:cNvSpPr>
            <a:spLocks noGrp="1"/>
          </p:cNvSpPr>
          <p:nvPr>
            <p:ph type="dt" sz="half" idx="10"/>
          </p:nvPr>
        </p:nvSpPr>
        <p:spPr/>
        <p:txBody>
          <a:bodyPr/>
          <a:lstStyle/>
          <a:p>
            <a:fld id="{514A3B4F-2C5E-468B-92C0-568D0A763F98}" type="datetime1">
              <a:rPr lang="en-GB" smtClean="0"/>
              <a:t>26/09/2025</a:t>
            </a:fld>
            <a:endParaRPr lang="en-GB"/>
          </a:p>
        </p:txBody>
      </p:sp>
      <p:sp>
        <p:nvSpPr>
          <p:cNvPr id="5" name="Footer Placeholder 4">
            <a:extLst>
              <a:ext uri="{FF2B5EF4-FFF2-40B4-BE49-F238E27FC236}">
                <a16:creationId xmlns:a16="http://schemas.microsoft.com/office/drawing/2014/main" id="{3D207022-8F13-4963-50AF-F8C608077249}"/>
              </a:ext>
            </a:extLst>
          </p:cNvPr>
          <p:cNvSpPr>
            <a:spLocks noGrp="1"/>
          </p:cNvSpPr>
          <p:nvPr>
            <p:ph type="ftr" sz="quarter" idx="11"/>
          </p:nvPr>
        </p:nvSpPr>
        <p:spPr/>
        <p:txBody>
          <a:bodyPr/>
          <a:lstStyle/>
          <a:p>
            <a:r>
              <a:rPr lang="en-GB"/>
              <a:t>Brand</a:t>
            </a:r>
          </a:p>
        </p:txBody>
      </p:sp>
      <p:sp>
        <p:nvSpPr>
          <p:cNvPr id="6" name="Slide Number Placeholder 5">
            <a:extLst>
              <a:ext uri="{FF2B5EF4-FFF2-40B4-BE49-F238E27FC236}">
                <a16:creationId xmlns:a16="http://schemas.microsoft.com/office/drawing/2014/main" id="{D1818499-B6F7-3ED9-D734-CC4206F3F863}"/>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6791299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B0081-2A12-BD36-AE9A-44DF951D75A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A79408C-4EB5-3811-3627-0B41479DD5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A9AF49-1F7C-D081-E4E9-15CAD86A4441}"/>
              </a:ext>
            </a:extLst>
          </p:cNvPr>
          <p:cNvSpPr>
            <a:spLocks noGrp="1"/>
          </p:cNvSpPr>
          <p:nvPr>
            <p:ph type="dt" sz="half" idx="10"/>
          </p:nvPr>
        </p:nvSpPr>
        <p:spPr/>
        <p:txBody>
          <a:bodyPr/>
          <a:lstStyle/>
          <a:p>
            <a:fld id="{0B5510DF-92D5-4546-890A-CE419FC699F2}" type="datetime1">
              <a:rPr lang="en-GB" smtClean="0"/>
              <a:t>26/09/2025</a:t>
            </a:fld>
            <a:endParaRPr lang="en-GB"/>
          </a:p>
        </p:txBody>
      </p:sp>
      <p:sp>
        <p:nvSpPr>
          <p:cNvPr id="5" name="Footer Placeholder 4">
            <a:extLst>
              <a:ext uri="{FF2B5EF4-FFF2-40B4-BE49-F238E27FC236}">
                <a16:creationId xmlns:a16="http://schemas.microsoft.com/office/drawing/2014/main" id="{CC3304CF-EC20-C45D-1897-FC41B6E3ACAB}"/>
              </a:ext>
            </a:extLst>
          </p:cNvPr>
          <p:cNvSpPr>
            <a:spLocks noGrp="1"/>
          </p:cNvSpPr>
          <p:nvPr>
            <p:ph type="ftr" sz="quarter" idx="11"/>
          </p:nvPr>
        </p:nvSpPr>
        <p:spPr/>
        <p:txBody>
          <a:bodyPr/>
          <a:lstStyle/>
          <a:p>
            <a:r>
              <a:rPr lang="en-GB"/>
              <a:t>Brand</a:t>
            </a:r>
          </a:p>
        </p:txBody>
      </p:sp>
      <p:sp>
        <p:nvSpPr>
          <p:cNvPr id="6" name="Slide Number Placeholder 5">
            <a:extLst>
              <a:ext uri="{FF2B5EF4-FFF2-40B4-BE49-F238E27FC236}">
                <a16:creationId xmlns:a16="http://schemas.microsoft.com/office/drawing/2014/main" id="{FAD02FA3-1E17-259D-BCAF-BF7D9A9B5C3B}"/>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41301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33384-2D35-4A5B-FAEE-A43D524406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363FE58-BD4F-3536-0C0C-A581A554E5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9025BB-D83A-9D77-9B89-21B8F67E9E4B}"/>
              </a:ext>
            </a:extLst>
          </p:cNvPr>
          <p:cNvSpPr>
            <a:spLocks noGrp="1"/>
          </p:cNvSpPr>
          <p:nvPr>
            <p:ph type="dt" sz="half" idx="10"/>
          </p:nvPr>
        </p:nvSpPr>
        <p:spPr/>
        <p:txBody>
          <a:bodyPr/>
          <a:lstStyle/>
          <a:p>
            <a:fld id="{5EFD2A35-513C-4B0D-9042-121862F806B9}" type="datetime1">
              <a:rPr lang="en-GB" smtClean="0"/>
              <a:t>26/09/2025</a:t>
            </a:fld>
            <a:endParaRPr lang="en-GB"/>
          </a:p>
        </p:txBody>
      </p:sp>
      <p:sp>
        <p:nvSpPr>
          <p:cNvPr id="5" name="Footer Placeholder 4">
            <a:extLst>
              <a:ext uri="{FF2B5EF4-FFF2-40B4-BE49-F238E27FC236}">
                <a16:creationId xmlns:a16="http://schemas.microsoft.com/office/drawing/2014/main" id="{6BA1A0D3-868A-937E-3D3D-0F5D488637C3}"/>
              </a:ext>
            </a:extLst>
          </p:cNvPr>
          <p:cNvSpPr>
            <a:spLocks noGrp="1"/>
          </p:cNvSpPr>
          <p:nvPr>
            <p:ph type="ftr" sz="quarter" idx="11"/>
          </p:nvPr>
        </p:nvSpPr>
        <p:spPr/>
        <p:txBody>
          <a:bodyPr/>
          <a:lstStyle/>
          <a:p>
            <a:r>
              <a:rPr lang="en-GB"/>
              <a:t>Brand</a:t>
            </a:r>
          </a:p>
        </p:txBody>
      </p:sp>
      <p:sp>
        <p:nvSpPr>
          <p:cNvPr id="6" name="Slide Number Placeholder 5">
            <a:extLst>
              <a:ext uri="{FF2B5EF4-FFF2-40B4-BE49-F238E27FC236}">
                <a16:creationId xmlns:a16="http://schemas.microsoft.com/office/drawing/2014/main" id="{CD3C8CEB-5EAA-8B95-F44A-9186B0704FB6}"/>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2245564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EFBB4-BF76-E664-761E-BC15F9D5B75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EFF8D0-8052-CA5A-6C76-803F95711F08}"/>
              </a:ext>
            </a:extLst>
          </p:cNvPr>
          <p:cNvSpPr>
            <a:spLocks noGrp="1"/>
          </p:cNvSpPr>
          <p:nvPr>
            <p:ph sz="half" idx="1"/>
          </p:nvPr>
        </p:nvSpPr>
        <p:spPr>
          <a:xfrm>
            <a:off x="838200" y="2319677"/>
            <a:ext cx="5181600" cy="38572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CDD8E10-9488-4DDB-DA4F-A22603651040}"/>
              </a:ext>
            </a:extLst>
          </p:cNvPr>
          <p:cNvSpPr>
            <a:spLocks noGrp="1"/>
          </p:cNvSpPr>
          <p:nvPr>
            <p:ph sz="half" idx="2"/>
          </p:nvPr>
        </p:nvSpPr>
        <p:spPr>
          <a:xfrm>
            <a:off x="6172200" y="2319677"/>
            <a:ext cx="5181600" cy="3857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E314B37-0D91-43D5-746F-958DA10D7F08}"/>
              </a:ext>
            </a:extLst>
          </p:cNvPr>
          <p:cNvSpPr>
            <a:spLocks noGrp="1"/>
          </p:cNvSpPr>
          <p:nvPr>
            <p:ph type="dt" sz="half" idx="10"/>
          </p:nvPr>
        </p:nvSpPr>
        <p:spPr/>
        <p:txBody>
          <a:bodyPr/>
          <a:lstStyle/>
          <a:p>
            <a:fld id="{44B4C33C-6DE2-41FA-AEAA-16943DE2977B}" type="datetime1">
              <a:rPr lang="en-GB" smtClean="0"/>
              <a:t>26/09/2025</a:t>
            </a:fld>
            <a:endParaRPr lang="en-GB"/>
          </a:p>
        </p:txBody>
      </p:sp>
      <p:sp>
        <p:nvSpPr>
          <p:cNvPr id="6" name="Footer Placeholder 5">
            <a:extLst>
              <a:ext uri="{FF2B5EF4-FFF2-40B4-BE49-F238E27FC236}">
                <a16:creationId xmlns:a16="http://schemas.microsoft.com/office/drawing/2014/main" id="{8B498133-E163-9A33-32C6-E3806D848465}"/>
              </a:ext>
            </a:extLst>
          </p:cNvPr>
          <p:cNvSpPr>
            <a:spLocks noGrp="1"/>
          </p:cNvSpPr>
          <p:nvPr>
            <p:ph type="ftr" sz="quarter" idx="11"/>
          </p:nvPr>
        </p:nvSpPr>
        <p:spPr/>
        <p:txBody>
          <a:bodyPr/>
          <a:lstStyle/>
          <a:p>
            <a:r>
              <a:rPr lang="en-GB"/>
              <a:t>Brand</a:t>
            </a:r>
          </a:p>
        </p:txBody>
      </p:sp>
      <p:sp>
        <p:nvSpPr>
          <p:cNvPr id="7" name="Slide Number Placeholder 6">
            <a:extLst>
              <a:ext uri="{FF2B5EF4-FFF2-40B4-BE49-F238E27FC236}">
                <a16:creationId xmlns:a16="http://schemas.microsoft.com/office/drawing/2014/main" id="{2CB349D6-B266-754E-13CA-11F793AF957C}"/>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2363188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D05D-DDC5-238C-CEDB-B3FE6CF63E99}"/>
              </a:ext>
            </a:extLst>
          </p:cNvPr>
          <p:cNvSpPr>
            <a:spLocks noGrp="1"/>
          </p:cNvSpPr>
          <p:nvPr>
            <p:ph type="title"/>
          </p:nvPr>
        </p:nvSpPr>
        <p:spPr>
          <a:xfrm>
            <a:off x="838200" y="1146629"/>
            <a:ext cx="10515600" cy="1037942"/>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1F34FDC-D0AE-5381-699D-644D0C0B0CCE}"/>
              </a:ext>
            </a:extLst>
          </p:cNvPr>
          <p:cNvSpPr>
            <a:spLocks noGrp="1"/>
          </p:cNvSpPr>
          <p:nvPr>
            <p:ph type="body" idx="1" hasCustomPrompt="1"/>
          </p:nvPr>
        </p:nvSpPr>
        <p:spPr>
          <a:xfrm>
            <a:off x="836612" y="2087223"/>
            <a:ext cx="5157787"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 </a:t>
            </a:r>
          </a:p>
        </p:txBody>
      </p:sp>
      <p:sp>
        <p:nvSpPr>
          <p:cNvPr id="4" name="Content Placeholder 3">
            <a:extLst>
              <a:ext uri="{FF2B5EF4-FFF2-40B4-BE49-F238E27FC236}">
                <a16:creationId xmlns:a16="http://schemas.microsoft.com/office/drawing/2014/main" id="{C1C47E49-DBE6-D1F0-CA71-C7F520E5CF95}"/>
              </a:ext>
            </a:extLst>
          </p:cNvPr>
          <p:cNvSpPr>
            <a:spLocks noGrp="1"/>
          </p:cNvSpPr>
          <p:nvPr>
            <p:ph sz="half" idx="2"/>
          </p:nvPr>
        </p:nvSpPr>
        <p:spPr>
          <a:xfrm>
            <a:off x="839788" y="3006725"/>
            <a:ext cx="5157787" cy="3182937"/>
          </a:xfrm>
        </p:spPr>
        <p:txBody>
          <a:bodyPr>
            <a:normAutofit/>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C7C5799-8547-AA54-AEA8-D4673F725BDC}"/>
              </a:ext>
            </a:extLst>
          </p:cNvPr>
          <p:cNvSpPr>
            <a:spLocks noGrp="1"/>
          </p:cNvSpPr>
          <p:nvPr>
            <p:ph type="body" sz="quarter" idx="3" hasCustomPrompt="1"/>
          </p:nvPr>
        </p:nvSpPr>
        <p:spPr>
          <a:xfrm>
            <a:off x="6172200" y="2087223"/>
            <a:ext cx="5183188"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 </a:t>
            </a:r>
          </a:p>
        </p:txBody>
      </p:sp>
      <p:sp>
        <p:nvSpPr>
          <p:cNvPr id="6" name="Content Placeholder 5">
            <a:extLst>
              <a:ext uri="{FF2B5EF4-FFF2-40B4-BE49-F238E27FC236}">
                <a16:creationId xmlns:a16="http://schemas.microsoft.com/office/drawing/2014/main" id="{A6D5C88A-86D3-DEA9-1631-52B3F8DC52EB}"/>
              </a:ext>
            </a:extLst>
          </p:cNvPr>
          <p:cNvSpPr>
            <a:spLocks noGrp="1"/>
          </p:cNvSpPr>
          <p:nvPr>
            <p:ph sz="quarter" idx="4"/>
          </p:nvPr>
        </p:nvSpPr>
        <p:spPr>
          <a:xfrm>
            <a:off x="6172200" y="3006725"/>
            <a:ext cx="5183188" cy="3182938"/>
          </a:xfrm>
        </p:spPr>
        <p:txBody>
          <a:bodyPr>
            <a:normAutofit/>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8799A8C-FAE2-C817-A3AB-430214F2966D}"/>
              </a:ext>
            </a:extLst>
          </p:cNvPr>
          <p:cNvSpPr>
            <a:spLocks noGrp="1"/>
          </p:cNvSpPr>
          <p:nvPr>
            <p:ph type="dt" sz="half" idx="10"/>
          </p:nvPr>
        </p:nvSpPr>
        <p:spPr/>
        <p:txBody>
          <a:bodyPr/>
          <a:lstStyle/>
          <a:p>
            <a:fld id="{40E44857-5D00-43BD-813B-3240CE012591}" type="datetime1">
              <a:rPr lang="en-GB" smtClean="0"/>
              <a:t>26/09/2025</a:t>
            </a:fld>
            <a:endParaRPr lang="en-GB"/>
          </a:p>
        </p:txBody>
      </p:sp>
      <p:sp>
        <p:nvSpPr>
          <p:cNvPr id="8" name="Footer Placeholder 7">
            <a:extLst>
              <a:ext uri="{FF2B5EF4-FFF2-40B4-BE49-F238E27FC236}">
                <a16:creationId xmlns:a16="http://schemas.microsoft.com/office/drawing/2014/main" id="{EDFCC5C4-3204-A227-4F22-09793B11DFF5}"/>
              </a:ext>
            </a:extLst>
          </p:cNvPr>
          <p:cNvSpPr>
            <a:spLocks noGrp="1"/>
          </p:cNvSpPr>
          <p:nvPr>
            <p:ph type="ftr" sz="quarter" idx="11"/>
          </p:nvPr>
        </p:nvSpPr>
        <p:spPr/>
        <p:txBody>
          <a:bodyPr/>
          <a:lstStyle/>
          <a:p>
            <a:r>
              <a:rPr lang="en-GB"/>
              <a:t>Brand</a:t>
            </a:r>
          </a:p>
        </p:txBody>
      </p:sp>
      <p:sp>
        <p:nvSpPr>
          <p:cNvPr id="9" name="Slide Number Placeholder 8">
            <a:extLst>
              <a:ext uri="{FF2B5EF4-FFF2-40B4-BE49-F238E27FC236}">
                <a16:creationId xmlns:a16="http://schemas.microsoft.com/office/drawing/2014/main" id="{EF1B0F1E-8364-5DA2-0362-78ACE6A5FDF1}"/>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2754981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E0306-11A2-2EE7-5087-6A57705FCB2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3567194-677E-CA43-509F-468386A2B297}"/>
              </a:ext>
            </a:extLst>
          </p:cNvPr>
          <p:cNvSpPr>
            <a:spLocks noGrp="1"/>
          </p:cNvSpPr>
          <p:nvPr>
            <p:ph type="dt" sz="half" idx="10"/>
          </p:nvPr>
        </p:nvSpPr>
        <p:spPr/>
        <p:txBody>
          <a:bodyPr/>
          <a:lstStyle/>
          <a:p>
            <a:fld id="{36AC7C5F-55C3-40BA-B62E-24870D4AC9B0}" type="datetime1">
              <a:rPr lang="en-GB" smtClean="0"/>
              <a:t>26/09/2025</a:t>
            </a:fld>
            <a:endParaRPr lang="en-GB"/>
          </a:p>
        </p:txBody>
      </p:sp>
      <p:sp>
        <p:nvSpPr>
          <p:cNvPr id="4" name="Footer Placeholder 3">
            <a:extLst>
              <a:ext uri="{FF2B5EF4-FFF2-40B4-BE49-F238E27FC236}">
                <a16:creationId xmlns:a16="http://schemas.microsoft.com/office/drawing/2014/main" id="{BA97E029-2EB8-4F25-3C2F-1DFCCCFBA03D}"/>
              </a:ext>
            </a:extLst>
          </p:cNvPr>
          <p:cNvSpPr>
            <a:spLocks noGrp="1"/>
          </p:cNvSpPr>
          <p:nvPr>
            <p:ph type="ftr" sz="quarter" idx="11"/>
          </p:nvPr>
        </p:nvSpPr>
        <p:spPr/>
        <p:txBody>
          <a:bodyPr/>
          <a:lstStyle/>
          <a:p>
            <a:r>
              <a:rPr lang="en-GB"/>
              <a:t>Brand</a:t>
            </a:r>
          </a:p>
        </p:txBody>
      </p:sp>
      <p:sp>
        <p:nvSpPr>
          <p:cNvPr id="5" name="Slide Number Placeholder 4">
            <a:extLst>
              <a:ext uri="{FF2B5EF4-FFF2-40B4-BE49-F238E27FC236}">
                <a16:creationId xmlns:a16="http://schemas.microsoft.com/office/drawing/2014/main" id="{7E07D68E-0708-15A8-0A2E-B632219C78F7}"/>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2712819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224CAC-BDEA-0BFB-3F3B-095343D625F1}"/>
              </a:ext>
            </a:extLst>
          </p:cNvPr>
          <p:cNvSpPr>
            <a:spLocks noGrp="1"/>
          </p:cNvSpPr>
          <p:nvPr>
            <p:ph type="dt" sz="half" idx="10"/>
          </p:nvPr>
        </p:nvSpPr>
        <p:spPr/>
        <p:txBody>
          <a:bodyPr/>
          <a:lstStyle/>
          <a:p>
            <a:fld id="{04300C7F-A37C-4388-8A85-2EDDAA0D82A8}" type="datetime1">
              <a:rPr lang="en-GB" smtClean="0"/>
              <a:t>26/09/2025</a:t>
            </a:fld>
            <a:endParaRPr lang="en-GB"/>
          </a:p>
        </p:txBody>
      </p:sp>
      <p:sp>
        <p:nvSpPr>
          <p:cNvPr id="3" name="Footer Placeholder 2">
            <a:extLst>
              <a:ext uri="{FF2B5EF4-FFF2-40B4-BE49-F238E27FC236}">
                <a16:creationId xmlns:a16="http://schemas.microsoft.com/office/drawing/2014/main" id="{C54D61B3-46FA-CA73-2F7D-F74DED20D97D}"/>
              </a:ext>
            </a:extLst>
          </p:cNvPr>
          <p:cNvSpPr>
            <a:spLocks noGrp="1"/>
          </p:cNvSpPr>
          <p:nvPr>
            <p:ph type="ftr" sz="quarter" idx="11"/>
          </p:nvPr>
        </p:nvSpPr>
        <p:spPr/>
        <p:txBody>
          <a:bodyPr/>
          <a:lstStyle/>
          <a:p>
            <a:r>
              <a:rPr lang="en-GB"/>
              <a:t>Brand</a:t>
            </a:r>
          </a:p>
        </p:txBody>
      </p:sp>
      <p:sp>
        <p:nvSpPr>
          <p:cNvPr id="4" name="Slide Number Placeholder 3">
            <a:extLst>
              <a:ext uri="{FF2B5EF4-FFF2-40B4-BE49-F238E27FC236}">
                <a16:creationId xmlns:a16="http://schemas.microsoft.com/office/drawing/2014/main" id="{08C76D6A-5DCF-01B1-64C1-D90ED2025360}"/>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16872343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5907E-EDCE-923B-CDC5-2854C851F0CB}"/>
              </a:ext>
            </a:extLst>
          </p:cNvPr>
          <p:cNvSpPr>
            <a:spLocks noGrp="1"/>
          </p:cNvSpPr>
          <p:nvPr>
            <p:ph type="title"/>
          </p:nvPr>
        </p:nvSpPr>
        <p:spPr>
          <a:xfrm>
            <a:off x="839788" y="948871"/>
            <a:ext cx="3932237" cy="1600200"/>
          </a:xfrm>
        </p:spPr>
        <p:txBody>
          <a:bodyPr anchor="b">
            <a:normAutofit/>
          </a:bodyPr>
          <a:lstStyle>
            <a:lvl1pPr>
              <a:defRPr sz="3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D42AAD4-46DF-DA9B-C879-333681122F5F}"/>
              </a:ext>
            </a:extLst>
          </p:cNvPr>
          <p:cNvSpPr>
            <a:spLocks noGrp="1"/>
          </p:cNvSpPr>
          <p:nvPr>
            <p:ph idx="1"/>
          </p:nvPr>
        </p:nvSpPr>
        <p:spPr>
          <a:xfrm>
            <a:off x="5183188" y="987425"/>
            <a:ext cx="6172200" cy="4873625"/>
          </a:xfrm>
        </p:spPr>
        <p:txBody>
          <a:bodyPr>
            <a:normAutofit/>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23FEBB3-5774-E62A-63FE-23FA22F3C110}"/>
              </a:ext>
            </a:extLst>
          </p:cNvPr>
          <p:cNvSpPr>
            <a:spLocks noGrp="1"/>
          </p:cNvSpPr>
          <p:nvPr>
            <p:ph type="body" sz="half" idx="2"/>
          </p:nvPr>
        </p:nvSpPr>
        <p:spPr>
          <a:xfrm>
            <a:off x="839788" y="2552700"/>
            <a:ext cx="3932237" cy="33162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E08ABE-8D8D-19DD-A3F8-7CC811BD7311}"/>
              </a:ext>
            </a:extLst>
          </p:cNvPr>
          <p:cNvSpPr>
            <a:spLocks noGrp="1"/>
          </p:cNvSpPr>
          <p:nvPr>
            <p:ph type="dt" sz="half" idx="10"/>
          </p:nvPr>
        </p:nvSpPr>
        <p:spPr/>
        <p:txBody>
          <a:bodyPr/>
          <a:lstStyle/>
          <a:p>
            <a:fld id="{6B6D3275-D918-4A49-9C06-396F967DD2A0}" type="datetime1">
              <a:rPr lang="en-GB" smtClean="0"/>
              <a:t>26/09/2025</a:t>
            </a:fld>
            <a:endParaRPr lang="en-GB"/>
          </a:p>
        </p:txBody>
      </p:sp>
      <p:sp>
        <p:nvSpPr>
          <p:cNvPr id="6" name="Footer Placeholder 5">
            <a:extLst>
              <a:ext uri="{FF2B5EF4-FFF2-40B4-BE49-F238E27FC236}">
                <a16:creationId xmlns:a16="http://schemas.microsoft.com/office/drawing/2014/main" id="{C7993BC5-0D5E-236B-5E09-1022E43D6814}"/>
              </a:ext>
            </a:extLst>
          </p:cNvPr>
          <p:cNvSpPr>
            <a:spLocks noGrp="1"/>
          </p:cNvSpPr>
          <p:nvPr>
            <p:ph type="ftr" sz="quarter" idx="11"/>
          </p:nvPr>
        </p:nvSpPr>
        <p:spPr/>
        <p:txBody>
          <a:bodyPr/>
          <a:lstStyle/>
          <a:p>
            <a:r>
              <a:rPr lang="en-GB"/>
              <a:t>Brand</a:t>
            </a:r>
          </a:p>
        </p:txBody>
      </p:sp>
      <p:sp>
        <p:nvSpPr>
          <p:cNvPr id="7" name="Slide Number Placeholder 6">
            <a:extLst>
              <a:ext uri="{FF2B5EF4-FFF2-40B4-BE49-F238E27FC236}">
                <a16:creationId xmlns:a16="http://schemas.microsoft.com/office/drawing/2014/main" id="{B5518F23-FA0D-D2A0-AD46-D31FA6D35864}"/>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058315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D45E3-1F00-50DD-A482-3A4136EC5CD0}"/>
              </a:ext>
            </a:extLst>
          </p:cNvPr>
          <p:cNvSpPr>
            <a:spLocks noGrp="1"/>
          </p:cNvSpPr>
          <p:nvPr>
            <p:ph type="title"/>
          </p:nvPr>
        </p:nvSpPr>
        <p:spPr>
          <a:xfrm>
            <a:off x="836612" y="948871"/>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D77B989-A0BC-503F-E7D0-9811E0C238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8E14B8-DABD-7EDD-66A0-C820F8D14748}"/>
              </a:ext>
            </a:extLst>
          </p:cNvPr>
          <p:cNvSpPr>
            <a:spLocks noGrp="1"/>
          </p:cNvSpPr>
          <p:nvPr>
            <p:ph type="body" sz="half" idx="2"/>
          </p:nvPr>
        </p:nvSpPr>
        <p:spPr>
          <a:xfrm>
            <a:off x="839788" y="2552700"/>
            <a:ext cx="3932237"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C3692D-FE2A-A8E4-3211-A7D63B3CFB4B}"/>
              </a:ext>
            </a:extLst>
          </p:cNvPr>
          <p:cNvSpPr>
            <a:spLocks noGrp="1"/>
          </p:cNvSpPr>
          <p:nvPr>
            <p:ph type="dt" sz="half" idx="10"/>
          </p:nvPr>
        </p:nvSpPr>
        <p:spPr/>
        <p:txBody>
          <a:bodyPr/>
          <a:lstStyle/>
          <a:p>
            <a:fld id="{742EAFE5-A03A-4618-AE9E-4167AC59927D}" type="datetime1">
              <a:rPr lang="en-GB" smtClean="0"/>
              <a:t>26/09/2025</a:t>
            </a:fld>
            <a:endParaRPr lang="en-GB"/>
          </a:p>
        </p:txBody>
      </p:sp>
      <p:sp>
        <p:nvSpPr>
          <p:cNvPr id="6" name="Footer Placeholder 5">
            <a:extLst>
              <a:ext uri="{FF2B5EF4-FFF2-40B4-BE49-F238E27FC236}">
                <a16:creationId xmlns:a16="http://schemas.microsoft.com/office/drawing/2014/main" id="{73B4BF61-EADE-9DF9-56B2-23EF0EBBAB32}"/>
              </a:ext>
            </a:extLst>
          </p:cNvPr>
          <p:cNvSpPr>
            <a:spLocks noGrp="1"/>
          </p:cNvSpPr>
          <p:nvPr>
            <p:ph type="ftr" sz="quarter" idx="11"/>
          </p:nvPr>
        </p:nvSpPr>
        <p:spPr/>
        <p:txBody>
          <a:bodyPr/>
          <a:lstStyle/>
          <a:p>
            <a:r>
              <a:rPr lang="en-GB"/>
              <a:t>Brand</a:t>
            </a:r>
          </a:p>
        </p:txBody>
      </p:sp>
      <p:sp>
        <p:nvSpPr>
          <p:cNvPr id="7" name="Slide Number Placeholder 6">
            <a:extLst>
              <a:ext uri="{FF2B5EF4-FFF2-40B4-BE49-F238E27FC236}">
                <a16:creationId xmlns:a16="http://schemas.microsoft.com/office/drawing/2014/main" id="{C233D717-74CB-3808-EAAD-2F232BA325AF}"/>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5295541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06DE2-1FA4-F050-F616-3B23C770936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F7A2661-A949-87FB-DFFD-7E063600E9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03F0CC-7879-28F5-0D9A-DE9663AAE9B2}"/>
              </a:ext>
            </a:extLst>
          </p:cNvPr>
          <p:cNvSpPr>
            <a:spLocks noGrp="1"/>
          </p:cNvSpPr>
          <p:nvPr>
            <p:ph type="dt" sz="half" idx="10"/>
          </p:nvPr>
        </p:nvSpPr>
        <p:spPr/>
        <p:txBody>
          <a:bodyPr/>
          <a:lstStyle/>
          <a:p>
            <a:fld id="{767284AE-C774-46D4-A3D0-E1BFE03B9404}" type="datetime1">
              <a:rPr lang="en-GB" smtClean="0"/>
              <a:t>26/09/2025</a:t>
            </a:fld>
            <a:endParaRPr lang="en-GB"/>
          </a:p>
        </p:txBody>
      </p:sp>
      <p:sp>
        <p:nvSpPr>
          <p:cNvPr id="5" name="Footer Placeholder 4">
            <a:extLst>
              <a:ext uri="{FF2B5EF4-FFF2-40B4-BE49-F238E27FC236}">
                <a16:creationId xmlns:a16="http://schemas.microsoft.com/office/drawing/2014/main" id="{1F7EC8BF-F61E-6070-AE31-427353A48414}"/>
              </a:ext>
            </a:extLst>
          </p:cNvPr>
          <p:cNvSpPr>
            <a:spLocks noGrp="1"/>
          </p:cNvSpPr>
          <p:nvPr>
            <p:ph type="ftr" sz="quarter" idx="11"/>
          </p:nvPr>
        </p:nvSpPr>
        <p:spPr/>
        <p:txBody>
          <a:bodyPr/>
          <a:lstStyle/>
          <a:p>
            <a:r>
              <a:rPr lang="en-GB"/>
              <a:t>Brand</a:t>
            </a:r>
          </a:p>
        </p:txBody>
      </p:sp>
      <p:sp>
        <p:nvSpPr>
          <p:cNvPr id="6" name="Slide Number Placeholder 5">
            <a:extLst>
              <a:ext uri="{FF2B5EF4-FFF2-40B4-BE49-F238E27FC236}">
                <a16:creationId xmlns:a16="http://schemas.microsoft.com/office/drawing/2014/main" id="{B84EEEA2-8067-4554-A994-0FCAE9B7EF4B}"/>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18925235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 Shape 1">
    <p:spTree>
      <p:nvGrpSpPr>
        <p:cNvPr id="1" name=""/>
        <p:cNvGrpSpPr/>
        <p:nvPr/>
      </p:nvGrpSpPr>
      <p:grpSpPr>
        <a:xfrm>
          <a:off x="0" y="0"/>
          <a:ext cx="0" cy="0"/>
          <a:chOff x="0" y="0"/>
          <a:chExt cx="0" cy="0"/>
        </a:xfrm>
      </p:grpSpPr>
      <p:pic>
        <p:nvPicPr>
          <p:cNvPr id="6" name="Picture 5" descr="A blue background with black lines&#10;&#10;Description automatically generated">
            <a:extLst>
              <a:ext uri="{FF2B5EF4-FFF2-40B4-BE49-F238E27FC236}">
                <a16:creationId xmlns:a16="http://schemas.microsoft.com/office/drawing/2014/main" id="{D3BD6532-A366-D20D-A739-29FE2FB8AA9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3D0303E1-B6AC-4F45-AB03-211DC809B29C}"/>
              </a:ext>
            </a:extLst>
          </p:cNvPr>
          <p:cNvSpPr>
            <a:spLocks noGrp="1"/>
          </p:cNvSpPr>
          <p:nvPr>
            <p:ph type="dt" sz="half" idx="10"/>
          </p:nvPr>
        </p:nvSpPr>
        <p:spPr/>
        <p:txBody>
          <a:bodyPr/>
          <a:lstStyle>
            <a:lvl1pPr>
              <a:defRPr>
                <a:solidFill>
                  <a:schemeClr val="tx1"/>
                </a:solidFill>
              </a:defRPr>
            </a:lvl1pPr>
          </a:lstStyle>
          <a:p>
            <a:fld id="{239DC724-34A1-45E6-B8BF-3E41D8F8089E}" type="datetime1">
              <a:rPr lang="en-GB" smtClean="0"/>
              <a:pPr/>
              <a:t>26/09/2025</a:t>
            </a:fld>
            <a:endParaRPr lang="en-GB"/>
          </a:p>
        </p:txBody>
      </p:sp>
      <p:sp>
        <p:nvSpPr>
          <p:cNvPr id="4" name="Slide Number Placeholder 3">
            <a:extLst>
              <a:ext uri="{FF2B5EF4-FFF2-40B4-BE49-F238E27FC236}">
                <a16:creationId xmlns:a16="http://schemas.microsoft.com/office/drawing/2014/main" id="{26637CBB-9884-EF7E-D5E5-1D8BA32FC1EE}"/>
              </a:ext>
            </a:extLst>
          </p:cNvPr>
          <p:cNvSpPr>
            <a:spLocks noGrp="1"/>
          </p:cNvSpPr>
          <p:nvPr>
            <p:ph type="sldNum" sz="quarter" idx="11"/>
          </p:nvPr>
        </p:nvSpPr>
        <p:spPr/>
        <p:txBody>
          <a:bodyPr/>
          <a:lstStyle>
            <a:lvl1pPr>
              <a:defRPr>
                <a:solidFill>
                  <a:schemeClr val="tx1"/>
                </a:solidFill>
              </a:defRPr>
            </a:lvl1pPr>
          </a:lstStyle>
          <a:p>
            <a:fld id="{E53A5BC0-BAEF-4B36-8137-0A1AD2059BA3}" type="slidenum">
              <a:rPr lang="en-GB" smtClean="0"/>
              <a:pPr/>
              <a:t>‹#›</a:t>
            </a:fld>
            <a:endParaRPr lang="en-GB"/>
          </a:p>
        </p:txBody>
      </p:sp>
      <p:sp>
        <p:nvSpPr>
          <p:cNvPr id="5" name="Footer Placeholder 4">
            <a:extLst>
              <a:ext uri="{FF2B5EF4-FFF2-40B4-BE49-F238E27FC236}">
                <a16:creationId xmlns:a16="http://schemas.microsoft.com/office/drawing/2014/main" id="{AFB27CD7-2219-736E-8982-7EF0FBB073A7}"/>
              </a:ext>
            </a:extLst>
          </p:cNvPr>
          <p:cNvSpPr>
            <a:spLocks noGrp="1"/>
          </p:cNvSpPr>
          <p:nvPr>
            <p:ph type="ftr" sz="quarter" idx="12"/>
          </p:nvPr>
        </p:nvSpPr>
        <p:spPr/>
        <p:txBody>
          <a:bodyPr/>
          <a:lstStyle>
            <a:lvl1pPr>
              <a:defRPr>
                <a:solidFill>
                  <a:schemeClr val="tx1"/>
                </a:solidFill>
              </a:defRPr>
            </a:lvl1pPr>
          </a:lstStyle>
          <a:p>
            <a:r>
              <a:rPr lang="en-GB"/>
              <a:t>Brand</a:t>
            </a:r>
          </a:p>
        </p:txBody>
      </p:sp>
      <p:sp>
        <p:nvSpPr>
          <p:cNvPr id="8" name="Content Placeholder 6">
            <a:extLst>
              <a:ext uri="{FF2B5EF4-FFF2-40B4-BE49-F238E27FC236}">
                <a16:creationId xmlns:a16="http://schemas.microsoft.com/office/drawing/2014/main" id="{F3C5ECFA-1671-3088-0C10-38D8A5F6BCD1}"/>
              </a:ext>
            </a:extLst>
          </p:cNvPr>
          <p:cNvSpPr>
            <a:spLocks noGrp="1"/>
          </p:cNvSpPr>
          <p:nvPr>
            <p:ph sz="quarter" idx="13"/>
          </p:nvPr>
        </p:nvSpPr>
        <p:spPr>
          <a:xfrm>
            <a:off x="838200" y="1829435"/>
            <a:ext cx="6126480" cy="3763645"/>
          </a:xfrm>
          <a:prstGeom prst="rect">
            <a:avLst/>
          </a:prstGeom>
        </p:spPr>
        <p:txBody>
          <a:bodyPr/>
          <a:lstStyle>
            <a:lvl1pPr>
              <a:defRPr sz="1850">
                <a:solidFill>
                  <a:schemeClr val="tx1"/>
                </a:solidFill>
              </a:defRPr>
            </a:lvl1pPr>
            <a:lvl2pPr>
              <a:defRPr sz="1850">
                <a:solidFill>
                  <a:schemeClr val="tx1"/>
                </a:solidFill>
              </a:defRPr>
            </a:lvl2pPr>
            <a:lvl3pPr>
              <a:defRPr sz="1850">
                <a:solidFill>
                  <a:schemeClr val="tx1"/>
                </a:solidFill>
              </a:defRPr>
            </a:lvl3pPr>
            <a:lvl4pPr>
              <a:defRPr sz="1850">
                <a:solidFill>
                  <a:schemeClr val="tx1"/>
                </a:solidFill>
              </a:defRPr>
            </a:lvl4pPr>
            <a:lvl5pPr>
              <a:defRPr sz="18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8">
            <a:extLst>
              <a:ext uri="{FF2B5EF4-FFF2-40B4-BE49-F238E27FC236}">
                <a16:creationId xmlns:a16="http://schemas.microsoft.com/office/drawing/2014/main" id="{37D6E313-9BD6-BA0E-6F35-0DB36B00D06F}"/>
              </a:ext>
            </a:extLst>
          </p:cNvPr>
          <p:cNvSpPr>
            <a:spLocks noGrp="1"/>
          </p:cNvSpPr>
          <p:nvPr>
            <p:ph type="body" sz="quarter" idx="14" hasCustomPrompt="1"/>
          </p:nvPr>
        </p:nvSpPr>
        <p:spPr>
          <a:xfrm>
            <a:off x="838200" y="1127125"/>
            <a:ext cx="6156325" cy="641350"/>
          </a:xfrm>
          <a:prstGeom prst="rect">
            <a:avLst/>
          </a:prstGeom>
        </p:spPr>
        <p:txBody>
          <a:bodyPr/>
          <a:lstStyle>
            <a:lvl1pPr marL="0" indent="0">
              <a:buNone/>
              <a:defRPr b="1">
                <a:solidFill>
                  <a:schemeClr val="tx1"/>
                </a:solidFill>
              </a:defRPr>
            </a:lvl1pPr>
          </a:lstStyle>
          <a:p>
            <a:pPr lvl="0"/>
            <a:r>
              <a:rPr lang="en-US"/>
              <a:t>Click to edit header styles</a:t>
            </a:r>
            <a:endParaRPr lang="en-GB"/>
          </a:p>
        </p:txBody>
      </p:sp>
      <p:pic>
        <p:nvPicPr>
          <p:cNvPr id="2" name="Picture 1" descr="A black background with a black square&#10;&#10;Description automatically generated with medium confidence">
            <a:extLst>
              <a:ext uri="{FF2B5EF4-FFF2-40B4-BE49-F238E27FC236}">
                <a16:creationId xmlns:a16="http://schemas.microsoft.com/office/drawing/2014/main" id="{8DDC9993-D257-6844-CE7A-C6935B04B56F}"/>
              </a:ext>
            </a:extLst>
          </p:cNvPr>
          <p:cNvPicPr>
            <a:picLocks noChangeAspect="1"/>
          </p:cNvPicPr>
          <p:nvPr userDrawn="1"/>
        </p:nvPicPr>
        <p:blipFill>
          <a:blip r:embed="rId3"/>
          <a:stretch>
            <a:fillRect/>
          </a:stretch>
        </p:blipFill>
        <p:spPr>
          <a:xfrm>
            <a:off x="532800" y="410400"/>
            <a:ext cx="2289600" cy="928676"/>
          </a:xfrm>
          <a:prstGeom prst="rect">
            <a:avLst/>
          </a:prstGeom>
        </p:spPr>
      </p:pic>
    </p:spTree>
    <p:extLst>
      <p:ext uri="{BB962C8B-B14F-4D97-AF65-F5344CB8AC3E}">
        <p14:creationId xmlns:p14="http://schemas.microsoft.com/office/powerpoint/2010/main" val="5351096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 Shape 2">
    <p:spTree>
      <p:nvGrpSpPr>
        <p:cNvPr id="1" name=""/>
        <p:cNvGrpSpPr/>
        <p:nvPr/>
      </p:nvGrpSpPr>
      <p:grpSpPr>
        <a:xfrm>
          <a:off x="0" y="0"/>
          <a:ext cx="0" cy="0"/>
          <a:chOff x="0" y="0"/>
          <a:chExt cx="0" cy="0"/>
        </a:xfrm>
      </p:grpSpPr>
      <p:pic>
        <p:nvPicPr>
          <p:cNvPr id="2" name="Picture 1" descr="A blue background with a black line&#10;&#10;Description automatically generated">
            <a:extLst>
              <a:ext uri="{FF2B5EF4-FFF2-40B4-BE49-F238E27FC236}">
                <a16:creationId xmlns:a16="http://schemas.microsoft.com/office/drawing/2014/main" id="{DD694D10-834D-0BF1-0036-54ACB94A702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3D0303E1-B6AC-4F45-AB03-211DC809B29C}"/>
              </a:ext>
            </a:extLst>
          </p:cNvPr>
          <p:cNvSpPr>
            <a:spLocks noGrp="1"/>
          </p:cNvSpPr>
          <p:nvPr>
            <p:ph type="dt" sz="half" idx="10"/>
          </p:nvPr>
        </p:nvSpPr>
        <p:spPr/>
        <p:txBody>
          <a:bodyPr/>
          <a:lstStyle>
            <a:lvl1pPr>
              <a:defRPr>
                <a:solidFill>
                  <a:schemeClr val="tx1"/>
                </a:solidFill>
              </a:defRPr>
            </a:lvl1pPr>
          </a:lstStyle>
          <a:p>
            <a:fld id="{239DC724-34A1-45E6-B8BF-3E41D8F8089E}" type="datetime1">
              <a:rPr lang="en-GB" smtClean="0"/>
              <a:pPr/>
              <a:t>26/09/2025</a:t>
            </a:fld>
            <a:endParaRPr lang="en-GB"/>
          </a:p>
        </p:txBody>
      </p:sp>
      <p:sp>
        <p:nvSpPr>
          <p:cNvPr id="4" name="Slide Number Placeholder 3">
            <a:extLst>
              <a:ext uri="{FF2B5EF4-FFF2-40B4-BE49-F238E27FC236}">
                <a16:creationId xmlns:a16="http://schemas.microsoft.com/office/drawing/2014/main" id="{26637CBB-9884-EF7E-D5E5-1D8BA32FC1EE}"/>
              </a:ext>
            </a:extLst>
          </p:cNvPr>
          <p:cNvSpPr>
            <a:spLocks noGrp="1"/>
          </p:cNvSpPr>
          <p:nvPr>
            <p:ph type="sldNum" sz="quarter" idx="11"/>
          </p:nvPr>
        </p:nvSpPr>
        <p:spPr/>
        <p:txBody>
          <a:bodyPr/>
          <a:lstStyle>
            <a:lvl1pPr>
              <a:defRPr>
                <a:solidFill>
                  <a:schemeClr val="tx1"/>
                </a:solidFill>
              </a:defRPr>
            </a:lvl1pPr>
          </a:lstStyle>
          <a:p>
            <a:fld id="{E53A5BC0-BAEF-4B36-8137-0A1AD2059BA3}" type="slidenum">
              <a:rPr lang="en-GB" smtClean="0"/>
              <a:pPr/>
              <a:t>‹#›</a:t>
            </a:fld>
            <a:endParaRPr lang="en-GB"/>
          </a:p>
        </p:txBody>
      </p:sp>
      <p:sp>
        <p:nvSpPr>
          <p:cNvPr id="5" name="Footer Placeholder 4">
            <a:extLst>
              <a:ext uri="{FF2B5EF4-FFF2-40B4-BE49-F238E27FC236}">
                <a16:creationId xmlns:a16="http://schemas.microsoft.com/office/drawing/2014/main" id="{AFB27CD7-2219-736E-8982-7EF0FBB073A7}"/>
              </a:ext>
            </a:extLst>
          </p:cNvPr>
          <p:cNvSpPr>
            <a:spLocks noGrp="1"/>
          </p:cNvSpPr>
          <p:nvPr>
            <p:ph type="ftr" sz="quarter" idx="12"/>
          </p:nvPr>
        </p:nvSpPr>
        <p:spPr/>
        <p:txBody>
          <a:bodyPr/>
          <a:lstStyle>
            <a:lvl1pPr>
              <a:defRPr>
                <a:solidFill>
                  <a:schemeClr val="tx1"/>
                </a:solidFill>
              </a:defRPr>
            </a:lvl1pPr>
          </a:lstStyle>
          <a:p>
            <a:r>
              <a:rPr lang="en-GB"/>
              <a:t>Brand</a:t>
            </a:r>
          </a:p>
        </p:txBody>
      </p:sp>
      <p:sp>
        <p:nvSpPr>
          <p:cNvPr id="10" name="Content Placeholder 6">
            <a:extLst>
              <a:ext uri="{FF2B5EF4-FFF2-40B4-BE49-F238E27FC236}">
                <a16:creationId xmlns:a16="http://schemas.microsoft.com/office/drawing/2014/main" id="{EC9AA82F-A28B-BCCC-FD62-17FF8B40FA8D}"/>
              </a:ext>
            </a:extLst>
          </p:cNvPr>
          <p:cNvSpPr>
            <a:spLocks noGrp="1"/>
          </p:cNvSpPr>
          <p:nvPr>
            <p:ph sz="quarter" idx="13"/>
          </p:nvPr>
        </p:nvSpPr>
        <p:spPr>
          <a:xfrm>
            <a:off x="838200" y="1829435"/>
            <a:ext cx="6126480" cy="3763645"/>
          </a:xfrm>
          <a:prstGeom prst="rect">
            <a:avLst/>
          </a:prstGeom>
        </p:spPr>
        <p:txBody>
          <a:bodyPr/>
          <a:lstStyle>
            <a:lvl1pPr>
              <a:defRPr sz="1850">
                <a:solidFill>
                  <a:schemeClr val="tx1"/>
                </a:solidFill>
              </a:defRPr>
            </a:lvl1pPr>
            <a:lvl2pPr>
              <a:defRPr sz="1850">
                <a:solidFill>
                  <a:schemeClr val="tx1"/>
                </a:solidFill>
              </a:defRPr>
            </a:lvl2pPr>
            <a:lvl3pPr>
              <a:defRPr sz="1850">
                <a:solidFill>
                  <a:schemeClr val="tx1"/>
                </a:solidFill>
              </a:defRPr>
            </a:lvl3pPr>
            <a:lvl4pPr>
              <a:defRPr sz="1850">
                <a:solidFill>
                  <a:schemeClr val="tx1"/>
                </a:solidFill>
              </a:defRPr>
            </a:lvl4pPr>
            <a:lvl5pPr>
              <a:defRPr sz="18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3DE92637-B13E-41C2-0EB5-8401E138C0E9}"/>
              </a:ext>
            </a:extLst>
          </p:cNvPr>
          <p:cNvSpPr>
            <a:spLocks noGrp="1"/>
          </p:cNvSpPr>
          <p:nvPr>
            <p:ph type="body" sz="quarter" idx="14" hasCustomPrompt="1"/>
          </p:nvPr>
        </p:nvSpPr>
        <p:spPr>
          <a:xfrm>
            <a:off x="838200" y="1127125"/>
            <a:ext cx="6156325" cy="641350"/>
          </a:xfrm>
          <a:prstGeom prst="rect">
            <a:avLst/>
          </a:prstGeom>
        </p:spPr>
        <p:txBody>
          <a:bodyPr/>
          <a:lstStyle>
            <a:lvl1pPr marL="0" indent="0">
              <a:buNone/>
              <a:defRPr b="1">
                <a:solidFill>
                  <a:schemeClr val="tx1"/>
                </a:solidFill>
              </a:defRPr>
            </a:lvl1pPr>
          </a:lstStyle>
          <a:p>
            <a:pPr lvl="0"/>
            <a:r>
              <a:rPr lang="en-US"/>
              <a:t>Click to edit header styles</a:t>
            </a:r>
            <a:endParaRPr lang="en-GB"/>
          </a:p>
        </p:txBody>
      </p:sp>
      <p:pic>
        <p:nvPicPr>
          <p:cNvPr id="6" name="Picture 5" descr="A black background with a black square&#10;&#10;Description automatically generated with medium confidence">
            <a:extLst>
              <a:ext uri="{FF2B5EF4-FFF2-40B4-BE49-F238E27FC236}">
                <a16:creationId xmlns:a16="http://schemas.microsoft.com/office/drawing/2014/main" id="{525108D4-0FE6-F096-D508-41BD861EDD28}"/>
              </a:ext>
            </a:extLst>
          </p:cNvPr>
          <p:cNvPicPr>
            <a:picLocks noChangeAspect="1"/>
          </p:cNvPicPr>
          <p:nvPr userDrawn="1"/>
        </p:nvPicPr>
        <p:blipFill>
          <a:blip r:embed="rId3"/>
          <a:stretch>
            <a:fillRect/>
          </a:stretch>
        </p:blipFill>
        <p:spPr>
          <a:xfrm>
            <a:off x="532800" y="410400"/>
            <a:ext cx="2289600" cy="928676"/>
          </a:xfrm>
          <a:prstGeom prst="rect">
            <a:avLst/>
          </a:prstGeom>
        </p:spPr>
      </p:pic>
    </p:spTree>
    <p:extLst>
      <p:ext uri="{BB962C8B-B14F-4D97-AF65-F5344CB8AC3E}">
        <p14:creationId xmlns:p14="http://schemas.microsoft.com/office/powerpoint/2010/main" val="21839199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 Shape 3">
    <p:spTree>
      <p:nvGrpSpPr>
        <p:cNvPr id="1" name=""/>
        <p:cNvGrpSpPr/>
        <p:nvPr/>
      </p:nvGrpSpPr>
      <p:grpSpPr>
        <a:xfrm>
          <a:off x="0" y="0"/>
          <a:ext cx="0" cy="0"/>
          <a:chOff x="0" y="0"/>
          <a:chExt cx="0" cy="0"/>
        </a:xfrm>
      </p:grpSpPr>
      <p:pic>
        <p:nvPicPr>
          <p:cNvPr id="6" name="Picture 5" descr="A blue background with a black outline&#10;&#10;Description automatically generated">
            <a:extLst>
              <a:ext uri="{FF2B5EF4-FFF2-40B4-BE49-F238E27FC236}">
                <a16:creationId xmlns:a16="http://schemas.microsoft.com/office/drawing/2014/main" id="{506F3146-83B3-25CF-8BE0-62B609A32B5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3D0303E1-B6AC-4F45-AB03-211DC809B29C}"/>
              </a:ext>
            </a:extLst>
          </p:cNvPr>
          <p:cNvSpPr>
            <a:spLocks noGrp="1"/>
          </p:cNvSpPr>
          <p:nvPr>
            <p:ph type="dt" sz="half" idx="10"/>
          </p:nvPr>
        </p:nvSpPr>
        <p:spPr/>
        <p:txBody>
          <a:bodyPr/>
          <a:lstStyle>
            <a:lvl1pPr>
              <a:defRPr>
                <a:solidFill>
                  <a:schemeClr val="tx1"/>
                </a:solidFill>
              </a:defRPr>
            </a:lvl1pPr>
          </a:lstStyle>
          <a:p>
            <a:fld id="{239DC724-34A1-45E6-B8BF-3E41D8F8089E}" type="datetime1">
              <a:rPr lang="en-GB" smtClean="0"/>
              <a:pPr/>
              <a:t>26/09/2025</a:t>
            </a:fld>
            <a:endParaRPr lang="en-GB"/>
          </a:p>
        </p:txBody>
      </p:sp>
      <p:sp>
        <p:nvSpPr>
          <p:cNvPr id="4" name="Slide Number Placeholder 3">
            <a:extLst>
              <a:ext uri="{FF2B5EF4-FFF2-40B4-BE49-F238E27FC236}">
                <a16:creationId xmlns:a16="http://schemas.microsoft.com/office/drawing/2014/main" id="{26637CBB-9884-EF7E-D5E5-1D8BA32FC1EE}"/>
              </a:ext>
            </a:extLst>
          </p:cNvPr>
          <p:cNvSpPr>
            <a:spLocks noGrp="1"/>
          </p:cNvSpPr>
          <p:nvPr>
            <p:ph type="sldNum" sz="quarter" idx="11"/>
          </p:nvPr>
        </p:nvSpPr>
        <p:spPr/>
        <p:txBody>
          <a:bodyPr/>
          <a:lstStyle>
            <a:lvl1pPr>
              <a:defRPr>
                <a:solidFill>
                  <a:schemeClr val="tx1"/>
                </a:solidFill>
              </a:defRPr>
            </a:lvl1pPr>
          </a:lstStyle>
          <a:p>
            <a:fld id="{E53A5BC0-BAEF-4B36-8137-0A1AD2059BA3}" type="slidenum">
              <a:rPr lang="en-GB" smtClean="0"/>
              <a:pPr/>
              <a:t>‹#›</a:t>
            </a:fld>
            <a:endParaRPr lang="en-GB"/>
          </a:p>
        </p:txBody>
      </p:sp>
      <p:sp>
        <p:nvSpPr>
          <p:cNvPr id="5" name="Footer Placeholder 4">
            <a:extLst>
              <a:ext uri="{FF2B5EF4-FFF2-40B4-BE49-F238E27FC236}">
                <a16:creationId xmlns:a16="http://schemas.microsoft.com/office/drawing/2014/main" id="{AFB27CD7-2219-736E-8982-7EF0FBB073A7}"/>
              </a:ext>
            </a:extLst>
          </p:cNvPr>
          <p:cNvSpPr>
            <a:spLocks noGrp="1"/>
          </p:cNvSpPr>
          <p:nvPr>
            <p:ph type="ftr" sz="quarter" idx="12"/>
          </p:nvPr>
        </p:nvSpPr>
        <p:spPr/>
        <p:txBody>
          <a:bodyPr/>
          <a:lstStyle>
            <a:lvl1pPr>
              <a:defRPr>
                <a:solidFill>
                  <a:schemeClr val="tx1"/>
                </a:solidFill>
              </a:defRPr>
            </a:lvl1pPr>
          </a:lstStyle>
          <a:p>
            <a:r>
              <a:rPr lang="en-GB"/>
              <a:t>Brand</a:t>
            </a:r>
          </a:p>
        </p:txBody>
      </p:sp>
      <p:sp>
        <p:nvSpPr>
          <p:cNvPr id="7" name="Content Placeholder 6">
            <a:extLst>
              <a:ext uri="{FF2B5EF4-FFF2-40B4-BE49-F238E27FC236}">
                <a16:creationId xmlns:a16="http://schemas.microsoft.com/office/drawing/2014/main" id="{8E873DE1-6023-B3BD-6B72-2788D6F9BC8E}"/>
              </a:ext>
            </a:extLst>
          </p:cNvPr>
          <p:cNvSpPr>
            <a:spLocks noGrp="1"/>
          </p:cNvSpPr>
          <p:nvPr>
            <p:ph sz="quarter" idx="13"/>
          </p:nvPr>
        </p:nvSpPr>
        <p:spPr>
          <a:xfrm>
            <a:off x="838200" y="1829435"/>
            <a:ext cx="6126480" cy="3763645"/>
          </a:xfrm>
          <a:prstGeom prst="rect">
            <a:avLst/>
          </a:prstGeom>
        </p:spPr>
        <p:txBody>
          <a:bodyPr/>
          <a:lstStyle>
            <a:lvl1pPr>
              <a:defRPr sz="1850">
                <a:solidFill>
                  <a:schemeClr val="tx1"/>
                </a:solidFill>
              </a:defRPr>
            </a:lvl1pPr>
            <a:lvl2pPr>
              <a:defRPr sz="1850">
                <a:solidFill>
                  <a:schemeClr val="tx1"/>
                </a:solidFill>
              </a:defRPr>
            </a:lvl2pPr>
            <a:lvl3pPr>
              <a:defRPr sz="1850">
                <a:solidFill>
                  <a:schemeClr val="tx1"/>
                </a:solidFill>
              </a:defRPr>
            </a:lvl3pPr>
            <a:lvl4pPr>
              <a:defRPr sz="1850">
                <a:solidFill>
                  <a:schemeClr val="tx1"/>
                </a:solidFill>
              </a:defRPr>
            </a:lvl4pPr>
            <a:lvl5pPr>
              <a:defRPr sz="18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8">
            <a:extLst>
              <a:ext uri="{FF2B5EF4-FFF2-40B4-BE49-F238E27FC236}">
                <a16:creationId xmlns:a16="http://schemas.microsoft.com/office/drawing/2014/main" id="{5925F3F5-4ED5-98CC-F1B4-ABE93A819FD5}"/>
              </a:ext>
            </a:extLst>
          </p:cNvPr>
          <p:cNvSpPr>
            <a:spLocks noGrp="1"/>
          </p:cNvSpPr>
          <p:nvPr>
            <p:ph type="body" sz="quarter" idx="14" hasCustomPrompt="1"/>
          </p:nvPr>
        </p:nvSpPr>
        <p:spPr>
          <a:xfrm>
            <a:off x="838200" y="1127125"/>
            <a:ext cx="6156325" cy="641350"/>
          </a:xfrm>
          <a:prstGeom prst="rect">
            <a:avLst/>
          </a:prstGeom>
        </p:spPr>
        <p:txBody>
          <a:bodyPr/>
          <a:lstStyle>
            <a:lvl1pPr marL="0" indent="0">
              <a:buNone/>
              <a:defRPr b="1">
                <a:solidFill>
                  <a:schemeClr val="tx1"/>
                </a:solidFill>
              </a:defRPr>
            </a:lvl1pPr>
          </a:lstStyle>
          <a:p>
            <a:pPr lvl="0"/>
            <a:r>
              <a:rPr lang="en-US"/>
              <a:t>Click to edit header styles</a:t>
            </a:r>
            <a:endParaRPr lang="en-GB"/>
          </a:p>
        </p:txBody>
      </p:sp>
      <p:pic>
        <p:nvPicPr>
          <p:cNvPr id="2" name="Picture 1" descr="A black background with a black square&#10;&#10;Description automatically generated with medium confidence">
            <a:extLst>
              <a:ext uri="{FF2B5EF4-FFF2-40B4-BE49-F238E27FC236}">
                <a16:creationId xmlns:a16="http://schemas.microsoft.com/office/drawing/2014/main" id="{5D14AA9C-2B5E-44BB-EFE2-29E850CBB9EC}"/>
              </a:ext>
            </a:extLst>
          </p:cNvPr>
          <p:cNvPicPr>
            <a:picLocks noChangeAspect="1"/>
          </p:cNvPicPr>
          <p:nvPr userDrawn="1"/>
        </p:nvPicPr>
        <p:blipFill>
          <a:blip r:embed="rId3"/>
          <a:stretch>
            <a:fillRect/>
          </a:stretch>
        </p:blipFill>
        <p:spPr>
          <a:xfrm>
            <a:off x="532800" y="410400"/>
            <a:ext cx="2289600" cy="928676"/>
          </a:xfrm>
          <a:prstGeom prst="rect">
            <a:avLst/>
          </a:prstGeom>
        </p:spPr>
      </p:pic>
    </p:spTree>
    <p:extLst>
      <p:ext uri="{BB962C8B-B14F-4D97-AF65-F5344CB8AC3E}">
        <p14:creationId xmlns:p14="http://schemas.microsoft.com/office/powerpoint/2010/main" val="3631416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5DC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8E17C-DB2F-6D0D-D940-BEAD21A03D23}"/>
              </a:ext>
            </a:extLst>
          </p:cNvPr>
          <p:cNvSpPr>
            <a:spLocks noGrp="1"/>
          </p:cNvSpPr>
          <p:nvPr>
            <p:ph type="ctrTitle"/>
          </p:nvPr>
        </p:nvSpPr>
        <p:spPr>
          <a:xfrm>
            <a:off x="1524000" y="1122363"/>
            <a:ext cx="9144000" cy="2387600"/>
          </a:xfrm>
        </p:spPr>
        <p:txBody>
          <a:bodyPr anchor="b">
            <a:normAutofit/>
          </a:bodyPr>
          <a:lstStyle>
            <a:lvl1pPr algn="ctr">
              <a:defRPr sz="5100" b="1">
                <a:latin typeface="+mj-lt"/>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107311E1-9656-257F-C3B5-C5BB70CBB392}"/>
              </a:ext>
            </a:extLst>
          </p:cNvPr>
          <p:cNvSpPr>
            <a:spLocks noGrp="1"/>
          </p:cNvSpPr>
          <p:nvPr>
            <p:ph type="subTitle" idx="1"/>
          </p:nvPr>
        </p:nvSpPr>
        <p:spPr>
          <a:xfrm>
            <a:off x="1524000" y="3602038"/>
            <a:ext cx="9144000" cy="1655762"/>
          </a:xfrm>
        </p:spPr>
        <p:txBody>
          <a:bodyPr>
            <a:normAutofit/>
          </a:bodyPr>
          <a:lstStyle>
            <a:lvl1pPr marL="0" indent="0" algn="ctr">
              <a:buNone/>
              <a:defRPr sz="185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A66BC82-A446-E20B-FB9B-E1843CAFD857}"/>
              </a:ext>
            </a:extLst>
          </p:cNvPr>
          <p:cNvSpPr>
            <a:spLocks noGrp="1"/>
          </p:cNvSpPr>
          <p:nvPr>
            <p:ph type="dt" sz="half" idx="10"/>
          </p:nvPr>
        </p:nvSpPr>
        <p:spPr/>
        <p:txBody>
          <a:bodyPr/>
          <a:lstStyle/>
          <a:p>
            <a:fld id="{26E5CCF8-FAAC-4E7A-BE81-EF3C1E009A80}" type="datetime1">
              <a:rPr lang="en-GB" smtClean="0"/>
              <a:t>26/09/2025</a:t>
            </a:fld>
            <a:endParaRPr lang="en-GB"/>
          </a:p>
        </p:txBody>
      </p:sp>
      <p:sp>
        <p:nvSpPr>
          <p:cNvPr id="5" name="Footer Placeholder 4">
            <a:extLst>
              <a:ext uri="{FF2B5EF4-FFF2-40B4-BE49-F238E27FC236}">
                <a16:creationId xmlns:a16="http://schemas.microsoft.com/office/drawing/2014/main" id="{3D207022-8F13-4963-50AF-F8C608077249}"/>
              </a:ext>
            </a:extLst>
          </p:cNvPr>
          <p:cNvSpPr>
            <a:spLocks noGrp="1"/>
          </p:cNvSpPr>
          <p:nvPr>
            <p:ph type="ftr" sz="quarter" idx="11"/>
          </p:nvPr>
        </p:nvSpPr>
        <p:spPr/>
        <p:txBody>
          <a:bodyPr/>
          <a:lstStyle/>
          <a:p>
            <a:r>
              <a:rPr lang="en-GB"/>
              <a:t>Brand</a:t>
            </a:r>
          </a:p>
        </p:txBody>
      </p:sp>
      <p:sp>
        <p:nvSpPr>
          <p:cNvPr id="6" name="Slide Number Placeholder 5">
            <a:extLst>
              <a:ext uri="{FF2B5EF4-FFF2-40B4-BE49-F238E27FC236}">
                <a16:creationId xmlns:a16="http://schemas.microsoft.com/office/drawing/2014/main" id="{D1818499-B6F7-3ED9-D734-CC4206F3F863}"/>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1978226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5DC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B0081-2A12-BD36-AE9A-44DF951D75A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A79408C-4EB5-3811-3627-0B41479DD5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A9AF49-1F7C-D081-E4E9-15CAD86A4441}"/>
              </a:ext>
            </a:extLst>
          </p:cNvPr>
          <p:cNvSpPr>
            <a:spLocks noGrp="1"/>
          </p:cNvSpPr>
          <p:nvPr>
            <p:ph type="dt" sz="half" idx="10"/>
          </p:nvPr>
        </p:nvSpPr>
        <p:spPr/>
        <p:txBody>
          <a:bodyPr/>
          <a:lstStyle/>
          <a:p>
            <a:fld id="{31C32423-D354-4B96-8903-942D5F62BE27}" type="datetime1">
              <a:rPr lang="en-GB" smtClean="0"/>
              <a:t>26/09/2025</a:t>
            </a:fld>
            <a:endParaRPr lang="en-GB"/>
          </a:p>
        </p:txBody>
      </p:sp>
      <p:sp>
        <p:nvSpPr>
          <p:cNvPr id="5" name="Footer Placeholder 4">
            <a:extLst>
              <a:ext uri="{FF2B5EF4-FFF2-40B4-BE49-F238E27FC236}">
                <a16:creationId xmlns:a16="http://schemas.microsoft.com/office/drawing/2014/main" id="{CC3304CF-EC20-C45D-1897-FC41B6E3ACAB}"/>
              </a:ext>
            </a:extLst>
          </p:cNvPr>
          <p:cNvSpPr>
            <a:spLocks noGrp="1"/>
          </p:cNvSpPr>
          <p:nvPr>
            <p:ph type="ftr" sz="quarter" idx="11"/>
          </p:nvPr>
        </p:nvSpPr>
        <p:spPr/>
        <p:txBody>
          <a:bodyPr/>
          <a:lstStyle/>
          <a:p>
            <a:r>
              <a:rPr lang="en-GB"/>
              <a:t>Brand</a:t>
            </a:r>
          </a:p>
        </p:txBody>
      </p:sp>
      <p:sp>
        <p:nvSpPr>
          <p:cNvPr id="6" name="Slide Number Placeholder 5">
            <a:extLst>
              <a:ext uri="{FF2B5EF4-FFF2-40B4-BE49-F238E27FC236}">
                <a16:creationId xmlns:a16="http://schemas.microsoft.com/office/drawing/2014/main" id="{FAD02FA3-1E17-259D-BCAF-BF7D9A9B5C3B}"/>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9656929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5DC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33384-2D35-4A5B-FAEE-A43D524406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363FE58-BD4F-3536-0C0C-A581A554E5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9025BB-D83A-9D77-9B89-21B8F67E9E4B}"/>
              </a:ext>
            </a:extLst>
          </p:cNvPr>
          <p:cNvSpPr>
            <a:spLocks noGrp="1"/>
          </p:cNvSpPr>
          <p:nvPr>
            <p:ph type="dt" sz="half" idx="10"/>
          </p:nvPr>
        </p:nvSpPr>
        <p:spPr/>
        <p:txBody>
          <a:bodyPr/>
          <a:lstStyle/>
          <a:p>
            <a:fld id="{8F93A69D-D4AD-4FAD-9B9A-78115D377309}" type="datetime1">
              <a:rPr lang="en-GB" smtClean="0"/>
              <a:t>26/09/2025</a:t>
            </a:fld>
            <a:endParaRPr lang="en-GB"/>
          </a:p>
        </p:txBody>
      </p:sp>
      <p:sp>
        <p:nvSpPr>
          <p:cNvPr id="5" name="Footer Placeholder 4">
            <a:extLst>
              <a:ext uri="{FF2B5EF4-FFF2-40B4-BE49-F238E27FC236}">
                <a16:creationId xmlns:a16="http://schemas.microsoft.com/office/drawing/2014/main" id="{6BA1A0D3-868A-937E-3D3D-0F5D488637C3}"/>
              </a:ext>
            </a:extLst>
          </p:cNvPr>
          <p:cNvSpPr>
            <a:spLocks noGrp="1"/>
          </p:cNvSpPr>
          <p:nvPr>
            <p:ph type="ftr" sz="quarter" idx="11"/>
          </p:nvPr>
        </p:nvSpPr>
        <p:spPr/>
        <p:txBody>
          <a:bodyPr/>
          <a:lstStyle/>
          <a:p>
            <a:r>
              <a:rPr lang="en-GB"/>
              <a:t>Brand</a:t>
            </a:r>
          </a:p>
        </p:txBody>
      </p:sp>
      <p:sp>
        <p:nvSpPr>
          <p:cNvPr id="6" name="Slide Number Placeholder 5">
            <a:extLst>
              <a:ext uri="{FF2B5EF4-FFF2-40B4-BE49-F238E27FC236}">
                <a16:creationId xmlns:a16="http://schemas.microsoft.com/office/drawing/2014/main" id="{CD3C8CEB-5EAA-8B95-F44A-9186B0704FB6}"/>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9086718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5DC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EFBB4-BF76-E664-761E-BC15F9D5B75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EFF8D0-8052-CA5A-6C76-803F95711F08}"/>
              </a:ext>
            </a:extLst>
          </p:cNvPr>
          <p:cNvSpPr>
            <a:spLocks noGrp="1"/>
          </p:cNvSpPr>
          <p:nvPr>
            <p:ph sz="half" idx="1"/>
          </p:nvPr>
        </p:nvSpPr>
        <p:spPr>
          <a:xfrm>
            <a:off x="838200" y="2319677"/>
            <a:ext cx="5181600" cy="3857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CDD8E10-9488-4DDB-DA4F-A22603651040}"/>
              </a:ext>
            </a:extLst>
          </p:cNvPr>
          <p:cNvSpPr>
            <a:spLocks noGrp="1"/>
          </p:cNvSpPr>
          <p:nvPr>
            <p:ph sz="half" idx="2"/>
          </p:nvPr>
        </p:nvSpPr>
        <p:spPr>
          <a:xfrm>
            <a:off x="6172200" y="2319675"/>
            <a:ext cx="5181600" cy="3857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E314B37-0D91-43D5-746F-958DA10D7F08}"/>
              </a:ext>
            </a:extLst>
          </p:cNvPr>
          <p:cNvSpPr>
            <a:spLocks noGrp="1"/>
          </p:cNvSpPr>
          <p:nvPr>
            <p:ph type="dt" sz="half" idx="10"/>
          </p:nvPr>
        </p:nvSpPr>
        <p:spPr/>
        <p:txBody>
          <a:bodyPr/>
          <a:lstStyle/>
          <a:p>
            <a:fld id="{0B531B77-046F-4BDF-88F2-6BAEA4763EEA}" type="datetime1">
              <a:rPr lang="en-GB" smtClean="0"/>
              <a:t>26/09/2025</a:t>
            </a:fld>
            <a:endParaRPr lang="en-GB"/>
          </a:p>
        </p:txBody>
      </p:sp>
      <p:sp>
        <p:nvSpPr>
          <p:cNvPr id="6" name="Footer Placeholder 5">
            <a:extLst>
              <a:ext uri="{FF2B5EF4-FFF2-40B4-BE49-F238E27FC236}">
                <a16:creationId xmlns:a16="http://schemas.microsoft.com/office/drawing/2014/main" id="{8B498133-E163-9A33-32C6-E3806D848465}"/>
              </a:ext>
            </a:extLst>
          </p:cNvPr>
          <p:cNvSpPr>
            <a:spLocks noGrp="1"/>
          </p:cNvSpPr>
          <p:nvPr>
            <p:ph type="ftr" sz="quarter" idx="11"/>
          </p:nvPr>
        </p:nvSpPr>
        <p:spPr/>
        <p:txBody>
          <a:bodyPr/>
          <a:lstStyle/>
          <a:p>
            <a:r>
              <a:rPr lang="en-GB"/>
              <a:t>Brand</a:t>
            </a:r>
          </a:p>
        </p:txBody>
      </p:sp>
      <p:sp>
        <p:nvSpPr>
          <p:cNvPr id="7" name="Slide Number Placeholder 6">
            <a:extLst>
              <a:ext uri="{FF2B5EF4-FFF2-40B4-BE49-F238E27FC236}">
                <a16:creationId xmlns:a16="http://schemas.microsoft.com/office/drawing/2014/main" id="{2CB349D6-B266-754E-13CA-11F793AF957C}"/>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5250471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F5DC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D05D-DDC5-238C-CEDB-B3FE6CF63E99}"/>
              </a:ext>
            </a:extLst>
          </p:cNvPr>
          <p:cNvSpPr>
            <a:spLocks noGrp="1"/>
          </p:cNvSpPr>
          <p:nvPr>
            <p:ph type="title"/>
          </p:nvPr>
        </p:nvSpPr>
        <p:spPr>
          <a:xfrm>
            <a:off x="838200" y="1146629"/>
            <a:ext cx="10515600" cy="1037942"/>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1F34FDC-D0AE-5381-699D-644D0C0B0CCE}"/>
              </a:ext>
            </a:extLst>
          </p:cNvPr>
          <p:cNvSpPr>
            <a:spLocks noGrp="1"/>
          </p:cNvSpPr>
          <p:nvPr>
            <p:ph type="body" idx="1" hasCustomPrompt="1"/>
          </p:nvPr>
        </p:nvSpPr>
        <p:spPr>
          <a:xfrm>
            <a:off x="836612" y="2087223"/>
            <a:ext cx="5157787"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 </a:t>
            </a:r>
          </a:p>
        </p:txBody>
      </p:sp>
      <p:sp>
        <p:nvSpPr>
          <p:cNvPr id="4" name="Content Placeholder 3">
            <a:extLst>
              <a:ext uri="{FF2B5EF4-FFF2-40B4-BE49-F238E27FC236}">
                <a16:creationId xmlns:a16="http://schemas.microsoft.com/office/drawing/2014/main" id="{C1C47E49-DBE6-D1F0-CA71-C7F520E5CF95}"/>
              </a:ext>
            </a:extLst>
          </p:cNvPr>
          <p:cNvSpPr>
            <a:spLocks noGrp="1"/>
          </p:cNvSpPr>
          <p:nvPr>
            <p:ph sz="half" idx="2"/>
          </p:nvPr>
        </p:nvSpPr>
        <p:spPr>
          <a:xfrm>
            <a:off x="839788" y="3006725"/>
            <a:ext cx="5157787" cy="3182937"/>
          </a:xfrm>
        </p:spPr>
        <p:txBody>
          <a:bodyPr>
            <a:normAutofit/>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C7C5799-8547-AA54-AEA8-D4673F725BDC}"/>
              </a:ext>
            </a:extLst>
          </p:cNvPr>
          <p:cNvSpPr>
            <a:spLocks noGrp="1"/>
          </p:cNvSpPr>
          <p:nvPr>
            <p:ph type="body" sz="quarter" idx="3" hasCustomPrompt="1"/>
          </p:nvPr>
        </p:nvSpPr>
        <p:spPr>
          <a:xfrm>
            <a:off x="6172200" y="2087223"/>
            <a:ext cx="5183188"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A6D5C88A-86D3-DEA9-1631-52B3F8DC52EB}"/>
              </a:ext>
            </a:extLst>
          </p:cNvPr>
          <p:cNvSpPr>
            <a:spLocks noGrp="1"/>
          </p:cNvSpPr>
          <p:nvPr>
            <p:ph sz="quarter" idx="4"/>
          </p:nvPr>
        </p:nvSpPr>
        <p:spPr>
          <a:xfrm>
            <a:off x="6172200" y="3006725"/>
            <a:ext cx="5183188" cy="3182938"/>
          </a:xfrm>
        </p:spPr>
        <p:txBody>
          <a:bodyPr>
            <a:normAutofit/>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8799A8C-FAE2-C817-A3AB-430214F2966D}"/>
              </a:ext>
            </a:extLst>
          </p:cNvPr>
          <p:cNvSpPr>
            <a:spLocks noGrp="1"/>
          </p:cNvSpPr>
          <p:nvPr>
            <p:ph type="dt" sz="half" idx="10"/>
          </p:nvPr>
        </p:nvSpPr>
        <p:spPr/>
        <p:txBody>
          <a:bodyPr/>
          <a:lstStyle/>
          <a:p>
            <a:fld id="{4B875B92-B789-4EE3-9234-1092C49DF9F5}" type="datetime1">
              <a:rPr lang="en-GB" smtClean="0"/>
              <a:t>26/09/2025</a:t>
            </a:fld>
            <a:endParaRPr lang="en-GB"/>
          </a:p>
        </p:txBody>
      </p:sp>
      <p:sp>
        <p:nvSpPr>
          <p:cNvPr id="8" name="Footer Placeholder 7">
            <a:extLst>
              <a:ext uri="{FF2B5EF4-FFF2-40B4-BE49-F238E27FC236}">
                <a16:creationId xmlns:a16="http://schemas.microsoft.com/office/drawing/2014/main" id="{EDFCC5C4-3204-A227-4F22-09793B11DFF5}"/>
              </a:ext>
            </a:extLst>
          </p:cNvPr>
          <p:cNvSpPr>
            <a:spLocks noGrp="1"/>
          </p:cNvSpPr>
          <p:nvPr>
            <p:ph type="ftr" sz="quarter" idx="11"/>
          </p:nvPr>
        </p:nvSpPr>
        <p:spPr/>
        <p:txBody>
          <a:bodyPr/>
          <a:lstStyle/>
          <a:p>
            <a:r>
              <a:rPr lang="en-GB"/>
              <a:t>Brand</a:t>
            </a:r>
          </a:p>
        </p:txBody>
      </p:sp>
      <p:sp>
        <p:nvSpPr>
          <p:cNvPr id="9" name="Slide Number Placeholder 8">
            <a:extLst>
              <a:ext uri="{FF2B5EF4-FFF2-40B4-BE49-F238E27FC236}">
                <a16:creationId xmlns:a16="http://schemas.microsoft.com/office/drawing/2014/main" id="{EF1B0F1E-8364-5DA2-0362-78ACE6A5FDF1}"/>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0867827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5DC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E0306-11A2-2EE7-5087-6A57705FCB2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3567194-677E-CA43-509F-468386A2B297}"/>
              </a:ext>
            </a:extLst>
          </p:cNvPr>
          <p:cNvSpPr>
            <a:spLocks noGrp="1"/>
          </p:cNvSpPr>
          <p:nvPr>
            <p:ph type="dt" sz="half" idx="10"/>
          </p:nvPr>
        </p:nvSpPr>
        <p:spPr/>
        <p:txBody>
          <a:bodyPr/>
          <a:lstStyle/>
          <a:p>
            <a:fld id="{E7C16E1E-427A-4DE4-ACA5-BD94E2957F78}" type="datetime1">
              <a:rPr lang="en-GB" smtClean="0"/>
              <a:t>26/09/2025</a:t>
            </a:fld>
            <a:endParaRPr lang="en-GB"/>
          </a:p>
        </p:txBody>
      </p:sp>
      <p:sp>
        <p:nvSpPr>
          <p:cNvPr id="4" name="Footer Placeholder 3">
            <a:extLst>
              <a:ext uri="{FF2B5EF4-FFF2-40B4-BE49-F238E27FC236}">
                <a16:creationId xmlns:a16="http://schemas.microsoft.com/office/drawing/2014/main" id="{BA97E029-2EB8-4F25-3C2F-1DFCCCFBA03D}"/>
              </a:ext>
            </a:extLst>
          </p:cNvPr>
          <p:cNvSpPr>
            <a:spLocks noGrp="1"/>
          </p:cNvSpPr>
          <p:nvPr>
            <p:ph type="ftr" sz="quarter" idx="11"/>
          </p:nvPr>
        </p:nvSpPr>
        <p:spPr/>
        <p:txBody>
          <a:bodyPr/>
          <a:lstStyle/>
          <a:p>
            <a:r>
              <a:rPr lang="en-GB"/>
              <a:t>Brand</a:t>
            </a:r>
          </a:p>
        </p:txBody>
      </p:sp>
      <p:sp>
        <p:nvSpPr>
          <p:cNvPr id="5" name="Slide Number Placeholder 4">
            <a:extLst>
              <a:ext uri="{FF2B5EF4-FFF2-40B4-BE49-F238E27FC236}">
                <a16:creationId xmlns:a16="http://schemas.microsoft.com/office/drawing/2014/main" id="{7E07D68E-0708-15A8-0A2E-B632219C78F7}"/>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8359520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5DC64"/>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224CAC-BDEA-0BFB-3F3B-095343D625F1}"/>
              </a:ext>
            </a:extLst>
          </p:cNvPr>
          <p:cNvSpPr>
            <a:spLocks noGrp="1"/>
          </p:cNvSpPr>
          <p:nvPr>
            <p:ph type="dt" sz="half" idx="10"/>
          </p:nvPr>
        </p:nvSpPr>
        <p:spPr/>
        <p:txBody>
          <a:bodyPr/>
          <a:lstStyle/>
          <a:p>
            <a:fld id="{B1989092-6E70-4CDE-A4A1-CD0EAE6985DC}" type="datetime1">
              <a:rPr lang="en-GB" smtClean="0"/>
              <a:t>26/09/2025</a:t>
            </a:fld>
            <a:endParaRPr lang="en-GB"/>
          </a:p>
        </p:txBody>
      </p:sp>
      <p:sp>
        <p:nvSpPr>
          <p:cNvPr id="3" name="Footer Placeholder 2">
            <a:extLst>
              <a:ext uri="{FF2B5EF4-FFF2-40B4-BE49-F238E27FC236}">
                <a16:creationId xmlns:a16="http://schemas.microsoft.com/office/drawing/2014/main" id="{C54D61B3-46FA-CA73-2F7D-F74DED20D97D}"/>
              </a:ext>
            </a:extLst>
          </p:cNvPr>
          <p:cNvSpPr>
            <a:spLocks noGrp="1"/>
          </p:cNvSpPr>
          <p:nvPr>
            <p:ph type="ftr" sz="quarter" idx="11"/>
          </p:nvPr>
        </p:nvSpPr>
        <p:spPr/>
        <p:txBody>
          <a:bodyPr/>
          <a:lstStyle/>
          <a:p>
            <a:r>
              <a:rPr lang="en-GB"/>
              <a:t>Brand</a:t>
            </a:r>
          </a:p>
        </p:txBody>
      </p:sp>
      <p:sp>
        <p:nvSpPr>
          <p:cNvPr id="4" name="Slide Number Placeholder 3">
            <a:extLst>
              <a:ext uri="{FF2B5EF4-FFF2-40B4-BE49-F238E27FC236}">
                <a16:creationId xmlns:a16="http://schemas.microsoft.com/office/drawing/2014/main" id="{08C76D6A-5DCF-01B1-64C1-D90ED2025360}"/>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2378448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F5DC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5907E-EDCE-923B-CDC5-2854C851F0CB}"/>
              </a:ext>
            </a:extLst>
          </p:cNvPr>
          <p:cNvSpPr>
            <a:spLocks noGrp="1"/>
          </p:cNvSpPr>
          <p:nvPr>
            <p:ph type="title"/>
          </p:nvPr>
        </p:nvSpPr>
        <p:spPr>
          <a:xfrm>
            <a:off x="839788" y="948871"/>
            <a:ext cx="3932237" cy="1600200"/>
          </a:xfrm>
        </p:spPr>
        <p:txBody>
          <a:bodyPr anchor="b">
            <a:normAutofit/>
          </a:bodyPr>
          <a:lstStyle>
            <a:lvl1pPr>
              <a:defRPr sz="3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D42AAD4-46DF-DA9B-C879-333681122F5F}"/>
              </a:ext>
            </a:extLst>
          </p:cNvPr>
          <p:cNvSpPr>
            <a:spLocks noGrp="1"/>
          </p:cNvSpPr>
          <p:nvPr>
            <p:ph idx="1"/>
          </p:nvPr>
        </p:nvSpPr>
        <p:spPr>
          <a:xfrm>
            <a:off x="5183188" y="987425"/>
            <a:ext cx="6172200" cy="4873625"/>
          </a:xfrm>
        </p:spPr>
        <p:txBody>
          <a:bodyPr>
            <a:normAutofit/>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23FEBB3-5774-E62A-63FE-23FA22F3C110}"/>
              </a:ext>
            </a:extLst>
          </p:cNvPr>
          <p:cNvSpPr>
            <a:spLocks noGrp="1"/>
          </p:cNvSpPr>
          <p:nvPr>
            <p:ph type="body" sz="half" idx="2"/>
          </p:nvPr>
        </p:nvSpPr>
        <p:spPr>
          <a:xfrm>
            <a:off x="839788" y="2552700"/>
            <a:ext cx="3932237" cy="33162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E08ABE-8D8D-19DD-A3F8-7CC811BD7311}"/>
              </a:ext>
            </a:extLst>
          </p:cNvPr>
          <p:cNvSpPr>
            <a:spLocks noGrp="1"/>
          </p:cNvSpPr>
          <p:nvPr>
            <p:ph type="dt" sz="half" idx="10"/>
          </p:nvPr>
        </p:nvSpPr>
        <p:spPr/>
        <p:txBody>
          <a:bodyPr/>
          <a:lstStyle/>
          <a:p>
            <a:fld id="{80D38D76-DF3F-4E19-BA10-E7659F7C335F}" type="datetime1">
              <a:rPr lang="en-GB" smtClean="0"/>
              <a:t>26/09/2025</a:t>
            </a:fld>
            <a:endParaRPr lang="en-GB"/>
          </a:p>
        </p:txBody>
      </p:sp>
      <p:sp>
        <p:nvSpPr>
          <p:cNvPr id="6" name="Footer Placeholder 5">
            <a:extLst>
              <a:ext uri="{FF2B5EF4-FFF2-40B4-BE49-F238E27FC236}">
                <a16:creationId xmlns:a16="http://schemas.microsoft.com/office/drawing/2014/main" id="{C7993BC5-0D5E-236B-5E09-1022E43D6814}"/>
              </a:ext>
            </a:extLst>
          </p:cNvPr>
          <p:cNvSpPr>
            <a:spLocks noGrp="1"/>
          </p:cNvSpPr>
          <p:nvPr>
            <p:ph type="ftr" sz="quarter" idx="11"/>
          </p:nvPr>
        </p:nvSpPr>
        <p:spPr/>
        <p:txBody>
          <a:bodyPr/>
          <a:lstStyle/>
          <a:p>
            <a:r>
              <a:rPr lang="en-GB"/>
              <a:t>Brand</a:t>
            </a:r>
          </a:p>
        </p:txBody>
      </p:sp>
      <p:sp>
        <p:nvSpPr>
          <p:cNvPr id="7" name="Slide Number Placeholder 6">
            <a:extLst>
              <a:ext uri="{FF2B5EF4-FFF2-40B4-BE49-F238E27FC236}">
                <a16:creationId xmlns:a16="http://schemas.microsoft.com/office/drawing/2014/main" id="{B5518F23-FA0D-D2A0-AD46-D31FA6D35864}"/>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21174982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F5DC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D45E3-1F00-50DD-A482-3A4136EC5CD0}"/>
              </a:ext>
            </a:extLst>
          </p:cNvPr>
          <p:cNvSpPr>
            <a:spLocks noGrp="1"/>
          </p:cNvSpPr>
          <p:nvPr>
            <p:ph type="title"/>
          </p:nvPr>
        </p:nvSpPr>
        <p:spPr>
          <a:xfrm>
            <a:off x="836612" y="948871"/>
            <a:ext cx="3932237" cy="1600200"/>
          </a:xfrm>
        </p:spPr>
        <p:txBody>
          <a:bodyPr anchor="b">
            <a:normAutofit/>
          </a:bodyPr>
          <a:lstStyle>
            <a:lvl1pPr>
              <a:defRPr sz="36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D77B989-A0BC-503F-E7D0-9811E0C238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8E14B8-DABD-7EDD-66A0-C820F8D14748}"/>
              </a:ext>
            </a:extLst>
          </p:cNvPr>
          <p:cNvSpPr>
            <a:spLocks noGrp="1"/>
          </p:cNvSpPr>
          <p:nvPr>
            <p:ph type="body" sz="half" idx="2"/>
          </p:nvPr>
        </p:nvSpPr>
        <p:spPr>
          <a:xfrm>
            <a:off x="839788" y="2552700"/>
            <a:ext cx="3932237" cy="33162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C3692D-FE2A-A8E4-3211-A7D63B3CFB4B}"/>
              </a:ext>
            </a:extLst>
          </p:cNvPr>
          <p:cNvSpPr>
            <a:spLocks noGrp="1"/>
          </p:cNvSpPr>
          <p:nvPr>
            <p:ph type="dt" sz="half" idx="10"/>
          </p:nvPr>
        </p:nvSpPr>
        <p:spPr/>
        <p:txBody>
          <a:bodyPr/>
          <a:lstStyle/>
          <a:p>
            <a:fld id="{EBF21E3D-3EB0-4DBF-AEE5-FF7ACA59163B}" type="datetime1">
              <a:rPr lang="en-GB" smtClean="0"/>
              <a:t>26/09/2025</a:t>
            </a:fld>
            <a:endParaRPr lang="en-GB"/>
          </a:p>
        </p:txBody>
      </p:sp>
      <p:sp>
        <p:nvSpPr>
          <p:cNvPr id="6" name="Footer Placeholder 5">
            <a:extLst>
              <a:ext uri="{FF2B5EF4-FFF2-40B4-BE49-F238E27FC236}">
                <a16:creationId xmlns:a16="http://schemas.microsoft.com/office/drawing/2014/main" id="{73B4BF61-EADE-9DF9-56B2-23EF0EBBAB32}"/>
              </a:ext>
            </a:extLst>
          </p:cNvPr>
          <p:cNvSpPr>
            <a:spLocks noGrp="1"/>
          </p:cNvSpPr>
          <p:nvPr>
            <p:ph type="ftr" sz="quarter" idx="11"/>
          </p:nvPr>
        </p:nvSpPr>
        <p:spPr/>
        <p:txBody>
          <a:bodyPr/>
          <a:lstStyle/>
          <a:p>
            <a:r>
              <a:rPr lang="en-GB"/>
              <a:t>Brand</a:t>
            </a:r>
          </a:p>
        </p:txBody>
      </p:sp>
      <p:sp>
        <p:nvSpPr>
          <p:cNvPr id="7" name="Slide Number Placeholder 6">
            <a:extLst>
              <a:ext uri="{FF2B5EF4-FFF2-40B4-BE49-F238E27FC236}">
                <a16:creationId xmlns:a16="http://schemas.microsoft.com/office/drawing/2014/main" id="{C233D717-74CB-3808-EAAD-2F232BA325AF}"/>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2652379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5DC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06DE2-1FA4-F050-F616-3B23C770936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F7A2661-A949-87FB-DFFD-7E063600E9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03F0CC-7879-28F5-0D9A-DE9663AAE9B2}"/>
              </a:ext>
            </a:extLst>
          </p:cNvPr>
          <p:cNvSpPr>
            <a:spLocks noGrp="1"/>
          </p:cNvSpPr>
          <p:nvPr>
            <p:ph type="dt" sz="half" idx="10"/>
          </p:nvPr>
        </p:nvSpPr>
        <p:spPr/>
        <p:txBody>
          <a:bodyPr/>
          <a:lstStyle/>
          <a:p>
            <a:fld id="{61728C89-D0E8-48BC-B4DC-8A32C2855ACF}" type="datetime1">
              <a:rPr lang="en-GB" smtClean="0"/>
              <a:t>26/09/2025</a:t>
            </a:fld>
            <a:endParaRPr lang="en-GB"/>
          </a:p>
        </p:txBody>
      </p:sp>
      <p:sp>
        <p:nvSpPr>
          <p:cNvPr id="5" name="Footer Placeholder 4">
            <a:extLst>
              <a:ext uri="{FF2B5EF4-FFF2-40B4-BE49-F238E27FC236}">
                <a16:creationId xmlns:a16="http://schemas.microsoft.com/office/drawing/2014/main" id="{1F7EC8BF-F61E-6070-AE31-427353A48414}"/>
              </a:ext>
            </a:extLst>
          </p:cNvPr>
          <p:cNvSpPr>
            <a:spLocks noGrp="1"/>
          </p:cNvSpPr>
          <p:nvPr>
            <p:ph type="ftr" sz="quarter" idx="11"/>
          </p:nvPr>
        </p:nvSpPr>
        <p:spPr/>
        <p:txBody>
          <a:bodyPr/>
          <a:lstStyle/>
          <a:p>
            <a:r>
              <a:rPr lang="en-GB"/>
              <a:t>Brand</a:t>
            </a:r>
          </a:p>
        </p:txBody>
      </p:sp>
      <p:sp>
        <p:nvSpPr>
          <p:cNvPr id="6" name="Slide Number Placeholder 5">
            <a:extLst>
              <a:ext uri="{FF2B5EF4-FFF2-40B4-BE49-F238E27FC236}">
                <a16:creationId xmlns:a16="http://schemas.microsoft.com/office/drawing/2014/main" id="{B84EEEA2-8067-4554-A994-0FCAE9B7EF4B}"/>
              </a:ext>
            </a:extLst>
          </p:cNvPr>
          <p:cNvSpPr>
            <a:spLocks noGrp="1"/>
          </p:cNvSpPr>
          <p:nvPr>
            <p:ph type="sldNum" sz="quarter" idx="12"/>
          </p:nvPr>
        </p:nvSpPr>
        <p:spPr/>
        <p:txBody>
          <a:bodyPr/>
          <a:lstStyle/>
          <a:p>
            <a:fld id="{E53A5BC0-BAEF-4B36-8137-0A1AD2059BA3}" type="slidenum">
              <a:rPr lang="en-GB" smtClean="0"/>
              <a:t>‹#›</a:t>
            </a:fld>
            <a:endParaRPr lang="en-GB"/>
          </a:p>
        </p:txBody>
      </p:sp>
    </p:spTree>
    <p:extLst>
      <p:ext uri="{BB962C8B-B14F-4D97-AF65-F5344CB8AC3E}">
        <p14:creationId xmlns:p14="http://schemas.microsoft.com/office/powerpoint/2010/main" val="37841504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n Shape 1">
    <p:spTree>
      <p:nvGrpSpPr>
        <p:cNvPr id="1" name=""/>
        <p:cNvGrpSpPr/>
        <p:nvPr/>
      </p:nvGrpSpPr>
      <p:grpSpPr>
        <a:xfrm>
          <a:off x="0" y="0"/>
          <a:ext cx="0" cy="0"/>
          <a:chOff x="0" y="0"/>
          <a:chExt cx="0" cy="0"/>
        </a:xfrm>
      </p:grpSpPr>
      <p:pic>
        <p:nvPicPr>
          <p:cNvPr id="2" name="Picture 1" descr="A yellow background with black lines&#10;&#10;Description automatically generated">
            <a:extLst>
              <a:ext uri="{FF2B5EF4-FFF2-40B4-BE49-F238E27FC236}">
                <a16:creationId xmlns:a16="http://schemas.microsoft.com/office/drawing/2014/main" id="{802EABCE-373B-7564-4BDA-22A9C411854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3D0303E1-B6AC-4F45-AB03-211DC809B29C}"/>
              </a:ext>
            </a:extLst>
          </p:cNvPr>
          <p:cNvSpPr>
            <a:spLocks noGrp="1"/>
          </p:cNvSpPr>
          <p:nvPr>
            <p:ph type="dt" sz="half" idx="10"/>
          </p:nvPr>
        </p:nvSpPr>
        <p:spPr/>
        <p:txBody>
          <a:bodyPr/>
          <a:lstStyle>
            <a:lvl1pPr>
              <a:defRPr>
                <a:solidFill>
                  <a:schemeClr val="tx1"/>
                </a:solidFill>
              </a:defRPr>
            </a:lvl1pPr>
          </a:lstStyle>
          <a:p>
            <a:fld id="{239DC724-34A1-45E6-B8BF-3E41D8F8089E}" type="datetime1">
              <a:rPr lang="en-GB" smtClean="0"/>
              <a:pPr/>
              <a:t>26/09/2025</a:t>
            </a:fld>
            <a:endParaRPr lang="en-GB"/>
          </a:p>
        </p:txBody>
      </p:sp>
      <p:sp>
        <p:nvSpPr>
          <p:cNvPr id="4" name="Slide Number Placeholder 3">
            <a:extLst>
              <a:ext uri="{FF2B5EF4-FFF2-40B4-BE49-F238E27FC236}">
                <a16:creationId xmlns:a16="http://schemas.microsoft.com/office/drawing/2014/main" id="{26637CBB-9884-EF7E-D5E5-1D8BA32FC1EE}"/>
              </a:ext>
            </a:extLst>
          </p:cNvPr>
          <p:cNvSpPr>
            <a:spLocks noGrp="1"/>
          </p:cNvSpPr>
          <p:nvPr>
            <p:ph type="sldNum" sz="quarter" idx="11"/>
          </p:nvPr>
        </p:nvSpPr>
        <p:spPr/>
        <p:txBody>
          <a:bodyPr/>
          <a:lstStyle>
            <a:lvl1pPr>
              <a:defRPr>
                <a:solidFill>
                  <a:schemeClr val="tx1"/>
                </a:solidFill>
              </a:defRPr>
            </a:lvl1pPr>
          </a:lstStyle>
          <a:p>
            <a:fld id="{E53A5BC0-BAEF-4B36-8137-0A1AD2059BA3}" type="slidenum">
              <a:rPr lang="en-GB" smtClean="0"/>
              <a:pPr/>
              <a:t>‹#›</a:t>
            </a:fld>
            <a:endParaRPr lang="en-GB"/>
          </a:p>
        </p:txBody>
      </p:sp>
      <p:sp>
        <p:nvSpPr>
          <p:cNvPr id="5" name="Footer Placeholder 4">
            <a:extLst>
              <a:ext uri="{FF2B5EF4-FFF2-40B4-BE49-F238E27FC236}">
                <a16:creationId xmlns:a16="http://schemas.microsoft.com/office/drawing/2014/main" id="{AFB27CD7-2219-736E-8982-7EF0FBB073A7}"/>
              </a:ext>
            </a:extLst>
          </p:cNvPr>
          <p:cNvSpPr>
            <a:spLocks noGrp="1"/>
          </p:cNvSpPr>
          <p:nvPr>
            <p:ph type="ftr" sz="quarter" idx="12"/>
          </p:nvPr>
        </p:nvSpPr>
        <p:spPr/>
        <p:txBody>
          <a:bodyPr/>
          <a:lstStyle>
            <a:lvl1pPr>
              <a:defRPr>
                <a:solidFill>
                  <a:schemeClr val="tx1"/>
                </a:solidFill>
              </a:defRPr>
            </a:lvl1pPr>
          </a:lstStyle>
          <a:p>
            <a:r>
              <a:rPr lang="en-GB"/>
              <a:t>Brand</a:t>
            </a:r>
          </a:p>
        </p:txBody>
      </p:sp>
      <p:sp>
        <p:nvSpPr>
          <p:cNvPr id="7" name="Content Placeholder 6">
            <a:extLst>
              <a:ext uri="{FF2B5EF4-FFF2-40B4-BE49-F238E27FC236}">
                <a16:creationId xmlns:a16="http://schemas.microsoft.com/office/drawing/2014/main" id="{55276FDE-F6AA-C1E2-2DA3-D91E954715D0}"/>
              </a:ext>
            </a:extLst>
          </p:cNvPr>
          <p:cNvSpPr>
            <a:spLocks noGrp="1"/>
          </p:cNvSpPr>
          <p:nvPr>
            <p:ph sz="quarter" idx="13"/>
          </p:nvPr>
        </p:nvSpPr>
        <p:spPr>
          <a:xfrm>
            <a:off x="838200" y="1829435"/>
            <a:ext cx="6126480" cy="3763645"/>
          </a:xfrm>
          <a:prstGeom prst="rect">
            <a:avLst/>
          </a:prstGeom>
        </p:spPr>
        <p:txBody>
          <a:bodyPr/>
          <a:lstStyle>
            <a:lvl1pPr>
              <a:defRPr sz="1850">
                <a:solidFill>
                  <a:schemeClr val="tx1"/>
                </a:solidFill>
              </a:defRPr>
            </a:lvl1pPr>
            <a:lvl2pPr>
              <a:defRPr sz="1850">
                <a:solidFill>
                  <a:schemeClr val="tx1"/>
                </a:solidFill>
              </a:defRPr>
            </a:lvl2pPr>
            <a:lvl3pPr>
              <a:defRPr sz="1850">
                <a:solidFill>
                  <a:schemeClr val="tx1"/>
                </a:solidFill>
              </a:defRPr>
            </a:lvl3pPr>
            <a:lvl4pPr>
              <a:defRPr sz="1850">
                <a:solidFill>
                  <a:schemeClr val="tx1"/>
                </a:solidFill>
              </a:defRPr>
            </a:lvl4pPr>
            <a:lvl5pPr>
              <a:defRPr sz="18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8">
            <a:extLst>
              <a:ext uri="{FF2B5EF4-FFF2-40B4-BE49-F238E27FC236}">
                <a16:creationId xmlns:a16="http://schemas.microsoft.com/office/drawing/2014/main" id="{BD86A504-8330-7510-1310-C42E18D9C37A}"/>
              </a:ext>
            </a:extLst>
          </p:cNvPr>
          <p:cNvSpPr>
            <a:spLocks noGrp="1"/>
          </p:cNvSpPr>
          <p:nvPr>
            <p:ph type="body" sz="quarter" idx="14" hasCustomPrompt="1"/>
          </p:nvPr>
        </p:nvSpPr>
        <p:spPr>
          <a:xfrm>
            <a:off x="838200" y="1127125"/>
            <a:ext cx="6156325" cy="641350"/>
          </a:xfrm>
          <a:prstGeom prst="rect">
            <a:avLst/>
          </a:prstGeom>
        </p:spPr>
        <p:txBody>
          <a:bodyPr/>
          <a:lstStyle>
            <a:lvl1pPr marL="0" indent="0">
              <a:buNone/>
              <a:defRPr b="1">
                <a:solidFill>
                  <a:schemeClr val="tx1"/>
                </a:solidFill>
              </a:defRPr>
            </a:lvl1pPr>
          </a:lstStyle>
          <a:p>
            <a:pPr lvl="0"/>
            <a:r>
              <a:rPr lang="en-US"/>
              <a:t>Click to edit header styles</a:t>
            </a:r>
            <a:endParaRPr lang="en-GB"/>
          </a:p>
        </p:txBody>
      </p:sp>
      <p:pic>
        <p:nvPicPr>
          <p:cNvPr id="6" name="Picture 5" descr="A black background with a black square&#10;&#10;Description automatically generated with medium confidence">
            <a:extLst>
              <a:ext uri="{FF2B5EF4-FFF2-40B4-BE49-F238E27FC236}">
                <a16:creationId xmlns:a16="http://schemas.microsoft.com/office/drawing/2014/main" id="{BF6D4316-ABAC-6A1C-0584-62C16C54F7B6}"/>
              </a:ext>
            </a:extLst>
          </p:cNvPr>
          <p:cNvPicPr>
            <a:picLocks noChangeAspect="1"/>
          </p:cNvPicPr>
          <p:nvPr userDrawn="1"/>
        </p:nvPicPr>
        <p:blipFill>
          <a:blip r:embed="rId3"/>
          <a:stretch>
            <a:fillRect/>
          </a:stretch>
        </p:blipFill>
        <p:spPr>
          <a:xfrm>
            <a:off x="532800" y="410400"/>
            <a:ext cx="2289600" cy="928676"/>
          </a:xfrm>
          <a:prstGeom prst="rect">
            <a:avLst/>
          </a:prstGeom>
        </p:spPr>
      </p:pic>
    </p:spTree>
    <p:extLst>
      <p:ext uri="{BB962C8B-B14F-4D97-AF65-F5344CB8AC3E}">
        <p14:creationId xmlns:p14="http://schemas.microsoft.com/office/powerpoint/2010/main" val="16510270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n Shap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07203-08AD-FD09-DCA1-9C7B713CCDA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3D0303E1-B6AC-4F45-AB03-211DC809B29C}"/>
              </a:ext>
            </a:extLst>
          </p:cNvPr>
          <p:cNvSpPr>
            <a:spLocks noGrp="1"/>
          </p:cNvSpPr>
          <p:nvPr>
            <p:ph type="dt" sz="half" idx="10"/>
          </p:nvPr>
        </p:nvSpPr>
        <p:spPr/>
        <p:txBody>
          <a:bodyPr/>
          <a:lstStyle>
            <a:lvl1pPr>
              <a:defRPr>
                <a:solidFill>
                  <a:schemeClr val="tx1"/>
                </a:solidFill>
              </a:defRPr>
            </a:lvl1pPr>
          </a:lstStyle>
          <a:p>
            <a:fld id="{239DC724-34A1-45E6-B8BF-3E41D8F8089E}" type="datetime1">
              <a:rPr lang="en-GB" smtClean="0"/>
              <a:pPr/>
              <a:t>26/09/2025</a:t>
            </a:fld>
            <a:endParaRPr lang="en-GB"/>
          </a:p>
        </p:txBody>
      </p:sp>
      <p:sp>
        <p:nvSpPr>
          <p:cNvPr id="4" name="Slide Number Placeholder 3">
            <a:extLst>
              <a:ext uri="{FF2B5EF4-FFF2-40B4-BE49-F238E27FC236}">
                <a16:creationId xmlns:a16="http://schemas.microsoft.com/office/drawing/2014/main" id="{26637CBB-9884-EF7E-D5E5-1D8BA32FC1EE}"/>
              </a:ext>
            </a:extLst>
          </p:cNvPr>
          <p:cNvSpPr>
            <a:spLocks noGrp="1"/>
          </p:cNvSpPr>
          <p:nvPr>
            <p:ph type="sldNum" sz="quarter" idx="11"/>
          </p:nvPr>
        </p:nvSpPr>
        <p:spPr/>
        <p:txBody>
          <a:bodyPr/>
          <a:lstStyle>
            <a:lvl1pPr>
              <a:defRPr>
                <a:solidFill>
                  <a:schemeClr val="tx1"/>
                </a:solidFill>
              </a:defRPr>
            </a:lvl1pPr>
          </a:lstStyle>
          <a:p>
            <a:fld id="{E53A5BC0-BAEF-4B36-8137-0A1AD2059BA3}" type="slidenum">
              <a:rPr lang="en-GB" smtClean="0"/>
              <a:pPr/>
              <a:t>‹#›</a:t>
            </a:fld>
            <a:endParaRPr lang="en-GB"/>
          </a:p>
        </p:txBody>
      </p:sp>
      <p:sp>
        <p:nvSpPr>
          <p:cNvPr id="5" name="Footer Placeholder 4">
            <a:extLst>
              <a:ext uri="{FF2B5EF4-FFF2-40B4-BE49-F238E27FC236}">
                <a16:creationId xmlns:a16="http://schemas.microsoft.com/office/drawing/2014/main" id="{AFB27CD7-2219-736E-8982-7EF0FBB073A7}"/>
              </a:ext>
            </a:extLst>
          </p:cNvPr>
          <p:cNvSpPr>
            <a:spLocks noGrp="1"/>
          </p:cNvSpPr>
          <p:nvPr>
            <p:ph type="ftr" sz="quarter" idx="12"/>
          </p:nvPr>
        </p:nvSpPr>
        <p:spPr/>
        <p:txBody>
          <a:bodyPr/>
          <a:lstStyle>
            <a:lvl1pPr>
              <a:defRPr>
                <a:solidFill>
                  <a:schemeClr val="tx1"/>
                </a:solidFill>
              </a:defRPr>
            </a:lvl1pPr>
          </a:lstStyle>
          <a:p>
            <a:r>
              <a:rPr lang="en-GB"/>
              <a:t>Brand</a:t>
            </a:r>
          </a:p>
        </p:txBody>
      </p:sp>
      <p:sp>
        <p:nvSpPr>
          <p:cNvPr id="7" name="Content Placeholder 6">
            <a:extLst>
              <a:ext uri="{FF2B5EF4-FFF2-40B4-BE49-F238E27FC236}">
                <a16:creationId xmlns:a16="http://schemas.microsoft.com/office/drawing/2014/main" id="{AF07505A-7A11-7717-9F3D-DDF922415147}"/>
              </a:ext>
            </a:extLst>
          </p:cNvPr>
          <p:cNvSpPr>
            <a:spLocks noGrp="1"/>
          </p:cNvSpPr>
          <p:nvPr>
            <p:ph sz="quarter" idx="13"/>
          </p:nvPr>
        </p:nvSpPr>
        <p:spPr>
          <a:xfrm>
            <a:off x="838200" y="1829435"/>
            <a:ext cx="6126480" cy="3763645"/>
          </a:xfrm>
          <a:prstGeom prst="rect">
            <a:avLst/>
          </a:prstGeom>
        </p:spPr>
        <p:txBody>
          <a:bodyPr/>
          <a:lstStyle>
            <a:lvl1pPr>
              <a:defRPr sz="1850">
                <a:solidFill>
                  <a:schemeClr val="tx1"/>
                </a:solidFill>
              </a:defRPr>
            </a:lvl1pPr>
            <a:lvl2pPr>
              <a:defRPr sz="1850">
                <a:solidFill>
                  <a:schemeClr val="tx1"/>
                </a:solidFill>
              </a:defRPr>
            </a:lvl2pPr>
            <a:lvl3pPr>
              <a:defRPr sz="1850">
                <a:solidFill>
                  <a:schemeClr val="tx1"/>
                </a:solidFill>
              </a:defRPr>
            </a:lvl3pPr>
            <a:lvl4pPr>
              <a:defRPr sz="1850">
                <a:solidFill>
                  <a:schemeClr val="tx1"/>
                </a:solidFill>
              </a:defRPr>
            </a:lvl4pPr>
            <a:lvl5pPr>
              <a:defRPr sz="18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8">
            <a:extLst>
              <a:ext uri="{FF2B5EF4-FFF2-40B4-BE49-F238E27FC236}">
                <a16:creationId xmlns:a16="http://schemas.microsoft.com/office/drawing/2014/main" id="{A8D5BF5F-C5DC-1052-11DC-5EFA550B0E78}"/>
              </a:ext>
            </a:extLst>
          </p:cNvPr>
          <p:cNvSpPr>
            <a:spLocks noGrp="1"/>
          </p:cNvSpPr>
          <p:nvPr>
            <p:ph type="body" sz="quarter" idx="14" hasCustomPrompt="1"/>
          </p:nvPr>
        </p:nvSpPr>
        <p:spPr>
          <a:xfrm>
            <a:off x="838200" y="1127125"/>
            <a:ext cx="6156325" cy="641350"/>
          </a:xfrm>
          <a:prstGeom prst="rect">
            <a:avLst/>
          </a:prstGeom>
        </p:spPr>
        <p:txBody>
          <a:bodyPr/>
          <a:lstStyle>
            <a:lvl1pPr marL="0" indent="0">
              <a:buNone/>
              <a:defRPr b="1">
                <a:solidFill>
                  <a:schemeClr val="tx1"/>
                </a:solidFill>
              </a:defRPr>
            </a:lvl1pPr>
          </a:lstStyle>
          <a:p>
            <a:pPr lvl="0"/>
            <a:r>
              <a:rPr lang="en-US"/>
              <a:t>Click to edit header styles</a:t>
            </a:r>
            <a:endParaRPr lang="en-GB"/>
          </a:p>
        </p:txBody>
      </p:sp>
      <p:pic>
        <p:nvPicPr>
          <p:cNvPr id="2" name="Picture 1" descr="A black background with a black square&#10;&#10;Description automatically generated with medium confidence">
            <a:extLst>
              <a:ext uri="{FF2B5EF4-FFF2-40B4-BE49-F238E27FC236}">
                <a16:creationId xmlns:a16="http://schemas.microsoft.com/office/drawing/2014/main" id="{1EC7A2CE-6C21-2ED0-9E5F-3EAA5B3A9082}"/>
              </a:ext>
            </a:extLst>
          </p:cNvPr>
          <p:cNvPicPr>
            <a:picLocks noChangeAspect="1"/>
          </p:cNvPicPr>
          <p:nvPr userDrawn="1"/>
        </p:nvPicPr>
        <p:blipFill>
          <a:blip r:embed="rId3"/>
          <a:stretch>
            <a:fillRect/>
          </a:stretch>
        </p:blipFill>
        <p:spPr>
          <a:xfrm>
            <a:off x="532800" y="410400"/>
            <a:ext cx="2289600" cy="928676"/>
          </a:xfrm>
          <a:prstGeom prst="rect">
            <a:avLst/>
          </a:prstGeom>
        </p:spPr>
      </p:pic>
    </p:spTree>
    <p:extLst>
      <p:ext uri="{BB962C8B-B14F-4D97-AF65-F5344CB8AC3E}">
        <p14:creationId xmlns:p14="http://schemas.microsoft.com/office/powerpoint/2010/main" val="2266377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an Shape 3">
    <p:spTree>
      <p:nvGrpSpPr>
        <p:cNvPr id="1" name=""/>
        <p:cNvGrpSpPr/>
        <p:nvPr/>
      </p:nvGrpSpPr>
      <p:grpSpPr>
        <a:xfrm>
          <a:off x="0" y="0"/>
          <a:ext cx="0" cy="0"/>
          <a:chOff x="0" y="0"/>
          <a:chExt cx="0" cy="0"/>
        </a:xfrm>
      </p:grpSpPr>
      <p:pic>
        <p:nvPicPr>
          <p:cNvPr id="2" name="Picture 1" descr="A yellow background with a black outline&#10;&#10;Description automatically generated">
            <a:extLst>
              <a:ext uri="{FF2B5EF4-FFF2-40B4-BE49-F238E27FC236}">
                <a16:creationId xmlns:a16="http://schemas.microsoft.com/office/drawing/2014/main" id="{78E58ADA-6206-3A54-DFF3-4BC0C10EAC0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3D0303E1-B6AC-4F45-AB03-211DC809B29C}"/>
              </a:ext>
            </a:extLst>
          </p:cNvPr>
          <p:cNvSpPr>
            <a:spLocks noGrp="1"/>
          </p:cNvSpPr>
          <p:nvPr>
            <p:ph type="dt" sz="half" idx="10"/>
          </p:nvPr>
        </p:nvSpPr>
        <p:spPr/>
        <p:txBody>
          <a:bodyPr/>
          <a:lstStyle>
            <a:lvl1pPr>
              <a:defRPr>
                <a:solidFill>
                  <a:schemeClr val="tx1"/>
                </a:solidFill>
              </a:defRPr>
            </a:lvl1pPr>
          </a:lstStyle>
          <a:p>
            <a:fld id="{239DC724-34A1-45E6-B8BF-3E41D8F8089E}" type="datetime1">
              <a:rPr lang="en-GB" smtClean="0"/>
              <a:pPr/>
              <a:t>26/09/2025</a:t>
            </a:fld>
            <a:endParaRPr lang="en-GB"/>
          </a:p>
        </p:txBody>
      </p:sp>
      <p:sp>
        <p:nvSpPr>
          <p:cNvPr id="4" name="Slide Number Placeholder 3">
            <a:extLst>
              <a:ext uri="{FF2B5EF4-FFF2-40B4-BE49-F238E27FC236}">
                <a16:creationId xmlns:a16="http://schemas.microsoft.com/office/drawing/2014/main" id="{26637CBB-9884-EF7E-D5E5-1D8BA32FC1EE}"/>
              </a:ext>
            </a:extLst>
          </p:cNvPr>
          <p:cNvSpPr>
            <a:spLocks noGrp="1"/>
          </p:cNvSpPr>
          <p:nvPr>
            <p:ph type="sldNum" sz="quarter" idx="11"/>
          </p:nvPr>
        </p:nvSpPr>
        <p:spPr/>
        <p:txBody>
          <a:bodyPr/>
          <a:lstStyle>
            <a:lvl1pPr>
              <a:defRPr>
                <a:solidFill>
                  <a:schemeClr val="tx1"/>
                </a:solidFill>
              </a:defRPr>
            </a:lvl1pPr>
          </a:lstStyle>
          <a:p>
            <a:fld id="{E53A5BC0-BAEF-4B36-8137-0A1AD2059BA3}" type="slidenum">
              <a:rPr lang="en-GB" smtClean="0"/>
              <a:pPr/>
              <a:t>‹#›</a:t>
            </a:fld>
            <a:endParaRPr lang="en-GB"/>
          </a:p>
        </p:txBody>
      </p:sp>
      <p:sp>
        <p:nvSpPr>
          <p:cNvPr id="5" name="Footer Placeholder 4">
            <a:extLst>
              <a:ext uri="{FF2B5EF4-FFF2-40B4-BE49-F238E27FC236}">
                <a16:creationId xmlns:a16="http://schemas.microsoft.com/office/drawing/2014/main" id="{AFB27CD7-2219-736E-8982-7EF0FBB073A7}"/>
              </a:ext>
            </a:extLst>
          </p:cNvPr>
          <p:cNvSpPr>
            <a:spLocks noGrp="1"/>
          </p:cNvSpPr>
          <p:nvPr>
            <p:ph type="ftr" sz="quarter" idx="12"/>
          </p:nvPr>
        </p:nvSpPr>
        <p:spPr/>
        <p:txBody>
          <a:bodyPr/>
          <a:lstStyle>
            <a:lvl1pPr>
              <a:defRPr>
                <a:solidFill>
                  <a:schemeClr val="tx1"/>
                </a:solidFill>
              </a:defRPr>
            </a:lvl1pPr>
          </a:lstStyle>
          <a:p>
            <a:r>
              <a:rPr lang="en-GB"/>
              <a:t>Brand</a:t>
            </a:r>
          </a:p>
        </p:txBody>
      </p:sp>
      <p:sp>
        <p:nvSpPr>
          <p:cNvPr id="9" name="Content Placeholder 6">
            <a:extLst>
              <a:ext uri="{FF2B5EF4-FFF2-40B4-BE49-F238E27FC236}">
                <a16:creationId xmlns:a16="http://schemas.microsoft.com/office/drawing/2014/main" id="{BF7E8A59-E2C2-8AD4-0F65-371790385C3D}"/>
              </a:ext>
            </a:extLst>
          </p:cNvPr>
          <p:cNvSpPr>
            <a:spLocks noGrp="1"/>
          </p:cNvSpPr>
          <p:nvPr>
            <p:ph sz="quarter" idx="13"/>
          </p:nvPr>
        </p:nvSpPr>
        <p:spPr>
          <a:xfrm>
            <a:off x="838200" y="1829435"/>
            <a:ext cx="6126480" cy="3763645"/>
          </a:xfrm>
          <a:prstGeom prst="rect">
            <a:avLst/>
          </a:prstGeom>
        </p:spPr>
        <p:txBody>
          <a:bodyPr/>
          <a:lstStyle>
            <a:lvl1pPr>
              <a:defRPr sz="1850">
                <a:solidFill>
                  <a:schemeClr val="tx1"/>
                </a:solidFill>
              </a:defRPr>
            </a:lvl1pPr>
            <a:lvl2pPr>
              <a:defRPr sz="1850">
                <a:solidFill>
                  <a:schemeClr val="tx1"/>
                </a:solidFill>
              </a:defRPr>
            </a:lvl2pPr>
            <a:lvl3pPr>
              <a:defRPr sz="1850">
                <a:solidFill>
                  <a:schemeClr val="tx1"/>
                </a:solidFill>
              </a:defRPr>
            </a:lvl3pPr>
            <a:lvl4pPr>
              <a:defRPr sz="1850">
                <a:solidFill>
                  <a:schemeClr val="tx1"/>
                </a:solidFill>
              </a:defRPr>
            </a:lvl4pPr>
            <a:lvl5pPr>
              <a:defRPr sz="18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a:extLst>
              <a:ext uri="{FF2B5EF4-FFF2-40B4-BE49-F238E27FC236}">
                <a16:creationId xmlns:a16="http://schemas.microsoft.com/office/drawing/2014/main" id="{5E938EE7-FE34-DEAF-F2CC-3076999D9B89}"/>
              </a:ext>
            </a:extLst>
          </p:cNvPr>
          <p:cNvSpPr>
            <a:spLocks noGrp="1"/>
          </p:cNvSpPr>
          <p:nvPr>
            <p:ph type="body" sz="quarter" idx="14" hasCustomPrompt="1"/>
          </p:nvPr>
        </p:nvSpPr>
        <p:spPr>
          <a:xfrm>
            <a:off x="838200" y="1127125"/>
            <a:ext cx="6156325" cy="641350"/>
          </a:xfrm>
          <a:prstGeom prst="rect">
            <a:avLst/>
          </a:prstGeom>
        </p:spPr>
        <p:txBody>
          <a:bodyPr/>
          <a:lstStyle>
            <a:lvl1pPr marL="0" indent="0">
              <a:buNone/>
              <a:defRPr b="1">
                <a:solidFill>
                  <a:schemeClr val="tx1"/>
                </a:solidFill>
              </a:defRPr>
            </a:lvl1pPr>
          </a:lstStyle>
          <a:p>
            <a:pPr lvl="0"/>
            <a:r>
              <a:rPr lang="en-US"/>
              <a:t>Click to edit header styles</a:t>
            </a:r>
            <a:endParaRPr lang="en-GB"/>
          </a:p>
        </p:txBody>
      </p:sp>
      <p:pic>
        <p:nvPicPr>
          <p:cNvPr id="6" name="Picture 5" descr="A black background with a black square&#10;&#10;Description automatically generated with medium confidence">
            <a:extLst>
              <a:ext uri="{FF2B5EF4-FFF2-40B4-BE49-F238E27FC236}">
                <a16:creationId xmlns:a16="http://schemas.microsoft.com/office/drawing/2014/main" id="{8802EB06-C93C-AE84-6687-8A43396924DF}"/>
              </a:ext>
            </a:extLst>
          </p:cNvPr>
          <p:cNvPicPr>
            <a:picLocks noChangeAspect="1"/>
          </p:cNvPicPr>
          <p:nvPr userDrawn="1"/>
        </p:nvPicPr>
        <p:blipFill>
          <a:blip r:embed="rId3"/>
          <a:stretch>
            <a:fillRect/>
          </a:stretch>
        </p:blipFill>
        <p:spPr>
          <a:xfrm>
            <a:off x="532800" y="410400"/>
            <a:ext cx="2289600" cy="928676"/>
          </a:xfrm>
          <a:prstGeom prst="rect">
            <a:avLst/>
          </a:prstGeom>
        </p:spPr>
      </p:pic>
    </p:spTree>
    <p:extLst>
      <p:ext uri="{BB962C8B-B14F-4D97-AF65-F5344CB8AC3E}">
        <p14:creationId xmlns:p14="http://schemas.microsoft.com/office/powerpoint/2010/main" val="8134009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44062" y="2130427"/>
            <a:ext cx="10503877" cy="1470025"/>
          </a:xfrm>
          <a:ln>
            <a:noFill/>
          </a:ln>
        </p:spPr>
        <p:txBody>
          <a:bodyPr>
            <a:normAutofit/>
          </a:bodyPr>
          <a:lstStyle>
            <a:lvl1pPr algn="ctr">
              <a:defRPr sz="3600">
                <a:solidFill>
                  <a:srgbClr val="294518"/>
                </a:solidFill>
              </a:defRPr>
            </a:lvl1p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a:ln>
            <a:noFill/>
          </a:ln>
        </p:spPr>
        <p:txBody>
          <a:bodyPr>
            <a:normAutofit/>
          </a:bodyPr>
          <a:lstStyle>
            <a:lvl1pPr marL="0" indent="0" algn="ctr">
              <a:buNone/>
              <a:defRPr sz="2400">
                <a:solidFill>
                  <a:srgbClr val="00212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a:solidFill>
            <a:srgbClr val="6D8D23"/>
          </a:solidFill>
        </p:spPr>
        <p:txBody>
          <a:bodyPr/>
          <a:lstStyle/>
          <a:p>
            <a:fld id="{FC56177C-F1F4-4AEE-9957-1B9BC67ECF13}" type="datetime4">
              <a:rPr lang="en-GB" smtClean="0"/>
              <a:pPr/>
              <a:t>26 September 2025</a:t>
            </a:fld>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11" name="Straight Connector 10"/>
          <p:cNvCxnSpPr/>
          <p:nvPr userDrawn="1"/>
        </p:nvCxnSpPr>
        <p:spPr>
          <a:xfrm>
            <a:off x="408355" y="1268760"/>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12" name="Picture 11"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3985" y="332936"/>
            <a:ext cx="3710309" cy="602932"/>
          </a:xfrm>
          <a:prstGeom prst="rect">
            <a:avLst/>
          </a:prstGeom>
        </p:spPr>
      </p:pic>
    </p:spTree>
    <p:extLst>
      <p:ext uri="{BB962C8B-B14F-4D97-AF65-F5344CB8AC3E}">
        <p14:creationId xmlns:p14="http://schemas.microsoft.com/office/powerpoint/2010/main" val="19157699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4079631" y="1574476"/>
            <a:ext cx="4032738" cy="3276600"/>
          </a:xfrm>
          <a:ln>
            <a:solidFill>
              <a:schemeClr val="accent1"/>
            </a:solidFill>
          </a:ln>
        </p:spPr>
        <p:txBody>
          <a:bodyPr>
            <a:normAutofit/>
          </a:bodyPr>
          <a:lstStyle>
            <a:lvl1pPr algn="ctr">
              <a:defRPr sz="3200"/>
            </a:lvl1pPr>
          </a:lstStyle>
          <a:p>
            <a:r>
              <a:rPr lang="en-US"/>
              <a:t>Click to edit Master title style</a:t>
            </a:r>
            <a:endParaRPr lang="en-GB"/>
          </a:p>
        </p:txBody>
      </p:sp>
      <p:sp>
        <p:nvSpPr>
          <p:cNvPr id="3" name="Subtitle 2"/>
          <p:cNvSpPr>
            <a:spLocks noGrp="1"/>
          </p:cNvSpPr>
          <p:nvPr>
            <p:ph type="subTitle" idx="1"/>
          </p:nvPr>
        </p:nvSpPr>
        <p:spPr>
          <a:xfrm>
            <a:off x="3548185" y="5182344"/>
            <a:ext cx="5095631" cy="838944"/>
          </a:xfrm>
        </p:spPr>
        <p:txBody>
          <a:bodyPr>
            <a:normAutofit/>
          </a:bodyPr>
          <a:lstStyle>
            <a:lvl1pPr marL="0" indent="0" algn="ctr">
              <a:buNone/>
              <a:defRPr sz="2000">
                <a:solidFill>
                  <a:srgbClr val="00212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a:xfrm>
            <a:off x="988647" y="6304236"/>
            <a:ext cx="1473719" cy="365125"/>
          </a:xfrm>
          <a:ln>
            <a:noFill/>
          </a:ln>
        </p:spPr>
        <p:txBody>
          <a:bodyPr/>
          <a:lstStyle/>
          <a:p>
            <a:fld id="{FC56177C-F1F4-4AEE-9957-1B9BC67ECF13}" type="datetime4">
              <a:rPr lang="en-GB" smtClean="0"/>
              <a:pPr/>
              <a:t>26 September 2025</a:t>
            </a:fld>
            <a:endParaRPr lang="en-GB"/>
          </a:p>
        </p:txBody>
      </p:sp>
      <p:sp>
        <p:nvSpPr>
          <p:cNvPr id="5" name="Footer Placeholder 4"/>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6" name="Slide Number Placeholder 5"/>
          <p:cNvSpPr>
            <a:spLocks noGrp="1"/>
          </p:cNvSpPr>
          <p:nvPr>
            <p:ph type="sldNum" sz="quarter" idx="12"/>
          </p:nvPr>
        </p:nvSpPr>
        <p:spPr>
          <a:xfrm>
            <a:off x="423986" y="6304236"/>
            <a:ext cx="576110" cy="365125"/>
          </a:xfrm>
          <a:solidFill>
            <a:srgbClr val="008591"/>
          </a:solidFill>
        </p:spPr>
        <p:txBody>
          <a:bodyPr/>
          <a:lstStyle/>
          <a:p>
            <a:fld id="{653FF254-26D3-4E50-98DF-6C68BE574C8B}" type="slidenum">
              <a:rPr lang="en-GB" smtClean="0"/>
              <a:pPr/>
              <a:t>‹#›</a:t>
            </a:fld>
            <a:endParaRPr lang="en-GB"/>
          </a:p>
        </p:txBody>
      </p:sp>
      <p:cxnSp>
        <p:nvCxnSpPr>
          <p:cNvPr id="16" name="Straight Connector 15"/>
          <p:cNvCxnSpPr/>
          <p:nvPr userDrawn="1"/>
        </p:nvCxnSpPr>
        <p:spPr>
          <a:xfrm>
            <a:off x="408355" y="1268760"/>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17" name="Picture 16"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3985" y="332936"/>
            <a:ext cx="3710309" cy="602932"/>
          </a:xfrm>
          <a:prstGeom prst="rect">
            <a:avLst/>
          </a:prstGeom>
        </p:spPr>
      </p:pic>
    </p:spTree>
    <p:extLst>
      <p:ext uri="{BB962C8B-B14F-4D97-AF65-F5344CB8AC3E}">
        <p14:creationId xmlns:p14="http://schemas.microsoft.com/office/powerpoint/2010/main" val="39216639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1549076"/>
            <a:ext cx="9753600" cy="918420"/>
          </a:xfrm>
          <a:ln>
            <a:noFill/>
          </a:ln>
        </p:spPr>
        <p:txBody>
          <a:bodyPr>
            <a:normAutofit/>
          </a:bodyPr>
          <a:lstStyle>
            <a:lvl1pPr algn="ctr">
              <a:defRPr sz="3200"/>
            </a:lvl1pPr>
          </a:lstStyle>
          <a:p>
            <a:r>
              <a:rPr lang="en-US"/>
              <a:t>Click to edit Master title style</a:t>
            </a:r>
            <a:endParaRPr lang="en-GB"/>
          </a:p>
        </p:txBody>
      </p:sp>
      <p:sp>
        <p:nvSpPr>
          <p:cNvPr id="3" name="Subtitle 2"/>
          <p:cNvSpPr>
            <a:spLocks noGrp="1"/>
          </p:cNvSpPr>
          <p:nvPr>
            <p:ph type="subTitle" idx="1"/>
          </p:nvPr>
        </p:nvSpPr>
        <p:spPr>
          <a:xfrm>
            <a:off x="3548185" y="5326360"/>
            <a:ext cx="5095631" cy="694928"/>
          </a:xfrm>
        </p:spPr>
        <p:txBody>
          <a:bodyPr anchor="ctr" anchorCtr="0">
            <a:normAutofit/>
          </a:bodyPr>
          <a:lstStyle>
            <a:lvl1pPr marL="0" indent="0" algn="ctr">
              <a:buNone/>
              <a:defRPr sz="16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FC56177C-F1F4-4AEE-9957-1B9BC67ECF13}" type="datetime4">
              <a:rPr lang="en-GB" smtClean="0"/>
              <a:pPr/>
              <a:t>26 September 2025</a:t>
            </a:fld>
            <a:endParaRPr lang="en-GB"/>
          </a:p>
        </p:txBody>
      </p:sp>
      <p:sp>
        <p:nvSpPr>
          <p:cNvPr id="5" name="Footer Placeholder 4"/>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17" name="Straight Connector 16"/>
          <p:cNvCxnSpPr/>
          <p:nvPr userDrawn="1"/>
        </p:nvCxnSpPr>
        <p:spPr>
          <a:xfrm>
            <a:off x="408355" y="1268760"/>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18" name="Picture 17"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3985" y="332936"/>
            <a:ext cx="3710309" cy="602932"/>
          </a:xfrm>
          <a:prstGeom prst="rect">
            <a:avLst/>
          </a:prstGeom>
        </p:spPr>
      </p:pic>
      <p:sp>
        <p:nvSpPr>
          <p:cNvPr id="20" name="Picture Placeholder 19"/>
          <p:cNvSpPr>
            <a:spLocks noGrp="1"/>
          </p:cNvSpPr>
          <p:nvPr>
            <p:ph type="pic" sz="quarter" idx="13" hasCustomPrompt="1"/>
          </p:nvPr>
        </p:nvSpPr>
        <p:spPr>
          <a:xfrm>
            <a:off x="3082742" y="2492896"/>
            <a:ext cx="6026516" cy="2808312"/>
          </a:xfrm>
        </p:spPr>
        <p:txBody>
          <a:bodyPr/>
          <a:lstStyle>
            <a:lvl1pPr>
              <a:defRPr/>
            </a:lvl1pPr>
          </a:lstStyle>
          <a:p>
            <a:r>
              <a:rPr lang="en-GB"/>
              <a:t>Insert image</a:t>
            </a:r>
          </a:p>
        </p:txBody>
      </p:sp>
    </p:spTree>
    <p:extLst>
      <p:ext uri="{BB962C8B-B14F-4D97-AF65-F5344CB8AC3E}">
        <p14:creationId xmlns:p14="http://schemas.microsoft.com/office/powerpoint/2010/main" val="28476135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48185" y="4797152"/>
            <a:ext cx="5095631" cy="838944"/>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FC56177C-F1F4-4AEE-9957-1B9BC67ECF13}" type="datetime4">
              <a:rPr lang="en-GB" smtClean="0"/>
              <a:pPr/>
              <a:t>26 September 2025</a:t>
            </a:fld>
            <a:endParaRPr lang="en-GB"/>
          </a:p>
        </p:txBody>
      </p:sp>
      <p:sp>
        <p:nvSpPr>
          <p:cNvPr id="5" name="Footer Placeholder 4"/>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11" name="Straight Connector 10"/>
          <p:cNvCxnSpPr/>
          <p:nvPr userDrawn="1"/>
        </p:nvCxnSpPr>
        <p:spPr>
          <a:xfrm flipH="1" flipV="1">
            <a:off x="5652874" y="3202666"/>
            <a:ext cx="1053214" cy="786"/>
          </a:xfrm>
          <a:prstGeom prst="line">
            <a:avLst/>
          </a:prstGeom>
          <a:noFill/>
          <a:ln w="12700">
            <a:solidFill>
              <a:srgbClr val="6D8D23"/>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p:cNvCxnSpPr/>
          <p:nvPr userDrawn="1"/>
        </p:nvCxnSpPr>
        <p:spPr>
          <a:xfrm>
            <a:off x="408355" y="1268760"/>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16" name="Picture 15"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3985" y="332936"/>
            <a:ext cx="3710309" cy="602932"/>
          </a:xfrm>
          <a:prstGeom prst="rect">
            <a:avLst/>
          </a:prstGeom>
        </p:spPr>
      </p:pic>
      <p:sp>
        <p:nvSpPr>
          <p:cNvPr id="20" name="Picture Placeholder 19"/>
          <p:cNvSpPr>
            <a:spLocks noGrp="1"/>
          </p:cNvSpPr>
          <p:nvPr>
            <p:ph type="pic" sz="quarter" idx="13"/>
          </p:nvPr>
        </p:nvSpPr>
        <p:spPr>
          <a:xfrm>
            <a:off x="2994117" y="2132856"/>
            <a:ext cx="2658757" cy="2160240"/>
          </a:xfrm>
          <a:ln>
            <a:solidFill>
              <a:srgbClr val="6D8D23"/>
            </a:solidFill>
          </a:ln>
        </p:spPr>
        <p:txBody>
          <a:bodyPr>
            <a:normAutofit/>
          </a:bodyPr>
          <a:lstStyle>
            <a:lvl1pPr>
              <a:defRPr sz="2400" b="1">
                <a:latin typeface="+mj-lt"/>
              </a:defRPr>
            </a:lvl1pPr>
          </a:lstStyle>
          <a:p>
            <a:r>
              <a:rPr lang="en-US"/>
              <a:t>Click icon to add picture</a:t>
            </a:r>
            <a:endParaRPr lang="en-GB"/>
          </a:p>
        </p:txBody>
      </p:sp>
      <p:sp>
        <p:nvSpPr>
          <p:cNvPr id="22" name="Text Placeholder 21"/>
          <p:cNvSpPr>
            <a:spLocks noGrp="1"/>
          </p:cNvSpPr>
          <p:nvPr>
            <p:ph type="body" sz="quarter" idx="14"/>
          </p:nvPr>
        </p:nvSpPr>
        <p:spPr>
          <a:xfrm>
            <a:off x="6716377" y="2132856"/>
            <a:ext cx="2658757" cy="2160240"/>
          </a:xfrm>
          <a:ln>
            <a:solidFill>
              <a:srgbClr val="6D8D23"/>
            </a:solidFill>
          </a:ln>
        </p:spPr>
        <p:txBody>
          <a:bodyPr/>
          <a:lstStyle>
            <a:lvl1pPr algn="ctr">
              <a:defRPr b="1">
                <a:solidFill>
                  <a:srgbClr val="294518"/>
                </a:solidFill>
                <a:latin typeface="+mj-lt"/>
              </a:defRPr>
            </a:lvl1pPr>
          </a:lstStyle>
          <a:p>
            <a:pPr lvl="0"/>
            <a:r>
              <a:rPr lang="en-US"/>
              <a:t>Click to edit Master text styles</a:t>
            </a:r>
          </a:p>
        </p:txBody>
      </p:sp>
    </p:spTree>
    <p:extLst>
      <p:ext uri="{BB962C8B-B14F-4D97-AF65-F5344CB8AC3E}">
        <p14:creationId xmlns:p14="http://schemas.microsoft.com/office/powerpoint/2010/main" val="37913640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39397" y="1856805"/>
            <a:ext cx="10540450" cy="1212155"/>
          </a:xfrm>
          <a:ln>
            <a:noFill/>
          </a:ln>
        </p:spPr>
        <p:txBody>
          <a:bodyPr anchor="ctr" anchorCtr="0">
            <a:normAutofit/>
          </a:bodyPr>
          <a:lstStyle>
            <a:lvl1pPr algn="l">
              <a:defRPr sz="3200" b="1" cap="none"/>
            </a:lvl1pPr>
          </a:lstStyle>
          <a:p>
            <a:r>
              <a:rPr lang="en-US"/>
              <a:t>Click to edit master title style</a:t>
            </a:r>
            <a:endParaRPr lang="en-GB"/>
          </a:p>
        </p:txBody>
      </p:sp>
      <p:sp>
        <p:nvSpPr>
          <p:cNvPr id="3" name="Text Placeholder 2"/>
          <p:cNvSpPr>
            <a:spLocks noGrp="1"/>
          </p:cNvSpPr>
          <p:nvPr>
            <p:ph type="body" idx="1"/>
          </p:nvPr>
        </p:nvSpPr>
        <p:spPr>
          <a:xfrm>
            <a:off x="1132987" y="3140968"/>
            <a:ext cx="10546860" cy="1152128"/>
          </a:xfrm>
        </p:spPr>
        <p:txBody>
          <a:bodyPr anchor="ctr" anchorCtr="0"/>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1D4A1-7848-4A47-8982-C17F4F699E5B}" type="datetime4">
              <a:rPr lang="en-GB" smtClean="0"/>
              <a:pPr/>
              <a:t>26 September 2025</a:t>
            </a:fld>
            <a:endParaRPr lang="en-GB"/>
          </a:p>
        </p:txBody>
      </p:sp>
      <p:sp>
        <p:nvSpPr>
          <p:cNvPr id="5" name="Footer Placeholder 4"/>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7" name="Straight Connector 6"/>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8" name="Picture 7"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5509" y="190500"/>
            <a:ext cx="2874331" cy="467084"/>
          </a:xfrm>
          <a:prstGeom prst="rect">
            <a:avLst/>
          </a:prstGeom>
        </p:spPr>
      </p:pic>
    </p:spTree>
    <p:extLst>
      <p:ext uri="{BB962C8B-B14F-4D97-AF65-F5344CB8AC3E}">
        <p14:creationId xmlns:p14="http://schemas.microsoft.com/office/powerpoint/2010/main" val="42786263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with no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39397" y="1856805"/>
            <a:ext cx="10540450" cy="1212155"/>
          </a:xfrm>
        </p:spPr>
        <p:txBody>
          <a:bodyPr anchor="ctr" anchorCtr="0">
            <a:normAutofit/>
          </a:bodyPr>
          <a:lstStyle>
            <a:lvl1pPr algn="l">
              <a:defRPr sz="3200" b="1" cap="none"/>
            </a:lvl1pPr>
          </a:lstStyle>
          <a:p>
            <a:r>
              <a:rPr lang="en-US"/>
              <a:t>Click to edit master title style</a:t>
            </a:r>
            <a:endParaRPr lang="en-GB"/>
          </a:p>
        </p:txBody>
      </p:sp>
      <p:sp>
        <p:nvSpPr>
          <p:cNvPr id="3" name="Text Placeholder 2"/>
          <p:cNvSpPr>
            <a:spLocks noGrp="1"/>
          </p:cNvSpPr>
          <p:nvPr>
            <p:ph type="body" idx="1"/>
          </p:nvPr>
        </p:nvSpPr>
        <p:spPr>
          <a:xfrm>
            <a:off x="1132987" y="3140968"/>
            <a:ext cx="10546860" cy="1152128"/>
          </a:xfrm>
        </p:spPr>
        <p:txBody>
          <a:bodyPr anchor="ctr" anchorCtr="0"/>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1D4A1-7848-4A47-8982-C17F4F699E5B}" type="datetime4">
              <a:rPr lang="en-GB" smtClean="0"/>
              <a:pPr/>
              <a:t>26 September 2025</a:t>
            </a:fld>
            <a:endParaRPr lang="en-GB"/>
          </a:p>
        </p:txBody>
      </p:sp>
      <p:sp>
        <p:nvSpPr>
          <p:cNvPr id="5" name="Footer Placeholder 4"/>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7" name="Straight Connector 6"/>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786263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Content with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908720"/>
            <a:ext cx="10369610" cy="817453"/>
          </a:xfrm>
        </p:spPr>
        <p:txBody>
          <a:bodyPr/>
          <a:lstStyle>
            <a:lvl1pPr>
              <a:defRPr sz="3200" baseline="0">
                <a:latin typeface="Calibri" panose="020F0502020204030204" pitchFamily="34" charset="0"/>
              </a:defRPr>
            </a:lvl1pPr>
          </a:lstStyle>
          <a:p>
            <a:r>
              <a:rPr lang="en-US"/>
              <a:t>Click to edit Master title style</a:t>
            </a:r>
            <a:endParaRPr lang="en-GB"/>
          </a:p>
        </p:txBody>
      </p:sp>
      <p:sp>
        <p:nvSpPr>
          <p:cNvPr id="3" name="Content Placeholder 2"/>
          <p:cNvSpPr>
            <a:spLocks noGrp="1"/>
          </p:cNvSpPr>
          <p:nvPr>
            <p:ph idx="1"/>
          </p:nvPr>
        </p:nvSpPr>
        <p:spPr>
          <a:xfrm>
            <a:off x="1132987" y="1916113"/>
            <a:ext cx="10361246" cy="4105175"/>
          </a:xfrm>
        </p:spPr>
        <p:txBody>
          <a:bodyPr/>
          <a:lstStyle>
            <a:lvl1pPr>
              <a:defRPr>
                <a:solidFill>
                  <a:srgbClr val="294518"/>
                </a:solidFill>
              </a:defRPr>
            </a:lvl1pPr>
            <a:lvl2pPr>
              <a:defRPr>
                <a:solidFill>
                  <a:srgbClr val="294518"/>
                </a:solidFill>
              </a:defRPr>
            </a:lvl2pPr>
            <a:lvl3pPr>
              <a:defRPr>
                <a:solidFill>
                  <a:srgbClr val="294518"/>
                </a:solidFill>
              </a:defRPr>
            </a:lvl3pPr>
            <a:lvl4pPr>
              <a:defRPr>
                <a:solidFill>
                  <a:srgbClr val="294518"/>
                </a:solidFill>
              </a:defRPr>
            </a:lvl4pPr>
            <a:lvl5pPr>
              <a:defRPr>
                <a:solidFill>
                  <a:srgbClr val="29451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7" name="Straight Connector 6"/>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8" name="Picture 7"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5509" y="190500"/>
            <a:ext cx="2874331" cy="467084"/>
          </a:xfrm>
          <a:prstGeom prst="rect">
            <a:avLst/>
          </a:prstGeom>
        </p:spPr>
      </p:pic>
    </p:spTree>
    <p:extLst>
      <p:ext uri="{BB962C8B-B14F-4D97-AF65-F5344CB8AC3E}">
        <p14:creationId xmlns:p14="http://schemas.microsoft.com/office/powerpoint/2010/main" val="29717507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Content with no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91268"/>
            <a:ext cx="10369610" cy="817453"/>
          </a:xfrm>
        </p:spPr>
        <p:txBody>
          <a:bodyPr/>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1132987" y="908721"/>
            <a:ext cx="10361246" cy="5112567"/>
          </a:xfrm>
        </p:spPr>
        <p:txBody>
          <a:bodyPr/>
          <a:lstStyle>
            <a:lvl1pPr>
              <a:defRPr>
                <a:solidFill>
                  <a:srgbClr val="294518"/>
                </a:solidFill>
              </a:defRPr>
            </a:lvl1pPr>
            <a:lvl2pPr>
              <a:defRPr>
                <a:solidFill>
                  <a:srgbClr val="294518"/>
                </a:solidFill>
              </a:defRPr>
            </a:lvl2pPr>
            <a:lvl3pPr>
              <a:defRPr>
                <a:solidFill>
                  <a:srgbClr val="294518"/>
                </a:solidFill>
              </a:defRPr>
            </a:lvl3pPr>
            <a:lvl4pPr>
              <a:defRPr>
                <a:solidFill>
                  <a:srgbClr val="294518"/>
                </a:solidFill>
              </a:defRPr>
            </a:lvl4pPr>
            <a:lvl5pPr>
              <a:defRPr>
                <a:solidFill>
                  <a:srgbClr val="29451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5" name="Footer Placeholder 4"/>
          <p:cNvSpPr>
            <a:spLocks noGrp="1"/>
          </p:cNvSpPr>
          <p:nvPr>
            <p:ph type="ftr" sz="quarter" idx="11"/>
          </p:nvPr>
        </p:nvSpPr>
        <p:spPr>
          <a:xfrm>
            <a:off x="4165600" y="6304236"/>
            <a:ext cx="3860800" cy="365125"/>
          </a:xfrm>
          <a:prstGeom prst="rect">
            <a:avLst/>
          </a:prstGeom>
        </p:spPr>
        <p:txBody>
          <a:bodyPr/>
          <a:lstStyle/>
          <a:p>
            <a:r>
              <a:rPr lang="en-GB"/>
              <a:t>Sarah George s.george@bradford.ac.uk</a:t>
            </a:r>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7" name="Straight Connector 6"/>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717507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Content 2 with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908720"/>
            <a:ext cx="10546860" cy="820068"/>
          </a:xfrm>
        </p:spPr>
        <p:txBody>
          <a:bodyPr/>
          <a:lstStyle/>
          <a:p>
            <a:r>
              <a:rPr lang="en-US"/>
              <a:t>Click to edit Master title style</a:t>
            </a:r>
            <a:endParaRPr lang="en-GB"/>
          </a:p>
        </p:txBody>
      </p:sp>
      <p:sp>
        <p:nvSpPr>
          <p:cNvPr id="3" name="Content Placeholder 2"/>
          <p:cNvSpPr>
            <a:spLocks noGrp="1"/>
          </p:cNvSpPr>
          <p:nvPr>
            <p:ph sz="half" idx="1"/>
          </p:nvPr>
        </p:nvSpPr>
        <p:spPr>
          <a:xfrm>
            <a:off x="1132987" y="1844824"/>
            <a:ext cx="5140263" cy="4320480"/>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539584" y="1844824"/>
            <a:ext cx="5140263" cy="4320480"/>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A697E6E-4695-4A96-B965-E91C30BB1F9D}" type="datetime4">
              <a:rPr lang="en-GB" smtClean="0"/>
              <a:pPr/>
              <a:t>26 September 2025</a:t>
            </a:fld>
            <a:endParaRPr lang="en-GB"/>
          </a:p>
        </p:txBody>
      </p:sp>
      <p:sp>
        <p:nvSpPr>
          <p:cNvPr id="6" name="Footer Placeholder 5"/>
          <p:cNvSpPr>
            <a:spLocks noGrp="1"/>
          </p:cNvSpPr>
          <p:nvPr>
            <p:ph type="ftr" sz="quarter" idx="11"/>
          </p:nvPr>
        </p:nvSpPr>
        <p:spPr>
          <a:xfrm>
            <a:off x="4165600" y="6304236"/>
            <a:ext cx="3860800" cy="365125"/>
          </a:xfrm>
          <a:prstGeom prst="rect">
            <a:avLst/>
          </a:prstGeom>
        </p:spPr>
        <p:txBody>
          <a:bodyPr/>
          <a:lstStyle/>
          <a:p>
            <a:r>
              <a:rPr lang="en-GB"/>
              <a:t>Sarah George s.george@bradford.ac.uk</a:t>
            </a:r>
          </a:p>
        </p:txBody>
      </p:sp>
      <p:sp>
        <p:nvSpPr>
          <p:cNvPr id="7" name="Slide Number Placeholder 6"/>
          <p:cNvSpPr>
            <a:spLocks noGrp="1"/>
          </p:cNvSpPr>
          <p:nvPr>
            <p:ph type="sldNum" sz="quarter" idx="12"/>
          </p:nvPr>
        </p:nvSpPr>
        <p:spPr/>
        <p:txBody>
          <a:bodyPr/>
          <a:lstStyle/>
          <a:p>
            <a:fld id="{653FF254-26D3-4E50-98DF-6C68BE574C8B}" type="slidenum">
              <a:rPr lang="en-GB" smtClean="0"/>
              <a:pPr/>
              <a:t>‹#›</a:t>
            </a:fld>
            <a:endParaRPr lang="en-GB"/>
          </a:p>
        </p:txBody>
      </p:sp>
      <p:cxnSp>
        <p:nvCxnSpPr>
          <p:cNvPr id="8" name="Straight Connector 7"/>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9" name="Picture 8"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5509" y="190500"/>
            <a:ext cx="2874331" cy="467084"/>
          </a:xfrm>
          <a:prstGeom prst="rect">
            <a:avLst/>
          </a:prstGeom>
        </p:spPr>
      </p:pic>
    </p:spTree>
    <p:extLst>
      <p:ext uri="{BB962C8B-B14F-4D97-AF65-F5344CB8AC3E}">
        <p14:creationId xmlns:p14="http://schemas.microsoft.com/office/powerpoint/2010/main" val="31571930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Content 2 with no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88652"/>
            <a:ext cx="10546860" cy="820068"/>
          </a:xfrm>
        </p:spPr>
        <p:txBody>
          <a:bodyPr/>
          <a:lstStyle/>
          <a:p>
            <a:r>
              <a:rPr lang="en-US"/>
              <a:t>Click to edit Master title style</a:t>
            </a:r>
            <a:endParaRPr lang="en-GB"/>
          </a:p>
        </p:txBody>
      </p:sp>
      <p:sp>
        <p:nvSpPr>
          <p:cNvPr id="3" name="Content Placeholder 2"/>
          <p:cNvSpPr>
            <a:spLocks noGrp="1"/>
          </p:cNvSpPr>
          <p:nvPr>
            <p:ph sz="half" idx="1"/>
          </p:nvPr>
        </p:nvSpPr>
        <p:spPr>
          <a:xfrm>
            <a:off x="1132987" y="908720"/>
            <a:ext cx="5140263" cy="525658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539584" y="908720"/>
            <a:ext cx="5140263" cy="525658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A697E6E-4695-4A96-B965-E91C30BB1F9D}" type="datetime4">
              <a:rPr lang="en-GB" smtClean="0"/>
              <a:pPr/>
              <a:t>26 September 2025</a:t>
            </a:fld>
            <a:endParaRPr lang="en-GB"/>
          </a:p>
        </p:txBody>
      </p:sp>
      <p:sp>
        <p:nvSpPr>
          <p:cNvPr id="6" name="Footer Placeholder 5"/>
          <p:cNvSpPr>
            <a:spLocks noGrp="1"/>
          </p:cNvSpPr>
          <p:nvPr>
            <p:ph type="ftr" sz="quarter" idx="11"/>
          </p:nvPr>
        </p:nvSpPr>
        <p:spPr>
          <a:xfrm>
            <a:off x="4165600" y="6304236"/>
            <a:ext cx="3860800" cy="365125"/>
          </a:xfrm>
          <a:prstGeom prst="rect">
            <a:avLst/>
          </a:prstGeom>
        </p:spPr>
        <p:txBody>
          <a:bodyPr/>
          <a:lstStyle/>
          <a:p>
            <a:r>
              <a:rPr lang="en-GB"/>
              <a:t>Sarah George s.george@bradford.ac.uk</a:t>
            </a:r>
          </a:p>
        </p:txBody>
      </p:sp>
      <p:sp>
        <p:nvSpPr>
          <p:cNvPr id="7" name="Slide Number Placeholder 6"/>
          <p:cNvSpPr>
            <a:spLocks noGrp="1"/>
          </p:cNvSpPr>
          <p:nvPr>
            <p:ph type="sldNum" sz="quarter" idx="12"/>
          </p:nvPr>
        </p:nvSpPr>
        <p:spPr/>
        <p:txBody>
          <a:bodyPr/>
          <a:lstStyle/>
          <a:p>
            <a:fld id="{653FF254-26D3-4E50-98DF-6C68BE574C8B}" type="slidenum">
              <a:rPr lang="en-GB" smtClean="0"/>
              <a:pPr/>
              <a:t>‹#›</a:t>
            </a:fld>
            <a:endParaRPr lang="en-GB"/>
          </a:p>
        </p:txBody>
      </p:sp>
      <p:cxnSp>
        <p:nvCxnSpPr>
          <p:cNvPr id="8" name="Straight Connector 7"/>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71930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Content with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908720"/>
            <a:ext cx="10369610" cy="817453"/>
          </a:xfrm>
        </p:spPr>
        <p:txBody>
          <a:bodyPr/>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1132987" y="1916113"/>
            <a:ext cx="10361246" cy="4105175"/>
          </a:xfrm>
        </p:spPr>
        <p:txBody>
          <a:bodyPr/>
          <a:lstStyle>
            <a:lvl1pPr>
              <a:defRPr>
                <a:solidFill>
                  <a:srgbClr val="294518"/>
                </a:solidFill>
              </a:defRPr>
            </a:lvl1pPr>
            <a:lvl2pPr>
              <a:defRPr>
                <a:solidFill>
                  <a:srgbClr val="294518"/>
                </a:solidFill>
              </a:defRPr>
            </a:lvl2pPr>
            <a:lvl3pPr>
              <a:defRPr>
                <a:solidFill>
                  <a:srgbClr val="294518"/>
                </a:solidFill>
              </a:defRPr>
            </a:lvl3pPr>
            <a:lvl4pPr>
              <a:defRPr>
                <a:solidFill>
                  <a:srgbClr val="294518"/>
                </a:solidFill>
              </a:defRPr>
            </a:lvl4pPr>
            <a:lvl5pPr>
              <a:defRPr>
                <a:solidFill>
                  <a:srgbClr val="29451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7" name="Straight Connector 6"/>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8" name="Picture 7"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5509" y="190500"/>
            <a:ext cx="2874331" cy="467084"/>
          </a:xfrm>
          <a:prstGeom prst="rect">
            <a:avLst/>
          </a:prstGeom>
        </p:spPr>
      </p:pic>
    </p:spTree>
    <p:extLst>
      <p:ext uri="{BB962C8B-B14F-4D97-AF65-F5344CB8AC3E}">
        <p14:creationId xmlns:p14="http://schemas.microsoft.com/office/powerpoint/2010/main" val="29717507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Content with no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91268"/>
            <a:ext cx="10369610" cy="817453"/>
          </a:xfrm>
        </p:spPr>
        <p:txBody>
          <a:bodyPr/>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1132987" y="908721"/>
            <a:ext cx="10361246" cy="5112567"/>
          </a:xfrm>
        </p:spPr>
        <p:txBody>
          <a:bodyPr/>
          <a:lstStyle>
            <a:lvl1pPr>
              <a:defRPr>
                <a:solidFill>
                  <a:srgbClr val="294518"/>
                </a:solidFill>
              </a:defRPr>
            </a:lvl1pPr>
            <a:lvl2pPr>
              <a:defRPr>
                <a:solidFill>
                  <a:srgbClr val="294518"/>
                </a:solidFill>
              </a:defRPr>
            </a:lvl2pPr>
            <a:lvl3pPr>
              <a:defRPr>
                <a:solidFill>
                  <a:srgbClr val="294518"/>
                </a:solidFill>
              </a:defRPr>
            </a:lvl3pPr>
            <a:lvl4pPr>
              <a:defRPr>
                <a:solidFill>
                  <a:srgbClr val="294518"/>
                </a:solidFill>
              </a:defRPr>
            </a:lvl4pPr>
            <a:lvl5pPr>
              <a:defRPr>
                <a:solidFill>
                  <a:srgbClr val="29451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7" name="Straight Connector 6"/>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717507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Content 2 with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908720"/>
            <a:ext cx="10546860" cy="820068"/>
          </a:xfrm>
        </p:spPr>
        <p:txBody>
          <a:bodyPr/>
          <a:lstStyle/>
          <a:p>
            <a:r>
              <a:rPr lang="en-US"/>
              <a:t>Click to edit Master title style</a:t>
            </a:r>
            <a:endParaRPr lang="en-GB"/>
          </a:p>
        </p:txBody>
      </p:sp>
      <p:sp>
        <p:nvSpPr>
          <p:cNvPr id="3" name="Content Placeholder 2"/>
          <p:cNvSpPr>
            <a:spLocks noGrp="1"/>
          </p:cNvSpPr>
          <p:nvPr>
            <p:ph sz="half" idx="1"/>
          </p:nvPr>
        </p:nvSpPr>
        <p:spPr>
          <a:xfrm>
            <a:off x="1132987" y="1844824"/>
            <a:ext cx="5140263" cy="4320480"/>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539584" y="1844824"/>
            <a:ext cx="5140263" cy="4320480"/>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A697E6E-4695-4A96-B965-E91C30BB1F9D}" type="datetime4">
              <a:rPr lang="en-GB" smtClean="0"/>
              <a:pPr/>
              <a:t>26 September 2025</a:t>
            </a:fld>
            <a:endParaRPr lang="en-GB"/>
          </a:p>
        </p:txBody>
      </p:sp>
      <p:sp>
        <p:nvSpPr>
          <p:cNvPr id="7" name="Slide Number Placeholder 6"/>
          <p:cNvSpPr>
            <a:spLocks noGrp="1"/>
          </p:cNvSpPr>
          <p:nvPr>
            <p:ph type="sldNum" sz="quarter" idx="12"/>
          </p:nvPr>
        </p:nvSpPr>
        <p:spPr/>
        <p:txBody>
          <a:bodyPr/>
          <a:lstStyle/>
          <a:p>
            <a:fld id="{653FF254-26D3-4E50-98DF-6C68BE574C8B}" type="slidenum">
              <a:rPr lang="en-GB" smtClean="0"/>
              <a:pPr/>
              <a:t>‹#›</a:t>
            </a:fld>
            <a:endParaRPr lang="en-GB"/>
          </a:p>
        </p:txBody>
      </p:sp>
      <p:cxnSp>
        <p:nvCxnSpPr>
          <p:cNvPr id="8" name="Straight Connector 7"/>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9" name="Picture 8"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5509" y="190500"/>
            <a:ext cx="2874331" cy="467084"/>
          </a:xfrm>
          <a:prstGeom prst="rect">
            <a:avLst/>
          </a:prstGeom>
        </p:spPr>
      </p:pic>
    </p:spTree>
    <p:extLst>
      <p:ext uri="{BB962C8B-B14F-4D97-AF65-F5344CB8AC3E}">
        <p14:creationId xmlns:p14="http://schemas.microsoft.com/office/powerpoint/2010/main" val="31571930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Content 2 with no logo">
    <p:bg>
      <p:bgPr>
        <a:solidFill>
          <a:schemeClr val="tx1">
            <a:lumMod val="10000"/>
            <a:lumOff val="90000"/>
            <a:alpha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32987" y="88652"/>
            <a:ext cx="10546860" cy="820068"/>
          </a:xfrm>
        </p:spPr>
        <p:txBody>
          <a:bodyPr/>
          <a:lstStyle/>
          <a:p>
            <a:r>
              <a:rPr lang="en-US"/>
              <a:t>Click to edit Master title style</a:t>
            </a:r>
            <a:endParaRPr lang="en-GB"/>
          </a:p>
        </p:txBody>
      </p:sp>
      <p:sp>
        <p:nvSpPr>
          <p:cNvPr id="3" name="Content Placeholder 2"/>
          <p:cNvSpPr>
            <a:spLocks noGrp="1"/>
          </p:cNvSpPr>
          <p:nvPr>
            <p:ph sz="half" idx="1"/>
          </p:nvPr>
        </p:nvSpPr>
        <p:spPr>
          <a:xfrm>
            <a:off x="1132987" y="908720"/>
            <a:ext cx="5140263" cy="525658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539584" y="908720"/>
            <a:ext cx="5140263" cy="525658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A697E6E-4695-4A96-B965-E91C30BB1F9D}" type="datetime4">
              <a:rPr lang="en-GB" smtClean="0"/>
              <a:pPr/>
              <a:t>26 September 2025</a:t>
            </a:fld>
            <a:endParaRPr lang="en-GB"/>
          </a:p>
        </p:txBody>
      </p:sp>
      <p:sp>
        <p:nvSpPr>
          <p:cNvPr id="6" name="Footer Placeholder 5"/>
          <p:cNvSpPr>
            <a:spLocks noGrp="1"/>
          </p:cNvSpPr>
          <p:nvPr>
            <p:ph type="ftr" sz="quarter" idx="11"/>
          </p:nvPr>
        </p:nvSpPr>
        <p:spPr>
          <a:xfrm>
            <a:off x="4165600" y="6304236"/>
            <a:ext cx="3860800" cy="365125"/>
          </a:xfrm>
          <a:prstGeom prst="rect">
            <a:avLst/>
          </a:prstGeom>
        </p:spPr>
        <p:txBody>
          <a:bodyPr/>
          <a:lstStyle/>
          <a:p>
            <a:r>
              <a:rPr lang="en-GB"/>
              <a:t>Sarah George s.george@bradford.ac.uk</a:t>
            </a:r>
          </a:p>
        </p:txBody>
      </p:sp>
      <p:sp>
        <p:nvSpPr>
          <p:cNvPr id="7" name="Slide Number Placeholder 6"/>
          <p:cNvSpPr>
            <a:spLocks noGrp="1"/>
          </p:cNvSpPr>
          <p:nvPr>
            <p:ph type="sldNum" sz="quarter" idx="12"/>
          </p:nvPr>
        </p:nvSpPr>
        <p:spPr/>
        <p:txBody>
          <a:bodyPr/>
          <a:lstStyle/>
          <a:p>
            <a:fld id="{653FF254-26D3-4E50-98DF-6C68BE574C8B}" type="slidenum">
              <a:rPr lang="en-GB" smtClean="0"/>
              <a:pPr/>
              <a:t>‹#›</a:t>
            </a:fld>
            <a:endParaRPr lang="en-GB"/>
          </a:p>
        </p:txBody>
      </p:sp>
      <p:cxnSp>
        <p:nvCxnSpPr>
          <p:cNvPr id="8" name="Straight Connector 7"/>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7193086"/>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3 with logo">
    <p:spTree>
      <p:nvGrpSpPr>
        <p:cNvPr id="1" name=""/>
        <p:cNvGrpSpPr/>
        <p:nvPr/>
      </p:nvGrpSpPr>
      <p:grpSpPr>
        <a:xfrm>
          <a:off x="0" y="0"/>
          <a:ext cx="0" cy="0"/>
          <a:chOff x="0" y="0"/>
          <a:chExt cx="0" cy="0"/>
        </a:xfrm>
      </p:grpSpPr>
      <p:sp>
        <p:nvSpPr>
          <p:cNvPr id="2" name="Title 1"/>
          <p:cNvSpPr>
            <a:spLocks noGrp="1"/>
          </p:cNvSpPr>
          <p:nvPr>
            <p:ph type="title"/>
          </p:nvPr>
        </p:nvSpPr>
        <p:spPr>
          <a:xfrm>
            <a:off x="1132529" y="909638"/>
            <a:ext cx="10546860" cy="850839"/>
          </a:xfrm>
        </p:spPr>
        <p:txBody>
          <a:bodyPr/>
          <a:lstStyle/>
          <a:p>
            <a:r>
              <a:rPr lang="en-US"/>
              <a:t>Click to edit Master title style</a:t>
            </a:r>
            <a:endParaRPr lang="en-GB"/>
          </a:p>
        </p:txBody>
      </p:sp>
      <p:sp>
        <p:nvSpPr>
          <p:cNvPr id="3" name="Content Placeholder 2"/>
          <p:cNvSpPr>
            <a:spLocks noGrp="1"/>
          </p:cNvSpPr>
          <p:nvPr>
            <p:ph sz="half" idx="1"/>
          </p:nvPr>
        </p:nvSpPr>
        <p:spPr>
          <a:xfrm>
            <a:off x="1132987" y="1844824"/>
            <a:ext cx="5140263" cy="4261420"/>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A697E6E-4695-4A96-B965-E91C30BB1F9D}" type="datetime4">
              <a:rPr lang="en-GB" smtClean="0"/>
              <a:pPr/>
              <a:t>26 September 2025</a:t>
            </a:fld>
            <a:endParaRPr lang="en-GB"/>
          </a:p>
        </p:txBody>
      </p:sp>
      <p:sp>
        <p:nvSpPr>
          <p:cNvPr id="6" name="Footer Placeholder 5"/>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7" name="Slide Number Placeholder 6"/>
          <p:cNvSpPr>
            <a:spLocks noGrp="1"/>
          </p:cNvSpPr>
          <p:nvPr>
            <p:ph type="sldNum" sz="quarter" idx="12"/>
          </p:nvPr>
        </p:nvSpPr>
        <p:spPr/>
        <p:txBody>
          <a:bodyPr/>
          <a:lstStyle/>
          <a:p>
            <a:fld id="{653FF254-26D3-4E50-98DF-6C68BE574C8B}" type="slidenum">
              <a:rPr lang="en-GB" smtClean="0"/>
              <a:pPr/>
              <a:t>‹#›</a:t>
            </a:fld>
            <a:endParaRPr lang="en-GB"/>
          </a:p>
        </p:txBody>
      </p:sp>
      <p:sp>
        <p:nvSpPr>
          <p:cNvPr id="10" name="Content Placeholder 9"/>
          <p:cNvSpPr>
            <a:spLocks noGrp="1"/>
          </p:cNvSpPr>
          <p:nvPr>
            <p:ph sz="quarter" idx="13"/>
          </p:nvPr>
        </p:nvSpPr>
        <p:spPr>
          <a:xfrm>
            <a:off x="7779879" y="1903414"/>
            <a:ext cx="2844800" cy="2332037"/>
          </a:xfrm>
          <a:ln w="12700">
            <a:solidFill>
              <a:schemeClr val="accent1"/>
            </a:solidFill>
          </a:ln>
        </p:spPr>
        <p:txBody>
          <a:bodyPr lIns="108000" tIns="108000" rIns="108000" bIns="108000" anchor="ctr" anchorCtr="0">
            <a:normAutofit/>
          </a:bodyPr>
          <a:lstStyle>
            <a:lvl1pPr marL="0" indent="0" algn="ctr">
              <a:buNone/>
              <a:defRPr sz="2400" b="0" i="1">
                <a:latin typeface="Georgia" panose="02040502050405020303" pitchFamily="18" charset="0"/>
              </a:defRPr>
            </a:lvl1pPr>
          </a:lstStyle>
          <a:p>
            <a:pPr lvl="0"/>
            <a:r>
              <a:rPr lang="en-US"/>
              <a:t>Click to edit Master text styles</a:t>
            </a:r>
          </a:p>
        </p:txBody>
      </p:sp>
      <p:cxnSp>
        <p:nvCxnSpPr>
          <p:cNvPr id="12" name="Straight Connector 11"/>
          <p:cNvCxnSpPr>
            <a:stCxn id="10" idx="2"/>
          </p:cNvCxnSpPr>
          <p:nvPr userDrawn="1"/>
        </p:nvCxnSpPr>
        <p:spPr>
          <a:xfrm flipH="1">
            <a:off x="9197883" y="4235451"/>
            <a:ext cx="4396" cy="2101651"/>
          </a:xfrm>
          <a:prstGeom prst="line">
            <a:avLst/>
          </a:prstGeom>
          <a:noFill/>
          <a:ln w="12700">
            <a:solidFill>
              <a:srgbClr val="6D8D23"/>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11" name="Picture 10"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5509" y="190500"/>
            <a:ext cx="2874331" cy="467084"/>
          </a:xfrm>
          <a:prstGeom prst="rect">
            <a:avLst/>
          </a:prstGeom>
        </p:spPr>
      </p:pic>
    </p:spTree>
    <p:extLst>
      <p:ext uri="{BB962C8B-B14F-4D97-AF65-F5344CB8AC3E}">
        <p14:creationId xmlns:p14="http://schemas.microsoft.com/office/powerpoint/2010/main" val="27686633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no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57882"/>
            <a:ext cx="10546860" cy="850839"/>
          </a:xfrm>
        </p:spPr>
        <p:txBody>
          <a:bodyPr/>
          <a:lstStyle>
            <a:lvl1pPr>
              <a:defRPr>
                <a:solidFill>
                  <a:srgbClr val="294518"/>
                </a:solidFill>
              </a:defRPr>
            </a:lvl1pPr>
          </a:lstStyle>
          <a:p>
            <a:r>
              <a:rPr lang="en-US"/>
              <a:t>Click to edit Master title style</a:t>
            </a:r>
            <a:endParaRPr lang="en-GB"/>
          </a:p>
        </p:txBody>
      </p:sp>
      <p:sp>
        <p:nvSpPr>
          <p:cNvPr id="3" name="Content Placeholder 2"/>
          <p:cNvSpPr>
            <a:spLocks noGrp="1"/>
          </p:cNvSpPr>
          <p:nvPr>
            <p:ph sz="half" idx="1"/>
          </p:nvPr>
        </p:nvSpPr>
        <p:spPr>
          <a:xfrm>
            <a:off x="1132987" y="908720"/>
            <a:ext cx="5140263" cy="519752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A697E6E-4695-4A96-B965-E91C30BB1F9D}" type="datetime4">
              <a:rPr lang="en-GB" smtClean="0"/>
              <a:pPr/>
              <a:t>26 September 2025</a:t>
            </a:fld>
            <a:endParaRPr lang="en-GB"/>
          </a:p>
        </p:txBody>
      </p:sp>
      <p:sp>
        <p:nvSpPr>
          <p:cNvPr id="6" name="Footer Placeholder 5"/>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7" name="Slide Number Placeholder 6"/>
          <p:cNvSpPr>
            <a:spLocks noGrp="1"/>
          </p:cNvSpPr>
          <p:nvPr>
            <p:ph type="sldNum" sz="quarter" idx="12"/>
          </p:nvPr>
        </p:nvSpPr>
        <p:spPr/>
        <p:txBody>
          <a:bodyPr/>
          <a:lstStyle/>
          <a:p>
            <a:fld id="{653FF254-26D3-4E50-98DF-6C68BE574C8B}" type="slidenum">
              <a:rPr lang="en-GB" smtClean="0"/>
              <a:pPr/>
              <a:t>‹#›</a:t>
            </a:fld>
            <a:endParaRPr lang="en-GB"/>
          </a:p>
        </p:txBody>
      </p:sp>
      <p:sp>
        <p:nvSpPr>
          <p:cNvPr id="10" name="Content Placeholder 9"/>
          <p:cNvSpPr>
            <a:spLocks noGrp="1"/>
          </p:cNvSpPr>
          <p:nvPr>
            <p:ph sz="quarter" idx="13"/>
          </p:nvPr>
        </p:nvSpPr>
        <p:spPr>
          <a:xfrm>
            <a:off x="7779879" y="1903414"/>
            <a:ext cx="2844800" cy="2332037"/>
          </a:xfrm>
          <a:ln w="12700">
            <a:solidFill>
              <a:schemeClr val="accent1"/>
            </a:solidFill>
          </a:ln>
        </p:spPr>
        <p:txBody>
          <a:bodyPr lIns="108000" tIns="108000" rIns="108000" bIns="108000" anchor="ctr" anchorCtr="0">
            <a:normAutofit/>
          </a:bodyPr>
          <a:lstStyle>
            <a:lvl1pPr marL="0" indent="0" algn="ctr">
              <a:buNone/>
              <a:defRPr sz="2400" b="0" i="1">
                <a:latin typeface="Georgia" panose="02040502050405020303" pitchFamily="18" charset="0"/>
              </a:defRPr>
            </a:lvl1pPr>
          </a:lstStyle>
          <a:p>
            <a:pPr lvl="0"/>
            <a:r>
              <a:rPr lang="en-US"/>
              <a:t>Click to edit Master text styles</a:t>
            </a:r>
          </a:p>
        </p:txBody>
      </p:sp>
      <p:cxnSp>
        <p:nvCxnSpPr>
          <p:cNvPr id="12" name="Straight Connector 11"/>
          <p:cNvCxnSpPr>
            <a:stCxn id="10" idx="2"/>
          </p:cNvCxnSpPr>
          <p:nvPr userDrawn="1"/>
        </p:nvCxnSpPr>
        <p:spPr>
          <a:xfrm flipH="1">
            <a:off x="9197883" y="4235451"/>
            <a:ext cx="4396" cy="2101651"/>
          </a:xfrm>
          <a:prstGeom prst="line">
            <a:avLst/>
          </a:prstGeom>
          <a:noFill/>
          <a:ln w="12700">
            <a:solidFill>
              <a:srgbClr val="6D8D23"/>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686633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4 with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909638"/>
            <a:ext cx="10546860" cy="838264"/>
          </a:xfrm>
          <a:ln>
            <a:noFill/>
          </a:ln>
        </p:spPr>
        <p:txBody>
          <a:bodyPr/>
          <a:lstStyle>
            <a:lvl1pPr>
              <a:defRPr>
                <a:solidFill>
                  <a:srgbClr val="294518"/>
                </a:solidFill>
              </a:defRPr>
            </a:lvl1pPr>
          </a:lstStyle>
          <a:p>
            <a:r>
              <a:rPr lang="en-US"/>
              <a:t>Click to edit Master title style</a:t>
            </a:r>
            <a:endParaRPr lang="en-GB"/>
          </a:p>
        </p:txBody>
      </p:sp>
      <p:sp>
        <p:nvSpPr>
          <p:cNvPr id="3" name="Content Placeholder 2"/>
          <p:cNvSpPr>
            <a:spLocks noGrp="1"/>
          </p:cNvSpPr>
          <p:nvPr>
            <p:ph sz="half" idx="1"/>
          </p:nvPr>
        </p:nvSpPr>
        <p:spPr>
          <a:xfrm>
            <a:off x="1132987" y="1844825"/>
            <a:ext cx="5140263" cy="413836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A697E6E-4695-4A96-B965-E91C30BB1F9D}" type="datetime4">
              <a:rPr lang="en-GB" smtClean="0"/>
              <a:pPr/>
              <a:t>26 September 2025</a:t>
            </a:fld>
            <a:endParaRPr lang="en-GB"/>
          </a:p>
        </p:txBody>
      </p:sp>
      <p:sp>
        <p:nvSpPr>
          <p:cNvPr id="6" name="Footer Placeholder 5"/>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7" name="Slide Number Placeholder 6"/>
          <p:cNvSpPr>
            <a:spLocks noGrp="1"/>
          </p:cNvSpPr>
          <p:nvPr>
            <p:ph type="sldNum" sz="quarter" idx="12"/>
          </p:nvPr>
        </p:nvSpPr>
        <p:spPr/>
        <p:txBody>
          <a:bodyPr/>
          <a:lstStyle/>
          <a:p>
            <a:fld id="{653FF254-26D3-4E50-98DF-6C68BE574C8B}" type="slidenum">
              <a:rPr lang="en-GB" smtClean="0"/>
              <a:pPr/>
              <a:t>‹#›</a:t>
            </a:fld>
            <a:endParaRPr lang="en-GB"/>
          </a:p>
        </p:txBody>
      </p:sp>
      <p:sp>
        <p:nvSpPr>
          <p:cNvPr id="10" name="Content Placeholder 9"/>
          <p:cNvSpPr>
            <a:spLocks noGrp="1"/>
          </p:cNvSpPr>
          <p:nvPr>
            <p:ph sz="quarter" idx="13"/>
          </p:nvPr>
        </p:nvSpPr>
        <p:spPr>
          <a:xfrm>
            <a:off x="7780215" y="1916833"/>
            <a:ext cx="2844800" cy="2332037"/>
          </a:xfrm>
          <a:solidFill>
            <a:srgbClr val="294518"/>
          </a:solidFill>
          <a:ln w="12700">
            <a:solidFill>
              <a:srgbClr val="00212F"/>
            </a:solidFill>
          </a:ln>
        </p:spPr>
        <p:txBody>
          <a:bodyPr lIns="108000" tIns="108000" rIns="108000" bIns="108000" anchor="ctr" anchorCtr="0">
            <a:normAutofit/>
          </a:bodyPr>
          <a:lstStyle>
            <a:lvl1pPr marL="0" indent="0" algn="ctr">
              <a:buNone/>
              <a:defRPr sz="2400" b="0" i="1">
                <a:solidFill>
                  <a:schemeClr val="bg1"/>
                </a:solidFill>
                <a:latin typeface="Georgia" panose="02040502050405020303" pitchFamily="18" charset="0"/>
              </a:defRPr>
            </a:lvl1pPr>
          </a:lstStyle>
          <a:p>
            <a:pPr lvl="0"/>
            <a:r>
              <a:rPr lang="en-US"/>
              <a:t>Click to edit Master text styles</a:t>
            </a:r>
          </a:p>
        </p:txBody>
      </p:sp>
      <p:cxnSp>
        <p:nvCxnSpPr>
          <p:cNvPr id="12" name="Straight Connector 11"/>
          <p:cNvCxnSpPr>
            <a:stCxn id="10" idx="2"/>
          </p:cNvCxnSpPr>
          <p:nvPr userDrawn="1"/>
        </p:nvCxnSpPr>
        <p:spPr>
          <a:xfrm flipH="1">
            <a:off x="9197884" y="4248870"/>
            <a:ext cx="4732" cy="2060451"/>
          </a:xfrm>
          <a:prstGeom prst="line">
            <a:avLst/>
          </a:prstGeom>
          <a:noFill/>
          <a:ln w="12700">
            <a:solidFill>
              <a:srgbClr val="294518"/>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11" name="Picture 10"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5509" y="190500"/>
            <a:ext cx="2874331" cy="467084"/>
          </a:xfrm>
          <a:prstGeom prst="rect">
            <a:avLst/>
          </a:prstGeom>
        </p:spPr>
      </p:pic>
    </p:spTree>
    <p:extLst>
      <p:ext uri="{BB962C8B-B14F-4D97-AF65-F5344CB8AC3E}">
        <p14:creationId xmlns:p14="http://schemas.microsoft.com/office/powerpoint/2010/main" val="18051240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4 no logo">
    <p:spTree>
      <p:nvGrpSpPr>
        <p:cNvPr id="1" name=""/>
        <p:cNvGrpSpPr/>
        <p:nvPr/>
      </p:nvGrpSpPr>
      <p:grpSpPr>
        <a:xfrm>
          <a:off x="0" y="0"/>
          <a:ext cx="0" cy="0"/>
          <a:chOff x="0" y="0"/>
          <a:chExt cx="0" cy="0"/>
        </a:xfrm>
      </p:grpSpPr>
      <p:sp>
        <p:nvSpPr>
          <p:cNvPr id="2" name="Title 1"/>
          <p:cNvSpPr>
            <a:spLocks noGrp="1"/>
          </p:cNvSpPr>
          <p:nvPr>
            <p:ph type="title"/>
          </p:nvPr>
        </p:nvSpPr>
        <p:spPr>
          <a:xfrm>
            <a:off x="1132987" y="70456"/>
            <a:ext cx="10546860" cy="838264"/>
          </a:xfrm>
          <a:ln>
            <a:noFill/>
          </a:ln>
        </p:spPr>
        <p:txBody>
          <a:bodyPr/>
          <a:lstStyle/>
          <a:p>
            <a:r>
              <a:rPr lang="en-US"/>
              <a:t>Click to edit Master title style</a:t>
            </a:r>
            <a:endParaRPr lang="en-GB"/>
          </a:p>
        </p:txBody>
      </p:sp>
      <p:sp>
        <p:nvSpPr>
          <p:cNvPr id="3" name="Content Placeholder 2"/>
          <p:cNvSpPr>
            <a:spLocks noGrp="1"/>
          </p:cNvSpPr>
          <p:nvPr>
            <p:ph sz="half" idx="1"/>
          </p:nvPr>
        </p:nvSpPr>
        <p:spPr>
          <a:xfrm>
            <a:off x="1132987" y="908721"/>
            <a:ext cx="5140263" cy="507446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A697E6E-4695-4A96-B965-E91C30BB1F9D}" type="datetime4">
              <a:rPr lang="en-GB" smtClean="0"/>
              <a:pPr/>
              <a:t>26 September 2025</a:t>
            </a:fld>
            <a:endParaRPr lang="en-GB"/>
          </a:p>
        </p:txBody>
      </p:sp>
      <p:sp>
        <p:nvSpPr>
          <p:cNvPr id="6" name="Footer Placeholder 5"/>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7" name="Slide Number Placeholder 6"/>
          <p:cNvSpPr>
            <a:spLocks noGrp="1"/>
          </p:cNvSpPr>
          <p:nvPr>
            <p:ph type="sldNum" sz="quarter" idx="12"/>
          </p:nvPr>
        </p:nvSpPr>
        <p:spPr/>
        <p:txBody>
          <a:bodyPr/>
          <a:lstStyle/>
          <a:p>
            <a:fld id="{653FF254-26D3-4E50-98DF-6C68BE574C8B}" type="slidenum">
              <a:rPr lang="en-GB" smtClean="0"/>
              <a:pPr/>
              <a:t>‹#›</a:t>
            </a:fld>
            <a:endParaRPr lang="en-GB"/>
          </a:p>
        </p:txBody>
      </p:sp>
      <p:sp>
        <p:nvSpPr>
          <p:cNvPr id="10" name="Content Placeholder 9"/>
          <p:cNvSpPr>
            <a:spLocks noGrp="1"/>
          </p:cNvSpPr>
          <p:nvPr>
            <p:ph sz="quarter" idx="13"/>
          </p:nvPr>
        </p:nvSpPr>
        <p:spPr>
          <a:xfrm>
            <a:off x="7780215" y="1916833"/>
            <a:ext cx="2844800" cy="2332037"/>
          </a:xfrm>
          <a:solidFill>
            <a:srgbClr val="294518"/>
          </a:solidFill>
          <a:ln w="12700">
            <a:solidFill>
              <a:srgbClr val="00212F"/>
            </a:solidFill>
          </a:ln>
        </p:spPr>
        <p:txBody>
          <a:bodyPr lIns="108000" tIns="108000" rIns="108000" bIns="108000" anchor="ctr" anchorCtr="0">
            <a:normAutofit/>
          </a:bodyPr>
          <a:lstStyle>
            <a:lvl1pPr marL="0" indent="0" algn="ctr">
              <a:buNone/>
              <a:defRPr sz="2400" b="0" i="1">
                <a:solidFill>
                  <a:schemeClr val="bg1"/>
                </a:solidFill>
                <a:latin typeface="Georgia" panose="02040502050405020303" pitchFamily="18" charset="0"/>
              </a:defRPr>
            </a:lvl1pPr>
          </a:lstStyle>
          <a:p>
            <a:pPr lvl="0"/>
            <a:r>
              <a:rPr lang="en-US"/>
              <a:t>Click to edit Master text styles</a:t>
            </a:r>
          </a:p>
        </p:txBody>
      </p:sp>
      <p:cxnSp>
        <p:nvCxnSpPr>
          <p:cNvPr id="12" name="Straight Connector 11"/>
          <p:cNvCxnSpPr>
            <a:stCxn id="10" idx="2"/>
          </p:cNvCxnSpPr>
          <p:nvPr userDrawn="1"/>
        </p:nvCxnSpPr>
        <p:spPr>
          <a:xfrm flipH="1">
            <a:off x="9197884" y="4248870"/>
            <a:ext cx="4732" cy="2060451"/>
          </a:xfrm>
          <a:prstGeom prst="line">
            <a:avLst/>
          </a:prstGeom>
          <a:noFill/>
          <a:ln w="12700">
            <a:solidFill>
              <a:srgbClr val="294518"/>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0512404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5" name="Footer Placeholder 4"/>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6" name="Slide Number Placeholder 5"/>
          <p:cNvSpPr>
            <a:spLocks noGrp="1"/>
          </p:cNvSpPr>
          <p:nvPr>
            <p:ph type="sldNum" sz="quarter" idx="12"/>
          </p:nvPr>
        </p:nvSpPr>
        <p:spPr/>
        <p:txBody>
          <a:bodyPr/>
          <a:lstStyle/>
          <a:p>
            <a:fld id="{653FF254-26D3-4E50-98DF-6C68BE574C8B}" type="slidenum">
              <a:rPr lang="en-GB" smtClean="0"/>
              <a:pPr/>
              <a:t>‹#›</a:t>
            </a:fld>
            <a:endParaRPr lang="en-GB"/>
          </a:p>
        </p:txBody>
      </p:sp>
      <p:cxnSp>
        <p:nvCxnSpPr>
          <p:cNvPr id="10" name="Straight Connector 9"/>
          <p:cNvCxnSpPr/>
          <p:nvPr userDrawn="1"/>
        </p:nvCxnSpPr>
        <p:spPr>
          <a:xfrm>
            <a:off x="408355" y="764704"/>
            <a:ext cx="11359660" cy="0"/>
          </a:xfrm>
          <a:prstGeom prst="line">
            <a:avLst/>
          </a:prstGeom>
          <a:ln>
            <a:solidFill>
              <a:srgbClr val="6D8D23"/>
            </a:solidFill>
            <a:prstDash val="sysDash"/>
          </a:ln>
        </p:spPr>
        <p:style>
          <a:lnRef idx="1">
            <a:schemeClr val="dk1"/>
          </a:lnRef>
          <a:fillRef idx="0">
            <a:schemeClr val="dk1"/>
          </a:fillRef>
          <a:effectRef idx="0">
            <a:schemeClr val="dk1"/>
          </a:effectRef>
          <a:fontRef idx="minor">
            <a:schemeClr val="tx1"/>
          </a:fontRef>
        </p:style>
      </p:cxnSp>
      <p:pic>
        <p:nvPicPr>
          <p:cNvPr id="11" name="Picture 10" descr="UoB_MASTER_Primary-Logo_800x160px_15k_Screen@72dpi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93113" y="2816763"/>
            <a:ext cx="4205775" cy="683446"/>
          </a:xfrm>
          <a:prstGeom prst="rect">
            <a:avLst/>
          </a:prstGeom>
        </p:spPr>
      </p:pic>
    </p:spTree>
    <p:extLst>
      <p:ext uri="{BB962C8B-B14F-4D97-AF65-F5344CB8AC3E}">
        <p14:creationId xmlns:p14="http://schemas.microsoft.com/office/powerpoint/2010/main" val="35471578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0861BE-E083-4BD1-A91A-A552EADB9D95}" type="datetime4">
              <a:rPr lang="en-GB" smtClean="0"/>
              <a:pPr/>
              <a:t>26 September 2025</a:t>
            </a:fld>
            <a:endParaRPr lang="en-GB"/>
          </a:p>
        </p:txBody>
      </p:sp>
      <p:sp>
        <p:nvSpPr>
          <p:cNvPr id="3" name="Footer Placeholder 2"/>
          <p:cNvSpPr>
            <a:spLocks noGrp="1"/>
          </p:cNvSpPr>
          <p:nvPr>
            <p:ph type="ftr" sz="quarter" idx="11"/>
          </p:nvPr>
        </p:nvSpPr>
        <p:spPr>
          <a:xfrm>
            <a:off x="4165600" y="6304236"/>
            <a:ext cx="3860800" cy="365125"/>
          </a:xfrm>
          <a:prstGeom prst="rect">
            <a:avLst/>
          </a:prstGeom>
        </p:spPr>
        <p:txBody>
          <a:bodyPr/>
          <a:lstStyle/>
          <a:p>
            <a:r>
              <a:rPr lang="en-GB"/>
              <a:t>PRESENTATION TITLE AND AUTHOR</a:t>
            </a:r>
          </a:p>
        </p:txBody>
      </p:sp>
      <p:sp>
        <p:nvSpPr>
          <p:cNvPr id="4" name="Slide Number Placeholder 3"/>
          <p:cNvSpPr>
            <a:spLocks noGrp="1"/>
          </p:cNvSpPr>
          <p:nvPr>
            <p:ph type="sldNum" sz="quarter" idx="12"/>
          </p:nvPr>
        </p:nvSpPr>
        <p:spPr/>
        <p:txBody>
          <a:bodyPr/>
          <a:lstStyle/>
          <a:p>
            <a:fld id="{653FF254-26D3-4E50-98DF-6C68BE574C8B}" type="slidenum">
              <a:rPr lang="en-GB" smtClean="0"/>
              <a:pPr/>
              <a:t>‹#›</a:t>
            </a:fld>
            <a:endParaRPr lang="en-GB"/>
          </a:p>
        </p:txBody>
      </p:sp>
    </p:spTree>
    <p:extLst>
      <p:ext uri="{BB962C8B-B14F-4D97-AF65-F5344CB8AC3E}">
        <p14:creationId xmlns:p14="http://schemas.microsoft.com/office/powerpoint/2010/main" val="464110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3" Type="http://schemas.openxmlformats.org/officeDocument/2006/relationships/slideLayout" Target="../slideLayouts/slideLayout40.xml"/><Relationship Id="rId21" Type="http://schemas.openxmlformats.org/officeDocument/2006/relationships/theme" Target="../theme/theme4.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98340-B171-C7F8-E502-44C492B8FE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FA4DC8E-E857-5C04-8467-06D069B453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1D8957-32A9-E963-3667-DA086102BD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342B65-732B-4481-AB04-2459D02FA570}" type="datetimeFigureOut">
              <a:rPr lang="en-GB" smtClean="0"/>
              <a:t>26/09/2025</a:t>
            </a:fld>
            <a:endParaRPr lang="en-GB"/>
          </a:p>
        </p:txBody>
      </p:sp>
      <p:sp>
        <p:nvSpPr>
          <p:cNvPr id="5" name="Footer Placeholder 4">
            <a:extLst>
              <a:ext uri="{FF2B5EF4-FFF2-40B4-BE49-F238E27FC236}">
                <a16:creationId xmlns:a16="http://schemas.microsoft.com/office/drawing/2014/main" id="{B70D8C8D-6BBA-CBD8-6EE4-0368E06E18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83D12A7-EE24-A660-5419-76F7BA1CB4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9D1CF-57BD-4E4C-B2D6-0C7FABC3C115}" type="slidenum">
              <a:rPr lang="en-GB" smtClean="0"/>
              <a:t>‹#›</a:t>
            </a:fld>
            <a:endParaRPr lang="en-GB"/>
          </a:p>
        </p:txBody>
      </p:sp>
    </p:spTree>
    <p:extLst>
      <p:ext uri="{BB962C8B-B14F-4D97-AF65-F5344CB8AC3E}">
        <p14:creationId xmlns:p14="http://schemas.microsoft.com/office/powerpoint/2010/main" val="2058795151"/>
      </p:ext>
    </p:extLst>
  </p:cSld>
  <p:clrMap bg1="lt1" tx1="dk1" bg2="lt2" tx2="dk2" accent1="accent1" accent2="accent2" accent3="accent3" accent4="accent4" accent5="accent5" accent6="accent6" hlink="hlink" folHlink="folHlink"/>
  <p:sldLayoutIdLst>
    <p:sldLayoutId id="2147483763" r:id="rId1"/>
    <p:sldLayoutId id="2147483650" r:id="rId2"/>
    <p:sldLayoutId id="2147483651" r:id="rId3"/>
    <p:sldLayoutId id="2147483652" r:id="rId4"/>
    <p:sldLayoutId id="2147483653" r:id="rId5"/>
    <p:sldLayoutId id="2147483759" r:id="rId6"/>
    <p:sldLayoutId id="2147483760" r:id="rId7"/>
    <p:sldLayoutId id="2147483761" r:id="rId8"/>
    <p:sldLayoutId id="2147483756" r:id="rId9"/>
    <p:sldLayoutId id="2147483757" r:id="rId10"/>
    <p:sldLayoutId id="21474837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82EBD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CE45E7-EB47-F239-B79A-46875B15C99E}"/>
              </a:ext>
            </a:extLst>
          </p:cNvPr>
          <p:cNvSpPr>
            <a:spLocks noGrp="1"/>
          </p:cNvSpPr>
          <p:nvPr>
            <p:ph type="title"/>
          </p:nvPr>
        </p:nvSpPr>
        <p:spPr>
          <a:xfrm>
            <a:off x="838200" y="994114"/>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41E4306-6025-2928-F3EE-DA02A3A0CBA7}"/>
              </a:ext>
            </a:extLst>
          </p:cNvPr>
          <p:cNvSpPr>
            <a:spLocks noGrp="1"/>
          </p:cNvSpPr>
          <p:nvPr>
            <p:ph type="body" idx="1"/>
          </p:nvPr>
        </p:nvSpPr>
        <p:spPr>
          <a:xfrm>
            <a:off x="838200" y="2409371"/>
            <a:ext cx="10515600" cy="3767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467A57-DD12-E27F-3935-7A696EF2A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fld id="{239DC724-34A1-45E6-B8BF-3E41D8F8089E}" type="datetime1">
              <a:rPr lang="en-GB" smtClean="0"/>
              <a:t>26/09/2025</a:t>
            </a:fld>
            <a:endParaRPr lang="en-GB"/>
          </a:p>
        </p:txBody>
      </p:sp>
      <p:sp>
        <p:nvSpPr>
          <p:cNvPr id="5" name="Footer Placeholder 4">
            <a:extLst>
              <a:ext uri="{FF2B5EF4-FFF2-40B4-BE49-F238E27FC236}">
                <a16:creationId xmlns:a16="http://schemas.microsoft.com/office/drawing/2014/main" id="{2F6DC7B8-E4F0-66EB-AD4C-F0C9602DCE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GB"/>
              <a:t>Brand</a:t>
            </a:r>
          </a:p>
        </p:txBody>
      </p:sp>
      <p:sp>
        <p:nvSpPr>
          <p:cNvPr id="6" name="Slide Number Placeholder 5">
            <a:extLst>
              <a:ext uri="{FF2B5EF4-FFF2-40B4-BE49-F238E27FC236}">
                <a16:creationId xmlns:a16="http://schemas.microsoft.com/office/drawing/2014/main" id="{A53E5D7A-FD1E-6DB5-9823-257D2FE718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E53A5BC0-BAEF-4B36-8137-0A1AD2059BA3}" type="slidenum">
              <a:rPr lang="en-GB" smtClean="0"/>
              <a:pPr/>
              <a:t>‹#›</a:t>
            </a:fld>
            <a:endParaRPr lang="en-GB"/>
          </a:p>
        </p:txBody>
      </p:sp>
      <p:pic>
        <p:nvPicPr>
          <p:cNvPr id="7" name="Picture 6" descr="A black background with a black square&#10;&#10;Description automatically generated with medium confidence">
            <a:extLst>
              <a:ext uri="{FF2B5EF4-FFF2-40B4-BE49-F238E27FC236}">
                <a16:creationId xmlns:a16="http://schemas.microsoft.com/office/drawing/2014/main" id="{FFAD0FFC-BD66-5553-1B2E-CBD59C85FD68}"/>
              </a:ext>
            </a:extLst>
          </p:cNvPr>
          <p:cNvPicPr>
            <a:picLocks noChangeAspect="1"/>
          </p:cNvPicPr>
          <p:nvPr userDrawn="1"/>
        </p:nvPicPr>
        <p:blipFill>
          <a:blip r:embed="rId15"/>
          <a:stretch>
            <a:fillRect/>
          </a:stretch>
        </p:blipFill>
        <p:spPr>
          <a:xfrm>
            <a:off x="532800" y="410400"/>
            <a:ext cx="2289600" cy="928676"/>
          </a:xfrm>
          <a:prstGeom prst="rect">
            <a:avLst/>
          </a:prstGeom>
        </p:spPr>
      </p:pic>
    </p:spTree>
    <p:extLst>
      <p:ext uri="{BB962C8B-B14F-4D97-AF65-F5344CB8AC3E}">
        <p14:creationId xmlns:p14="http://schemas.microsoft.com/office/powerpoint/2010/main" val="2637135206"/>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767" r:id="rId11"/>
    <p:sldLayoutId id="2147483751" r:id="rId12"/>
    <p:sldLayoutId id="2147483752" r:id="rId13"/>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5DC6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CE45E7-EB47-F239-B79A-46875B15C99E}"/>
              </a:ext>
            </a:extLst>
          </p:cNvPr>
          <p:cNvSpPr>
            <a:spLocks noGrp="1"/>
          </p:cNvSpPr>
          <p:nvPr>
            <p:ph type="title"/>
          </p:nvPr>
        </p:nvSpPr>
        <p:spPr>
          <a:xfrm>
            <a:off x="838200" y="994114"/>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41E4306-6025-2928-F3EE-DA02A3A0CBA7}"/>
              </a:ext>
            </a:extLst>
          </p:cNvPr>
          <p:cNvSpPr>
            <a:spLocks noGrp="1"/>
          </p:cNvSpPr>
          <p:nvPr>
            <p:ph type="body" idx="1"/>
          </p:nvPr>
        </p:nvSpPr>
        <p:spPr>
          <a:xfrm>
            <a:off x="838200" y="2409371"/>
            <a:ext cx="10515600" cy="3767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467A57-DD12-E27F-3935-7A696EF2A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fld id="{1CBD4BAB-6CA1-4097-8CFA-235C1B0215CE}" type="datetime1">
              <a:rPr lang="en-GB" smtClean="0"/>
              <a:t>26/09/2025</a:t>
            </a:fld>
            <a:endParaRPr lang="en-GB"/>
          </a:p>
        </p:txBody>
      </p:sp>
      <p:sp>
        <p:nvSpPr>
          <p:cNvPr id="5" name="Footer Placeholder 4">
            <a:extLst>
              <a:ext uri="{FF2B5EF4-FFF2-40B4-BE49-F238E27FC236}">
                <a16:creationId xmlns:a16="http://schemas.microsoft.com/office/drawing/2014/main" id="{2F6DC7B8-E4F0-66EB-AD4C-F0C9602DCE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GB"/>
              <a:t>Brand</a:t>
            </a:r>
          </a:p>
        </p:txBody>
      </p:sp>
      <p:sp>
        <p:nvSpPr>
          <p:cNvPr id="6" name="Slide Number Placeholder 5">
            <a:extLst>
              <a:ext uri="{FF2B5EF4-FFF2-40B4-BE49-F238E27FC236}">
                <a16:creationId xmlns:a16="http://schemas.microsoft.com/office/drawing/2014/main" id="{A53E5D7A-FD1E-6DB5-9823-257D2FE718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E53A5BC0-BAEF-4B36-8137-0A1AD2059BA3}" type="slidenum">
              <a:rPr lang="en-GB" smtClean="0"/>
              <a:pPr/>
              <a:t>‹#›</a:t>
            </a:fld>
            <a:endParaRPr lang="en-GB"/>
          </a:p>
        </p:txBody>
      </p:sp>
      <p:pic>
        <p:nvPicPr>
          <p:cNvPr id="7" name="Picture 6" descr="A black background with a black square&#10;&#10;Description automatically generated with medium confidence">
            <a:extLst>
              <a:ext uri="{FF2B5EF4-FFF2-40B4-BE49-F238E27FC236}">
                <a16:creationId xmlns:a16="http://schemas.microsoft.com/office/drawing/2014/main" id="{3A254371-ADCD-933E-8852-7AEF7178A05F}"/>
              </a:ext>
            </a:extLst>
          </p:cNvPr>
          <p:cNvPicPr>
            <a:picLocks noChangeAspect="1"/>
          </p:cNvPicPr>
          <p:nvPr userDrawn="1"/>
        </p:nvPicPr>
        <p:blipFill>
          <a:blip r:embed="rId15"/>
          <a:stretch>
            <a:fillRect/>
          </a:stretch>
        </p:blipFill>
        <p:spPr>
          <a:xfrm>
            <a:off x="532800" y="410400"/>
            <a:ext cx="2289600" cy="928676"/>
          </a:xfrm>
          <a:prstGeom prst="rect">
            <a:avLst/>
          </a:prstGeom>
        </p:spPr>
      </p:pic>
    </p:spTree>
    <p:extLst>
      <p:ext uri="{BB962C8B-B14F-4D97-AF65-F5344CB8AC3E}">
        <p14:creationId xmlns:p14="http://schemas.microsoft.com/office/powerpoint/2010/main" val="401630699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762" r:id="rId7"/>
    <p:sldLayoutId id="2147483764" r:id="rId8"/>
    <p:sldLayoutId id="2147483765" r:id="rId9"/>
    <p:sldLayoutId id="2147483766" r:id="rId10"/>
    <p:sldLayoutId id="2147483753" r:id="rId11"/>
    <p:sldLayoutId id="2147483754" r:id="rId12"/>
    <p:sldLayoutId id="2147483755" r:id="rId13"/>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423986" y="6309320"/>
            <a:ext cx="564661" cy="360040"/>
          </a:xfrm>
          <a:prstGeom prst="rect">
            <a:avLst/>
          </a:prstGeom>
          <a:solidFill>
            <a:srgbClr val="008591"/>
          </a:solidFill>
          <a:ln>
            <a:solidFill>
              <a:srgbClr val="00859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endParaRPr lang="en-GB" sz="1050" b="1">
              <a:solidFill>
                <a:schemeClr val="bg1"/>
              </a:solidFill>
              <a:latin typeface="Lucida Sans"/>
              <a:cs typeface="Lucida Sans"/>
            </a:endParaRPr>
          </a:p>
        </p:txBody>
      </p:sp>
      <p:sp>
        <p:nvSpPr>
          <p:cNvPr id="10" name="Rectangle 9"/>
          <p:cNvSpPr/>
          <p:nvPr/>
        </p:nvSpPr>
        <p:spPr>
          <a:xfrm>
            <a:off x="1000908" y="6306777"/>
            <a:ext cx="1461457" cy="360040"/>
          </a:xfrm>
          <a:prstGeom prst="rect">
            <a:avLst/>
          </a:prstGeom>
          <a:solidFill>
            <a:srgbClr val="6D8D23"/>
          </a:solidFill>
          <a:ln>
            <a:solidFill>
              <a:srgbClr val="6D8D2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endParaRPr lang="en-GB" sz="1050" b="1">
              <a:latin typeface="Lucida Sans"/>
              <a:cs typeface="Lucida Sans"/>
            </a:endParaRPr>
          </a:p>
        </p:txBody>
      </p:sp>
      <p:sp>
        <p:nvSpPr>
          <p:cNvPr id="6" name="Slide Number Placeholder 5"/>
          <p:cNvSpPr>
            <a:spLocks noGrp="1"/>
          </p:cNvSpPr>
          <p:nvPr>
            <p:ph type="sldNum" sz="quarter" idx="4"/>
          </p:nvPr>
        </p:nvSpPr>
        <p:spPr>
          <a:xfrm>
            <a:off x="412537" y="6304236"/>
            <a:ext cx="576110" cy="365125"/>
          </a:xfrm>
          <a:prstGeom prst="rect">
            <a:avLst/>
          </a:prstGeom>
        </p:spPr>
        <p:txBody>
          <a:bodyPr vert="horz" wrap="none" lIns="91440" tIns="45720" rIns="91440" bIns="45720" rtlCol="0" anchor="ctr" anchorCtr="0">
            <a:normAutofit/>
          </a:bodyPr>
          <a:lstStyle>
            <a:lvl1pPr algn="ctr">
              <a:defRPr sz="1050" b="1">
                <a:solidFill>
                  <a:schemeClr val="bg1"/>
                </a:solidFill>
                <a:latin typeface="Lucida Sans"/>
                <a:cs typeface="Lucida Sans"/>
              </a:defRPr>
            </a:lvl1pPr>
          </a:lstStyle>
          <a:p>
            <a:fld id="{653FF254-26D3-4E50-98DF-6C68BE574C8B}" type="slidenum">
              <a:rPr lang="en-GB" smtClean="0"/>
              <a:pPr/>
              <a:t>‹#›</a:t>
            </a:fld>
            <a:endParaRPr lang="en-GB"/>
          </a:p>
        </p:txBody>
      </p:sp>
      <p:sp>
        <p:nvSpPr>
          <p:cNvPr id="2" name="Title Placeholder 1"/>
          <p:cNvSpPr>
            <a:spLocks noGrp="1"/>
          </p:cNvSpPr>
          <p:nvPr>
            <p:ph type="title"/>
          </p:nvPr>
        </p:nvSpPr>
        <p:spPr>
          <a:xfrm>
            <a:off x="1221154" y="908720"/>
            <a:ext cx="10369610" cy="817453"/>
          </a:xfrm>
          <a:prstGeom prst="rect">
            <a:avLst/>
          </a:prstGeom>
        </p:spPr>
        <p:txBody>
          <a:bodyPr vert="horz" lIns="0" tIns="0" rIns="0" bIns="0" rtlCol="0" anchor="ctr">
            <a:noAutofit/>
          </a:bodyPr>
          <a:lstStyle/>
          <a:p>
            <a:r>
              <a:rPr lang="en-US"/>
              <a:t>Click to edit Master title style</a:t>
            </a:r>
            <a:endParaRPr lang="en-GB"/>
          </a:p>
        </p:txBody>
      </p:sp>
      <p:sp>
        <p:nvSpPr>
          <p:cNvPr id="3" name="Text Placeholder 2"/>
          <p:cNvSpPr>
            <a:spLocks noGrp="1"/>
          </p:cNvSpPr>
          <p:nvPr>
            <p:ph type="body" idx="1"/>
          </p:nvPr>
        </p:nvSpPr>
        <p:spPr>
          <a:xfrm>
            <a:off x="1221154" y="1844823"/>
            <a:ext cx="10361246" cy="431020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p:cNvSpPr/>
          <p:nvPr/>
        </p:nvSpPr>
        <p:spPr>
          <a:xfrm>
            <a:off x="2462366" y="6306777"/>
            <a:ext cx="9305649" cy="360040"/>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latin typeface="Lucida Sans"/>
              <a:cs typeface="Lucida Sans"/>
            </a:endParaRPr>
          </a:p>
        </p:txBody>
      </p:sp>
      <p:sp>
        <p:nvSpPr>
          <p:cNvPr id="4" name="Date Placeholder 3"/>
          <p:cNvSpPr>
            <a:spLocks noGrp="1"/>
          </p:cNvSpPr>
          <p:nvPr>
            <p:ph type="dt" sz="half" idx="2"/>
          </p:nvPr>
        </p:nvSpPr>
        <p:spPr>
          <a:xfrm>
            <a:off x="988647" y="6304236"/>
            <a:ext cx="1473719" cy="365125"/>
          </a:xfrm>
          <a:prstGeom prst="rect">
            <a:avLst/>
          </a:prstGeom>
          <a:solidFill>
            <a:srgbClr val="6D8D23"/>
          </a:solidFill>
        </p:spPr>
        <p:txBody>
          <a:bodyPr vert="horz" wrap="none" lIns="0" tIns="0" rIns="0" bIns="0" rtlCol="0" anchor="ctr" anchorCtr="0">
            <a:normAutofit/>
          </a:bodyPr>
          <a:lstStyle>
            <a:lvl1pPr algn="ctr">
              <a:defRPr sz="1050" b="1">
                <a:solidFill>
                  <a:schemeClr val="bg1"/>
                </a:solidFill>
                <a:latin typeface="Lucida Sans"/>
                <a:cs typeface="Lucida Sans"/>
              </a:defRPr>
            </a:lvl1pPr>
          </a:lstStyle>
          <a:p>
            <a:r>
              <a:rPr lang="en-GB"/>
              <a:t>29 September 2014</a:t>
            </a:r>
          </a:p>
        </p:txBody>
      </p:sp>
    </p:spTree>
    <p:extLst>
      <p:ext uri="{BB962C8B-B14F-4D97-AF65-F5344CB8AC3E}">
        <p14:creationId xmlns:p14="http://schemas.microsoft.com/office/powerpoint/2010/main" val="1635026478"/>
      </p:ext>
    </p:extLst>
  </p:cSld>
  <p:clrMap bg1="lt1" tx1="dk1" bg2="lt2" tx2="dk2" accent1="accent1" accent2="accent2" accent3="accent3" accent4="accent4" accent5="accent5" accent6="accent6" hlink="hlink" folHlink="folHlink"/>
  <p:sldLayoutIdLst>
    <p:sldLayoutId id="2147483649" r:id="rId1"/>
    <p:sldLayoutId id="2147483695" r:id="rId2"/>
    <p:sldLayoutId id="2147483696" r:id="rId3"/>
    <p:sldLayoutId id="2147483697" r:id="rId4"/>
    <p:sldLayoutId id="2147483698" r:id="rId5"/>
    <p:sldLayoutId id="2147483699" r:id="rId6"/>
    <p:sldLayoutId id="2147483747" r:id="rId7"/>
    <p:sldLayoutId id="2147483748" r:id="rId8"/>
    <p:sldLayoutId id="2147483749" r:id="rId9"/>
    <p:sldLayoutId id="2147483750"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Lst>
  <p:hf hdr="0"/>
  <p:txStyles>
    <p:titleStyle>
      <a:lvl1pPr algn="l" defTabSz="914400" rtl="0" eaLnBrk="1" latinLnBrk="0" hangingPunct="1">
        <a:spcBef>
          <a:spcPct val="0"/>
        </a:spcBef>
        <a:buNone/>
        <a:defRPr sz="3200" b="1" kern="1200" baseline="0">
          <a:solidFill>
            <a:srgbClr val="294518"/>
          </a:solidFill>
          <a:latin typeface="Lucida Sans" panose="020B0602030504020204" pitchFamily="34" charset="77"/>
          <a:ea typeface="+mj-ea"/>
          <a:cs typeface="+mj-cs"/>
        </a:defRPr>
      </a:lvl1pPr>
    </p:titleStyle>
    <p:bodyStyle>
      <a:lvl1pPr marL="266700" indent="-266700" algn="l" defTabSz="914400" rtl="0" eaLnBrk="1" latinLnBrk="0" hangingPunct="1">
        <a:spcBef>
          <a:spcPts val="0"/>
        </a:spcBef>
        <a:spcAft>
          <a:spcPts val="600"/>
        </a:spcAft>
        <a:buSzPct val="120000"/>
        <a:buFont typeface="Arial" panose="020B0604020202020204" pitchFamily="34" charset="0"/>
        <a:buChar char="•"/>
        <a:defRPr sz="2400" kern="1200">
          <a:solidFill>
            <a:srgbClr val="294518"/>
          </a:solidFill>
          <a:latin typeface="Lucida Sans" panose="020B0602030504020204" pitchFamily="34" charset="0"/>
          <a:ea typeface="+mn-ea"/>
          <a:cs typeface="+mn-cs"/>
        </a:defRPr>
      </a:lvl1pPr>
      <a:lvl2pPr marL="742950" indent="-285750" algn="l" defTabSz="914400" rtl="0" eaLnBrk="1" latinLnBrk="0" hangingPunct="1">
        <a:spcBef>
          <a:spcPts val="0"/>
        </a:spcBef>
        <a:spcAft>
          <a:spcPts val="600"/>
        </a:spcAft>
        <a:buFont typeface="Arial" panose="020B0604020202020204" pitchFamily="34" charset="0"/>
        <a:buChar char="–"/>
        <a:defRPr sz="2000" kern="1200">
          <a:solidFill>
            <a:srgbClr val="294518"/>
          </a:solidFill>
          <a:latin typeface="Lucida Sans" panose="020B0602030504020204" pitchFamily="34" charset="0"/>
          <a:ea typeface="+mn-ea"/>
          <a:cs typeface="+mn-cs"/>
        </a:defRPr>
      </a:lvl2pPr>
      <a:lvl3pPr marL="1143000" indent="-228600" algn="l" defTabSz="914400" rtl="0" eaLnBrk="1" latinLnBrk="0" hangingPunct="1">
        <a:spcBef>
          <a:spcPts val="0"/>
        </a:spcBef>
        <a:spcAft>
          <a:spcPts val="600"/>
        </a:spcAft>
        <a:buFont typeface="Arial" panose="020B0604020202020204" pitchFamily="34" charset="0"/>
        <a:buChar char="•"/>
        <a:defRPr sz="1800" kern="1200">
          <a:solidFill>
            <a:srgbClr val="294518"/>
          </a:solidFill>
          <a:latin typeface="Lucida Sans" panose="020B0602030504020204" pitchFamily="34" charset="0"/>
          <a:ea typeface="+mn-ea"/>
          <a:cs typeface="+mn-cs"/>
        </a:defRPr>
      </a:lvl3pPr>
      <a:lvl4pPr marL="1600200" indent="-228600" algn="l" defTabSz="914400" rtl="0" eaLnBrk="1" latinLnBrk="0" hangingPunct="1">
        <a:spcBef>
          <a:spcPts val="0"/>
        </a:spcBef>
        <a:spcAft>
          <a:spcPts val="600"/>
        </a:spcAft>
        <a:buFont typeface="Arial" panose="020B0604020202020204" pitchFamily="34" charset="0"/>
        <a:buChar char="–"/>
        <a:defRPr sz="1600" kern="1200">
          <a:solidFill>
            <a:srgbClr val="294518"/>
          </a:solidFill>
          <a:latin typeface="Lucida Sans" panose="020B0602030504020204" pitchFamily="34" charset="0"/>
          <a:ea typeface="+mn-ea"/>
          <a:cs typeface="+mn-cs"/>
        </a:defRPr>
      </a:lvl4pPr>
      <a:lvl5pPr marL="2057400" indent="-228600" algn="l" defTabSz="914400" rtl="0" eaLnBrk="1" latinLnBrk="0" hangingPunct="1">
        <a:spcBef>
          <a:spcPts val="0"/>
        </a:spcBef>
        <a:spcAft>
          <a:spcPts val="600"/>
        </a:spcAft>
        <a:buFont typeface="Arial" panose="020B0604020202020204" pitchFamily="34" charset="0"/>
        <a:buChar char="»"/>
        <a:defRPr sz="1600" kern="1200">
          <a:solidFill>
            <a:srgbClr val="294518"/>
          </a:solidFill>
          <a:latin typeface="Lucida Sans" panose="020B0602030504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radford.libcal.com/appointments/jrowland" TargetMode="External"/><Relationship Id="rId2" Type="http://schemas.openxmlformats.org/officeDocument/2006/relationships/hyperlink" Target="mailto:j.rowland2@bradford.ac.uk" TargetMode="Externa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hyperlink" Target="http://www.bradford.ac.uk/library" TargetMode="Externa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hyperlink" Target="http://www.bradford.ac.uk/library/" TargetMode="Externa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hyperlink" Target="http://www.bradford.ac.uk/library" TargetMode="Externa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hyperlink" Target="http://www.bradford.ac.uk/library" TargetMode="Externa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ww.bradford.ac.uk/library/" TargetMode="Externa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bradford.ac.uk/library/library-resources/access-online-resources/" TargetMode="Externa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hyperlink" Target="http://www.bradford.ac.uk/library" TargetMode="Externa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hyperlink" Target="https://bradford.instructure.com/courses/15002/pages/presentation-on-avoiding-plagiarism-and-turnitin-2?module_item_id=247725" TargetMode="Externa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hyperlink" Target="https://www.insider.com/ai-generated-barbie-every-country-criticism-internet-midjourney-racism-2023-7" TargetMode="Externa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07/s00146-023-01660-x" TargetMode="External"/><Relationship Id="rId2" Type="http://schemas.openxmlformats.org/officeDocument/2006/relationships/hyperlink" Target="https://www.aiweirdness.com/search-or-fabrication/" TargetMode="External"/><Relationship Id="rId1" Type="http://schemas.openxmlformats.org/officeDocument/2006/relationships/slideLayout" Target="../slideLayouts/slideLayout13.xml"/><Relationship Id="rId5" Type="http://schemas.openxmlformats.org/officeDocument/2006/relationships/hyperlink" Target="https://mastodon.social/@L_howes/109879173479929748" TargetMode="External"/><Relationship Id="rId4" Type="http://schemas.openxmlformats.org/officeDocument/2006/relationships/hyperlink" Target="https://link.springer.com/article/10.1007/s11192-023-04804-4"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hyperlink" Target="https://x.com/deedydas/status/1808188513512575179?mx=2" TargetMode="Externa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8" Type="http://schemas.openxmlformats.org/officeDocument/2006/relationships/hyperlink" Target="https://archive.ph/3k39n" TargetMode="External"/><Relationship Id="rId13" Type="http://schemas.openxmlformats.org/officeDocument/2006/relationships/hyperlink" Target="https://www.aiweirdness.com/chatbot-svg/" TargetMode="External"/><Relationship Id="rId3" Type="http://schemas.openxmlformats.org/officeDocument/2006/relationships/hyperlink" Target="https://www.theguardian.com/world/2023/aug/10/pak-n-save-savey-meal-bot-ai-app-malfunction-recipes" TargetMode="External"/><Relationship Id="rId7" Type="http://schemas.openxmlformats.org/officeDocument/2006/relationships/hyperlink" Target="https://scienceintegritydigest.com/2024/02/15/the-rat-with-the-big-balls-and-enormous-penis-how-frontiers-published-a-paper-with-botched-ai-generated-images/" TargetMode="External"/><Relationship Id="rId12" Type="http://schemas.openxmlformats.org/officeDocument/2006/relationships/hyperlink" Target="https://twitter.com/CamestrosF/status/1662914854464946177" TargetMode="External"/><Relationship Id="rId2" Type="http://schemas.openxmlformats.org/officeDocument/2006/relationships/hyperlink" Target="https://arstechnica.com/science/2024/01/dont-use-chatgpt-to-diagnose-your-kids-illness-study-finds-83-error-rate/" TargetMode="External"/><Relationship Id="rId1" Type="http://schemas.openxmlformats.org/officeDocument/2006/relationships/slideLayout" Target="../slideLayouts/slideLayout13.xml"/><Relationship Id="rId6" Type="http://schemas.openxmlformats.org/officeDocument/2006/relationships/hyperlink" Target="https://www.americanoceans.org/facts/are-there-freshwater-octopus/" TargetMode="External"/><Relationship Id="rId11" Type="http://schemas.openxmlformats.org/officeDocument/2006/relationships/hyperlink" Target="https://twitter.com/CamestrosF/status/1657183063669874690" TargetMode="External"/><Relationship Id="rId5" Type="http://schemas.openxmlformats.org/officeDocument/2006/relationships/hyperlink" Target="https://tradescantia.uk/article/dont-ask-an-ai-for-plant-advice/" TargetMode="External"/><Relationship Id="rId15" Type="http://schemas.openxmlformats.org/officeDocument/2006/relationships/hyperlink" Target="https://www.tumblr.com/headspace-hotel/721803610791493632" TargetMode="External"/><Relationship Id="rId10" Type="http://schemas.openxmlformats.org/officeDocument/2006/relationships/hyperlink" Target="https://kolektiva.social/@FractalEcho/111949020988947948" TargetMode="External"/><Relationship Id="rId4" Type="http://schemas.openxmlformats.org/officeDocument/2006/relationships/hyperlink" Target="https://broken.graphics/@alinanorakari/110597053032715847" TargetMode="External"/><Relationship Id="rId9" Type="http://schemas.openxmlformats.org/officeDocument/2006/relationships/hyperlink" Target="https://arxiv.org/abs/2211.03622" TargetMode="External"/><Relationship Id="rId14" Type="http://schemas.openxmlformats.org/officeDocument/2006/relationships/hyperlink" Target="https://www.aiweirdness.com/what-does-this-sa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hyperlink" Target="https://bradford.instructure.com/courses/9626/pages/welcome-to-the-academic-integrity-induction-2?module_item_id=416648" TargetMode="Externa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hyperlink" Target="http://www.bradford.ac.uk/library" TargetMode="Externa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6.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6.xml"/><Relationship Id="rId1" Type="http://schemas.openxmlformats.org/officeDocument/2006/relationships/tags" Target="../tags/tag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3" Type="http://schemas.openxmlformats.org/officeDocument/2006/relationships/hyperlink" Target="mailto:jrblogg3@bradford.ac.uk" TargetMode="External"/><Relationship Id="rId2" Type="http://schemas.openxmlformats.org/officeDocument/2006/relationships/hyperlink" Target="https://forms.office.com/r/nbNXgmxxqs" TargetMode="Externa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6.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hyperlink" Target="https://howardleague.org/prisons-information/prison-watch/" TargetMode="External"/><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2" Type="http://schemas.openxmlformats.org/officeDocument/2006/relationships/hyperlink" Target="http://www.bcs.org/category/14405" TargetMode="Externa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3" Type="http://schemas.openxmlformats.org/officeDocument/2006/relationships/hyperlink" Target="https://bradford.instructure.com/courses/9626/pages/good-academic-pratice-for-final-year-projects?module_item_id=109497" TargetMode="External"/><Relationship Id="rId2" Type="http://schemas.openxmlformats.org/officeDocument/2006/relationships/hyperlink" Target="https://www.bradford.ac.uk/library/help/referencing-and-plagiarism/" TargetMode="External"/><Relationship Id="rId1" Type="http://schemas.openxmlformats.org/officeDocument/2006/relationships/slideLayout" Target="../slideLayouts/slideLayout26.xml"/><Relationship Id="rId6" Type="http://schemas.openxmlformats.org/officeDocument/2006/relationships/hyperlink" Target="https://zbib.org/" TargetMode="External"/><Relationship Id="rId5" Type="http://schemas.openxmlformats.org/officeDocument/2006/relationships/hyperlink" Target="https://www.mybib.com/" TargetMode="External"/><Relationship Id="rId4" Type="http://schemas.openxmlformats.org/officeDocument/2006/relationships/hyperlink" Target="https://www.bibcitation.com/" TargetMode="External"/></Relationships>
</file>

<file path=ppt/slides/_rels/slide45.xml.rels><?xml version="1.0" encoding="UTF-8" standalone="yes"?>
<Relationships xmlns="http://schemas.openxmlformats.org/package/2006/relationships"><Relationship Id="rId2" Type="http://schemas.openxmlformats.org/officeDocument/2006/relationships/hyperlink" Target="http://www.bradford.ac.uk/library" TargetMode="Externa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hyperlink" Target="mailto:englib@lists.bradford.ac.uk" TargetMode="External"/><Relationship Id="rId7" Type="http://schemas.openxmlformats.org/officeDocument/2006/relationships/hyperlink" Target="https://unibradfordac.sharepoint.com/sites/language-centre-intranet/SitePages/In-sessional-Academic-English-Language-Support.aspx?web=1" TargetMode="External"/><Relationship Id="rId2" Type="http://schemas.openxmlformats.org/officeDocument/2006/relationships/hyperlink" Target="mailto:j.rowland2@bradford.ac.uk" TargetMode="External"/><Relationship Id="rId1" Type="http://schemas.openxmlformats.org/officeDocument/2006/relationships/slideLayout" Target="../slideLayouts/slideLayout13.xml"/><Relationship Id="rId6" Type="http://schemas.openxmlformats.org/officeDocument/2006/relationships/hyperlink" Target="https://unibradfordac.sharepoint.com/sites/academic-skills-advice-intranet" TargetMode="External"/><Relationship Id="rId5" Type="http://schemas.openxmlformats.org/officeDocument/2006/relationships/hyperlink" Target="http://www.bradford.ac.uk/library" TargetMode="External"/><Relationship Id="rId4" Type="http://schemas.openxmlformats.org/officeDocument/2006/relationships/hyperlink" Target="https://bradford.libcal.com/appointmen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8C0DF9-159C-206A-6BA0-8F4C59DAE9D7}"/>
              </a:ext>
            </a:extLst>
          </p:cNvPr>
          <p:cNvSpPr>
            <a:spLocks noGrp="1"/>
          </p:cNvSpPr>
          <p:nvPr>
            <p:ph type="dt" sz="half" idx="10"/>
          </p:nvPr>
        </p:nvSpPr>
        <p:spPr/>
        <p:txBody>
          <a:bodyPr/>
          <a:lstStyle/>
          <a:p>
            <a:fld id="{239DC724-34A1-45E6-B8BF-3E41D8F8089E}" type="datetime1">
              <a:rPr lang="en-GB" smtClean="0"/>
              <a:pPr/>
              <a:t>26/09/2025</a:t>
            </a:fld>
            <a:endParaRPr lang="en-GB"/>
          </a:p>
        </p:txBody>
      </p:sp>
      <p:sp>
        <p:nvSpPr>
          <p:cNvPr id="3" name="Slide Number Placeholder 2">
            <a:extLst>
              <a:ext uri="{FF2B5EF4-FFF2-40B4-BE49-F238E27FC236}">
                <a16:creationId xmlns:a16="http://schemas.microsoft.com/office/drawing/2014/main" id="{552221B5-F097-5F83-E82D-943E93DFDC9A}"/>
              </a:ext>
            </a:extLst>
          </p:cNvPr>
          <p:cNvSpPr>
            <a:spLocks noGrp="1"/>
          </p:cNvSpPr>
          <p:nvPr>
            <p:ph type="sldNum" sz="quarter" idx="11"/>
          </p:nvPr>
        </p:nvSpPr>
        <p:spPr/>
        <p:txBody>
          <a:bodyPr/>
          <a:lstStyle/>
          <a:p>
            <a:fld id="{E53A5BC0-BAEF-4B36-8137-0A1AD2059BA3}" type="slidenum">
              <a:rPr lang="en-GB" smtClean="0"/>
              <a:pPr/>
              <a:t>1</a:t>
            </a:fld>
            <a:endParaRPr lang="en-GB"/>
          </a:p>
        </p:txBody>
      </p:sp>
      <p:sp>
        <p:nvSpPr>
          <p:cNvPr id="4" name="Footer Placeholder 3">
            <a:extLst>
              <a:ext uri="{FF2B5EF4-FFF2-40B4-BE49-F238E27FC236}">
                <a16:creationId xmlns:a16="http://schemas.microsoft.com/office/drawing/2014/main" id="{6A7885C5-DB8E-2EA1-15D9-9117C7D4C3C9}"/>
              </a:ext>
            </a:extLst>
          </p:cNvPr>
          <p:cNvSpPr>
            <a:spLocks noGrp="1"/>
          </p:cNvSpPr>
          <p:nvPr>
            <p:ph type="ftr" sz="quarter" idx="12"/>
          </p:nvPr>
        </p:nvSpPr>
        <p:spPr/>
        <p:txBody>
          <a:bodyPr/>
          <a:lstStyle/>
          <a:p>
            <a:r>
              <a:rPr lang="en-GB"/>
              <a:t>bradford.ac.uk/library</a:t>
            </a:r>
          </a:p>
        </p:txBody>
      </p:sp>
      <p:sp>
        <p:nvSpPr>
          <p:cNvPr id="5" name="Content Placeholder 4">
            <a:extLst>
              <a:ext uri="{FF2B5EF4-FFF2-40B4-BE49-F238E27FC236}">
                <a16:creationId xmlns:a16="http://schemas.microsoft.com/office/drawing/2014/main" id="{3A3EF254-4E1D-E973-266F-6634AFFA4F56}"/>
              </a:ext>
            </a:extLst>
          </p:cNvPr>
          <p:cNvSpPr>
            <a:spLocks noGrp="1"/>
          </p:cNvSpPr>
          <p:nvPr>
            <p:ph sz="quarter" idx="13"/>
          </p:nvPr>
        </p:nvSpPr>
        <p:spPr>
          <a:xfrm>
            <a:off x="830874" y="3441081"/>
            <a:ext cx="5544610" cy="2151999"/>
          </a:xfrm>
        </p:spPr>
        <p:txBody>
          <a:bodyPr vert="horz" lIns="91440" tIns="45720" rIns="91440" bIns="45720" rtlCol="0" anchor="t">
            <a:normAutofit/>
          </a:bodyPr>
          <a:lstStyle/>
          <a:p>
            <a:pPr marL="0" indent="0">
              <a:buNone/>
            </a:pPr>
            <a:r>
              <a:rPr lang="en-GB">
                <a:cs typeface="Arial"/>
              </a:rPr>
              <a:t>Jennifer Rowland</a:t>
            </a:r>
            <a:endParaRPr lang="en-US"/>
          </a:p>
          <a:p>
            <a:pPr marL="0" indent="0">
              <a:buNone/>
            </a:pPr>
            <a:r>
              <a:rPr lang="en-GB" sz="1900">
                <a:cs typeface="Arial"/>
              </a:rPr>
              <a:t>Faculty Librarian</a:t>
            </a:r>
            <a:endParaRPr lang="en-GB"/>
          </a:p>
          <a:p>
            <a:pPr marL="0" indent="0">
              <a:buNone/>
            </a:pPr>
            <a:endParaRPr lang="en-GB">
              <a:cs typeface="Arial"/>
            </a:endParaRPr>
          </a:p>
          <a:p>
            <a:pPr marL="0" indent="0">
              <a:buNone/>
            </a:pPr>
            <a:r>
              <a:rPr lang="en-GB">
                <a:cs typeface="Arial"/>
                <a:hlinkClick r:id="rId2"/>
              </a:rPr>
              <a:t>j.rowland2@bradford.ac.uk</a:t>
            </a:r>
            <a:endParaRPr lang="en-GB">
              <a:cs typeface="Arial"/>
            </a:endParaRPr>
          </a:p>
          <a:p>
            <a:pPr marL="0" indent="0">
              <a:buNone/>
            </a:pPr>
            <a:r>
              <a:rPr lang="en-GB">
                <a:cs typeface="Arial"/>
              </a:rPr>
              <a:t>Book an appointment: </a:t>
            </a:r>
            <a:r>
              <a:rPr lang="en-GB">
                <a:ea typeface="+mn-lt"/>
                <a:cs typeface="+mn-lt"/>
                <a:hlinkClick r:id="rId3"/>
              </a:rPr>
              <a:t>https://bradford.libcal.com/appointments/jrowland</a:t>
            </a:r>
            <a:r>
              <a:rPr lang="en-GB">
                <a:ea typeface="+mn-lt"/>
                <a:cs typeface="+mn-lt"/>
              </a:rPr>
              <a:t> </a:t>
            </a:r>
          </a:p>
          <a:p>
            <a:pPr marL="0" indent="0">
              <a:buNone/>
            </a:pPr>
            <a:endParaRPr lang="en-GB">
              <a:cs typeface="Arial"/>
            </a:endParaRPr>
          </a:p>
        </p:txBody>
      </p:sp>
      <p:sp>
        <p:nvSpPr>
          <p:cNvPr id="6" name="Text Placeholder 5">
            <a:extLst>
              <a:ext uri="{FF2B5EF4-FFF2-40B4-BE49-F238E27FC236}">
                <a16:creationId xmlns:a16="http://schemas.microsoft.com/office/drawing/2014/main" id="{78400326-E71B-1976-9F3C-93ADE1E52F46}"/>
              </a:ext>
            </a:extLst>
          </p:cNvPr>
          <p:cNvSpPr>
            <a:spLocks noGrp="1"/>
          </p:cNvSpPr>
          <p:nvPr>
            <p:ph type="body" sz="quarter" idx="14"/>
          </p:nvPr>
        </p:nvSpPr>
        <p:spPr>
          <a:xfrm>
            <a:off x="830873" y="1530106"/>
            <a:ext cx="6148999" cy="1901580"/>
          </a:xfrm>
        </p:spPr>
        <p:txBody>
          <a:bodyPr vert="horz" lIns="91440" tIns="45720" rIns="91440" bIns="45720" rtlCol="0" anchor="t">
            <a:normAutofit/>
          </a:bodyPr>
          <a:lstStyle/>
          <a:p>
            <a:r>
              <a:rPr lang="en-GB" sz="4000" dirty="0">
                <a:cs typeface="Arial"/>
              </a:rPr>
              <a:t>How to find information at Masters level, and use it right</a:t>
            </a:r>
            <a:endParaRPr lang="en-GB" sz="4000" dirty="0"/>
          </a:p>
        </p:txBody>
      </p:sp>
    </p:spTree>
    <p:extLst>
      <p:ext uri="{BB962C8B-B14F-4D97-AF65-F5344CB8AC3E}">
        <p14:creationId xmlns:p14="http://schemas.microsoft.com/office/powerpoint/2010/main" val="3738366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7332" y="117095"/>
            <a:ext cx="10515600" cy="1325563"/>
          </a:xfrm>
        </p:spPr>
        <p:txBody>
          <a:bodyPr/>
          <a:lstStyle/>
          <a:p>
            <a:r>
              <a:rPr lang="en-GB"/>
              <a:t>Session overview</a:t>
            </a:r>
          </a:p>
        </p:txBody>
      </p:sp>
      <p:sp>
        <p:nvSpPr>
          <p:cNvPr id="3" name="Content Placeholder 2"/>
          <p:cNvSpPr>
            <a:spLocks noGrp="1"/>
          </p:cNvSpPr>
          <p:nvPr>
            <p:ph idx="1"/>
          </p:nvPr>
        </p:nvSpPr>
        <p:spPr>
          <a:xfrm>
            <a:off x="1042760" y="1442137"/>
            <a:ext cx="9637712" cy="4608512"/>
          </a:xfrm>
        </p:spPr>
        <p:txBody>
          <a:bodyPr vert="horz" lIns="0" tIns="0" rIns="0" bIns="0" rtlCol="0" anchor="t">
            <a:normAutofit fontScale="92500" lnSpcReduction="10000"/>
          </a:bodyPr>
          <a:lstStyle/>
          <a:p>
            <a:r>
              <a:rPr lang="en-GB" dirty="0">
                <a:latin typeface="Lucida Sans"/>
              </a:rPr>
              <a:t>Finding reliable sources for your assignments:</a:t>
            </a:r>
          </a:p>
          <a:p>
            <a:r>
              <a:rPr lang="en-GB" dirty="0">
                <a:latin typeface="Lucida Sans"/>
              </a:rPr>
              <a:t>Before you start- creating a search</a:t>
            </a:r>
            <a:endParaRPr lang="en-GB"/>
          </a:p>
          <a:p>
            <a:r>
              <a:rPr lang="en-GB" dirty="0">
                <a:latin typeface="Lucida Sans"/>
              </a:rPr>
              <a:t>Where to search</a:t>
            </a:r>
          </a:p>
          <a:p>
            <a:pPr lvl="1"/>
            <a:r>
              <a:rPr lang="en-GB" dirty="0">
                <a:latin typeface="Lucida Sans"/>
                <a:hlinkClick r:id="rId2"/>
              </a:rPr>
              <a:t>www.bradford.ac.uk/library</a:t>
            </a:r>
            <a:r>
              <a:rPr lang="en-GB" dirty="0">
                <a:latin typeface="Lucida Sans"/>
              </a:rPr>
              <a:t> (Summon)</a:t>
            </a:r>
            <a:endParaRPr lang="en-GB"/>
          </a:p>
          <a:p>
            <a:pPr lvl="1"/>
            <a:r>
              <a:rPr lang="en-GB" dirty="0">
                <a:latin typeface="Lucida Sans"/>
              </a:rPr>
              <a:t>Scopus</a:t>
            </a:r>
            <a:endParaRPr lang="en-GB"/>
          </a:p>
          <a:p>
            <a:pPr lvl="1"/>
            <a:r>
              <a:rPr lang="en-GB" dirty="0">
                <a:latin typeface="Lucida Sans"/>
              </a:rPr>
              <a:t>British Standards Online</a:t>
            </a:r>
            <a:endParaRPr lang="en-GB"/>
          </a:p>
          <a:p>
            <a:r>
              <a:rPr lang="en-GB" dirty="0">
                <a:latin typeface="Lucida Sans"/>
              </a:rPr>
              <a:t>Search tips</a:t>
            </a:r>
            <a:endParaRPr lang="en-GB"/>
          </a:p>
          <a:p>
            <a:endParaRPr lang="en-GB"/>
          </a:p>
          <a:p>
            <a:r>
              <a:rPr lang="en-GB" dirty="0">
                <a:latin typeface="Lucida Sans"/>
              </a:rPr>
              <a:t>What is written coursework for?</a:t>
            </a:r>
            <a:endParaRPr lang="en-GB" dirty="0"/>
          </a:p>
          <a:p>
            <a:r>
              <a:rPr lang="en-GB" dirty="0">
                <a:latin typeface="Lucida Sans"/>
              </a:rPr>
              <a:t>Reminder about plagiarism and referencing</a:t>
            </a:r>
          </a:p>
          <a:p>
            <a:r>
              <a:rPr lang="en-GB" dirty="0">
                <a:latin typeface="Lucida Sans"/>
              </a:rPr>
              <a:t>Sources of help</a:t>
            </a:r>
            <a:endParaRPr lang="en-GB"/>
          </a:p>
          <a:p>
            <a:endParaRPr lang="en-GB"/>
          </a:p>
        </p:txBody>
      </p:sp>
    </p:spTree>
    <p:extLst>
      <p:ext uri="{BB962C8B-B14F-4D97-AF65-F5344CB8AC3E}">
        <p14:creationId xmlns:p14="http://schemas.microsoft.com/office/powerpoint/2010/main" val="2508919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552" y="2276873"/>
            <a:ext cx="8418512" cy="3744416"/>
          </a:xfrm>
        </p:spPr>
        <p:txBody>
          <a:bodyPr vert="horz" lIns="0" tIns="0" rIns="0" bIns="0" rtlCol="0" anchor="t">
            <a:normAutofit/>
          </a:bodyPr>
          <a:lstStyle/>
          <a:p>
            <a:r>
              <a:rPr lang="en-GB" dirty="0">
                <a:latin typeface="Lucida Sans"/>
              </a:rPr>
              <a:t>We have books about study skills, managing a project, doing your literature review, making sense of the research you read, doing your research, interpreting your results, and writing a dissertation. </a:t>
            </a:r>
            <a:endParaRPr lang="en-GB" dirty="0"/>
          </a:p>
          <a:p>
            <a:endParaRPr lang="en-GB"/>
          </a:p>
          <a:p>
            <a:r>
              <a:rPr lang="en-GB" dirty="0"/>
              <a:t>Search in the Summon search box in the middle of the page at </a:t>
            </a:r>
            <a:r>
              <a:rPr lang="en-GB" dirty="0">
                <a:hlinkClick r:id="rId2"/>
              </a:rPr>
              <a:t>http://www.bradford.ac.uk/library/</a:t>
            </a:r>
            <a:r>
              <a:rPr lang="en-GB" dirty="0"/>
              <a:t> </a:t>
            </a:r>
          </a:p>
          <a:p>
            <a:endParaRPr lang="en-GB"/>
          </a:p>
          <a:p>
            <a:pPr marL="0" indent="0">
              <a:buNone/>
            </a:pPr>
            <a:endParaRPr lang="en-GB"/>
          </a:p>
        </p:txBody>
      </p:sp>
      <p:sp>
        <p:nvSpPr>
          <p:cNvPr id="4" name="Date Placeholder 3"/>
          <p:cNvSpPr>
            <a:spLocks noGrp="1"/>
          </p:cNvSpPr>
          <p:nvPr>
            <p:ph type="dt" sz="half" idx="10"/>
          </p:nvPr>
        </p:nvSpPr>
        <p:spPr/>
        <p:txBody>
          <a:bodyPr/>
          <a:lstStyle/>
          <a:p>
            <a:fld id="{10476860-BA1D-41C1-9E98-44CD0F69706D}" type="datetime4">
              <a:rPr lang="en-GB" smtClean="0"/>
              <a:t>26 September 2025</a:t>
            </a:fld>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3</a:t>
            </a:fld>
            <a:endParaRPr lang="en-GB"/>
          </a:p>
        </p:txBody>
      </p:sp>
      <p:sp>
        <p:nvSpPr>
          <p:cNvPr id="7" name="Title 6">
            <a:extLst>
              <a:ext uri="{FF2B5EF4-FFF2-40B4-BE49-F238E27FC236}">
                <a16:creationId xmlns:a16="http://schemas.microsoft.com/office/drawing/2014/main" id="{BFAA75AD-7CB5-6DE2-09FF-0878788FDDED}"/>
              </a:ext>
            </a:extLst>
          </p:cNvPr>
          <p:cNvSpPr>
            <a:spLocks noGrp="1"/>
          </p:cNvSpPr>
          <p:nvPr>
            <p:ph type="title"/>
          </p:nvPr>
        </p:nvSpPr>
        <p:spPr/>
        <p:txBody>
          <a:bodyPr/>
          <a:lstStyle/>
          <a:p>
            <a:r>
              <a:rPr lang="en-US" dirty="0"/>
              <a:t>Books to help with your studies and dissertation</a:t>
            </a:r>
          </a:p>
        </p:txBody>
      </p:sp>
    </p:spTree>
    <p:extLst>
      <p:ext uri="{BB962C8B-B14F-4D97-AF65-F5344CB8AC3E}">
        <p14:creationId xmlns:p14="http://schemas.microsoft.com/office/powerpoint/2010/main" val="2943748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reliable sources</a:t>
            </a:r>
          </a:p>
        </p:txBody>
      </p:sp>
      <p:sp>
        <p:nvSpPr>
          <p:cNvPr id="3" name="Content Placeholder 2"/>
          <p:cNvSpPr>
            <a:spLocks noGrp="1"/>
          </p:cNvSpPr>
          <p:nvPr>
            <p:ph idx="1"/>
          </p:nvPr>
        </p:nvSpPr>
        <p:spPr>
          <a:xfrm>
            <a:off x="1555750" y="2070100"/>
            <a:ext cx="8997950" cy="4025900"/>
          </a:xfrm>
        </p:spPr>
        <p:txBody>
          <a:bodyPr/>
          <a:lstStyle/>
          <a:p>
            <a:r>
              <a:rPr lang="en-GB" dirty="0"/>
              <a:t>This is an academic course, not just practical training</a:t>
            </a:r>
          </a:p>
          <a:p>
            <a:endParaRPr lang="en-GB"/>
          </a:p>
          <a:p>
            <a:r>
              <a:rPr lang="en-GB" dirty="0"/>
              <a:t>You need to read reliable sources and discuss what you learn from them and how it influences your decisions</a:t>
            </a:r>
          </a:p>
          <a:p>
            <a:endParaRPr lang="en-GB"/>
          </a:p>
          <a:p>
            <a:r>
              <a:rPr lang="en-GB" dirty="0"/>
              <a:t>Textbooks give the theoretical background but for communicating new research, the gold standard of good evidence is journal articles</a:t>
            </a:r>
          </a:p>
          <a:p>
            <a:endParaRPr lang="en-GB"/>
          </a:p>
        </p:txBody>
      </p:sp>
    </p:spTree>
    <p:extLst>
      <p:ext uri="{BB962C8B-B14F-4D97-AF65-F5344CB8AC3E}">
        <p14:creationId xmlns:p14="http://schemas.microsoft.com/office/powerpoint/2010/main" val="203555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1672" y="2076"/>
            <a:ext cx="10515600" cy="1325563"/>
          </a:xfrm>
        </p:spPr>
        <p:txBody>
          <a:bodyPr/>
          <a:lstStyle/>
          <a:p>
            <a:r>
              <a:rPr lang="en-GB"/>
              <a:t>Using reliable sources</a:t>
            </a:r>
          </a:p>
        </p:txBody>
      </p:sp>
      <p:sp>
        <p:nvSpPr>
          <p:cNvPr id="4" name="Date Placeholder 3"/>
          <p:cNvSpPr>
            <a:spLocks noGrp="1"/>
          </p:cNvSpPr>
          <p:nvPr>
            <p:ph type="dt" sz="half" idx="10"/>
          </p:nvPr>
        </p:nvSpPr>
        <p:spPr/>
        <p:txBody>
          <a:bodyPr/>
          <a:lstStyle/>
          <a:p>
            <a:fld id="{10476860-BA1D-41C1-9E98-44CD0F69706D}" type="datetime4">
              <a:rPr lang="en-GB" smtClean="0"/>
              <a:t>26 September 2025</a:t>
            </a:fld>
            <a:endParaRPr lang="en-GB"/>
          </a:p>
        </p:txBody>
      </p:sp>
      <p:sp>
        <p:nvSpPr>
          <p:cNvPr id="5" name="Footer Placeholder 4"/>
          <p:cNvSpPr>
            <a:spLocks noGrp="1"/>
          </p:cNvSpPr>
          <p:nvPr>
            <p:ph type="ftr" sz="quarter" idx="4294967295"/>
          </p:nvPr>
        </p:nvSpPr>
        <p:spPr>
          <a:xfrm>
            <a:off x="4527550" y="6304236"/>
            <a:ext cx="3136900" cy="365125"/>
          </a:xfrm>
        </p:spPr>
        <p:txBody>
          <a:bodyPr/>
          <a:lstStyle/>
          <a:p>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5</a:t>
            </a:fld>
            <a:endParaRPr lang="en-GB"/>
          </a:p>
        </p:txBody>
      </p:sp>
      <p:sp>
        <p:nvSpPr>
          <p:cNvPr id="7" name="Content Placeholder 2"/>
          <p:cNvSpPr>
            <a:spLocks noGrp="1"/>
          </p:cNvSpPr>
          <p:nvPr>
            <p:ph idx="1"/>
          </p:nvPr>
        </p:nvSpPr>
        <p:spPr>
          <a:xfrm>
            <a:off x="838200" y="1546729"/>
            <a:ext cx="10515600" cy="3767592"/>
          </a:xfrm>
        </p:spPr>
        <p:txBody>
          <a:bodyPr>
            <a:normAutofit/>
          </a:bodyPr>
          <a:lstStyle/>
          <a:p>
            <a:r>
              <a:rPr lang="en-GB"/>
              <a:t>This session is about finding journal articles, conference papers, and standards</a:t>
            </a:r>
          </a:p>
          <a:p>
            <a:endParaRPr lang="en-GB"/>
          </a:p>
          <a:p>
            <a:r>
              <a:rPr lang="en-GB"/>
              <a:t>These are key sources for up-to-date information in the field (along with technical papers)</a:t>
            </a:r>
          </a:p>
          <a:p>
            <a:endParaRPr lang="en-GB"/>
          </a:p>
          <a:p>
            <a:r>
              <a:rPr lang="en-GB"/>
              <a:t>They are usually available to you because the library has paid a subscription for them. </a:t>
            </a:r>
          </a:p>
          <a:p>
            <a:pPr lvl="1"/>
            <a:r>
              <a:rPr lang="en-GB"/>
              <a:t>On-campus we use IP authentication to get to the full text, off-campus you will need your username and password</a:t>
            </a:r>
          </a:p>
        </p:txBody>
      </p:sp>
    </p:spTree>
    <p:extLst>
      <p:ext uri="{BB962C8B-B14F-4D97-AF65-F5344CB8AC3E}">
        <p14:creationId xmlns:p14="http://schemas.microsoft.com/office/powerpoint/2010/main" val="1494322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836713"/>
            <a:ext cx="8425308" cy="817453"/>
          </a:xfrm>
        </p:spPr>
        <p:txBody>
          <a:bodyPr/>
          <a:lstStyle/>
          <a:p>
            <a:r>
              <a:rPr lang="en-GB"/>
              <a:t>Before you start</a:t>
            </a:r>
          </a:p>
        </p:txBody>
      </p:sp>
      <p:sp>
        <p:nvSpPr>
          <p:cNvPr id="3" name="Content Placeholder 2"/>
          <p:cNvSpPr>
            <a:spLocks noGrp="1"/>
          </p:cNvSpPr>
          <p:nvPr>
            <p:ph idx="1"/>
          </p:nvPr>
        </p:nvSpPr>
        <p:spPr>
          <a:xfrm>
            <a:off x="1555750" y="1700808"/>
            <a:ext cx="8997950" cy="4821912"/>
          </a:xfrm>
        </p:spPr>
        <p:txBody>
          <a:bodyPr/>
          <a:lstStyle/>
          <a:p>
            <a:pPr>
              <a:lnSpc>
                <a:spcPct val="80000"/>
              </a:lnSpc>
            </a:pPr>
            <a:r>
              <a:rPr lang="en-GB" sz="2800"/>
              <a:t>Know what your question is</a:t>
            </a:r>
          </a:p>
          <a:p>
            <a:pPr>
              <a:lnSpc>
                <a:spcPct val="80000"/>
              </a:lnSpc>
            </a:pPr>
            <a:r>
              <a:rPr lang="en-GB" sz="2800"/>
              <a:t>Pick out the key words</a:t>
            </a:r>
          </a:p>
          <a:p>
            <a:pPr>
              <a:lnSpc>
                <a:spcPct val="80000"/>
              </a:lnSpc>
            </a:pPr>
            <a:r>
              <a:rPr lang="en-GB" sz="2800"/>
              <a:t>Think of other words that might be used for the same ideas</a:t>
            </a:r>
          </a:p>
          <a:p>
            <a:pPr>
              <a:lnSpc>
                <a:spcPct val="80000"/>
              </a:lnSpc>
            </a:pPr>
            <a:r>
              <a:rPr lang="en-GB" sz="2800"/>
              <a:t>Check you have thought of all the concepts around your question</a:t>
            </a:r>
          </a:p>
          <a:p>
            <a:pPr>
              <a:lnSpc>
                <a:spcPct val="80000"/>
              </a:lnSpc>
            </a:pPr>
            <a:endParaRPr lang="en-GB" sz="2800"/>
          </a:p>
          <a:p>
            <a:pPr>
              <a:lnSpc>
                <a:spcPct val="80000"/>
              </a:lnSpc>
            </a:pPr>
            <a:r>
              <a:rPr lang="en-GB" sz="2800"/>
              <a:t>Know where to look</a:t>
            </a:r>
          </a:p>
          <a:p>
            <a:pPr>
              <a:lnSpc>
                <a:spcPct val="80000"/>
              </a:lnSpc>
            </a:pPr>
            <a:endParaRPr lang="en-GB" sz="2800"/>
          </a:p>
          <a:p>
            <a:pPr>
              <a:lnSpc>
                <a:spcPct val="80000"/>
              </a:lnSpc>
              <a:buFontTx/>
              <a:buNone/>
            </a:pPr>
            <a:r>
              <a:rPr lang="en-GB" sz="2400"/>
              <a:t>Project: A relational database- data entry will be by admin staff so it needs a user-friendly front end</a:t>
            </a:r>
          </a:p>
          <a:p>
            <a:endParaRPr lang="en-GB"/>
          </a:p>
        </p:txBody>
      </p:sp>
    </p:spTree>
    <p:extLst>
      <p:ext uri="{BB962C8B-B14F-4D97-AF65-F5344CB8AC3E}">
        <p14:creationId xmlns:p14="http://schemas.microsoft.com/office/powerpoint/2010/main" val="2599785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0402" y="304628"/>
            <a:ext cx="8915400" cy="762000"/>
          </a:xfrm>
        </p:spPr>
        <p:txBody>
          <a:bodyPr>
            <a:normAutofit fontScale="90000"/>
          </a:bodyPr>
          <a:lstStyle/>
          <a:p>
            <a:pPr lvl="0"/>
            <a:r>
              <a:rPr lang="en-GB" sz="2800">
                <a:solidFill>
                  <a:schemeClr val="bg1">
                    <a:lumMod val="50000"/>
                  </a:schemeClr>
                </a:solidFill>
                <a:latin typeface="+mn-lt"/>
              </a:rPr>
              <a:t>A user-friendly front end for a relational database</a:t>
            </a:r>
            <a:br>
              <a:rPr lang="en-GB" sz="3200">
                <a:solidFill>
                  <a:srgbClr val="000000"/>
                </a:solidFill>
              </a:rPr>
            </a:br>
            <a:endParaRPr lang="en-GB"/>
          </a:p>
        </p:txBody>
      </p:sp>
      <p:sp>
        <p:nvSpPr>
          <p:cNvPr id="3" name="Content Placeholder 2"/>
          <p:cNvSpPr>
            <a:spLocks noGrp="1"/>
          </p:cNvSpPr>
          <p:nvPr>
            <p:ph idx="1"/>
          </p:nvPr>
        </p:nvSpPr>
        <p:spPr>
          <a:xfrm>
            <a:off x="1203896" y="1382235"/>
            <a:ext cx="9772650" cy="4937224"/>
          </a:xfrm>
        </p:spPr>
        <p:txBody>
          <a:bodyPr vert="horz" lIns="0" tIns="0" rIns="0" bIns="0" rtlCol="0" anchor="t">
            <a:normAutofit fontScale="77500" lnSpcReduction="20000"/>
          </a:bodyPr>
          <a:lstStyle/>
          <a:p>
            <a:pPr>
              <a:lnSpc>
                <a:spcPct val="80000"/>
              </a:lnSpc>
            </a:pPr>
            <a:r>
              <a:rPr lang="en-GB" sz="2800" dirty="0">
                <a:latin typeface="Lucida Sans"/>
              </a:rPr>
              <a:t>Key words: user-friendly, front end, relational database </a:t>
            </a:r>
            <a:endParaRPr lang="en-GB" sz="2800"/>
          </a:p>
          <a:p>
            <a:endParaRPr lang="en-GB"/>
          </a:p>
          <a:p>
            <a:r>
              <a:rPr lang="en-GB" dirty="0">
                <a:latin typeface="Lucida Sans"/>
              </a:rPr>
              <a:t>Other words: user experience, UX; human-computer interface/human-computer interaction, HCI; interaction design; usability; user interface</a:t>
            </a:r>
          </a:p>
          <a:p>
            <a:endParaRPr lang="en-GB"/>
          </a:p>
          <a:p>
            <a:r>
              <a:rPr lang="en-GB" dirty="0">
                <a:latin typeface="Lucida Sans"/>
              </a:rPr>
              <a:t>Other concepts, </a:t>
            </a:r>
            <a:r>
              <a:rPr lang="en-GB" dirty="0" err="1">
                <a:latin typeface="Lucida Sans"/>
              </a:rPr>
              <a:t>eg</a:t>
            </a:r>
            <a:r>
              <a:rPr lang="en-GB" dirty="0">
                <a:latin typeface="Lucida Sans"/>
              </a:rPr>
              <a:t> </a:t>
            </a:r>
            <a:endParaRPr lang="en-GB" dirty="0"/>
          </a:p>
          <a:p>
            <a:r>
              <a:rPr lang="en-GB" dirty="0">
                <a:latin typeface="Lucida Sans"/>
              </a:rPr>
              <a:t>Legal duty for design to be accessible</a:t>
            </a:r>
          </a:p>
          <a:p>
            <a:r>
              <a:rPr lang="en-GB" dirty="0">
                <a:latin typeface="Lucida Sans"/>
              </a:rPr>
              <a:t>Natural language entry?; controlled vocabulary?; graphical UI; other constraints (input only or query?)</a:t>
            </a:r>
          </a:p>
          <a:p>
            <a:r>
              <a:rPr lang="en-GB" dirty="0">
                <a:latin typeface="Lucida Sans"/>
              </a:rPr>
              <a:t>Web-based or local database</a:t>
            </a:r>
          </a:p>
          <a:p>
            <a:r>
              <a:rPr lang="en-GB" dirty="0">
                <a:latin typeface="Lucida Sans"/>
              </a:rPr>
              <a:t>Language of database</a:t>
            </a:r>
          </a:p>
          <a:p>
            <a:endParaRPr lang="en-GB"/>
          </a:p>
          <a:p>
            <a:pPr>
              <a:lnSpc>
                <a:spcPct val="80000"/>
              </a:lnSpc>
            </a:pPr>
            <a:r>
              <a:rPr lang="en-GB" dirty="0">
                <a:latin typeface="Lucida Sans"/>
              </a:rPr>
              <a:t>Where to look: Summon/Scopus/British Standards Online</a:t>
            </a:r>
          </a:p>
          <a:p>
            <a:pPr>
              <a:lnSpc>
                <a:spcPct val="80000"/>
              </a:lnSpc>
            </a:pPr>
            <a:endParaRPr lang="en-GB"/>
          </a:p>
          <a:p>
            <a:pPr>
              <a:lnSpc>
                <a:spcPct val="80000"/>
              </a:lnSpc>
              <a:buNone/>
            </a:pPr>
            <a:r>
              <a:rPr lang="en-GB" dirty="0">
                <a:latin typeface="Lucida Sans"/>
                <a:hlinkClick r:id="rId2"/>
              </a:rPr>
              <a:t>www.bradford.ac.uk/library</a:t>
            </a:r>
            <a:r>
              <a:rPr lang="en-GB" dirty="0">
                <a:latin typeface="Lucida Sans"/>
              </a:rPr>
              <a:t> </a:t>
            </a:r>
            <a:endParaRPr lang="en-GB"/>
          </a:p>
          <a:p>
            <a:endParaRPr lang="en-GB"/>
          </a:p>
        </p:txBody>
      </p:sp>
    </p:spTree>
    <p:extLst>
      <p:ext uri="{BB962C8B-B14F-4D97-AF65-F5344CB8AC3E}">
        <p14:creationId xmlns:p14="http://schemas.microsoft.com/office/powerpoint/2010/main" val="203668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2313" y="2076"/>
            <a:ext cx="10515600" cy="1325563"/>
          </a:xfrm>
        </p:spPr>
        <p:txBody>
          <a:bodyPr/>
          <a:lstStyle/>
          <a:p>
            <a:r>
              <a:rPr lang="en-GB"/>
              <a:t>Session overview</a:t>
            </a:r>
          </a:p>
        </p:txBody>
      </p:sp>
      <p:sp>
        <p:nvSpPr>
          <p:cNvPr id="3" name="Content Placeholder 2"/>
          <p:cNvSpPr>
            <a:spLocks noGrp="1"/>
          </p:cNvSpPr>
          <p:nvPr>
            <p:ph idx="1"/>
          </p:nvPr>
        </p:nvSpPr>
        <p:spPr>
          <a:xfrm>
            <a:off x="2050852" y="1328316"/>
            <a:ext cx="8418512" cy="4608512"/>
          </a:xfrm>
        </p:spPr>
        <p:txBody>
          <a:bodyPr vert="horz" lIns="0" tIns="0" rIns="0" bIns="0" rtlCol="0" anchor="t">
            <a:normAutofit lnSpcReduction="10000"/>
          </a:bodyPr>
          <a:lstStyle/>
          <a:p>
            <a:r>
              <a:rPr lang="en-GB" dirty="0">
                <a:solidFill>
                  <a:schemeClr val="bg1">
                    <a:lumMod val="75000"/>
                  </a:schemeClr>
                </a:solidFill>
                <a:latin typeface="Lucida Sans"/>
              </a:rPr>
              <a:t>Finding reliable sources for your dissertation:</a:t>
            </a:r>
          </a:p>
          <a:p>
            <a:r>
              <a:rPr lang="en-GB" dirty="0">
                <a:solidFill>
                  <a:schemeClr val="bg1">
                    <a:lumMod val="75000"/>
                  </a:schemeClr>
                </a:solidFill>
                <a:latin typeface="Lucida Sans"/>
              </a:rPr>
              <a:t>Before you start- creating a search</a:t>
            </a:r>
          </a:p>
          <a:p>
            <a:r>
              <a:rPr lang="en-GB" dirty="0">
                <a:latin typeface="Lucida Sans"/>
              </a:rPr>
              <a:t>Where to search</a:t>
            </a:r>
            <a:endParaRPr lang="en-GB" dirty="0">
              <a:latin typeface="Lucida Sans"/>
              <a:hlinkClick r:id="rId2"/>
            </a:endParaRPr>
          </a:p>
          <a:p>
            <a:pPr lvl="1"/>
            <a:r>
              <a:rPr lang="en-GB" dirty="0">
                <a:latin typeface="Lucida Sans"/>
                <a:hlinkClick r:id="rId2"/>
              </a:rPr>
              <a:t>www.bradford.ac.uk/library</a:t>
            </a:r>
            <a:r>
              <a:rPr lang="en-GB" dirty="0">
                <a:latin typeface="Lucida Sans"/>
              </a:rPr>
              <a:t> (Summon)</a:t>
            </a:r>
          </a:p>
          <a:p>
            <a:pPr lvl="1"/>
            <a:r>
              <a:rPr lang="en-GB" dirty="0">
                <a:latin typeface="Lucida Sans"/>
              </a:rPr>
              <a:t>Scopus</a:t>
            </a:r>
          </a:p>
          <a:p>
            <a:pPr lvl="1"/>
            <a:r>
              <a:rPr lang="en-GB" dirty="0">
                <a:latin typeface="Lucida Sans"/>
              </a:rPr>
              <a:t>British Standards Online</a:t>
            </a:r>
          </a:p>
          <a:p>
            <a:r>
              <a:rPr lang="en-GB" dirty="0">
                <a:latin typeface="Lucida Sans"/>
              </a:rPr>
              <a:t>Search tips</a:t>
            </a:r>
          </a:p>
          <a:p>
            <a:endParaRPr lang="en-GB"/>
          </a:p>
          <a:p>
            <a:r>
              <a:rPr lang="en-GB" dirty="0">
                <a:latin typeface="Lucida Sans"/>
              </a:rPr>
              <a:t>What is the FYP for?</a:t>
            </a:r>
          </a:p>
          <a:p>
            <a:r>
              <a:rPr lang="en-GB" dirty="0">
                <a:latin typeface="Lucida Sans"/>
              </a:rPr>
              <a:t>Reminder about referencing</a:t>
            </a:r>
          </a:p>
          <a:p>
            <a:r>
              <a:rPr lang="en-GB" dirty="0">
                <a:latin typeface="Lucida Sans"/>
              </a:rPr>
              <a:t>Sources of help</a:t>
            </a:r>
          </a:p>
          <a:p>
            <a:endParaRPr lang="en-GB"/>
          </a:p>
        </p:txBody>
      </p:sp>
    </p:spTree>
    <p:extLst>
      <p:ext uri="{BB962C8B-B14F-4D97-AF65-F5344CB8AC3E}">
        <p14:creationId xmlns:p14="http://schemas.microsoft.com/office/powerpoint/2010/main" val="529354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504" y="1523084"/>
            <a:ext cx="8427940" cy="1390387"/>
          </a:xfrm>
        </p:spPr>
        <p:txBody>
          <a:bodyPr/>
          <a:lstStyle/>
          <a:p>
            <a:pPr marL="342900" indent="-342900">
              <a:buFont typeface="Arial" panose="020B0604020202020204" pitchFamily="34" charset="0"/>
              <a:buChar char="•"/>
            </a:pPr>
            <a:r>
              <a:rPr lang="en-GB" sz="2000" b="0" dirty="0">
                <a:solidFill>
                  <a:srgbClr val="00363B"/>
                </a:solidFill>
                <a:latin typeface="+mn-lt"/>
              </a:rPr>
              <a:t>Go to the library homepage </a:t>
            </a:r>
            <a:r>
              <a:rPr lang="en-GB" sz="2000" b="0" dirty="0">
                <a:solidFill>
                  <a:srgbClr val="00363B"/>
                </a:solidFill>
                <a:latin typeface="+mn-lt"/>
                <a:hlinkClick r:id="rId2"/>
              </a:rPr>
              <a:t>bradford.ac.uk/library</a:t>
            </a:r>
            <a:br>
              <a:rPr lang="en-GB" sz="2000" b="0" dirty="0">
                <a:solidFill>
                  <a:srgbClr val="00363B"/>
                </a:solidFill>
                <a:latin typeface="+mn-lt"/>
              </a:rPr>
            </a:br>
            <a:r>
              <a:rPr lang="en-GB" sz="2000" b="0" dirty="0">
                <a:solidFill>
                  <a:srgbClr val="00363B"/>
                </a:solidFill>
                <a:latin typeface="+mn-lt"/>
              </a:rPr>
              <a:t>	-Click on the “</a:t>
            </a:r>
            <a:r>
              <a:rPr lang="en-GB" sz="2000" b="0" dirty="0">
                <a:solidFill>
                  <a:srgbClr val="00363B"/>
                </a:solidFill>
              </a:rPr>
              <a:t>Library resources</a:t>
            </a:r>
            <a:r>
              <a:rPr lang="en-GB" sz="2000" b="0" dirty="0">
                <a:solidFill>
                  <a:srgbClr val="00363B"/>
                </a:solidFill>
                <a:latin typeface="+mn-lt"/>
              </a:rPr>
              <a:t>” </a:t>
            </a:r>
            <a:r>
              <a:rPr lang="en-GB" sz="2000" b="0" dirty="0">
                <a:solidFill>
                  <a:srgbClr val="00363B"/>
                </a:solidFill>
              </a:rPr>
              <a:t>tab</a:t>
            </a:r>
            <a:br>
              <a:rPr lang="en-GB" sz="2000" b="0" dirty="0">
                <a:solidFill>
                  <a:srgbClr val="00363B"/>
                </a:solidFill>
                <a:latin typeface="+mn-lt"/>
              </a:rPr>
            </a:br>
            <a:r>
              <a:rPr lang="en-GB" sz="2000" b="0" dirty="0">
                <a:solidFill>
                  <a:srgbClr val="00363B"/>
                </a:solidFill>
                <a:latin typeface="+mn-lt"/>
              </a:rPr>
              <a:t>	-Click </a:t>
            </a:r>
            <a:r>
              <a:rPr lang="en-GB" sz="2000" b="0" dirty="0">
                <a:solidFill>
                  <a:srgbClr val="00363B"/>
                </a:solidFill>
              </a:rPr>
              <a:t>through to Databases and subject specific resources</a:t>
            </a:r>
            <a:r>
              <a:rPr lang="en-GB" sz="2000" b="0" dirty="0">
                <a:solidFill>
                  <a:srgbClr val="00363B"/>
                </a:solidFill>
                <a:latin typeface="+mn-lt"/>
              </a:rPr>
              <a:t>, then</a:t>
            </a:r>
            <a:r>
              <a:rPr lang="en-GB" sz="2000" b="0" dirty="0">
                <a:solidFill>
                  <a:srgbClr val="00363B"/>
                </a:solidFill>
              </a:rPr>
              <a:t> </a:t>
            </a:r>
            <a:r>
              <a:rPr lang="en-GB" sz="2000" b="0" dirty="0">
                <a:solidFill>
                  <a:srgbClr val="00363B"/>
                </a:solidFill>
                <a:latin typeface="+mn-lt"/>
              </a:rPr>
              <a:t>on “</a:t>
            </a:r>
            <a:r>
              <a:rPr lang="en-GB" sz="2000" b="0" dirty="0">
                <a:solidFill>
                  <a:srgbClr val="00363B"/>
                </a:solidFill>
              </a:rPr>
              <a:t>Computer Science</a:t>
            </a:r>
            <a:r>
              <a:rPr lang="en-GB" sz="2000" b="0" dirty="0">
                <a:solidFill>
                  <a:srgbClr val="00363B"/>
                </a:solidFill>
                <a:latin typeface="+mn-lt"/>
              </a:rPr>
              <a:t>”</a:t>
            </a:r>
          </a:p>
        </p:txBody>
      </p:sp>
      <p:sp>
        <p:nvSpPr>
          <p:cNvPr id="4" name="Date Placeholder 3"/>
          <p:cNvSpPr>
            <a:spLocks noGrp="1"/>
          </p:cNvSpPr>
          <p:nvPr>
            <p:ph type="dt" sz="half" idx="10"/>
          </p:nvPr>
        </p:nvSpPr>
        <p:spPr/>
        <p:txBody>
          <a:bodyPr/>
          <a:lstStyle/>
          <a:p>
            <a:fld id="{10476860-BA1D-41C1-9E98-44CD0F69706D}" type="datetime4">
              <a:rPr lang="en-GB" smtClean="0"/>
              <a:t>26 September 2025</a:t>
            </a:fld>
            <a:endParaRPr lang="en-GB"/>
          </a:p>
        </p:txBody>
      </p:sp>
      <p:sp>
        <p:nvSpPr>
          <p:cNvPr id="5" name="Footer Placeholder 4"/>
          <p:cNvSpPr>
            <a:spLocks noGrp="1"/>
          </p:cNvSpPr>
          <p:nvPr>
            <p:ph type="ftr" sz="quarter" idx="4294967295"/>
          </p:nvPr>
        </p:nvSpPr>
        <p:spPr>
          <a:xfrm>
            <a:off x="4527550" y="6304236"/>
            <a:ext cx="3136900" cy="365125"/>
          </a:xfrm>
        </p:spPr>
        <p:txBody>
          <a:bodyPr/>
          <a:lstStyle/>
          <a:p>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9</a:t>
            </a:fld>
            <a:endParaRPr lang="en-GB"/>
          </a:p>
        </p:txBody>
      </p:sp>
      <p:sp>
        <p:nvSpPr>
          <p:cNvPr id="9" name="Title 1"/>
          <p:cNvSpPr txBox="1">
            <a:spLocks/>
          </p:cNvSpPr>
          <p:nvPr/>
        </p:nvSpPr>
        <p:spPr>
          <a:xfrm>
            <a:off x="2063552" y="764705"/>
            <a:ext cx="8425308" cy="817453"/>
          </a:xfrm>
          <a:prstGeom prst="rect">
            <a:avLst/>
          </a:prstGeom>
        </p:spPr>
        <p:txBody>
          <a:bodyPr vert="horz" lIns="0" tIns="0" rIns="0" bIns="0" rtlCol="0" anchor="ctr">
            <a:noAutofit/>
          </a:bodyPr>
          <a:lstStyle>
            <a:lvl1pPr algn="l" defTabSz="914400" rtl="0" eaLnBrk="1" latinLnBrk="0" hangingPunct="1">
              <a:spcBef>
                <a:spcPct val="0"/>
              </a:spcBef>
              <a:buNone/>
              <a:defRPr sz="3200" b="1" kern="1200" baseline="0">
                <a:solidFill>
                  <a:srgbClr val="009FDF"/>
                </a:solidFill>
                <a:latin typeface="Georgia" panose="02040502050405020303" pitchFamily="18" charset="0"/>
                <a:ea typeface="+mj-ea"/>
                <a:cs typeface="+mj-cs"/>
              </a:defRPr>
            </a:lvl1pPr>
          </a:lstStyle>
          <a:p>
            <a:r>
              <a:rPr lang="en-GB" sz="3200" dirty="0">
                <a:latin typeface="Lucida Sans"/>
              </a:rPr>
              <a:t>Search reminders and tips</a:t>
            </a:r>
          </a:p>
        </p:txBody>
      </p:sp>
      <p:pic>
        <p:nvPicPr>
          <p:cNvPr id="8" name="Picture 7">
            <a:extLst>
              <a:ext uri="{FF2B5EF4-FFF2-40B4-BE49-F238E27FC236}">
                <a16:creationId xmlns:a16="http://schemas.microsoft.com/office/drawing/2014/main" id="{4BC0F73C-132E-4436-ACEF-B6A10632288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770612" y="3161549"/>
            <a:ext cx="4149725" cy="2894609"/>
          </a:xfrm>
          <a:prstGeom prst="rect">
            <a:avLst/>
          </a:prstGeom>
        </p:spPr>
      </p:pic>
    </p:spTree>
    <p:extLst>
      <p:ext uri="{BB962C8B-B14F-4D97-AF65-F5344CB8AC3E}">
        <p14:creationId xmlns:p14="http://schemas.microsoft.com/office/powerpoint/2010/main" val="2134815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Search reminders and tips</a:t>
            </a:r>
          </a:p>
        </p:txBody>
      </p:sp>
      <p:sp>
        <p:nvSpPr>
          <p:cNvPr id="3" name="Content Placeholder 2"/>
          <p:cNvSpPr>
            <a:spLocks noGrp="1"/>
          </p:cNvSpPr>
          <p:nvPr>
            <p:ph idx="1"/>
          </p:nvPr>
        </p:nvSpPr>
        <p:spPr>
          <a:xfrm>
            <a:off x="1555750" y="2146300"/>
            <a:ext cx="8997950" cy="3810000"/>
          </a:xfrm>
        </p:spPr>
        <p:txBody>
          <a:bodyPr/>
          <a:lstStyle/>
          <a:p>
            <a:r>
              <a:rPr lang="en-GB"/>
              <a:t>Be ready to change your search words when you see your results</a:t>
            </a:r>
          </a:p>
          <a:p>
            <a:r>
              <a:rPr lang="en-GB"/>
              <a:t>Narrow your search with headings in the left sidebar</a:t>
            </a:r>
          </a:p>
          <a:p>
            <a:r>
              <a:rPr lang="en-GB"/>
              <a:t>Look at “Cited by” in Google Scholar for more recent papers</a:t>
            </a:r>
          </a:p>
          <a:p>
            <a:endParaRPr lang="en-GB"/>
          </a:p>
        </p:txBody>
      </p:sp>
      <p:pic>
        <p:nvPicPr>
          <p:cNvPr id="4" name="Picture 3" descr="A result from a Google Scholar search showing the &quot;cited by&quot; link that will show you articles that quoted from this one;">
            <a:extLst>
              <a:ext uri="{FF2B5EF4-FFF2-40B4-BE49-F238E27FC236}">
                <a16:creationId xmlns:a16="http://schemas.microsoft.com/office/drawing/2014/main" id="{48381111-2FF5-44BE-A90A-0E91F84C404A}"/>
              </a:ext>
            </a:extLst>
          </p:cNvPr>
          <p:cNvPicPr>
            <a:picLocks noChangeAspect="1"/>
          </p:cNvPicPr>
          <p:nvPr/>
        </p:nvPicPr>
        <p:blipFill>
          <a:blip r:embed="rId2"/>
          <a:stretch>
            <a:fillRect/>
          </a:stretch>
        </p:blipFill>
        <p:spPr>
          <a:xfrm>
            <a:off x="1919536" y="4293096"/>
            <a:ext cx="6432039" cy="1512168"/>
          </a:xfrm>
          <a:prstGeom prst="rect">
            <a:avLst/>
          </a:prstGeom>
        </p:spPr>
      </p:pic>
    </p:spTree>
    <p:extLst>
      <p:ext uri="{BB962C8B-B14F-4D97-AF65-F5344CB8AC3E}">
        <p14:creationId xmlns:p14="http://schemas.microsoft.com/office/powerpoint/2010/main" val="3505187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Search reminders and tips</a:t>
            </a:r>
          </a:p>
        </p:txBody>
      </p:sp>
      <p:sp>
        <p:nvSpPr>
          <p:cNvPr id="3" name="Content Placeholder 2"/>
          <p:cNvSpPr>
            <a:spLocks noGrp="1"/>
          </p:cNvSpPr>
          <p:nvPr>
            <p:ph idx="1"/>
          </p:nvPr>
        </p:nvSpPr>
        <p:spPr/>
        <p:txBody>
          <a:bodyPr vert="horz" lIns="0" tIns="0" rIns="0" bIns="0" rtlCol="0" anchor="t">
            <a:normAutofit fontScale="92500"/>
          </a:bodyPr>
          <a:lstStyle/>
          <a:p>
            <a:r>
              <a:rPr lang="en-GB">
                <a:latin typeface="Lucida Sans"/>
              </a:rPr>
              <a:t>‘</a:t>
            </a:r>
            <a:r>
              <a:rPr lang="en-GB" b="1">
                <a:latin typeface="Lucida Sans"/>
              </a:rPr>
              <a:t>*</a:t>
            </a:r>
            <a:r>
              <a:rPr lang="en-GB">
                <a:latin typeface="Lucida Sans"/>
              </a:rPr>
              <a:t>’ wildcard - education* to search for education, educational, educationalist…</a:t>
            </a:r>
          </a:p>
          <a:p>
            <a:r>
              <a:rPr lang="en-GB">
                <a:latin typeface="Lucida Sans"/>
              </a:rPr>
              <a:t>Click the 360 Link button to find if we have a link to it</a:t>
            </a:r>
          </a:p>
          <a:p>
            <a:pPr lvl="0"/>
            <a:r>
              <a:rPr lang="en-GB">
                <a:latin typeface="Lucida Sans"/>
              </a:rPr>
              <a:t>Tick boxes to mark records to save or email to yourself</a:t>
            </a:r>
          </a:p>
          <a:p>
            <a:r>
              <a:rPr lang="en-GB">
                <a:latin typeface="Lucida Sans"/>
              </a:rPr>
              <a:t>Ask your supervisor if there are particularly useful journals for your topic</a:t>
            </a:r>
          </a:p>
          <a:p>
            <a:endParaRPr lang="en-GB"/>
          </a:p>
          <a:p>
            <a:pPr marL="0" indent="0">
              <a:buNone/>
            </a:pPr>
            <a:r>
              <a:rPr lang="en-GB"/>
              <a:t>Creating an efficient search is a transferable skill, part of digital literacy, and it’s useful for employability</a:t>
            </a:r>
          </a:p>
          <a:p>
            <a:pPr marL="0" indent="0">
              <a:buNone/>
            </a:pPr>
            <a:r>
              <a:rPr lang="en-GB"/>
              <a:t>- practice thinking of keywords and using AND/OR in Google. </a:t>
            </a:r>
          </a:p>
        </p:txBody>
      </p:sp>
    </p:spTree>
    <p:extLst>
      <p:ext uri="{BB962C8B-B14F-4D97-AF65-F5344CB8AC3E}">
        <p14:creationId xmlns:p14="http://schemas.microsoft.com/office/powerpoint/2010/main" val="2106842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0671" y="810182"/>
            <a:ext cx="8425308" cy="817453"/>
          </a:xfrm>
        </p:spPr>
        <p:txBody>
          <a:bodyPr/>
          <a:lstStyle/>
          <a:p>
            <a:r>
              <a:rPr lang="en-GB"/>
              <a:t>Off Campus?</a:t>
            </a:r>
          </a:p>
        </p:txBody>
      </p:sp>
      <p:sp>
        <p:nvSpPr>
          <p:cNvPr id="3" name="Content Placeholder 2"/>
          <p:cNvSpPr>
            <a:spLocks noGrp="1"/>
          </p:cNvSpPr>
          <p:nvPr>
            <p:ph idx="1"/>
          </p:nvPr>
        </p:nvSpPr>
        <p:spPr>
          <a:xfrm>
            <a:off x="1241784" y="1634000"/>
            <a:ext cx="4493448" cy="4459411"/>
          </a:xfrm>
        </p:spPr>
        <p:txBody>
          <a:bodyPr vert="horz" lIns="0" tIns="0" rIns="0" bIns="0" rtlCol="0" anchor="t">
            <a:normAutofit lnSpcReduction="10000"/>
          </a:bodyPr>
          <a:lstStyle/>
          <a:p>
            <a:r>
              <a:rPr lang="en-GB" dirty="0">
                <a:latin typeface="Lucida Sans"/>
              </a:rPr>
              <a:t>Yes </a:t>
            </a:r>
            <a:endParaRPr lang="en-US"/>
          </a:p>
          <a:p>
            <a:endParaRPr lang="en-GB"/>
          </a:p>
          <a:p>
            <a:r>
              <a:rPr lang="en-GB" dirty="0">
                <a:latin typeface="Lucida Sans"/>
              </a:rPr>
              <a:t>Follow links from Summon to get correct login links</a:t>
            </a:r>
          </a:p>
          <a:p>
            <a:pPr lvl="1"/>
            <a:r>
              <a:rPr lang="en-GB" dirty="0">
                <a:latin typeface="Lucida Sans"/>
              </a:rPr>
              <a:t>UOB username and password</a:t>
            </a:r>
          </a:p>
          <a:p>
            <a:endParaRPr lang="en-GB"/>
          </a:p>
          <a:p>
            <a:r>
              <a:rPr lang="en-GB" dirty="0">
                <a:latin typeface="Lucida Sans"/>
              </a:rPr>
              <a:t>See Library webpage</a:t>
            </a:r>
          </a:p>
          <a:p>
            <a:r>
              <a:rPr lang="en-GB" sz="1700" dirty="0">
                <a:latin typeface="Lucida Sans"/>
                <a:hlinkClick r:id="rId2"/>
              </a:rPr>
              <a:t>https://www.bradford.ac.uk/library/library-resources/access-online-resources/</a:t>
            </a:r>
            <a:r>
              <a:rPr lang="en-GB" sz="1700" dirty="0">
                <a:latin typeface="Lucida Sans"/>
              </a:rPr>
              <a:t> </a:t>
            </a:r>
          </a:p>
          <a:p>
            <a:pPr marL="0" indent="0">
              <a:buNone/>
            </a:pPr>
            <a:endParaRPr lang="en-GB" dirty="0"/>
          </a:p>
        </p:txBody>
      </p:sp>
      <p:sp>
        <p:nvSpPr>
          <p:cNvPr id="4" name="Date Placeholder 3"/>
          <p:cNvSpPr>
            <a:spLocks noGrp="1"/>
          </p:cNvSpPr>
          <p:nvPr>
            <p:ph type="dt" sz="half" idx="10"/>
          </p:nvPr>
        </p:nvSpPr>
        <p:spPr/>
        <p:txBody>
          <a:bodyPr/>
          <a:lstStyle/>
          <a:p>
            <a:fld id="{10476860-BA1D-41C1-9E98-44CD0F69706D}" type="datetime4">
              <a:rPr lang="en-GB" smtClean="0"/>
              <a:t>26 September 2025</a:t>
            </a:fld>
            <a:endParaRPr lang="en-GB"/>
          </a:p>
        </p:txBody>
      </p:sp>
      <p:sp>
        <p:nvSpPr>
          <p:cNvPr id="5" name="Footer Placeholder 4"/>
          <p:cNvSpPr>
            <a:spLocks noGrp="1"/>
          </p:cNvSpPr>
          <p:nvPr>
            <p:ph type="ftr" sz="quarter" idx="4294967295"/>
          </p:nvPr>
        </p:nvSpPr>
        <p:spPr>
          <a:xfrm>
            <a:off x="4527550" y="6304236"/>
            <a:ext cx="3136900" cy="365125"/>
          </a:xfrm>
        </p:spPr>
        <p:txBody>
          <a:bodyPr/>
          <a:lstStyle/>
          <a:p>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12</a:t>
            </a:fld>
            <a:endParaRPr lang="en-GB"/>
          </a:p>
        </p:txBody>
      </p:sp>
      <p:pic>
        <p:nvPicPr>
          <p:cNvPr id="8" name="Picture 7">
            <a:extLst>
              <a:ext uri="{FF2B5EF4-FFF2-40B4-BE49-F238E27FC236}">
                <a16:creationId xmlns:a16="http://schemas.microsoft.com/office/drawing/2014/main" id="{385EE020-742E-4C1E-A0D3-FEB413D74233}"/>
              </a:ext>
            </a:extLst>
          </p:cNvPr>
          <p:cNvPicPr>
            <a:picLocks noChangeAspect="1"/>
          </p:cNvPicPr>
          <p:nvPr/>
        </p:nvPicPr>
        <p:blipFill>
          <a:blip r:embed="rId3"/>
          <a:stretch>
            <a:fillRect/>
          </a:stretch>
        </p:blipFill>
        <p:spPr>
          <a:xfrm>
            <a:off x="7145062" y="1218101"/>
            <a:ext cx="4362450" cy="3943350"/>
          </a:xfrm>
          <a:prstGeom prst="rect">
            <a:avLst/>
          </a:prstGeom>
        </p:spPr>
      </p:pic>
    </p:spTree>
    <p:extLst>
      <p:ext uri="{BB962C8B-B14F-4D97-AF65-F5344CB8AC3E}">
        <p14:creationId xmlns:p14="http://schemas.microsoft.com/office/powerpoint/2010/main" val="2654877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9300" y="-2836"/>
            <a:ext cx="10515600" cy="1325563"/>
          </a:xfrm>
        </p:spPr>
        <p:txBody>
          <a:bodyPr/>
          <a:lstStyle/>
          <a:p>
            <a:r>
              <a:rPr lang="en-GB"/>
              <a:t>Session overview</a:t>
            </a:r>
          </a:p>
        </p:txBody>
      </p:sp>
      <p:sp>
        <p:nvSpPr>
          <p:cNvPr id="3" name="Content Placeholder 2"/>
          <p:cNvSpPr>
            <a:spLocks noGrp="1"/>
          </p:cNvSpPr>
          <p:nvPr>
            <p:ph idx="1"/>
          </p:nvPr>
        </p:nvSpPr>
        <p:spPr>
          <a:xfrm>
            <a:off x="768152" y="1741066"/>
            <a:ext cx="9713912" cy="4640262"/>
          </a:xfrm>
        </p:spPr>
        <p:txBody>
          <a:bodyPr vert="horz" lIns="0" tIns="0" rIns="0" bIns="0" rtlCol="0" anchor="t">
            <a:normAutofit fontScale="92500" lnSpcReduction="10000"/>
          </a:bodyPr>
          <a:lstStyle/>
          <a:p>
            <a:r>
              <a:rPr lang="en-GB" dirty="0">
                <a:solidFill>
                  <a:schemeClr val="bg1">
                    <a:lumMod val="75000"/>
                  </a:schemeClr>
                </a:solidFill>
                <a:latin typeface="Lucida Sans"/>
              </a:rPr>
              <a:t>Finding reliable sources for your dissertation:</a:t>
            </a:r>
          </a:p>
          <a:p>
            <a:r>
              <a:rPr lang="en-GB" dirty="0">
                <a:solidFill>
                  <a:schemeClr val="bg1">
                    <a:lumMod val="75000"/>
                  </a:schemeClr>
                </a:solidFill>
                <a:latin typeface="Lucida Sans"/>
              </a:rPr>
              <a:t>Before you start- creating a search</a:t>
            </a:r>
          </a:p>
          <a:p>
            <a:r>
              <a:rPr lang="en-GB" dirty="0">
                <a:solidFill>
                  <a:schemeClr val="bg1">
                    <a:lumMod val="75000"/>
                  </a:schemeClr>
                </a:solidFill>
                <a:latin typeface="Lucida Sans"/>
              </a:rPr>
              <a:t>Where to search</a:t>
            </a:r>
            <a:endParaRPr lang="en-GB" dirty="0">
              <a:solidFill>
                <a:schemeClr val="bg1">
                  <a:lumMod val="75000"/>
                </a:schemeClr>
              </a:solidFill>
              <a:latin typeface="Lucida Sans"/>
              <a:hlinkClick r:id="rId2">
                <a:extLst>
                  <a:ext uri="{A12FA001-AC4F-418D-AE19-62706E023703}">
                    <ahyp:hlinkClr xmlns:ahyp="http://schemas.microsoft.com/office/drawing/2018/hyperlinkcolor" val="tx"/>
                  </a:ext>
                </a:extLst>
              </a:hlinkClick>
            </a:endParaRPr>
          </a:p>
          <a:p>
            <a:pPr lvl="1"/>
            <a:r>
              <a:rPr lang="en-GB" dirty="0">
                <a:solidFill>
                  <a:schemeClr val="bg1">
                    <a:lumMod val="75000"/>
                  </a:schemeClr>
                </a:solidFill>
                <a:latin typeface="Lucida Sans"/>
                <a:hlinkClick r:id="rId2">
                  <a:extLst>
                    <a:ext uri="{A12FA001-AC4F-418D-AE19-62706E023703}">
                      <ahyp:hlinkClr xmlns:ahyp="http://schemas.microsoft.com/office/drawing/2018/hyperlinkcolor" val="tx"/>
                    </a:ext>
                  </a:extLst>
                </a:hlinkClick>
              </a:rPr>
              <a:t>www.bradford.ac.uk/library</a:t>
            </a:r>
            <a:r>
              <a:rPr lang="en-GB" dirty="0">
                <a:solidFill>
                  <a:schemeClr val="bg1">
                    <a:lumMod val="75000"/>
                  </a:schemeClr>
                </a:solidFill>
                <a:latin typeface="Lucida Sans"/>
              </a:rPr>
              <a:t> (Summon)</a:t>
            </a:r>
          </a:p>
          <a:p>
            <a:pPr lvl="1"/>
            <a:r>
              <a:rPr lang="en-GB" dirty="0">
                <a:solidFill>
                  <a:schemeClr val="bg1">
                    <a:lumMod val="75000"/>
                  </a:schemeClr>
                </a:solidFill>
                <a:latin typeface="Lucida Sans"/>
              </a:rPr>
              <a:t>Scopus</a:t>
            </a:r>
          </a:p>
          <a:p>
            <a:pPr lvl="1"/>
            <a:r>
              <a:rPr lang="en-GB" dirty="0">
                <a:solidFill>
                  <a:schemeClr val="bg1">
                    <a:lumMod val="75000"/>
                  </a:schemeClr>
                </a:solidFill>
                <a:latin typeface="Lucida Sans"/>
              </a:rPr>
              <a:t>British Standards Online</a:t>
            </a:r>
          </a:p>
          <a:p>
            <a:r>
              <a:rPr lang="en-GB" dirty="0">
                <a:solidFill>
                  <a:schemeClr val="bg1">
                    <a:lumMod val="75000"/>
                  </a:schemeClr>
                </a:solidFill>
                <a:latin typeface="Lucida Sans"/>
              </a:rPr>
              <a:t>Search tips</a:t>
            </a:r>
          </a:p>
          <a:p>
            <a:endParaRPr lang="en-GB" dirty="0">
              <a:solidFill>
                <a:schemeClr val="bg1">
                  <a:lumMod val="75000"/>
                </a:schemeClr>
              </a:solidFill>
              <a:latin typeface="Lucida Sans"/>
            </a:endParaRPr>
          </a:p>
          <a:p>
            <a:r>
              <a:rPr lang="en-GB" dirty="0">
                <a:latin typeface="Lucida Sans"/>
              </a:rPr>
              <a:t>What is written coursework for?</a:t>
            </a:r>
            <a:endParaRPr lang="en-GB" dirty="0">
              <a:cs typeface="Arial"/>
            </a:endParaRPr>
          </a:p>
          <a:p>
            <a:r>
              <a:rPr lang="en-GB" dirty="0">
                <a:latin typeface="Lucida Sans"/>
              </a:rPr>
              <a:t>Reminder about referencing</a:t>
            </a:r>
          </a:p>
          <a:p>
            <a:r>
              <a:rPr lang="en-GB" dirty="0">
                <a:latin typeface="Lucida Sans"/>
              </a:rPr>
              <a:t>Sources of help</a:t>
            </a:r>
          </a:p>
          <a:p>
            <a:endParaRPr lang="en-GB"/>
          </a:p>
        </p:txBody>
      </p:sp>
    </p:spTree>
    <p:extLst>
      <p:ext uri="{BB962C8B-B14F-4D97-AF65-F5344CB8AC3E}">
        <p14:creationId xmlns:p14="http://schemas.microsoft.com/office/powerpoint/2010/main" val="3071351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E6CFA-57EA-6DC0-1FE9-D57A5C0D87B0}"/>
              </a:ext>
            </a:extLst>
          </p:cNvPr>
          <p:cNvSpPr>
            <a:spLocks noGrp="1"/>
          </p:cNvSpPr>
          <p:nvPr>
            <p:ph type="title"/>
          </p:nvPr>
        </p:nvSpPr>
        <p:spPr/>
        <p:txBody>
          <a:bodyPr/>
          <a:lstStyle/>
          <a:p>
            <a:r>
              <a:rPr lang="en-US" sz="3200" dirty="0">
                <a:latin typeface="Calibri"/>
                <a:cs typeface="Calibri"/>
              </a:rPr>
              <a:t>The point of doing coursework</a:t>
            </a:r>
            <a:endParaRPr lang="en-US" sz="3200" dirty="0"/>
          </a:p>
        </p:txBody>
      </p:sp>
      <p:sp>
        <p:nvSpPr>
          <p:cNvPr id="3" name="Content Placeholder 2">
            <a:extLst>
              <a:ext uri="{FF2B5EF4-FFF2-40B4-BE49-F238E27FC236}">
                <a16:creationId xmlns:a16="http://schemas.microsoft.com/office/drawing/2014/main" id="{699BBEEC-53BB-4D9C-E289-C273613AF8FB}"/>
              </a:ext>
            </a:extLst>
          </p:cNvPr>
          <p:cNvSpPr>
            <a:spLocks noGrp="1"/>
          </p:cNvSpPr>
          <p:nvPr>
            <p:ph idx="1"/>
          </p:nvPr>
        </p:nvSpPr>
        <p:spPr/>
        <p:txBody>
          <a:bodyPr vert="horz" lIns="0" tIns="0" rIns="0" bIns="0" rtlCol="0" anchor="t">
            <a:normAutofit lnSpcReduction="10000"/>
          </a:bodyPr>
          <a:lstStyle/>
          <a:p>
            <a:pPr marL="216535" indent="-216535"/>
            <a:r>
              <a:rPr lang="en-US" sz="2800" dirty="0">
                <a:latin typeface="Calibri"/>
                <a:cs typeface="Calibri"/>
              </a:rPr>
              <a:t>To </a:t>
            </a:r>
            <a:r>
              <a:rPr lang="en-US" sz="2800" b="1" dirty="0">
                <a:latin typeface="Calibri"/>
                <a:cs typeface="Calibri"/>
              </a:rPr>
              <a:t>learn something</a:t>
            </a:r>
            <a:r>
              <a:rPr lang="en-US" sz="2800" dirty="0">
                <a:latin typeface="Calibri"/>
                <a:cs typeface="Calibri"/>
              </a:rPr>
              <a:t> and evidence that to the lecturers.</a:t>
            </a:r>
            <a:br>
              <a:rPr lang="en-US" sz="2800" dirty="0">
                <a:latin typeface="Calibri"/>
              </a:rPr>
            </a:br>
            <a:r>
              <a:rPr lang="en-US" sz="2800" dirty="0">
                <a:latin typeface="Calibri"/>
                <a:cs typeface="Calibri"/>
              </a:rPr>
              <a:t>– You need to spend part of the module's directed study time reading until you understand your topic</a:t>
            </a:r>
            <a:br>
              <a:rPr lang="en-US" sz="2800" dirty="0">
                <a:latin typeface="Calibri"/>
              </a:rPr>
            </a:br>
            <a:r>
              <a:rPr lang="en-US" sz="2800" dirty="0">
                <a:latin typeface="Calibri"/>
                <a:cs typeface="Calibri"/>
              </a:rPr>
              <a:t>– and then spend time writing to demonstrate what you know and how you have met the module learning outcomes.</a:t>
            </a:r>
            <a:endParaRPr lang="en-US" sz="2800" dirty="0">
              <a:latin typeface="Calibri"/>
              <a:ea typeface="Calibri"/>
              <a:cs typeface="Calibri"/>
            </a:endParaRPr>
          </a:p>
          <a:p>
            <a:pPr marL="216535" indent="-216535"/>
            <a:r>
              <a:rPr lang="en-US" dirty="0">
                <a:solidFill>
                  <a:srgbClr val="000000"/>
                </a:solidFill>
                <a:latin typeface="Calibri"/>
                <a:ea typeface="Calibri"/>
                <a:cs typeface="Calibri"/>
              </a:rPr>
              <a:t>To </a:t>
            </a:r>
            <a:r>
              <a:rPr lang="en-US" dirty="0" err="1">
                <a:solidFill>
                  <a:srgbClr val="000000"/>
                </a:solidFill>
                <a:latin typeface="Calibri"/>
                <a:ea typeface="Calibri"/>
                <a:cs typeface="Calibri"/>
              </a:rPr>
              <a:t>practise</a:t>
            </a:r>
            <a:r>
              <a:rPr lang="en-US" dirty="0">
                <a:solidFill>
                  <a:srgbClr val="000000"/>
                </a:solidFill>
                <a:latin typeface="Calibri"/>
                <a:ea typeface="Calibri"/>
                <a:cs typeface="Calibri"/>
              </a:rPr>
              <a:t> research and writing for your dissertation</a:t>
            </a:r>
          </a:p>
          <a:p>
            <a:pPr marL="342265" indent="-342265">
              <a:spcBef>
                <a:spcPct val="20000"/>
              </a:spcBef>
              <a:spcAft>
                <a:spcPct val="0"/>
              </a:spcAft>
              <a:buFont typeface="Arial,Sans-Serif" panose="020B0604020202020204" pitchFamily="34" charset="0"/>
            </a:pPr>
            <a:r>
              <a:rPr lang="en-GB" sz="2600" dirty="0">
                <a:solidFill>
                  <a:schemeClr val="accent5"/>
                </a:solidFill>
                <a:latin typeface="Arial"/>
                <a:cs typeface="Arial"/>
              </a:rPr>
              <a:t>Everything in your projects must be </a:t>
            </a:r>
            <a:r>
              <a:rPr lang="en-GB" sz="2600" b="1" dirty="0">
                <a:solidFill>
                  <a:schemeClr val="accent5"/>
                </a:solidFill>
                <a:latin typeface="Arial"/>
                <a:cs typeface="Arial"/>
              </a:rPr>
              <a:t>your own work</a:t>
            </a:r>
            <a:endParaRPr lang="en-GB" sz="2600" dirty="0">
              <a:solidFill>
                <a:schemeClr val="accent5"/>
              </a:solidFill>
              <a:latin typeface="Arial"/>
              <a:cs typeface="Arial"/>
            </a:endParaRPr>
          </a:p>
          <a:p>
            <a:pPr marL="742315" lvl="1" indent="-285115">
              <a:spcBef>
                <a:spcPct val="20000"/>
              </a:spcBef>
              <a:spcAft>
                <a:spcPct val="0"/>
              </a:spcAft>
              <a:buFont typeface="Arial,Sans-Serif" panose="020B0604020202020204" pitchFamily="34" charset="0"/>
            </a:pPr>
            <a:r>
              <a:rPr lang="en-GB" sz="1300" dirty="0">
                <a:solidFill>
                  <a:schemeClr val="accent5"/>
                </a:solidFill>
                <a:latin typeface="Arial"/>
                <a:cs typeface="Arial"/>
              </a:rPr>
              <a:t>(Except when you are telling your reader about what you read, and then you will cite and reference to show where your knowledge came from)</a:t>
            </a:r>
            <a:endParaRPr lang="en-US" dirty="0">
              <a:solidFill>
                <a:schemeClr val="accent5"/>
              </a:solidFill>
            </a:endParaRPr>
          </a:p>
          <a:p>
            <a:pPr marL="216535" indent="-216535"/>
            <a:r>
              <a:rPr lang="en-US" sz="2800" dirty="0">
                <a:latin typeface="Calibri"/>
                <a:cs typeface="Calibri"/>
              </a:rPr>
              <a:t> If you </a:t>
            </a:r>
            <a:r>
              <a:rPr lang="en-US" sz="2800" dirty="0" err="1">
                <a:latin typeface="Calibri"/>
                <a:cs typeface="Calibri"/>
              </a:rPr>
              <a:t>plagairise</a:t>
            </a:r>
            <a:r>
              <a:rPr lang="en-US" sz="2800" dirty="0">
                <a:latin typeface="Calibri"/>
                <a:cs typeface="Calibri"/>
              </a:rPr>
              <a:t>, you don't learn.</a:t>
            </a:r>
            <a:endParaRPr lang="en-US" sz="2800">
              <a:latin typeface="Calibri"/>
              <a:cs typeface="Calibri"/>
            </a:endParaRPr>
          </a:p>
        </p:txBody>
      </p:sp>
      <p:sp>
        <p:nvSpPr>
          <p:cNvPr id="4" name="Date Placeholder 3">
            <a:extLst>
              <a:ext uri="{FF2B5EF4-FFF2-40B4-BE49-F238E27FC236}">
                <a16:creationId xmlns:a16="http://schemas.microsoft.com/office/drawing/2014/main" id="{669C03F4-51FB-07DC-6FDA-7226804E84EA}"/>
              </a:ext>
            </a:extLst>
          </p:cNvPr>
          <p:cNvSpPr>
            <a:spLocks noGrp="1"/>
          </p:cNvSpPr>
          <p:nvPr>
            <p:ph type="dt" sz="half" idx="10"/>
          </p:nvPr>
        </p:nvSpPr>
        <p:spPr/>
        <p:txBody>
          <a:bodyPr/>
          <a:lstStyle/>
          <a:p>
            <a:fld id="{53F2E3B5-6E35-47EC-BA68-F5EC712DBCEC}" type="datetime4">
              <a:rPr lang="en-GB" smtClean="0"/>
              <a:t>26 September 2025</a:t>
            </a:fld>
            <a:endParaRPr lang="en-GB"/>
          </a:p>
        </p:txBody>
      </p:sp>
      <p:sp>
        <p:nvSpPr>
          <p:cNvPr id="5" name="Slide Number Placeholder 4">
            <a:extLst>
              <a:ext uri="{FF2B5EF4-FFF2-40B4-BE49-F238E27FC236}">
                <a16:creationId xmlns:a16="http://schemas.microsoft.com/office/drawing/2014/main" id="{C4EB449B-168A-5CB0-6AB7-772AEB7CF8AD}"/>
              </a:ext>
            </a:extLst>
          </p:cNvPr>
          <p:cNvSpPr>
            <a:spLocks noGrp="1"/>
          </p:cNvSpPr>
          <p:nvPr>
            <p:ph type="sldNum" sz="quarter" idx="12"/>
          </p:nvPr>
        </p:nvSpPr>
        <p:spPr/>
        <p:txBody>
          <a:bodyPr/>
          <a:lstStyle/>
          <a:p>
            <a:fld id="{653FF254-26D3-4E50-98DF-6C68BE574C8B}" type="slidenum">
              <a:rPr lang="en-GB" smtClean="0"/>
              <a:pPr/>
              <a:t>14</a:t>
            </a:fld>
            <a:endParaRPr lang="en-GB"/>
          </a:p>
        </p:txBody>
      </p:sp>
    </p:spTree>
    <p:extLst>
      <p:ext uri="{BB962C8B-B14F-4D97-AF65-F5344CB8AC3E}">
        <p14:creationId xmlns:p14="http://schemas.microsoft.com/office/powerpoint/2010/main" val="1392087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70D4-1B62-7D6E-68B1-58EFF94D64BC}"/>
              </a:ext>
            </a:extLst>
          </p:cNvPr>
          <p:cNvSpPr>
            <a:spLocks noGrp="1"/>
          </p:cNvSpPr>
          <p:nvPr>
            <p:ph type="title"/>
          </p:nvPr>
        </p:nvSpPr>
        <p:spPr>
          <a:xfrm>
            <a:off x="3526766" y="131472"/>
            <a:ext cx="10515600" cy="1325563"/>
          </a:xfrm>
        </p:spPr>
        <p:txBody>
          <a:bodyPr/>
          <a:lstStyle/>
          <a:p>
            <a:r>
              <a:rPr lang="en-US" dirty="0"/>
              <a:t>Plagiarism and ethics</a:t>
            </a:r>
          </a:p>
        </p:txBody>
      </p:sp>
      <p:sp>
        <p:nvSpPr>
          <p:cNvPr id="3" name="Content Placeholder 2">
            <a:extLst>
              <a:ext uri="{FF2B5EF4-FFF2-40B4-BE49-F238E27FC236}">
                <a16:creationId xmlns:a16="http://schemas.microsoft.com/office/drawing/2014/main" id="{DABCED3E-B4CA-3497-D81B-E70863A40BFE}"/>
              </a:ext>
            </a:extLst>
          </p:cNvPr>
          <p:cNvSpPr>
            <a:spLocks noGrp="1"/>
          </p:cNvSpPr>
          <p:nvPr>
            <p:ph idx="1"/>
          </p:nvPr>
        </p:nvSpPr>
        <p:spPr>
          <a:xfrm>
            <a:off x="838200" y="1719258"/>
            <a:ext cx="10515600" cy="3767592"/>
          </a:xfrm>
        </p:spPr>
        <p:txBody>
          <a:bodyPr vert="horz" lIns="0" tIns="0" rIns="0" bIns="0" rtlCol="0" anchor="t">
            <a:normAutofit lnSpcReduction="10000"/>
          </a:bodyPr>
          <a:lstStyle/>
          <a:p>
            <a:r>
              <a:rPr lang="en-US" dirty="0" err="1">
                <a:latin typeface="Lucida Sans"/>
              </a:rPr>
              <a:t>Plagairising</a:t>
            </a:r>
            <a:r>
              <a:rPr lang="en-US" dirty="0">
                <a:latin typeface="Lucida Sans"/>
              </a:rPr>
              <a:t> is not fair to the students who do their own work.</a:t>
            </a:r>
            <a:br>
              <a:rPr lang="en-US" dirty="0"/>
            </a:br>
            <a:r>
              <a:rPr lang="en-US" dirty="0">
                <a:latin typeface="Lucida Sans"/>
              </a:rPr>
              <a:t>• It is not fair to employers- they deserve to know that a Bradford graduate has really learnt everything they need to know, not just copied from other people.</a:t>
            </a:r>
            <a:br>
              <a:rPr lang="en-US" dirty="0"/>
            </a:br>
            <a:r>
              <a:rPr lang="en-US" dirty="0">
                <a:latin typeface="Lucida Sans"/>
              </a:rPr>
              <a:t>• It is not fair to the University- it devalues a Bradford degree if people see that our graduates do not know what they should.</a:t>
            </a:r>
            <a:br>
              <a:rPr lang="en-US" dirty="0"/>
            </a:br>
            <a:r>
              <a:rPr lang="en-US" dirty="0">
                <a:latin typeface="Lucida Sans"/>
              </a:rPr>
              <a:t>• It is not fair to the people who actually created the source that a </a:t>
            </a:r>
            <a:r>
              <a:rPr lang="en-US" dirty="0" err="1">
                <a:latin typeface="Lucida Sans"/>
              </a:rPr>
              <a:t>plagiariser</a:t>
            </a:r>
            <a:r>
              <a:rPr lang="en-US" dirty="0">
                <a:latin typeface="Lucida Sans"/>
              </a:rPr>
              <a:t> uses- they deserve to get the credit for their hard work.</a:t>
            </a:r>
            <a:br>
              <a:rPr lang="en-US" dirty="0"/>
            </a:br>
            <a:r>
              <a:rPr lang="en-US" dirty="0">
                <a:latin typeface="Lucida Sans"/>
              </a:rPr>
              <a:t>• It is cheating!</a:t>
            </a:r>
          </a:p>
        </p:txBody>
      </p:sp>
      <p:sp>
        <p:nvSpPr>
          <p:cNvPr id="4" name="Date Placeholder 3">
            <a:extLst>
              <a:ext uri="{FF2B5EF4-FFF2-40B4-BE49-F238E27FC236}">
                <a16:creationId xmlns:a16="http://schemas.microsoft.com/office/drawing/2014/main" id="{D0E34767-F16B-7151-A045-ACFFB5A3015F}"/>
              </a:ext>
            </a:extLst>
          </p:cNvPr>
          <p:cNvSpPr>
            <a:spLocks noGrp="1"/>
          </p:cNvSpPr>
          <p:nvPr>
            <p:ph type="dt" sz="half" idx="10"/>
          </p:nvPr>
        </p:nvSpPr>
        <p:spPr/>
        <p:txBody>
          <a:bodyPr/>
          <a:lstStyle/>
          <a:p>
            <a:fld id="{10476860-BA1D-41C1-9E98-44CD0F69706D}" type="datetime4">
              <a:rPr lang="en-GB" smtClean="0"/>
              <a:t>26 September 2025</a:t>
            </a:fld>
            <a:endParaRPr lang="en-GB"/>
          </a:p>
        </p:txBody>
      </p:sp>
      <p:sp>
        <p:nvSpPr>
          <p:cNvPr id="5" name="Slide Number Placeholder 4">
            <a:extLst>
              <a:ext uri="{FF2B5EF4-FFF2-40B4-BE49-F238E27FC236}">
                <a16:creationId xmlns:a16="http://schemas.microsoft.com/office/drawing/2014/main" id="{BBAFAD43-12D2-B69F-980F-932D8A87B4E9}"/>
              </a:ext>
            </a:extLst>
          </p:cNvPr>
          <p:cNvSpPr>
            <a:spLocks noGrp="1"/>
          </p:cNvSpPr>
          <p:nvPr>
            <p:ph type="sldNum" sz="quarter" idx="12"/>
          </p:nvPr>
        </p:nvSpPr>
        <p:spPr/>
        <p:txBody>
          <a:bodyPr/>
          <a:lstStyle/>
          <a:p>
            <a:fld id="{653FF254-26D3-4E50-98DF-6C68BE574C8B}" type="slidenum">
              <a:rPr lang="en-GB" smtClean="0"/>
              <a:pPr/>
              <a:t>15</a:t>
            </a:fld>
            <a:endParaRPr lang="en-GB"/>
          </a:p>
        </p:txBody>
      </p:sp>
    </p:spTree>
    <p:extLst>
      <p:ext uri="{BB962C8B-B14F-4D97-AF65-F5344CB8AC3E}">
        <p14:creationId xmlns:p14="http://schemas.microsoft.com/office/powerpoint/2010/main" val="2125441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CC13C-036A-63EA-A3D9-C664F618CD93}"/>
              </a:ext>
            </a:extLst>
          </p:cNvPr>
          <p:cNvSpPr>
            <a:spLocks noGrp="1"/>
          </p:cNvSpPr>
          <p:nvPr>
            <p:ph type="title"/>
          </p:nvPr>
        </p:nvSpPr>
        <p:spPr>
          <a:xfrm>
            <a:off x="3162657" y="253147"/>
            <a:ext cx="8889865" cy="817453"/>
          </a:xfrm>
        </p:spPr>
        <p:txBody>
          <a:bodyPr/>
          <a:lstStyle/>
          <a:p>
            <a:r>
              <a:rPr lang="en-US" dirty="0">
                <a:latin typeface="Lucida Sans"/>
              </a:rPr>
              <a:t>What does "your own work" mean? </a:t>
            </a:r>
            <a:endParaRPr lang="en-US" dirty="0"/>
          </a:p>
        </p:txBody>
      </p:sp>
      <p:sp>
        <p:nvSpPr>
          <p:cNvPr id="3" name="Content Placeholder 2">
            <a:extLst>
              <a:ext uri="{FF2B5EF4-FFF2-40B4-BE49-F238E27FC236}">
                <a16:creationId xmlns:a16="http://schemas.microsoft.com/office/drawing/2014/main" id="{2FB9B9F7-5D2D-A8DB-C272-355F7260E523}"/>
              </a:ext>
            </a:extLst>
          </p:cNvPr>
          <p:cNvSpPr>
            <a:spLocks noGrp="1"/>
          </p:cNvSpPr>
          <p:nvPr>
            <p:ph idx="1"/>
          </p:nvPr>
        </p:nvSpPr>
        <p:spPr>
          <a:xfrm>
            <a:off x="892262" y="1712731"/>
            <a:ext cx="9548812" cy="4105175"/>
          </a:xfrm>
        </p:spPr>
        <p:txBody>
          <a:bodyPr vert="horz" lIns="0" tIns="0" rIns="0" bIns="0" rtlCol="0" anchor="t">
            <a:normAutofit fontScale="92500"/>
          </a:bodyPr>
          <a:lstStyle/>
          <a:p>
            <a:pPr>
              <a:spcBef>
                <a:spcPct val="20000"/>
              </a:spcBef>
              <a:spcAft>
                <a:spcPct val="0"/>
              </a:spcAft>
              <a:buFont typeface="Arial,Sans-Serif" panose="020B0604020202020204" pitchFamily="34" charset="0"/>
            </a:pPr>
            <a:r>
              <a:rPr lang="en-GB" sz="2800" dirty="0">
                <a:solidFill>
                  <a:schemeClr val="tx2"/>
                </a:solidFill>
                <a:latin typeface="Lucida Sans"/>
              </a:rPr>
              <a:t>You, yourself, need to understand the topic, think of what to write, and then write it.</a:t>
            </a:r>
            <a:endParaRPr lang="en-US" sz="2800">
              <a:solidFill>
                <a:schemeClr val="tx2"/>
              </a:solidFill>
              <a:latin typeface="Lucida Sans"/>
            </a:endParaRPr>
          </a:p>
          <a:p>
            <a:pPr lvl="1">
              <a:spcBef>
                <a:spcPct val="20000"/>
              </a:spcBef>
              <a:spcAft>
                <a:spcPct val="0"/>
              </a:spcAft>
              <a:buFont typeface="Arial,Sans-Serif" panose="020B0604020202020204" pitchFamily="34" charset="0"/>
            </a:pPr>
            <a:r>
              <a:rPr lang="en-GB" dirty="0">
                <a:solidFill>
                  <a:schemeClr val="tx2"/>
                </a:solidFill>
                <a:latin typeface="Lucida Sans"/>
              </a:rPr>
              <a:t>Your work needs to be written in your own words, your own "voice". </a:t>
            </a:r>
            <a:r>
              <a:rPr lang="en-US" dirty="0">
                <a:solidFill>
                  <a:schemeClr val="tx2"/>
                </a:solidFill>
                <a:latin typeface="Lucida Sans"/>
              </a:rPr>
              <a:t> It needs to show off what you know. </a:t>
            </a:r>
            <a:endParaRPr lang="en-GB" dirty="0">
              <a:solidFill>
                <a:schemeClr val="tx2"/>
              </a:solidFill>
              <a:latin typeface="Lucida Sans"/>
            </a:endParaRPr>
          </a:p>
          <a:p>
            <a:pPr lvl="1">
              <a:spcBef>
                <a:spcPct val="20000"/>
              </a:spcBef>
              <a:spcAft>
                <a:spcPct val="0"/>
              </a:spcAft>
              <a:buFont typeface="Arial,Sans-Serif" panose="020B0604020202020204" pitchFamily="34" charset="0"/>
            </a:pPr>
            <a:r>
              <a:rPr lang="en-GB" dirty="0">
                <a:solidFill>
                  <a:schemeClr val="tx2"/>
                </a:solidFill>
                <a:latin typeface="Lucida Sans"/>
              </a:rPr>
              <a:t>Think of it as explaining to someone what you learned from doing the reading for the assignment.</a:t>
            </a:r>
            <a:endParaRPr lang="en-US" dirty="0">
              <a:solidFill>
                <a:schemeClr val="tx2"/>
              </a:solidFill>
              <a:latin typeface="Lucida Sans"/>
            </a:endParaRPr>
          </a:p>
          <a:p>
            <a:pPr lvl="1">
              <a:spcBef>
                <a:spcPct val="20000"/>
              </a:spcBef>
              <a:spcAft>
                <a:spcPct val="0"/>
              </a:spcAft>
              <a:buFont typeface="Arial,Sans-Serif" panose="020B0604020202020204" pitchFamily="34" charset="0"/>
            </a:pPr>
            <a:r>
              <a:rPr lang="en-GB" dirty="0">
                <a:solidFill>
                  <a:schemeClr val="tx2"/>
                </a:solidFill>
                <a:latin typeface="Lucida Sans"/>
              </a:rPr>
              <a:t>Start your notes for the assignment in a blank document, and write sentences yourself that talk about what you learned.</a:t>
            </a:r>
            <a:endParaRPr lang="en-US" dirty="0">
              <a:solidFill>
                <a:schemeClr val="tx2"/>
              </a:solidFill>
              <a:latin typeface="Lucida Sans"/>
            </a:endParaRPr>
          </a:p>
          <a:p>
            <a:pPr lvl="2">
              <a:spcBef>
                <a:spcPct val="20000"/>
              </a:spcBef>
              <a:spcAft>
                <a:spcPct val="0"/>
              </a:spcAft>
              <a:buFont typeface="Arial,Sans-Serif" panose="020B0604020202020204" pitchFamily="34" charset="0"/>
            </a:pPr>
            <a:r>
              <a:rPr lang="en-US" sz="1400" dirty="0">
                <a:solidFill>
                  <a:schemeClr val="tx2"/>
                </a:solidFill>
                <a:latin typeface="Lucida Sans"/>
              </a:rPr>
              <a:t>Cite and reference in your work to show the sources of your information.</a:t>
            </a:r>
            <a:endParaRPr lang="en-US">
              <a:solidFill>
                <a:schemeClr val="tx2"/>
              </a:solidFill>
              <a:latin typeface="Lucida Sans"/>
            </a:endParaRPr>
          </a:p>
        </p:txBody>
      </p:sp>
      <p:sp>
        <p:nvSpPr>
          <p:cNvPr id="4" name="Date Placeholder 3">
            <a:extLst>
              <a:ext uri="{FF2B5EF4-FFF2-40B4-BE49-F238E27FC236}">
                <a16:creationId xmlns:a16="http://schemas.microsoft.com/office/drawing/2014/main" id="{21159C8A-FDD5-962E-AC84-B0939D6FFEFA}"/>
              </a:ext>
            </a:extLst>
          </p:cNvPr>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5" name="Slide Number Placeholder 4">
            <a:extLst>
              <a:ext uri="{FF2B5EF4-FFF2-40B4-BE49-F238E27FC236}">
                <a16:creationId xmlns:a16="http://schemas.microsoft.com/office/drawing/2014/main" id="{CEA96E74-974A-7D79-CF40-B19F41AC5D49}"/>
              </a:ext>
            </a:extLst>
          </p:cNvPr>
          <p:cNvSpPr>
            <a:spLocks noGrp="1"/>
          </p:cNvSpPr>
          <p:nvPr>
            <p:ph type="sldNum" sz="quarter" idx="12"/>
          </p:nvPr>
        </p:nvSpPr>
        <p:spPr/>
        <p:txBody>
          <a:bodyPr/>
          <a:lstStyle/>
          <a:p>
            <a:fld id="{653FF254-26D3-4E50-98DF-6C68BE574C8B}" type="slidenum">
              <a:rPr lang="en-GB" smtClean="0"/>
              <a:pPr/>
              <a:t>16</a:t>
            </a:fld>
            <a:endParaRPr lang="en-GB"/>
          </a:p>
        </p:txBody>
      </p:sp>
    </p:spTree>
    <p:extLst>
      <p:ext uri="{BB962C8B-B14F-4D97-AF65-F5344CB8AC3E}">
        <p14:creationId xmlns:p14="http://schemas.microsoft.com/office/powerpoint/2010/main" val="1138710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CC65E-F88C-AE05-9B9D-B54034357529}"/>
              </a:ext>
            </a:extLst>
          </p:cNvPr>
          <p:cNvSpPr>
            <a:spLocks noGrp="1"/>
          </p:cNvSpPr>
          <p:nvPr>
            <p:ph type="title"/>
          </p:nvPr>
        </p:nvSpPr>
        <p:spPr>
          <a:xfrm>
            <a:off x="3199363" y="232984"/>
            <a:ext cx="8425308" cy="817453"/>
          </a:xfrm>
        </p:spPr>
        <p:txBody>
          <a:bodyPr/>
          <a:lstStyle/>
          <a:p>
            <a:r>
              <a:rPr lang="en-US" dirty="0"/>
              <a:t>Being investigated for plagiarism</a:t>
            </a:r>
          </a:p>
        </p:txBody>
      </p:sp>
      <p:sp>
        <p:nvSpPr>
          <p:cNvPr id="3" name="Content Placeholder 2">
            <a:extLst>
              <a:ext uri="{FF2B5EF4-FFF2-40B4-BE49-F238E27FC236}">
                <a16:creationId xmlns:a16="http://schemas.microsoft.com/office/drawing/2014/main" id="{331701EA-239D-210F-91DB-3A5910C07E52}"/>
              </a:ext>
            </a:extLst>
          </p:cNvPr>
          <p:cNvSpPr>
            <a:spLocks noGrp="1"/>
          </p:cNvSpPr>
          <p:nvPr>
            <p:ph idx="1"/>
          </p:nvPr>
        </p:nvSpPr>
        <p:spPr>
          <a:xfrm>
            <a:off x="954065" y="1400817"/>
            <a:ext cx="10287567" cy="4464608"/>
          </a:xfrm>
        </p:spPr>
        <p:txBody>
          <a:bodyPr vert="horz" lIns="0" tIns="0" rIns="0" bIns="0" rtlCol="0" anchor="t">
            <a:normAutofit lnSpcReduction="10000"/>
          </a:bodyPr>
          <a:lstStyle/>
          <a:p>
            <a:r>
              <a:rPr lang="en-US" dirty="0">
                <a:latin typeface="Lucida Sans"/>
              </a:rPr>
              <a:t>If the person marking a piece of work thinks it </a:t>
            </a:r>
            <a:r>
              <a:rPr lang="en-US" b="1" dirty="0">
                <a:latin typeface="Lucida Sans"/>
              </a:rPr>
              <a:t>might</a:t>
            </a:r>
            <a:r>
              <a:rPr lang="en-US" dirty="0">
                <a:latin typeface="Lucida Sans"/>
              </a:rPr>
              <a:t> be </a:t>
            </a:r>
            <a:r>
              <a:rPr lang="en-US" err="1">
                <a:latin typeface="Lucida Sans"/>
              </a:rPr>
              <a:t>plagairised</a:t>
            </a:r>
            <a:r>
              <a:rPr lang="en-US" dirty="0">
                <a:latin typeface="Lucida Sans"/>
              </a:rPr>
              <a:t>, and sends it to be investigated:</a:t>
            </a:r>
            <a:endParaRPr lang="en-US" dirty="0"/>
          </a:p>
          <a:p>
            <a:pPr lvl="1"/>
            <a:r>
              <a:rPr lang="en-US" dirty="0">
                <a:latin typeface="Lucida Sans"/>
              </a:rPr>
              <a:t>The investigation will take at least 3 months. Therefore everything gets delayed by 3 months or more.</a:t>
            </a:r>
          </a:p>
          <a:p>
            <a:r>
              <a:rPr lang="en-US" dirty="0">
                <a:latin typeface="Lucida Sans"/>
              </a:rPr>
              <a:t>There are heavy marks penalties.</a:t>
            </a:r>
            <a:endParaRPr lang="en-US" dirty="0"/>
          </a:p>
          <a:p>
            <a:r>
              <a:rPr lang="en-US" dirty="0">
                <a:latin typeface="Lucida Sans"/>
              </a:rPr>
              <a:t>Be very careful!</a:t>
            </a:r>
          </a:p>
          <a:p>
            <a:endParaRPr lang="en-US" dirty="0"/>
          </a:p>
          <a:p>
            <a:r>
              <a:rPr lang="en-US" dirty="0">
                <a:latin typeface="Lucida Sans"/>
              </a:rPr>
              <a:t>The university uses Turnitin, but you can be investigated even with a low percentage score if the marker is suspicious. </a:t>
            </a:r>
          </a:p>
          <a:p>
            <a:pPr lvl="1"/>
            <a:r>
              <a:rPr lang="en-US" dirty="0">
                <a:latin typeface="Lucida Sans"/>
                <a:hlinkClick r:id="rId2"/>
              </a:rPr>
              <a:t>Understanding your Turnitin draft report</a:t>
            </a:r>
            <a:r>
              <a:rPr lang="en-US" dirty="0">
                <a:latin typeface="Lucida Sans"/>
              </a:rPr>
              <a:t> (presentation)</a:t>
            </a:r>
          </a:p>
          <a:p>
            <a:pPr lvl="1"/>
            <a:endParaRPr lang="en-US" dirty="0"/>
          </a:p>
          <a:p>
            <a:endParaRPr lang="en-US" dirty="0"/>
          </a:p>
          <a:p>
            <a:pPr lvl="1"/>
            <a:endParaRPr lang="en-US" dirty="0"/>
          </a:p>
          <a:p>
            <a:pPr lvl="1"/>
            <a:endParaRPr lang="en-US" dirty="0"/>
          </a:p>
        </p:txBody>
      </p:sp>
      <p:sp>
        <p:nvSpPr>
          <p:cNvPr id="4" name="Date Placeholder 3">
            <a:extLst>
              <a:ext uri="{FF2B5EF4-FFF2-40B4-BE49-F238E27FC236}">
                <a16:creationId xmlns:a16="http://schemas.microsoft.com/office/drawing/2014/main" id="{B2A3A194-2835-D7D3-4718-06B28E12EB38}"/>
              </a:ext>
            </a:extLst>
          </p:cNvPr>
          <p:cNvSpPr>
            <a:spLocks noGrp="1"/>
          </p:cNvSpPr>
          <p:nvPr>
            <p:ph type="dt" sz="half" idx="10"/>
          </p:nvPr>
        </p:nvSpPr>
        <p:spPr/>
        <p:txBody>
          <a:bodyPr/>
          <a:lstStyle/>
          <a:p>
            <a:fld id="{10476860-BA1D-41C1-9E98-44CD0F69706D}" type="datetime4">
              <a:rPr lang="en-GB" smtClean="0"/>
              <a:t>26 September 2025</a:t>
            </a:fld>
            <a:endParaRPr lang="en-GB"/>
          </a:p>
        </p:txBody>
      </p:sp>
      <p:sp>
        <p:nvSpPr>
          <p:cNvPr id="5" name="Slide Number Placeholder 4">
            <a:extLst>
              <a:ext uri="{FF2B5EF4-FFF2-40B4-BE49-F238E27FC236}">
                <a16:creationId xmlns:a16="http://schemas.microsoft.com/office/drawing/2014/main" id="{2A8CD975-980A-9F06-374E-F5509D7430BF}"/>
              </a:ext>
            </a:extLst>
          </p:cNvPr>
          <p:cNvSpPr>
            <a:spLocks noGrp="1"/>
          </p:cNvSpPr>
          <p:nvPr>
            <p:ph type="sldNum" sz="quarter" idx="12"/>
          </p:nvPr>
        </p:nvSpPr>
        <p:spPr/>
        <p:txBody>
          <a:bodyPr/>
          <a:lstStyle/>
          <a:p>
            <a:fld id="{653FF254-26D3-4E50-98DF-6C68BE574C8B}" type="slidenum">
              <a:rPr lang="en-GB" smtClean="0"/>
              <a:pPr/>
              <a:t>17</a:t>
            </a:fld>
            <a:endParaRPr lang="en-GB"/>
          </a:p>
        </p:txBody>
      </p:sp>
    </p:spTree>
    <p:extLst>
      <p:ext uri="{BB962C8B-B14F-4D97-AF65-F5344CB8AC3E}">
        <p14:creationId xmlns:p14="http://schemas.microsoft.com/office/powerpoint/2010/main" val="1994460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05E47-1B40-5046-B05F-FD5E4DE25599}"/>
              </a:ext>
            </a:extLst>
          </p:cNvPr>
          <p:cNvSpPr>
            <a:spLocks noGrp="1"/>
          </p:cNvSpPr>
          <p:nvPr>
            <p:ph type="title"/>
          </p:nvPr>
        </p:nvSpPr>
        <p:spPr/>
        <p:txBody>
          <a:bodyPr/>
          <a:lstStyle/>
          <a:p>
            <a:r>
              <a:rPr lang="en-US" dirty="0">
                <a:latin typeface="Lucida Sans"/>
              </a:rPr>
              <a:t>You must write your own project</a:t>
            </a:r>
            <a:endParaRPr lang="en-US" dirty="0"/>
          </a:p>
        </p:txBody>
      </p:sp>
      <p:sp>
        <p:nvSpPr>
          <p:cNvPr id="3" name="Content Placeholder 2">
            <a:extLst>
              <a:ext uri="{FF2B5EF4-FFF2-40B4-BE49-F238E27FC236}">
                <a16:creationId xmlns:a16="http://schemas.microsoft.com/office/drawing/2014/main" id="{6331189A-34CF-5EA0-3B60-AF1EBD9D8DC8}"/>
              </a:ext>
            </a:extLst>
          </p:cNvPr>
          <p:cNvSpPr>
            <a:spLocks noGrp="1"/>
          </p:cNvSpPr>
          <p:nvPr>
            <p:ph idx="1"/>
          </p:nvPr>
        </p:nvSpPr>
        <p:spPr>
          <a:xfrm>
            <a:off x="1940581" y="2052726"/>
            <a:ext cx="8418512" cy="4610645"/>
          </a:xfrm>
        </p:spPr>
        <p:txBody>
          <a:bodyPr vert="horz" lIns="0" tIns="0" rIns="0" bIns="0" rtlCol="0" anchor="t">
            <a:normAutofit/>
          </a:bodyPr>
          <a:lstStyle/>
          <a:p>
            <a:pPr>
              <a:spcBef>
                <a:spcPct val="20000"/>
              </a:spcBef>
              <a:spcAft>
                <a:spcPct val="0"/>
              </a:spcAft>
            </a:pPr>
            <a:r>
              <a:rPr lang="en-GB" sz="3600" dirty="0">
                <a:solidFill>
                  <a:schemeClr val="tx2"/>
                </a:solidFill>
                <a:latin typeface="Lucida Sans"/>
              </a:rPr>
              <a:t>Getting an AI program to write your work for you is cheating- it is plagiarism and deceit.</a:t>
            </a:r>
            <a:endParaRPr lang="en-US" sz="3600" dirty="0">
              <a:solidFill>
                <a:schemeClr val="tx2"/>
              </a:solidFill>
              <a:latin typeface="Lucida Sans"/>
            </a:endParaRPr>
          </a:p>
          <a:p>
            <a:pPr lvl="1">
              <a:spcBef>
                <a:spcPct val="20000"/>
              </a:spcBef>
              <a:spcAft>
                <a:spcPct val="0"/>
              </a:spcAft>
              <a:buFont typeface="Arial,Sans-Serif" panose="020B0604020202020204" pitchFamily="34" charset="0"/>
            </a:pPr>
            <a:r>
              <a:rPr lang="en-GB" dirty="0">
                <a:solidFill>
                  <a:schemeClr val="tx2"/>
                </a:solidFill>
                <a:latin typeface="Lucida Sans"/>
              </a:rPr>
              <a:t>Doing this would mean you wouldn’t learn anything. Submitting what something spits out at you </a:t>
            </a:r>
            <a:r>
              <a:rPr lang="en-GB" b="1" dirty="0">
                <a:solidFill>
                  <a:schemeClr val="tx2"/>
                </a:solidFill>
                <a:latin typeface="Lucida Sans"/>
              </a:rPr>
              <a:t>is not doing your own work</a:t>
            </a:r>
            <a:r>
              <a:rPr lang="en-GB" dirty="0">
                <a:solidFill>
                  <a:schemeClr val="tx2"/>
                </a:solidFill>
                <a:latin typeface="Lucida Sans"/>
              </a:rPr>
              <a:t>!</a:t>
            </a:r>
            <a:r>
              <a:rPr lang="en-US" dirty="0">
                <a:solidFill>
                  <a:schemeClr val="tx2"/>
                </a:solidFill>
                <a:latin typeface="Lucida Sans"/>
              </a:rPr>
              <a:t> </a:t>
            </a:r>
          </a:p>
          <a:p>
            <a:pPr marL="457200" lvl="1" indent="0">
              <a:spcBef>
                <a:spcPct val="20000"/>
              </a:spcBef>
              <a:spcAft>
                <a:spcPct val="0"/>
              </a:spcAft>
              <a:buNone/>
            </a:pPr>
            <a:endParaRPr lang="en-US">
              <a:solidFill>
                <a:schemeClr val="accent3"/>
              </a:solidFill>
              <a:latin typeface="Lucida Sans"/>
            </a:endParaRPr>
          </a:p>
        </p:txBody>
      </p:sp>
      <p:sp>
        <p:nvSpPr>
          <p:cNvPr id="4" name="Date Placeholder 3">
            <a:extLst>
              <a:ext uri="{FF2B5EF4-FFF2-40B4-BE49-F238E27FC236}">
                <a16:creationId xmlns:a16="http://schemas.microsoft.com/office/drawing/2014/main" id="{71198C6E-6604-1805-6C12-BBFB9710E722}"/>
              </a:ext>
            </a:extLst>
          </p:cNvPr>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5" name="Slide Number Placeholder 4">
            <a:extLst>
              <a:ext uri="{FF2B5EF4-FFF2-40B4-BE49-F238E27FC236}">
                <a16:creationId xmlns:a16="http://schemas.microsoft.com/office/drawing/2014/main" id="{09701500-C1FD-A291-B850-93C2BF0375CE}"/>
              </a:ext>
            </a:extLst>
          </p:cNvPr>
          <p:cNvSpPr>
            <a:spLocks noGrp="1"/>
          </p:cNvSpPr>
          <p:nvPr>
            <p:ph type="sldNum" sz="quarter" idx="12"/>
          </p:nvPr>
        </p:nvSpPr>
        <p:spPr/>
        <p:txBody>
          <a:bodyPr/>
          <a:lstStyle/>
          <a:p>
            <a:fld id="{653FF254-26D3-4E50-98DF-6C68BE574C8B}" type="slidenum">
              <a:rPr lang="en-GB" smtClean="0"/>
              <a:pPr/>
              <a:t>18</a:t>
            </a:fld>
            <a:endParaRPr lang="en-GB"/>
          </a:p>
        </p:txBody>
      </p:sp>
    </p:spTree>
    <p:extLst>
      <p:ext uri="{BB962C8B-B14F-4D97-AF65-F5344CB8AC3E}">
        <p14:creationId xmlns:p14="http://schemas.microsoft.com/office/powerpoint/2010/main" val="1389409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55E037-CE9C-E5AB-E523-461A139FAF9A}"/>
              </a:ext>
            </a:extLst>
          </p:cNvPr>
          <p:cNvSpPr>
            <a:spLocks noGrp="1"/>
          </p:cNvSpPr>
          <p:nvPr>
            <p:ph type="title"/>
          </p:nvPr>
        </p:nvSpPr>
        <p:spPr/>
        <p:txBody>
          <a:bodyPr>
            <a:normAutofit/>
          </a:bodyPr>
          <a:lstStyle/>
          <a:p>
            <a:r>
              <a:rPr lang="en-US">
                <a:latin typeface="Arial"/>
                <a:ea typeface="Calibri Light"/>
                <a:cs typeface="Calibri Light"/>
              </a:rPr>
              <a:t>Am I allowed to use AI: The academic context</a:t>
            </a:r>
            <a:endParaRPr lang="en-US">
              <a:latin typeface="Arial"/>
              <a:ea typeface="Calibri Light"/>
              <a:cs typeface="Arial"/>
            </a:endParaRPr>
          </a:p>
        </p:txBody>
      </p:sp>
      <p:sp>
        <p:nvSpPr>
          <p:cNvPr id="5" name="Content Placeholder 4">
            <a:extLst>
              <a:ext uri="{FF2B5EF4-FFF2-40B4-BE49-F238E27FC236}">
                <a16:creationId xmlns:a16="http://schemas.microsoft.com/office/drawing/2014/main" id="{3A3EF254-4E1D-E973-266F-6634AFFA4F56}"/>
              </a:ext>
            </a:extLst>
          </p:cNvPr>
          <p:cNvSpPr>
            <a:spLocks noGrp="1"/>
          </p:cNvSpPr>
          <p:nvPr>
            <p:ph idx="1"/>
          </p:nvPr>
        </p:nvSpPr>
        <p:spPr>
          <a:xfrm>
            <a:off x="838200" y="2125236"/>
            <a:ext cx="10515600" cy="4051727"/>
          </a:xfrm>
        </p:spPr>
        <p:txBody>
          <a:bodyPr vert="horz" lIns="91440" tIns="45720" rIns="91440" bIns="45720" rtlCol="0" anchor="t">
            <a:normAutofit fontScale="85000" lnSpcReduction="20000"/>
          </a:bodyPr>
          <a:lstStyle/>
          <a:p>
            <a:r>
              <a:rPr lang="en-GB">
                <a:cs typeface="Arial"/>
              </a:rPr>
              <a:t>When you graduate, you should be able to demonstrate the skills and knowledge outlined in your programme specification</a:t>
            </a:r>
          </a:p>
          <a:p>
            <a:r>
              <a:rPr lang="en-GB">
                <a:cs typeface="Arial"/>
              </a:rPr>
              <a:t>You will not achieve these if you use AI-generated work</a:t>
            </a:r>
          </a:p>
          <a:p>
            <a:r>
              <a:rPr lang="en-GB">
                <a:cs typeface="Arial"/>
              </a:rPr>
              <a:t>Don't cheat yourself!</a:t>
            </a:r>
          </a:p>
          <a:p>
            <a:r>
              <a:rPr lang="en-GB">
                <a:cs typeface="Arial"/>
              </a:rPr>
              <a:t>Your work must be your own, and in your own words</a:t>
            </a:r>
          </a:p>
          <a:p>
            <a:r>
              <a:rPr lang="en-GB">
                <a:cs typeface="Arial"/>
              </a:rPr>
              <a:t>You will graduate with a degree taught in English, which will be taken by employers to mean that you are fluent</a:t>
            </a:r>
          </a:p>
          <a:p>
            <a:r>
              <a:rPr lang="en-GB">
                <a:cs typeface="Arial"/>
              </a:rPr>
              <a:t>If you have used paraphrasing tools to re-write your work, you have not demonstrated fluency. </a:t>
            </a:r>
          </a:p>
          <a:p>
            <a:r>
              <a:rPr lang="en-GB">
                <a:cs typeface="Arial"/>
              </a:rPr>
              <a:t>You mustn't use AI tools to help write your work unless your lecturers say that it's OK for a specific assignment. </a:t>
            </a:r>
            <a:endParaRPr lang="en-GB"/>
          </a:p>
        </p:txBody>
      </p:sp>
      <p:sp>
        <p:nvSpPr>
          <p:cNvPr id="2" name="Date Placeholder 1">
            <a:extLst>
              <a:ext uri="{FF2B5EF4-FFF2-40B4-BE49-F238E27FC236}">
                <a16:creationId xmlns:a16="http://schemas.microsoft.com/office/drawing/2014/main" id="{AC8C0DF9-159C-206A-6BA0-8F4C59DAE9D7}"/>
              </a:ext>
            </a:extLst>
          </p:cNvPr>
          <p:cNvSpPr>
            <a:spLocks noGrp="1"/>
          </p:cNvSpPr>
          <p:nvPr>
            <p:ph type="dt" sz="half" idx="10"/>
          </p:nvPr>
        </p:nvSpPr>
        <p:spPr/>
        <p:txBody>
          <a:bodyPr/>
          <a:lstStyle/>
          <a:p>
            <a:fld id="{239DC724-34A1-45E6-B8BF-3E41D8F8089E}" type="datetime1">
              <a:rPr lang="en-GB" smtClean="0"/>
              <a:pPr/>
              <a:t>26/09/2025</a:t>
            </a:fld>
            <a:endParaRPr lang="en-GB"/>
          </a:p>
        </p:txBody>
      </p:sp>
      <p:sp>
        <p:nvSpPr>
          <p:cNvPr id="4" name="Footer Placeholder 3">
            <a:extLst>
              <a:ext uri="{FF2B5EF4-FFF2-40B4-BE49-F238E27FC236}">
                <a16:creationId xmlns:a16="http://schemas.microsoft.com/office/drawing/2014/main" id="{6A7885C5-DB8E-2EA1-15D9-9117C7D4C3C9}"/>
              </a:ext>
            </a:extLst>
          </p:cNvPr>
          <p:cNvSpPr>
            <a:spLocks noGrp="1"/>
          </p:cNvSpPr>
          <p:nvPr>
            <p:ph type="ftr" sz="quarter" idx="11"/>
          </p:nvPr>
        </p:nvSpPr>
        <p:spPr/>
        <p:txBody>
          <a:bodyPr/>
          <a:lstStyle/>
          <a:p>
            <a:r>
              <a:rPr lang="en-GB"/>
              <a:t>bradford.ac.uk/library</a:t>
            </a:r>
            <a:endParaRPr lang="en-US"/>
          </a:p>
        </p:txBody>
      </p:sp>
      <p:sp>
        <p:nvSpPr>
          <p:cNvPr id="3" name="Slide Number Placeholder 2">
            <a:extLst>
              <a:ext uri="{FF2B5EF4-FFF2-40B4-BE49-F238E27FC236}">
                <a16:creationId xmlns:a16="http://schemas.microsoft.com/office/drawing/2014/main" id="{552221B5-F097-5F83-E82D-943E93DFDC9A}"/>
              </a:ext>
            </a:extLst>
          </p:cNvPr>
          <p:cNvSpPr>
            <a:spLocks noGrp="1"/>
          </p:cNvSpPr>
          <p:nvPr>
            <p:ph type="sldNum" sz="quarter" idx="12"/>
          </p:nvPr>
        </p:nvSpPr>
        <p:spPr/>
        <p:txBody>
          <a:bodyPr/>
          <a:lstStyle/>
          <a:p>
            <a:fld id="{E53A5BC0-BAEF-4B36-8137-0A1AD2059BA3}" type="slidenum">
              <a:rPr lang="en-GB" smtClean="0"/>
              <a:pPr/>
              <a:t>19</a:t>
            </a:fld>
            <a:endParaRPr lang="en-GB"/>
          </a:p>
        </p:txBody>
      </p:sp>
    </p:spTree>
    <p:extLst>
      <p:ext uri="{BB962C8B-B14F-4D97-AF65-F5344CB8AC3E}">
        <p14:creationId xmlns:p14="http://schemas.microsoft.com/office/powerpoint/2010/main" val="2740921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55E037-CE9C-E5AB-E523-461A139FAF9A}"/>
              </a:ext>
            </a:extLst>
          </p:cNvPr>
          <p:cNvSpPr>
            <a:spLocks noGrp="1"/>
          </p:cNvSpPr>
          <p:nvPr>
            <p:ph type="title"/>
          </p:nvPr>
        </p:nvSpPr>
        <p:spPr/>
        <p:txBody>
          <a:bodyPr/>
          <a:lstStyle/>
          <a:p>
            <a:r>
              <a:rPr lang="en-US" sz="4400">
                <a:latin typeface="Arial"/>
                <a:ea typeface="Calibri Light"/>
                <a:cs typeface="Calibri Light"/>
              </a:rPr>
              <a:t>Unethical uses of AI in writing</a:t>
            </a:r>
            <a:endParaRPr lang="en-US">
              <a:latin typeface="Arial"/>
            </a:endParaRPr>
          </a:p>
        </p:txBody>
      </p:sp>
      <p:sp>
        <p:nvSpPr>
          <p:cNvPr id="5" name="Content Placeholder 4">
            <a:extLst>
              <a:ext uri="{FF2B5EF4-FFF2-40B4-BE49-F238E27FC236}">
                <a16:creationId xmlns:a16="http://schemas.microsoft.com/office/drawing/2014/main" id="{3A3EF254-4E1D-E973-266F-6634AFFA4F56}"/>
              </a:ext>
            </a:extLst>
          </p:cNvPr>
          <p:cNvSpPr>
            <a:spLocks noGrp="1"/>
          </p:cNvSpPr>
          <p:nvPr>
            <p:ph idx="1"/>
          </p:nvPr>
        </p:nvSpPr>
        <p:spPr>
          <a:xfrm>
            <a:off x="838200" y="2138151"/>
            <a:ext cx="10515600" cy="4038812"/>
          </a:xfrm>
        </p:spPr>
        <p:txBody>
          <a:bodyPr vert="horz" lIns="91440" tIns="45720" rIns="91440" bIns="45720" rtlCol="0" anchor="t">
            <a:normAutofit fontScale="92500" lnSpcReduction="20000"/>
          </a:bodyPr>
          <a:lstStyle/>
          <a:p>
            <a:r>
              <a:rPr lang="en-US" sz="2700">
                <a:latin typeface="Arial"/>
                <a:ea typeface="Calibri"/>
                <a:cs typeface="Calibri"/>
              </a:rPr>
              <a:t>If you got a person to do something for you, would it be cheating? Then it's probably cheating if an AI does it, too. </a:t>
            </a:r>
          </a:p>
          <a:p>
            <a:pPr lvl="1"/>
            <a:r>
              <a:rPr lang="en-US" sz="1800">
                <a:latin typeface="Arial"/>
                <a:ea typeface="Calibri"/>
                <a:cs typeface="Calibri"/>
              </a:rPr>
              <a:t>If you don't know whether a tool is AI, assume that it is. For example, </a:t>
            </a:r>
            <a:r>
              <a:rPr lang="en-US" sz="1800" err="1">
                <a:latin typeface="Arial"/>
                <a:ea typeface="Calibri"/>
                <a:cs typeface="Calibri"/>
              </a:rPr>
              <a:t>Quillbot</a:t>
            </a:r>
            <a:r>
              <a:rPr lang="en-US" sz="1800">
                <a:latin typeface="Arial"/>
                <a:ea typeface="Calibri"/>
                <a:cs typeface="Calibri"/>
              </a:rPr>
              <a:t> and the writing suggestions of Grammarly are both unacceptable AI tools. </a:t>
            </a:r>
          </a:p>
          <a:p>
            <a:endParaRPr lang="en-US" sz="2600">
              <a:latin typeface="Arial"/>
              <a:ea typeface="Calibri"/>
              <a:cs typeface="Calibri"/>
            </a:endParaRPr>
          </a:p>
          <a:p>
            <a:pPr marL="0" indent="0">
              <a:buNone/>
            </a:pPr>
            <a:r>
              <a:rPr lang="en-US" sz="2600">
                <a:latin typeface="Arial"/>
                <a:ea typeface="Calibri"/>
                <a:cs typeface="Calibri"/>
              </a:rPr>
              <a:t>Using AI is misconduct if:</a:t>
            </a:r>
          </a:p>
          <a:p>
            <a:r>
              <a:rPr lang="en-US" sz="2600">
                <a:latin typeface="Arial"/>
                <a:ea typeface="Calibri"/>
                <a:cs typeface="Calibri"/>
              </a:rPr>
              <a:t>The work you submit is not fully your own</a:t>
            </a:r>
          </a:p>
          <a:p>
            <a:r>
              <a:rPr lang="en-US" sz="2600">
                <a:latin typeface="Arial"/>
                <a:ea typeface="Calibri"/>
                <a:cs typeface="Calibri"/>
              </a:rPr>
              <a:t>The work you submit is not in your own words</a:t>
            </a:r>
          </a:p>
          <a:p>
            <a:r>
              <a:rPr lang="en-US" sz="2600">
                <a:latin typeface="Arial"/>
                <a:ea typeface="Calibri"/>
                <a:cs typeface="Calibri"/>
              </a:rPr>
              <a:t>Your reference list does not openly and honestly reflect your reading</a:t>
            </a:r>
          </a:p>
          <a:p>
            <a:r>
              <a:rPr lang="en-US" sz="2600">
                <a:latin typeface="Arial"/>
                <a:ea typeface="Calibri"/>
                <a:cs typeface="Calibri"/>
              </a:rPr>
              <a:t>Your citations attribute information to a source that does not contain it</a:t>
            </a:r>
          </a:p>
          <a:p>
            <a:r>
              <a:rPr lang="en-US" sz="2600">
                <a:latin typeface="Arial"/>
                <a:ea typeface="Calibri"/>
                <a:cs typeface="Calibri"/>
              </a:rPr>
              <a:t>Your reference list contains sources that do not exist</a:t>
            </a:r>
          </a:p>
          <a:p>
            <a:endParaRPr lang="en-US" sz="2600">
              <a:latin typeface="Arial"/>
              <a:ea typeface="Calibri"/>
              <a:cs typeface="Calibri"/>
            </a:endParaRPr>
          </a:p>
          <a:p>
            <a:pPr marL="971550" lvl="1" indent="-285750">
              <a:buFont typeface="Arial,Sans-Serif" panose="020B0604020202020204" pitchFamily="34" charset="0"/>
            </a:pPr>
            <a:endParaRPr lang="en-US" sz="2200">
              <a:latin typeface="Arial"/>
              <a:ea typeface="Calibri"/>
              <a:cs typeface="Calibri"/>
            </a:endParaRPr>
          </a:p>
        </p:txBody>
      </p:sp>
      <p:sp>
        <p:nvSpPr>
          <p:cNvPr id="2" name="Date Placeholder 1">
            <a:extLst>
              <a:ext uri="{FF2B5EF4-FFF2-40B4-BE49-F238E27FC236}">
                <a16:creationId xmlns:a16="http://schemas.microsoft.com/office/drawing/2014/main" id="{AC8C0DF9-159C-206A-6BA0-8F4C59DAE9D7}"/>
              </a:ext>
            </a:extLst>
          </p:cNvPr>
          <p:cNvSpPr>
            <a:spLocks noGrp="1"/>
          </p:cNvSpPr>
          <p:nvPr>
            <p:ph type="dt" sz="half" idx="10"/>
          </p:nvPr>
        </p:nvSpPr>
        <p:spPr/>
        <p:txBody>
          <a:bodyPr/>
          <a:lstStyle/>
          <a:p>
            <a:fld id="{239DC724-34A1-45E6-B8BF-3E41D8F8089E}" type="datetime1">
              <a:rPr lang="en-GB" smtClean="0"/>
              <a:pPr/>
              <a:t>26/09/2025</a:t>
            </a:fld>
            <a:endParaRPr lang="en-GB"/>
          </a:p>
        </p:txBody>
      </p:sp>
      <p:sp>
        <p:nvSpPr>
          <p:cNvPr id="4" name="Footer Placeholder 3">
            <a:extLst>
              <a:ext uri="{FF2B5EF4-FFF2-40B4-BE49-F238E27FC236}">
                <a16:creationId xmlns:a16="http://schemas.microsoft.com/office/drawing/2014/main" id="{6A7885C5-DB8E-2EA1-15D9-9117C7D4C3C9}"/>
              </a:ext>
            </a:extLst>
          </p:cNvPr>
          <p:cNvSpPr>
            <a:spLocks noGrp="1"/>
          </p:cNvSpPr>
          <p:nvPr>
            <p:ph type="ftr" sz="quarter" idx="11"/>
          </p:nvPr>
        </p:nvSpPr>
        <p:spPr/>
        <p:txBody>
          <a:bodyPr/>
          <a:lstStyle/>
          <a:p>
            <a:r>
              <a:rPr lang="en-GB"/>
              <a:t>bradford.ac.uk/library</a:t>
            </a:r>
            <a:endParaRPr lang="en-US"/>
          </a:p>
        </p:txBody>
      </p:sp>
      <p:sp>
        <p:nvSpPr>
          <p:cNvPr id="3" name="Slide Number Placeholder 2">
            <a:extLst>
              <a:ext uri="{FF2B5EF4-FFF2-40B4-BE49-F238E27FC236}">
                <a16:creationId xmlns:a16="http://schemas.microsoft.com/office/drawing/2014/main" id="{552221B5-F097-5F83-E82D-943E93DFDC9A}"/>
              </a:ext>
            </a:extLst>
          </p:cNvPr>
          <p:cNvSpPr>
            <a:spLocks noGrp="1"/>
          </p:cNvSpPr>
          <p:nvPr>
            <p:ph type="sldNum" sz="quarter" idx="12"/>
          </p:nvPr>
        </p:nvSpPr>
        <p:spPr/>
        <p:txBody>
          <a:bodyPr/>
          <a:lstStyle/>
          <a:p>
            <a:fld id="{E53A5BC0-BAEF-4B36-8137-0A1AD2059BA3}" type="slidenum">
              <a:rPr lang="en-GB" smtClean="0"/>
              <a:pPr/>
              <a:t>20</a:t>
            </a:fld>
            <a:endParaRPr lang="en-GB"/>
          </a:p>
        </p:txBody>
      </p:sp>
    </p:spTree>
    <p:extLst>
      <p:ext uri="{BB962C8B-B14F-4D97-AF65-F5344CB8AC3E}">
        <p14:creationId xmlns:p14="http://schemas.microsoft.com/office/powerpoint/2010/main" val="3491352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55E037-CE9C-E5AB-E523-461A139FAF9A}"/>
              </a:ext>
            </a:extLst>
          </p:cNvPr>
          <p:cNvSpPr>
            <a:spLocks noGrp="1"/>
          </p:cNvSpPr>
          <p:nvPr>
            <p:ph type="title"/>
          </p:nvPr>
        </p:nvSpPr>
        <p:spPr/>
        <p:txBody>
          <a:bodyPr/>
          <a:lstStyle/>
          <a:p>
            <a:r>
              <a:rPr lang="en-US">
                <a:cs typeface="Arial"/>
              </a:rPr>
              <a:t>Other issues with AI</a:t>
            </a:r>
            <a:endParaRPr lang="en-US"/>
          </a:p>
        </p:txBody>
      </p:sp>
      <p:sp>
        <p:nvSpPr>
          <p:cNvPr id="5" name="Content Placeholder 4">
            <a:extLst>
              <a:ext uri="{FF2B5EF4-FFF2-40B4-BE49-F238E27FC236}">
                <a16:creationId xmlns:a16="http://schemas.microsoft.com/office/drawing/2014/main" id="{3A3EF254-4E1D-E973-266F-6634AFFA4F56}"/>
              </a:ext>
            </a:extLst>
          </p:cNvPr>
          <p:cNvSpPr>
            <a:spLocks noGrp="1"/>
          </p:cNvSpPr>
          <p:nvPr>
            <p:ph idx="1"/>
          </p:nvPr>
        </p:nvSpPr>
        <p:spPr/>
        <p:txBody>
          <a:bodyPr vert="horz" lIns="91440" tIns="45720" rIns="91440" bIns="45720" rtlCol="0" anchor="t">
            <a:normAutofit/>
          </a:bodyPr>
          <a:lstStyle/>
          <a:p>
            <a:pPr>
              <a:buFont typeface="Arial"/>
              <a:buChar char="•"/>
            </a:pPr>
            <a:r>
              <a:rPr lang="en-US" sz="2200">
                <a:latin typeface="Arial"/>
                <a:ea typeface="ＭＳ Ｐゴシック"/>
                <a:cs typeface="Arial"/>
              </a:rPr>
              <a:t>Many of the AI tools have no regard for the security or privacy of any data you put in to them</a:t>
            </a:r>
          </a:p>
          <a:p>
            <a:pPr>
              <a:buFont typeface="Arial,Sans-Serif"/>
              <a:buChar char="•"/>
            </a:pPr>
            <a:r>
              <a:rPr lang="en-US" sz="2200">
                <a:latin typeface="Arial"/>
                <a:ea typeface="ＭＳ Ｐゴシック"/>
                <a:cs typeface="Arial"/>
              </a:rPr>
              <a:t>The data to train AI tools came from the internet. Therefore it can produce work that reinforces existing prejudices</a:t>
            </a:r>
          </a:p>
          <a:p>
            <a:pPr marL="971550" lvl="1" indent="-285750">
              <a:buFont typeface="Arial,Sans-Serif"/>
              <a:buChar char="•"/>
            </a:pPr>
            <a:r>
              <a:rPr lang="en-US" sz="1700">
                <a:latin typeface="Arial"/>
                <a:ea typeface="ＭＳ Ｐゴシック"/>
                <a:cs typeface="Arial"/>
                <a:hlinkClick r:id="rId2"/>
              </a:rPr>
              <a:t>For instance, this story on AI-generated Barbies of the World</a:t>
            </a:r>
            <a:endParaRPr lang="en-US"/>
          </a:p>
          <a:p>
            <a:pPr>
              <a:buFont typeface="Arial"/>
              <a:buChar char="•"/>
            </a:pPr>
            <a:r>
              <a:rPr lang="en-US" sz="2200">
                <a:latin typeface="Arial"/>
                <a:ea typeface="ＭＳ Ｐゴシック"/>
                <a:cs typeface="Arial"/>
              </a:rPr>
              <a:t>They were trained on people's data without their consent</a:t>
            </a:r>
          </a:p>
          <a:p>
            <a:pPr>
              <a:buFont typeface="Arial"/>
              <a:buChar char="•"/>
            </a:pPr>
            <a:endParaRPr lang="en-US" sz="2000">
              <a:ea typeface="ＭＳ Ｐゴシック"/>
              <a:cs typeface="Arial"/>
            </a:endParaRPr>
          </a:p>
        </p:txBody>
      </p:sp>
      <p:sp>
        <p:nvSpPr>
          <p:cNvPr id="2" name="Date Placeholder 1">
            <a:extLst>
              <a:ext uri="{FF2B5EF4-FFF2-40B4-BE49-F238E27FC236}">
                <a16:creationId xmlns:a16="http://schemas.microsoft.com/office/drawing/2014/main" id="{AC8C0DF9-159C-206A-6BA0-8F4C59DAE9D7}"/>
              </a:ext>
            </a:extLst>
          </p:cNvPr>
          <p:cNvSpPr>
            <a:spLocks noGrp="1"/>
          </p:cNvSpPr>
          <p:nvPr>
            <p:ph type="dt" sz="half" idx="10"/>
          </p:nvPr>
        </p:nvSpPr>
        <p:spPr/>
        <p:txBody>
          <a:bodyPr/>
          <a:lstStyle/>
          <a:p>
            <a:fld id="{239DC724-34A1-45E6-B8BF-3E41D8F8089E}" type="datetime1">
              <a:rPr lang="en-GB" smtClean="0"/>
              <a:pPr/>
              <a:t>26/09/2025</a:t>
            </a:fld>
            <a:endParaRPr lang="en-GB"/>
          </a:p>
        </p:txBody>
      </p:sp>
      <p:sp>
        <p:nvSpPr>
          <p:cNvPr id="4" name="Footer Placeholder 3">
            <a:extLst>
              <a:ext uri="{FF2B5EF4-FFF2-40B4-BE49-F238E27FC236}">
                <a16:creationId xmlns:a16="http://schemas.microsoft.com/office/drawing/2014/main" id="{6A7885C5-DB8E-2EA1-15D9-9117C7D4C3C9}"/>
              </a:ext>
            </a:extLst>
          </p:cNvPr>
          <p:cNvSpPr>
            <a:spLocks noGrp="1"/>
          </p:cNvSpPr>
          <p:nvPr>
            <p:ph type="ftr" sz="quarter" idx="11"/>
          </p:nvPr>
        </p:nvSpPr>
        <p:spPr/>
        <p:txBody>
          <a:bodyPr/>
          <a:lstStyle/>
          <a:p>
            <a:r>
              <a:rPr lang="en-GB"/>
              <a:t>bradford.ac.uk/library</a:t>
            </a:r>
            <a:endParaRPr lang="en-US"/>
          </a:p>
        </p:txBody>
      </p:sp>
      <p:sp>
        <p:nvSpPr>
          <p:cNvPr id="3" name="Slide Number Placeholder 2">
            <a:extLst>
              <a:ext uri="{FF2B5EF4-FFF2-40B4-BE49-F238E27FC236}">
                <a16:creationId xmlns:a16="http://schemas.microsoft.com/office/drawing/2014/main" id="{552221B5-F097-5F83-E82D-943E93DFDC9A}"/>
              </a:ext>
            </a:extLst>
          </p:cNvPr>
          <p:cNvSpPr>
            <a:spLocks noGrp="1"/>
          </p:cNvSpPr>
          <p:nvPr>
            <p:ph type="sldNum" sz="quarter" idx="12"/>
          </p:nvPr>
        </p:nvSpPr>
        <p:spPr/>
        <p:txBody>
          <a:bodyPr/>
          <a:lstStyle/>
          <a:p>
            <a:fld id="{E53A5BC0-BAEF-4B36-8137-0A1AD2059BA3}" type="slidenum">
              <a:rPr lang="en-GB" smtClean="0"/>
              <a:pPr/>
              <a:t>21</a:t>
            </a:fld>
            <a:endParaRPr lang="en-GB"/>
          </a:p>
        </p:txBody>
      </p:sp>
    </p:spTree>
    <p:extLst>
      <p:ext uri="{BB962C8B-B14F-4D97-AF65-F5344CB8AC3E}">
        <p14:creationId xmlns:p14="http://schemas.microsoft.com/office/powerpoint/2010/main" val="3416768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7614-CADD-9CCC-C2E4-7D335774A5E4}"/>
              </a:ext>
            </a:extLst>
          </p:cNvPr>
          <p:cNvSpPr>
            <a:spLocks noGrp="1"/>
          </p:cNvSpPr>
          <p:nvPr>
            <p:ph type="title"/>
          </p:nvPr>
        </p:nvSpPr>
        <p:spPr>
          <a:xfrm>
            <a:off x="63286" y="837425"/>
            <a:ext cx="12130005" cy="1325563"/>
          </a:xfrm>
        </p:spPr>
        <p:txBody>
          <a:bodyPr/>
          <a:lstStyle/>
          <a:p>
            <a:r>
              <a:rPr lang="en-US">
                <a:latin typeface="Arial"/>
                <a:ea typeface="Calibri"/>
                <a:cs typeface="Calibri"/>
              </a:rPr>
              <a:t>An AI cannot give you just the true facts about a topic</a:t>
            </a:r>
            <a:endParaRPr lang="en-US">
              <a:latin typeface="Arial"/>
            </a:endParaRPr>
          </a:p>
        </p:txBody>
      </p:sp>
      <p:sp>
        <p:nvSpPr>
          <p:cNvPr id="3" name="Content Placeholder 2">
            <a:extLst>
              <a:ext uri="{FF2B5EF4-FFF2-40B4-BE49-F238E27FC236}">
                <a16:creationId xmlns:a16="http://schemas.microsoft.com/office/drawing/2014/main" id="{53F3FCDA-A280-B4D9-E0AB-3ACECCF26E48}"/>
              </a:ext>
            </a:extLst>
          </p:cNvPr>
          <p:cNvSpPr>
            <a:spLocks noGrp="1"/>
          </p:cNvSpPr>
          <p:nvPr>
            <p:ph idx="1"/>
          </p:nvPr>
        </p:nvSpPr>
        <p:spPr>
          <a:xfrm>
            <a:off x="838200" y="1877410"/>
            <a:ext cx="10515600" cy="4718932"/>
          </a:xfrm>
        </p:spPr>
        <p:txBody>
          <a:bodyPr vert="horz" lIns="91440" tIns="45720" rIns="91440" bIns="45720" rtlCol="0" anchor="t">
            <a:normAutofit lnSpcReduction="10000"/>
          </a:bodyPr>
          <a:lstStyle/>
          <a:p>
            <a:pPr>
              <a:spcBef>
                <a:spcPts val="20"/>
              </a:spcBef>
            </a:pPr>
            <a:r>
              <a:rPr lang="en-US" sz="1900">
                <a:latin typeface="Arial"/>
                <a:ea typeface="Calibri"/>
                <a:cs typeface="Calibri"/>
              </a:rPr>
              <a:t>It can be tempting to use AI to give you a summary of a subject but this is a terrible idea. </a:t>
            </a:r>
            <a:endParaRPr lang="en-US">
              <a:latin typeface="Arial"/>
              <a:cs typeface="Arial"/>
            </a:endParaRPr>
          </a:p>
          <a:p>
            <a:pPr marL="799465" lvl="1" indent="-285750"/>
            <a:endParaRPr lang="en-US" sz="1900">
              <a:latin typeface="Arial"/>
              <a:ea typeface="Calibri"/>
              <a:cs typeface="Calibri"/>
            </a:endParaRPr>
          </a:p>
          <a:p>
            <a:r>
              <a:rPr lang="en-US" sz="1900">
                <a:latin typeface="Arial"/>
                <a:ea typeface="Calibri"/>
                <a:cs typeface="Calibri"/>
              </a:rPr>
              <a:t>You will always need to spend as much time checking everything it wrote as you would have spent doing it yourself to begin with.</a:t>
            </a:r>
            <a:endParaRPr lang="en-US">
              <a:latin typeface="Arial"/>
              <a:ea typeface="Calibri"/>
              <a:cs typeface="Arial"/>
            </a:endParaRPr>
          </a:p>
          <a:p>
            <a:pPr marL="799465" lvl="1" indent="-342265"/>
            <a:r>
              <a:rPr lang="en-US" sz="1500">
                <a:latin typeface="Arial"/>
                <a:ea typeface="Calibri"/>
                <a:cs typeface="Calibri"/>
              </a:rPr>
              <a:t>Do subject experts use AI tools? Yes, sometimes, but they have a knowledge base that helps them fact-check. You don't have that yet.</a:t>
            </a:r>
            <a:r>
              <a:rPr lang="en-US" sz="1900">
                <a:latin typeface="Arial"/>
                <a:ea typeface="Calibri"/>
                <a:cs typeface="Calibri"/>
              </a:rPr>
              <a:t> </a:t>
            </a:r>
            <a:endParaRPr lang="en-US">
              <a:latin typeface="Arial"/>
              <a:cs typeface="Arial"/>
            </a:endParaRPr>
          </a:p>
          <a:p>
            <a:pPr marL="342265" indent="-342265">
              <a:spcBef>
                <a:spcPts val="20"/>
              </a:spcBef>
            </a:pPr>
            <a:r>
              <a:rPr lang="en-US" sz="1900">
                <a:latin typeface="Arial"/>
                <a:ea typeface="Calibri"/>
                <a:cs typeface="Calibri"/>
              </a:rPr>
              <a:t>AIs are trained on huge batches of text from the internet</a:t>
            </a:r>
            <a:endParaRPr lang="en-US"/>
          </a:p>
          <a:p>
            <a:pPr marL="342265" indent="-342265">
              <a:spcBef>
                <a:spcPts val="20"/>
              </a:spcBef>
            </a:pPr>
            <a:r>
              <a:rPr lang="en-US" sz="1900">
                <a:latin typeface="Arial"/>
                <a:ea typeface="Calibri"/>
                <a:cs typeface="Calibri"/>
              </a:rPr>
              <a:t>But they are trained to </a:t>
            </a:r>
            <a:r>
              <a:rPr lang="en-US" sz="1900" b="1">
                <a:latin typeface="Arial"/>
                <a:ea typeface="Calibri"/>
                <a:cs typeface="Calibri"/>
              </a:rPr>
              <a:t>write real-sounding sentences</a:t>
            </a:r>
            <a:r>
              <a:rPr lang="en-US" sz="1900">
                <a:latin typeface="Arial"/>
                <a:ea typeface="Calibri"/>
                <a:cs typeface="Calibri"/>
              </a:rPr>
              <a:t>, not to know real facts. </a:t>
            </a:r>
          </a:p>
          <a:p>
            <a:pPr marL="342265" indent="-342265"/>
            <a:r>
              <a:rPr lang="en-US" sz="1900">
                <a:latin typeface="Arial"/>
                <a:ea typeface="Calibri"/>
                <a:cs typeface="Calibri"/>
              </a:rPr>
              <a:t>Plus </a:t>
            </a:r>
            <a:r>
              <a:rPr lang="en-US" sz="1900" b="1">
                <a:latin typeface="Arial"/>
                <a:ea typeface="Calibri"/>
                <a:cs typeface="Calibri"/>
              </a:rPr>
              <a:t>they are known to "hallucinate"</a:t>
            </a:r>
            <a:r>
              <a:rPr lang="en-US" sz="1900">
                <a:latin typeface="Arial"/>
                <a:ea typeface="Calibri"/>
                <a:cs typeface="Calibri"/>
              </a:rPr>
              <a:t>- to </a:t>
            </a:r>
            <a:r>
              <a:rPr lang="en-US" sz="1900">
                <a:latin typeface="Arial"/>
                <a:ea typeface="Calibri"/>
                <a:cs typeface="Calibri"/>
                <a:hlinkClick r:id="rId2"/>
              </a:rPr>
              <a:t>make</a:t>
            </a:r>
            <a:r>
              <a:rPr lang="en-US" sz="1900">
                <a:latin typeface="Arial"/>
                <a:ea typeface="Calibri"/>
                <a:cs typeface="Calibri"/>
              </a:rPr>
              <a:t> things up. These will sound convincing and will be mixed in with facts, so you will end up with a false picture of the subject.</a:t>
            </a:r>
          </a:p>
          <a:p>
            <a:pPr marL="342265" indent="-342265"/>
            <a:r>
              <a:rPr lang="en-US" sz="1900">
                <a:latin typeface="Arial"/>
                <a:ea typeface="Calibri"/>
                <a:cs typeface="Calibri"/>
                <a:hlinkClick r:id="rId3"/>
              </a:rPr>
              <a:t>Experts in AI</a:t>
            </a:r>
            <a:r>
              <a:rPr lang="en-US" sz="1900">
                <a:latin typeface="Arial"/>
                <a:ea typeface="Calibri"/>
                <a:cs typeface="Calibri"/>
              </a:rPr>
              <a:t> have been telling us this since the chatbot boom began.</a:t>
            </a:r>
          </a:p>
          <a:p>
            <a:pPr marL="342265" indent="-342265"/>
            <a:endParaRPr lang="en-US" sz="1900">
              <a:latin typeface="Arial"/>
              <a:ea typeface="Calibri"/>
              <a:cs typeface="Calibri"/>
            </a:endParaRPr>
          </a:p>
          <a:p>
            <a:pPr marL="342265" indent="-342265"/>
            <a:r>
              <a:rPr lang="en-US" sz="1900">
                <a:latin typeface="Arial"/>
                <a:ea typeface="Calibri"/>
                <a:cs typeface="Calibri"/>
              </a:rPr>
              <a:t>If you try to use an AI as if is was a search engine (to try to find primary sources that you can read), or you try to use it like Wikipedia (to try to give you a quick overview and give you links):</a:t>
            </a:r>
          </a:p>
          <a:p>
            <a:pPr lvl="1" indent="-342265"/>
            <a:r>
              <a:rPr lang="en-US" sz="1900">
                <a:latin typeface="Arial"/>
                <a:ea typeface="Calibri"/>
                <a:cs typeface="Calibri"/>
              </a:rPr>
              <a:t>It </a:t>
            </a:r>
            <a:r>
              <a:rPr lang="en-US" sz="1900">
                <a:latin typeface="Arial"/>
                <a:ea typeface="Calibri"/>
                <a:cs typeface="Calibri"/>
                <a:hlinkClick r:id="rId4"/>
              </a:rPr>
              <a:t>makes up the citations</a:t>
            </a:r>
            <a:r>
              <a:rPr lang="en-US" sz="1900">
                <a:latin typeface="Arial"/>
                <a:ea typeface="Calibri"/>
                <a:cs typeface="Calibri"/>
              </a:rPr>
              <a:t> </a:t>
            </a:r>
            <a:r>
              <a:rPr lang="en-US" sz="1900">
                <a:latin typeface="Arial"/>
                <a:ea typeface="Calibri"/>
                <a:cs typeface="Calibri"/>
                <a:hlinkClick r:id="rId5"/>
              </a:rPr>
              <a:t>as well as the facts</a:t>
            </a:r>
            <a:r>
              <a:rPr lang="en-US" sz="1900">
                <a:latin typeface="Arial"/>
                <a:ea typeface="Calibri"/>
                <a:cs typeface="Calibri"/>
              </a:rPr>
              <a:t>. </a:t>
            </a:r>
          </a:p>
          <a:p>
            <a:pPr marL="799465" lvl="1" indent="-342265"/>
            <a:endParaRPr lang="en-US" sz="1500">
              <a:latin typeface="Calibri"/>
              <a:ea typeface="Calibri"/>
              <a:cs typeface="Calibri"/>
            </a:endParaRPr>
          </a:p>
          <a:p>
            <a:endParaRPr lang="en-US">
              <a:latin typeface="Arial"/>
              <a:ea typeface="Calibri"/>
              <a:cs typeface="Arial"/>
            </a:endParaRPr>
          </a:p>
        </p:txBody>
      </p:sp>
      <p:sp>
        <p:nvSpPr>
          <p:cNvPr id="4" name="Date Placeholder 3">
            <a:extLst>
              <a:ext uri="{FF2B5EF4-FFF2-40B4-BE49-F238E27FC236}">
                <a16:creationId xmlns:a16="http://schemas.microsoft.com/office/drawing/2014/main" id="{B78D92A0-CD2C-AAB1-9D19-7A9A270EB517}"/>
              </a:ext>
            </a:extLst>
          </p:cNvPr>
          <p:cNvSpPr>
            <a:spLocks noGrp="1"/>
          </p:cNvSpPr>
          <p:nvPr>
            <p:ph type="dt" sz="half" idx="10"/>
          </p:nvPr>
        </p:nvSpPr>
        <p:spPr/>
        <p:txBody>
          <a:bodyPr/>
          <a:lstStyle/>
          <a:p>
            <a:fld id="{0B5510DF-92D5-4546-890A-CE419FC699F2}" type="datetime1">
              <a:rPr lang="en-GB" smtClean="0"/>
              <a:t>26/09/2025</a:t>
            </a:fld>
            <a:endParaRPr lang="en-GB"/>
          </a:p>
        </p:txBody>
      </p:sp>
      <p:sp>
        <p:nvSpPr>
          <p:cNvPr id="5" name="Footer Placeholder 4">
            <a:extLst>
              <a:ext uri="{FF2B5EF4-FFF2-40B4-BE49-F238E27FC236}">
                <a16:creationId xmlns:a16="http://schemas.microsoft.com/office/drawing/2014/main" id="{CD325C2A-E808-A966-E937-BC4F43FC7E96}"/>
              </a:ext>
            </a:extLst>
          </p:cNvPr>
          <p:cNvSpPr>
            <a:spLocks noGrp="1"/>
          </p:cNvSpPr>
          <p:nvPr>
            <p:ph type="ftr" sz="quarter" idx="11"/>
          </p:nvPr>
        </p:nvSpPr>
        <p:spPr/>
        <p:txBody>
          <a:bodyPr/>
          <a:lstStyle/>
          <a:p>
            <a:r>
              <a:rPr lang="en-GB"/>
              <a:t>bradford.ac.uk/library</a:t>
            </a:r>
          </a:p>
        </p:txBody>
      </p:sp>
      <p:sp>
        <p:nvSpPr>
          <p:cNvPr id="6" name="Slide Number Placeholder 5">
            <a:extLst>
              <a:ext uri="{FF2B5EF4-FFF2-40B4-BE49-F238E27FC236}">
                <a16:creationId xmlns:a16="http://schemas.microsoft.com/office/drawing/2014/main" id="{33B07630-EF53-98B2-03B7-1FB15C79A913}"/>
              </a:ext>
            </a:extLst>
          </p:cNvPr>
          <p:cNvSpPr>
            <a:spLocks noGrp="1"/>
          </p:cNvSpPr>
          <p:nvPr>
            <p:ph type="sldNum" sz="quarter" idx="12"/>
          </p:nvPr>
        </p:nvSpPr>
        <p:spPr/>
        <p:txBody>
          <a:bodyPr/>
          <a:lstStyle/>
          <a:p>
            <a:fld id="{E53A5BC0-BAEF-4B36-8137-0A1AD2059BA3}" type="slidenum">
              <a:rPr lang="en-GB" smtClean="0"/>
              <a:t>22</a:t>
            </a:fld>
            <a:endParaRPr lang="en-GB"/>
          </a:p>
        </p:txBody>
      </p:sp>
    </p:spTree>
    <p:extLst>
      <p:ext uri="{BB962C8B-B14F-4D97-AF65-F5344CB8AC3E}">
        <p14:creationId xmlns:p14="http://schemas.microsoft.com/office/powerpoint/2010/main" val="2488695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1EC5C-F857-C93C-274B-36CCE27A2134}"/>
              </a:ext>
            </a:extLst>
          </p:cNvPr>
          <p:cNvSpPr>
            <a:spLocks noGrp="1"/>
          </p:cNvSpPr>
          <p:nvPr>
            <p:ph type="title"/>
          </p:nvPr>
        </p:nvSpPr>
        <p:spPr/>
        <p:txBody>
          <a:bodyPr/>
          <a:lstStyle/>
          <a:p>
            <a:r>
              <a:rPr lang="en-US">
                <a:cs typeface="Arial"/>
              </a:rPr>
              <a:t>Critical skills</a:t>
            </a:r>
            <a:endParaRPr lang="en-US"/>
          </a:p>
        </p:txBody>
      </p:sp>
      <p:sp>
        <p:nvSpPr>
          <p:cNvPr id="3" name="Content Placeholder 2">
            <a:extLst>
              <a:ext uri="{FF2B5EF4-FFF2-40B4-BE49-F238E27FC236}">
                <a16:creationId xmlns:a16="http://schemas.microsoft.com/office/drawing/2014/main" id="{A55AB631-052A-816A-75F3-B7B58E6B6BC3}"/>
              </a:ext>
            </a:extLst>
          </p:cNvPr>
          <p:cNvSpPr>
            <a:spLocks noGrp="1"/>
          </p:cNvSpPr>
          <p:nvPr>
            <p:ph idx="1"/>
          </p:nvPr>
        </p:nvSpPr>
        <p:spPr/>
        <p:txBody>
          <a:bodyPr vert="horz" lIns="91440" tIns="45720" rIns="91440" bIns="45720" rtlCol="0" anchor="t">
            <a:normAutofit/>
          </a:bodyPr>
          <a:lstStyle/>
          <a:p>
            <a:r>
              <a:rPr lang="en-US">
                <a:cs typeface="Arial"/>
              </a:rPr>
              <a:t>You need to develop your critical analysis skills along with your subject knowledge</a:t>
            </a:r>
          </a:p>
          <a:p>
            <a:r>
              <a:rPr lang="en-US">
                <a:cs typeface="Arial"/>
              </a:rPr>
              <a:t>Always check: how do I know this is true? What might be wrong with it? Who created it, and why?</a:t>
            </a:r>
            <a:endParaRPr lang="en-US"/>
          </a:p>
        </p:txBody>
      </p:sp>
      <p:sp>
        <p:nvSpPr>
          <p:cNvPr id="4" name="Date Placeholder 3">
            <a:extLst>
              <a:ext uri="{FF2B5EF4-FFF2-40B4-BE49-F238E27FC236}">
                <a16:creationId xmlns:a16="http://schemas.microsoft.com/office/drawing/2014/main" id="{12E58D85-1443-AB6D-FE96-05D1C6729CAE}"/>
              </a:ext>
            </a:extLst>
          </p:cNvPr>
          <p:cNvSpPr>
            <a:spLocks noGrp="1"/>
          </p:cNvSpPr>
          <p:nvPr>
            <p:ph type="dt" sz="half" idx="10"/>
          </p:nvPr>
        </p:nvSpPr>
        <p:spPr/>
        <p:txBody>
          <a:bodyPr/>
          <a:lstStyle/>
          <a:p>
            <a:fld id="{0B5510DF-92D5-4546-890A-CE419FC699F2}" type="datetime1">
              <a:rPr lang="en-GB" smtClean="0"/>
              <a:t>26/09/2025</a:t>
            </a:fld>
            <a:endParaRPr lang="en-GB"/>
          </a:p>
        </p:txBody>
      </p:sp>
      <p:sp>
        <p:nvSpPr>
          <p:cNvPr id="5" name="Footer Placeholder 4">
            <a:extLst>
              <a:ext uri="{FF2B5EF4-FFF2-40B4-BE49-F238E27FC236}">
                <a16:creationId xmlns:a16="http://schemas.microsoft.com/office/drawing/2014/main" id="{0EF481DE-F37A-6885-E321-B198576AAD9B}"/>
              </a:ext>
            </a:extLst>
          </p:cNvPr>
          <p:cNvSpPr>
            <a:spLocks noGrp="1"/>
          </p:cNvSpPr>
          <p:nvPr>
            <p:ph type="ftr" sz="quarter" idx="11"/>
          </p:nvPr>
        </p:nvSpPr>
        <p:spPr/>
        <p:txBody>
          <a:bodyPr/>
          <a:lstStyle/>
          <a:p>
            <a:r>
              <a:rPr lang="en-GB"/>
              <a:t>bradford.ac.uk/library</a:t>
            </a:r>
          </a:p>
        </p:txBody>
      </p:sp>
      <p:sp>
        <p:nvSpPr>
          <p:cNvPr id="6" name="Slide Number Placeholder 5">
            <a:extLst>
              <a:ext uri="{FF2B5EF4-FFF2-40B4-BE49-F238E27FC236}">
                <a16:creationId xmlns:a16="http://schemas.microsoft.com/office/drawing/2014/main" id="{56F934D2-D1AC-3536-0909-10236E542A99}"/>
              </a:ext>
            </a:extLst>
          </p:cNvPr>
          <p:cNvSpPr>
            <a:spLocks noGrp="1"/>
          </p:cNvSpPr>
          <p:nvPr>
            <p:ph type="sldNum" sz="quarter" idx="12"/>
          </p:nvPr>
        </p:nvSpPr>
        <p:spPr/>
        <p:txBody>
          <a:bodyPr/>
          <a:lstStyle/>
          <a:p>
            <a:fld id="{E53A5BC0-BAEF-4B36-8137-0A1AD2059BA3}" type="slidenum">
              <a:rPr lang="en-GB" smtClean="0"/>
              <a:t>23</a:t>
            </a:fld>
            <a:endParaRPr lang="en-GB"/>
          </a:p>
        </p:txBody>
      </p:sp>
    </p:spTree>
    <p:extLst>
      <p:ext uri="{BB962C8B-B14F-4D97-AF65-F5344CB8AC3E}">
        <p14:creationId xmlns:p14="http://schemas.microsoft.com/office/powerpoint/2010/main" val="955269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55E037-CE9C-E5AB-E523-461A139FAF9A}"/>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3A3EF254-4E1D-E973-266F-6634AFFA4F56}"/>
              </a:ext>
            </a:extLst>
          </p:cNvPr>
          <p:cNvSpPr>
            <a:spLocks noGrp="1"/>
          </p:cNvSpPr>
          <p:nvPr>
            <p:ph idx="1"/>
          </p:nvPr>
        </p:nvSpPr>
        <p:spPr/>
        <p:txBody>
          <a:bodyPr>
            <a:normAutofit/>
          </a:bodyPr>
          <a:lstStyle/>
          <a:p>
            <a:pPr marL="0" indent="0">
              <a:lnSpc>
                <a:spcPct val="80000"/>
              </a:lnSpc>
              <a:spcBef>
                <a:spcPts val="20"/>
              </a:spcBef>
              <a:buNone/>
            </a:pPr>
            <a:endParaRPr lang="en-GB" sz="1900">
              <a:latin typeface="Calibri"/>
              <a:ea typeface="ＭＳ Ｐゴシック"/>
              <a:cs typeface="Lucida Sans Unicode"/>
            </a:endParaRPr>
          </a:p>
        </p:txBody>
      </p:sp>
      <p:sp>
        <p:nvSpPr>
          <p:cNvPr id="2" name="Date Placeholder 1">
            <a:extLst>
              <a:ext uri="{FF2B5EF4-FFF2-40B4-BE49-F238E27FC236}">
                <a16:creationId xmlns:a16="http://schemas.microsoft.com/office/drawing/2014/main" id="{AC8C0DF9-159C-206A-6BA0-8F4C59DAE9D7}"/>
              </a:ext>
            </a:extLst>
          </p:cNvPr>
          <p:cNvSpPr>
            <a:spLocks noGrp="1"/>
          </p:cNvSpPr>
          <p:nvPr>
            <p:ph type="dt" sz="half" idx="10"/>
          </p:nvPr>
        </p:nvSpPr>
        <p:spPr/>
        <p:txBody>
          <a:bodyPr/>
          <a:lstStyle/>
          <a:p>
            <a:fld id="{239DC724-34A1-45E6-B8BF-3E41D8F8089E}" type="datetime1">
              <a:rPr lang="en-GB" smtClean="0"/>
              <a:pPr/>
              <a:t>26/09/2025</a:t>
            </a:fld>
            <a:endParaRPr lang="en-GB"/>
          </a:p>
        </p:txBody>
      </p:sp>
      <p:sp>
        <p:nvSpPr>
          <p:cNvPr id="4" name="Footer Placeholder 3">
            <a:extLst>
              <a:ext uri="{FF2B5EF4-FFF2-40B4-BE49-F238E27FC236}">
                <a16:creationId xmlns:a16="http://schemas.microsoft.com/office/drawing/2014/main" id="{6A7885C5-DB8E-2EA1-15D9-9117C7D4C3C9}"/>
              </a:ext>
            </a:extLst>
          </p:cNvPr>
          <p:cNvSpPr>
            <a:spLocks noGrp="1"/>
          </p:cNvSpPr>
          <p:nvPr>
            <p:ph type="ftr" sz="quarter" idx="11"/>
          </p:nvPr>
        </p:nvSpPr>
        <p:spPr/>
        <p:txBody>
          <a:bodyPr/>
          <a:lstStyle/>
          <a:p>
            <a:r>
              <a:rPr lang="en-GB"/>
              <a:t>bradford.ac.uk/library</a:t>
            </a:r>
            <a:endParaRPr lang="en-US"/>
          </a:p>
        </p:txBody>
      </p:sp>
      <p:sp>
        <p:nvSpPr>
          <p:cNvPr id="3" name="Slide Number Placeholder 2">
            <a:extLst>
              <a:ext uri="{FF2B5EF4-FFF2-40B4-BE49-F238E27FC236}">
                <a16:creationId xmlns:a16="http://schemas.microsoft.com/office/drawing/2014/main" id="{552221B5-F097-5F83-E82D-943E93DFDC9A}"/>
              </a:ext>
            </a:extLst>
          </p:cNvPr>
          <p:cNvSpPr>
            <a:spLocks noGrp="1"/>
          </p:cNvSpPr>
          <p:nvPr>
            <p:ph type="sldNum" sz="quarter" idx="12"/>
          </p:nvPr>
        </p:nvSpPr>
        <p:spPr/>
        <p:txBody>
          <a:bodyPr/>
          <a:lstStyle/>
          <a:p>
            <a:fld id="{E53A5BC0-BAEF-4B36-8137-0A1AD2059BA3}" type="slidenum">
              <a:rPr lang="en-GB" smtClean="0"/>
              <a:pPr/>
              <a:t>24</a:t>
            </a:fld>
            <a:endParaRPr lang="en-GB"/>
          </a:p>
        </p:txBody>
      </p:sp>
      <p:pic>
        <p:nvPicPr>
          <p:cNvPr id="8" name="Content Placeholder 6" descr="A screenshot of a computer&#10;&#10;Description automatically generated">
            <a:extLst>
              <a:ext uri="{FF2B5EF4-FFF2-40B4-BE49-F238E27FC236}">
                <a16:creationId xmlns:a16="http://schemas.microsoft.com/office/drawing/2014/main" id="{5574E79D-A9F0-E801-AEED-3DD0661EBDB8}"/>
              </a:ext>
            </a:extLst>
          </p:cNvPr>
          <p:cNvPicPr>
            <a:picLocks noChangeAspect="1"/>
          </p:cNvPicPr>
          <p:nvPr/>
        </p:nvPicPr>
        <p:blipFill>
          <a:blip r:embed="rId2"/>
          <a:stretch>
            <a:fillRect/>
          </a:stretch>
        </p:blipFill>
        <p:spPr>
          <a:xfrm>
            <a:off x="118615" y="223883"/>
            <a:ext cx="11970609" cy="6145723"/>
          </a:xfrm>
          <a:prstGeom prst="rect">
            <a:avLst/>
          </a:prstGeom>
        </p:spPr>
      </p:pic>
    </p:spTree>
    <p:extLst>
      <p:ext uri="{BB962C8B-B14F-4D97-AF65-F5344CB8AC3E}">
        <p14:creationId xmlns:p14="http://schemas.microsoft.com/office/powerpoint/2010/main" val="1652188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8D571BE-1959-380C-71AF-0184ACEDA9AC}"/>
              </a:ext>
            </a:extLst>
          </p:cNvPr>
          <p:cNvSpPr>
            <a:spLocks noGrp="1"/>
          </p:cNvSpPr>
          <p:nvPr>
            <p:ph type="dt" sz="half" idx="10"/>
          </p:nvPr>
        </p:nvSpPr>
        <p:spPr/>
        <p:txBody>
          <a:bodyPr/>
          <a:lstStyle/>
          <a:p>
            <a:fld id="{0B5510DF-92D5-4546-890A-CE419FC699F2}" type="datetime1">
              <a:rPr lang="en-GB" smtClean="0"/>
              <a:t>26/09/2025</a:t>
            </a:fld>
            <a:endParaRPr lang="en-GB"/>
          </a:p>
        </p:txBody>
      </p:sp>
      <p:sp>
        <p:nvSpPr>
          <p:cNvPr id="5" name="Footer Placeholder 4">
            <a:extLst>
              <a:ext uri="{FF2B5EF4-FFF2-40B4-BE49-F238E27FC236}">
                <a16:creationId xmlns:a16="http://schemas.microsoft.com/office/drawing/2014/main" id="{81CF0634-3BEC-9317-6B46-9635F7408F9D}"/>
              </a:ext>
            </a:extLst>
          </p:cNvPr>
          <p:cNvSpPr>
            <a:spLocks noGrp="1"/>
          </p:cNvSpPr>
          <p:nvPr>
            <p:ph type="ftr" sz="quarter" idx="11"/>
          </p:nvPr>
        </p:nvSpPr>
        <p:spPr/>
        <p:txBody>
          <a:bodyPr/>
          <a:lstStyle/>
          <a:p>
            <a:r>
              <a:rPr lang="en-GB"/>
              <a:t>bradford.ac.uk/library</a:t>
            </a:r>
          </a:p>
        </p:txBody>
      </p:sp>
      <p:sp>
        <p:nvSpPr>
          <p:cNvPr id="6" name="Slide Number Placeholder 5">
            <a:extLst>
              <a:ext uri="{FF2B5EF4-FFF2-40B4-BE49-F238E27FC236}">
                <a16:creationId xmlns:a16="http://schemas.microsoft.com/office/drawing/2014/main" id="{1790D2C1-6D21-4E7D-D9AE-CA849846E4B3}"/>
              </a:ext>
            </a:extLst>
          </p:cNvPr>
          <p:cNvSpPr>
            <a:spLocks noGrp="1"/>
          </p:cNvSpPr>
          <p:nvPr>
            <p:ph type="sldNum" sz="quarter" idx="12"/>
          </p:nvPr>
        </p:nvSpPr>
        <p:spPr/>
        <p:txBody>
          <a:bodyPr/>
          <a:lstStyle/>
          <a:p>
            <a:fld id="{E53A5BC0-BAEF-4B36-8137-0A1AD2059BA3}" type="slidenum">
              <a:rPr lang="en-GB" smtClean="0"/>
              <a:t>25</a:t>
            </a:fld>
            <a:endParaRPr lang="en-GB"/>
          </a:p>
        </p:txBody>
      </p:sp>
      <p:pic>
        <p:nvPicPr>
          <p:cNvPr id="8" name="AI gymnastics">
            <a:hlinkClick r:id="" action="ppaction://media"/>
            <a:extLst>
              <a:ext uri="{FF2B5EF4-FFF2-40B4-BE49-F238E27FC236}">
                <a16:creationId xmlns:a16="http://schemas.microsoft.com/office/drawing/2014/main" id="{3ADC35AD-52E8-C3CF-CA2A-6E0FCD6B5F5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0554" y="1170225"/>
            <a:ext cx="8472698" cy="4781910"/>
          </a:xfrm>
          <a:prstGeom prst="rect">
            <a:avLst/>
          </a:prstGeom>
        </p:spPr>
      </p:pic>
      <p:sp>
        <p:nvSpPr>
          <p:cNvPr id="9" name="TextBox 8">
            <a:extLst>
              <a:ext uri="{FF2B5EF4-FFF2-40B4-BE49-F238E27FC236}">
                <a16:creationId xmlns:a16="http://schemas.microsoft.com/office/drawing/2014/main" id="{5B82D8AC-F3CD-BACD-614F-CAE7C28EB0A0}"/>
              </a:ext>
            </a:extLst>
          </p:cNvPr>
          <p:cNvSpPr txBox="1"/>
          <p:nvPr/>
        </p:nvSpPr>
        <p:spPr>
          <a:xfrm>
            <a:off x="1130061" y="5960853"/>
            <a:ext cx="9946256"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t>Deedydas (2024)</a:t>
            </a:r>
            <a:r>
              <a:rPr lang="en-GB" sz="1000" i="1"/>
              <a:t> Gymnastics is the Turning test of video generation models</a:t>
            </a:r>
            <a:r>
              <a:rPr lang="en-GB" sz="1000"/>
              <a:t> </a:t>
            </a:r>
            <a:r>
              <a:rPr lang="en-GB" sz="1000">
                <a:hlinkClick r:id="rId5"/>
              </a:rPr>
              <a:t>https://x.com/deedydas/status/1808188513512575179?mx=2</a:t>
            </a:r>
            <a:r>
              <a:rPr lang="en-GB" sz="1000"/>
              <a:t> x.com Accessed 29 August 2024</a:t>
            </a:r>
            <a:r>
              <a:rPr lang="en-US" sz="1000"/>
              <a:t>​</a:t>
            </a:r>
          </a:p>
        </p:txBody>
      </p:sp>
    </p:spTree>
    <p:extLst>
      <p:ext uri="{BB962C8B-B14F-4D97-AF65-F5344CB8AC3E}">
        <p14:creationId xmlns:p14="http://schemas.microsoft.com/office/powerpoint/2010/main" val="185006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p:cTn id="12" fill="hold" display="0">
                  <p:stCondLst>
                    <p:cond delay="indefinite"/>
                  </p:stCondLst>
                </p:cTn>
                <p:tgtEl>
                  <p:spTgt spid="8"/>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55E037-CE9C-E5AB-E523-461A139FAF9A}"/>
              </a:ext>
            </a:extLst>
          </p:cNvPr>
          <p:cNvSpPr>
            <a:spLocks noGrp="1"/>
          </p:cNvSpPr>
          <p:nvPr>
            <p:ph type="title"/>
          </p:nvPr>
        </p:nvSpPr>
        <p:spPr/>
        <p:txBody>
          <a:bodyPr/>
          <a:lstStyle/>
          <a:p>
            <a:r>
              <a:rPr lang="en-US" sz="4400" b="0">
                <a:latin typeface="Calibri Light"/>
                <a:ea typeface="Calibri Light"/>
                <a:cs typeface="Calibri Light"/>
              </a:rPr>
              <a:t>More examples of AI getting things wrong</a:t>
            </a:r>
            <a:endParaRPr lang="en-US"/>
          </a:p>
        </p:txBody>
      </p:sp>
      <p:sp>
        <p:nvSpPr>
          <p:cNvPr id="5" name="Content Placeholder 4">
            <a:extLst>
              <a:ext uri="{FF2B5EF4-FFF2-40B4-BE49-F238E27FC236}">
                <a16:creationId xmlns:a16="http://schemas.microsoft.com/office/drawing/2014/main" id="{3A3EF254-4E1D-E973-266F-6634AFFA4F56}"/>
              </a:ext>
            </a:extLst>
          </p:cNvPr>
          <p:cNvSpPr>
            <a:spLocks noGrp="1"/>
          </p:cNvSpPr>
          <p:nvPr>
            <p:ph idx="1"/>
          </p:nvPr>
        </p:nvSpPr>
        <p:spPr>
          <a:xfrm>
            <a:off x="838200" y="2047744"/>
            <a:ext cx="10515600" cy="4488652"/>
          </a:xfrm>
        </p:spPr>
        <p:txBody>
          <a:bodyPr vert="horz" lIns="91440" tIns="45720" rIns="91440" bIns="45720" rtlCol="0" anchor="t">
            <a:normAutofit fontScale="92500" lnSpcReduction="20000"/>
          </a:bodyPr>
          <a:lstStyle/>
          <a:p>
            <a:pPr marL="342265" indent="-342265">
              <a:buFont typeface="Arial"/>
              <a:buChar char="•"/>
            </a:pPr>
            <a:r>
              <a:rPr lang="en-US" sz="1800">
                <a:latin typeface="Arial"/>
                <a:ea typeface="ＭＳ Ｐゴシック"/>
                <a:cs typeface="Lucida Sans Unicode"/>
                <a:hlinkClick r:id="rId2"/>
              </a:rPr>
              <a:t>Getting 83% of medical questions wrong</a:t>
            </a:r>
            <a:endParaRPr lang="en-US" sz="1800">
              <a:latin typeface="Arial"/>
              <a:ea typeface="ＭＳ Ｐゴシック"/>
              <a:cs typeface="Lucida Sans Unicode"/>
            </a:endParaRPr>
          </a:p>
          <a:p>
            <a:pPr marL="342265" indent="-342265">
              <a:buFont typeface="Arial"/>
              <a:buChar char="•"/>
            </a:pPr>
            <a:r>
              <a:rPr lang="en-US" sz="1800">
                <a:latin typeface="Arial"/>
                <a:ea typeface="ＭＳ Ｐゴシック"/>
                <a:cs typeface="Lucida Sans Unicode"/>
                <a:hlinkClick r:id="rId3"/>
              </a:rPr>
              <a:t>Deadly meal suggestions</a:t>
            </a:r>
            <a:endParaRPr lang="en-US" sz="1800">
              <a:latin typeface="Arial"/>
              <a:ea typeface="Calibri"/>
              <a:cs typeface="Calibri"/>
            </a:endParaRPr>
          </a:p>
          <a:p>
            <a:pPr marL="342265" indent="-342265">
              <a:buFont typeface="Arial"/>
              <a:buChar char="•"/>
            </a:pPr>
            <a:r>
              <a:rPr lang="en-US" sz="1800">
                <a:latin typeface="Arial"/>
                <a:ea typeface="ＭＳ Ｐゴシック"/>
                <a:cs typeface="Lucida Sans Unicode"/>
                <a:hlinkClick r:id="rId4"/>
              </a:rPr>
              <a:t>Primes ending in 2</a:t>
            </a:r>
            <a:endParaRPr lang="en-US" sz="1800">
              <a:latin typeface="Arial"/>
              <a:ea typeface="Calibri"/>
              <a:cs typeface="Calibri"/>
            </a:endParaRPr>
          </a:p>
          <a:p>
            <a:pPr marL="342265" indent="-342265">
              <a:buFont typeface="Arial"/>
              <a:buChar char="•"/>
            </a:pPr>
            <a:r>
              <a:rPr lang="en-US" sz="1800">
                <a:latin typeface="Arial"/>
                <a:ea typeface="ＭＳ Ｐゴシック"/>
                <a:cs typeface="Lucida Sans Unicode"/>
                <a:hlinkClick r:id="rId5"/>
              </a:rPr>
              <a:t>Poisonous plants</a:t>
            </a:r>
            <a:endParaRPr lang="en-US" sz="1800">
              <a:latin typeface="Arial"/>
              <a:ea typeface="Calibri"/>
              <a:cs typeface="Calibri"/>
            </a:endParaRPr>
          </a:p>
          <a:p>
            <a:pPr marL="342265" indent="-342265">
              <a:buFont typeface="Arial"/>
              <a:buChar char="•"/>
            </a:pPr>
            <a:r>
              <a:rPr lang="en-US" sz="1800">
                <a:latin typeface="Arial"/>
                <a:ea typeface="ＭＳ Ｐゴシック"/>
                <a:cs typeface="Lucida Sans Unicode"/>
                <a:hlinkClick r:id="rId6"/>
              </a:rPr>
              <a:t>Lying about octopuses</a:t>
            </a:r>
            <a:endParaRPr lang="en-US" sz="1800">
              <a:latin typeface="Arial"/>
              <a:ea typeface="ＭＳ Ｐゴシック"/>
              <a:cs typeface="Lucida Sans Unicode"/>
            </a:endParaRPr>
          </a:p>
          <a:p>
            <a:pPr marL="342265" indent="-342265">
              <a:buFont typeface="Arial"/>
              <a:buChar char="•"/>
            </a:pPr>
            <a:r>
              <a:rPr lang="en-US" sz="1800">
                <a:latin typeface="Arial"/>
                <a:ea typeface="ＭＳ Ｐゴシック"/>
                <a:cs typeface="Lucida Sans Unicode"/>
                <a:hlinkClick r:id="rId7"/>
              </a:rPr>
              <a:t>Fake figures</a:t>
            </a:r>
            <a:endParaRPr lang="en-US" sz="1800">
              <a:latin typeface="Arial"/>
              <a:ea typeface="Calibri"/>
              <a:cs typeface="Calibri"/>
            </a:endParaRPr>
          </a:p>
          <a:p>
            <a:pPr marL="342265" indent="-342265">
              <a:buFont typeface="Arial"/>
              <a:buChar char="•"/>
            </a:pPr>
            <a:r>
              <a:rPr lang="en-US" sz="1800">
                <a:latin typeface="Arial"/>
                <a:ea typeface="ＭＳ Ｐゴシック"/>
                <a:cs typeface="Lucida Sans Unicode"/>
                <a:hlinkClick r:id="rId8"/>
              </a:rPr>
              <a:t>Becoming completely incoherent</a:t>
            </a:r>
            <a:endParaRPr lang="en-US" sz="1800">
              <a:latin typeface="Arial"/>
              <a:ea typeface="ＭＳ Ｐゴシック"/>
              <a:cs typeface="Lucida Sans Unicode"/>
            </a:endParaRPr>
          </a:p>
          <a:p>
            <a:pPr marL="342265" indent="-342265">
              <a:buFont typeface="Arial"/>
              <a:buChar char="•"/>
            </a:pPr>
            <a:r>
              <a:rPr lang="en-US" sz="1800">
                <a:latin typeface="Arial"/>
                <a:ea typeface="ＭＳ Ｐゴシック"/>
                <a:cs typeface="Lucida Sans Unicode"/>
                <a:hlinkClick r:id="rId9"/>
              </a:rPr>
              <a:t>Writing less secure code</a:t>
            </a:r>
            <a:r>
              <a:rPr lang="en-US" sz="1800">
                <a:latin typeface="Arial"/>
                <a:ea typeface="ＭＳ Ｐゴシック"/>
                <a:cs typeface="Lucida Sans Unicode"/>
              </a:rPr>
              <a:t> </a:t>
            </a:r>
          </a:p>
          <a:p>
            <a:pPr marL="342265" indent="-342265">
              <a:buFont typeface="Arial"/>
              <a:buChar char="•"/>
            </a:pPr>
            <a:r>
              <a:rPr lang="en-US" sz="1800">
                <a:latin typeface="Arial"/>
                <a:ea typeface="ＭＳ Ｐゴシック"/>
                <a:cs typeface="Lucida Sans Unicode"/>
                <a:hlinkClick r:id="rId10"/>
              </a:rPr>
              <a:t>ESL aspects</a:t>
            </a:r>
            <a:endParaRPr lang="en-US" sz="1800">
              <a:latin typeface="Arial"/>
              <a:ea typeface="ＭＳ Ｐゴシック"/>
              <a:cs typeface="Lucida Sans Unicode"/>
            </a:endParaRPr>
          </a:p>
          <a:p>
            <a:pPr marL="342265" indent="-342265">
              <a:buFont typeface="Arial"/>
              <a:buChar char="•"/>
            </a:pPr>
            <a:r>
              <a:rPr lang="en-US" sz="1800">
                <a:latin typeface="Arial"/>
                <a:ea typeface="ＭＳ Ｐゴシック"/>
                <a:cs typeface="Lucida Sans Unicode"/>
              </a:rPr>
              <a:t>Insight into why it makes some errors: it assumes that every question about a fact is about </a:t>
            </a:r>
            <a:r>
              <a:rPr lang="en-US" sz="1800">
                <a:latin typeface="Arial"/>
                <a:ea typeface="ＭＳ Ｐゴシック"/>
                <a:cs typeface="Lucida Sans Unicode"/>
                <a:hlinkClick r:id="rId11"/>
              </a:rPr>
              <a:t>the most common version </a:t>
            </a:r>
            <a:r>
              <a:rPr lang="en-US" sz="1800">
                <a:latin typeface="Arial"/>
                <a:ea typeface="ＭＳ Ｐゴシック"/>
                <a:cs typeface="Lucida Sans Unicode"/>
              </a:rPr>
              <a:t> </a:t>
            </a:r>
            <a:r>
              <a:rPr lang="en-US" sz="1800">
                <a:latin typeface="Arial"/>
                <a:ea typeface="ＭＳ Ｐゴシック"/>
                <a:cs typeface="Lucida Sans Unicode"/>
                <a:hlinkClick r:id="rId12"/>
              </a:rPr>
              <a:t>of the question</a:t>
            </a:r>
            <a:endParaRPr lang="en-US" sz="1800">
              <a:latin typeface="Arial"/>
              <a:ea typeface="Calibri"/>
              <a:cs typeface="Calibri"/>
            </a:endParaRPr>
          </a:p>
          <a:p>
            <a:pPr marL="342265" indent="-342265">
              <a:buFont typeface="Arial"/>
              <a:buChar char="•"/>
            </a:pPr>
            <a:endParaRPr lang="en-US" sz="1800">
              <a:latin typeface="Arial"/>
              <a:ea typeface="ＭＳ Ｐゴシック"/>
              <a:cs typeface="Lucida Sans Unicode"/>
            </a:endParaRPr>
          </a:p>
          <a:p>
            <a:pPr marL="342265" indent="-342265">
              <a:buFont typeface="Arial"/>
              <a:buChar char="•"/>
            </a:pPr>
            <a:r>
              <a:rPr lang="en-US" sz="1800">
                <a:latin typeface="Arial"/>
                <a:ea typeface="ＭＳ Ｐゴシック"/>
                <a:cs typeface="Lucida Sans Unicode"/>
              </a:rPr>
              <a:t>Some </a:t>
            </a:r>
            <a:r>
              <a:rPr lang="en-US" sz="1800">
                <a:latin typeface="Arial"/>
                <a:ea typeface="ＭＳ Ｐゴシック"/>
                <a:cs typeface="Lucida Sans Unicode"/>
                <a:hlinkClick r:id="rId13"/>
              </a:rPr>
              <a:t>image</a:t>
            </a:r>
            <a:r>
              <a:rPr lang="en-US" sz="1800">
                <a:latin typeface="Arial"/>
                <a:ea typeface="ＭＳ Ｐゴシック"/>
                <a:cs typeface="Lucida Sans Unicode"/>
              </a:rPr>
              <a:t> things </a:t>
            </a:r>
            <a:r>
              <a:rPr lang="en-US" sz="1800">
                <a:latin typeface="Arial"/>
                <a:ea typeface="ＭＳ Ｐゴシック"/>
                <a:cs typeface="Lucida Sans Unicode"/>
                <a:hlinkClick r:id="rId14"/>
              </a:rPr>
              <a:t>that</a:t>
            </a:r>
            <a:r>
              <a:rPr lang="en-US" sz="1800">
                <a:latin typeface="Arial"/>
                <a:ea typeface="ＭＳ Ｐゴシック"/>
                <a:cs typeface="Lucida Sans Unicode"/>
              </a:rPr>
              <a:t> give clues about how much it "bluffs"</a:t>
            </a:r>
          </a:p>
          <a:p>
            <a:pPr marL="342265" indent="-342265">
              <a:buFont typeface="Arial"/>
              <a:buChar char="•"/>
            </a:pPr>
            <a:r>
              <a:rPr lang="en-US" sz="1800">
                <a:latin typeface="Arial"/>
                <a:ea typeface="ＭＳ Ｐゴシック"/>
                <a:cs typeface="Lucida Sans Unicode"/>
                <a:hlinkClick r:id="rId15"/>
              </a:rPr>
              <a:t>Horrifying baseball video</a:t>
            </a:r>
            <a:endParaRPr lang="en-US" sz="1800">
              <a:latin typeface="Arial"/>
              <a:ea typeface="ＭＳ Ｐゴシック"/>
              <a:cs typeface="Lucida Sans Unicode"/>
            </a:endParaRPr>
          </a:p>
          <a:p>
            <a:pPr marL="0" indent="0">
              <a:buNone/>
            </a:pPr>
            <a:endParaRPr lang="en-US" sz="1800">
              <a:latin typeface="Lucida Sans"/>
              <a:ea typeface="ＭＳ Ｐゴシック"/>
              <a:cs typeface="Lucida Sans Unicode"/>
            </a:endParaRPr>
          </a:p>
        </p:txBody>
      </p:sp>
      <p:sp>
        <p:nvSpPr>
          <p:cNvPr id="2" name="Date Placeholder 1">
            <a:extLst>
              <a:ext uri="{FF2B5EF4-FFF2-40B4-BE49-F238E27FC236}">
                <a16:creationId xmlns:a16="http://schemas.microsoft.com/office/drawing/2014/main" id="{AC8C0DF9-159C-206A-6BA0-8F4C59DAE9D7}"/>
              </a:ext>
            </a:extLst>
          </p:cNvPr>
          <p:cNvSpPr>
            <a:spLocks noGrp="1"/>
          </p:cNvSpPr>
          <p:nvPr>
            <p:ph type="dt" sz="half" idx="10"/>
          </p:nvPr>
        </p:nvSpPr>
        <p:spPr/>
        <p:txBody>
          <a:bodyPr/>
          <a:lstStyle/>
          <a:p>
            <a:fld id="{239DC724-34A1-45E6-B8BF-3E41D8F8089E}" type="datetime1">
              <a:rPr lang="en-GB" smtClean="0"/>
              <a:pPr/>
              <a:t>26/09/2025</a:t>
            </a:fld>
            <a:endParaRPr lang="en-GB"/>
          </a:p>
        </p:txBody>
      </p:sp>
      <p:sp>
        <p:nvSpPr>
          <p:cNvPr id="4" name="Footer Placeholder 3">
            <a:extLst>
              <a:ext uri="{FF2B5EF4-FFF2-40B4-BE49-F238E27FC236}">
                <a16:creationId xmlns:a16="http://schemas.microsoft.com/office/drawing/2014/main" id="{6A7885C5-DB8E-2EA1-15D9-9117C7D4C3C9}"/>
              </a:ext>
            </a:extLst>
          </p:cNvPr>
          <p:cNvSpPr>
            <a:spLocks noGrp="1"/>
          </p:cNvSpPr>
          <p:nvPr>
            <p:ph type="ftr" sz="quarter" idx="11"/>
          </p:nvPr>
        </p:nvSpPr>
        <p:spPr/>
        <p:txBody>
          <a:bodyPr/>
          <a:lstStyle/>
          <a:p>
            <a:r>
              <a:rPr lang="en-GB"/>
              <a:t>bradford.ac.uk/library</a:t>
            </a:r>
            <a:endParaRPr lang="en-US"/>
          </a:p>
        </p:txBody>
      </p:sp>
      <p:sp>
        <p:nvSpPr>
          <p:cNvPr id="3" name="Slide Number Placeholder 2">
            <a:extLst>
              <a:ext uri="{FF2B5EF4-FFF2-40B4-BE49-F238E27FC236}">
                <a16:creationId xmlns:a16="http://schemas.microsoft.com/office/drawing/2014/main" id="{552221B5-F097-5F83-E82D-943E93DFDC9A}"/>
              </a:ext>
            </a:extLst>
          </p:cNvPr>
          <p:cNvSpPr>
            <a:spLocks noGrp="1"/>
          </p:cNvSpPr>
          <p:nvPr>
            <p:ph type="sldNum" sz="quarter" idx="12"/>
          </p:nvPr>
        </p:nvSpPr>
        <p:spPr/>
        <p:txBody>
          <a:bodyPr/>
          <a:lstStyle/>
          <a:p>
            <a:fld id="{E53A5BC0-BAEF-4B36-8137-0A1AD2059BA3}" type="slidenum">
              <a:rPr lang="en-GB" smtClean="0"/>
              <a:pPr/>
              <a:t>26</a:t>
            </a:fld>
            <a:endParaRPr lang="en-GB"/>
          </a:p>
        </p:txBody>
      </p:sp>
    </p:spTree>
    <p:extLst>
      <p:ext uri="{BB962C8B-B14F-4D97-AF65-F5344CB8AC3E}">
        <p14:creationId xmlns:p14="http://schemas.microsoft.com/office/powerpoint/2010/main" val="589936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55E037-CE9C-E5AB-E523-461A139FAF9A}"/>
              </a:ext>
            </a:extLst>
          </p:cNvPr>
          <p:cNvSpPr>
            <a:spLocks noGrp="1"/>
          </p:cNvSpPr>
          <p:nvPr>
            <p:ph type="title"/>
          </p:nvPr>
        </p:nvSpPr>
        <p:spPr>
          <a:xfrm>
            <a:off x="3046708" y="-847"/>
            <a:ext cx="10515600" cy="1325563"/>
          </a:xfrm>
        </p:spPr>
        <p:txBody>
          <a:bodyPr/>
          <a:lstStyle/>
          <a:p>
            <a:r>
              <a:rPr lang="en-US" dirty="0">
                <a:cs typeface="Arial"/>
              </a:rPr>
              <a:t>How to do your project without AI</a:t>
            </a:r>
            <a:endParaRPr lang="en-US" dirty="0"/>
          </a:p>
        </p:txBody>
      </p:sp>
      <p:sp>
        <p:nvSpPr>
          <p:cNvPr id="5" name="Content Placeholder 4">
            <a:extLst>
              <a:ext uri="{FF2B5EF4-FFF2-40B4-BE49-F238E27FC236}">
                <a16:creationId xmlns:a16="http://schemas.microsoft.com/office/drawing/2014/main" id="{3A3EF254-4E1D-E973-266F-6634AFFA4F56}"/>
              </a:ext>
            </a:extLst>
          </p:cNvPr>
          <p:cNvSpPr>
            <a:spLocks noGrp="1"/>
          </p:cNvSpPr>
          <p:nvPr>
            <p:ph idx="1"/>
          </p:nvPr>
        </p:nvSpPr>
        <p:spPr>
          <a:xfrm>
            <a:off x="838200" y="1541613"/>
            <a:ext cx="10515600" cy="4577841"/>
          </a:xfrm>
        </p:spPr>
        <p:txBody>
          <a:bodyPr vert="horz" lIns="91440" tIns="45720" rIns="91440" bIns="45720" rtlCol="0" anchor="t">
            <a:noAutofit/>
          </a:bodyPr>
          <a:lstStyle/>
          <a:p>
            <a:pPr marL="0" indent="0">
              <a:lnSpc>
                <a:spcPct val="80000"/>
              </a:lnSpc>
              <a:spcBef>
                <a:spcPts val="20"/>
              </a:spcBef>
              <a:buNone/>
            </a:pPr>
            <a:r>
              <a:rPr lang="en-GB" sz="2200" dirty="0">
                <a:latin typeface="Arial"/>
                <a:ea typeface="Calibri"/>
                <a:cs typeface="Calibri"/>
              </a:rPr>
              <a:t>To find a quick overview of your topic: </a:t>
            </a:r>
          </a:p>
          <a:p>
            <a:pPr marL="342900" indent="-342900">
              <a:lnSpc>
                <a:spcPct val="80000"/>
              </a:lnSpc>
              <a:spcBef>
                <a:spcPts val="20"/>
              </a:spcBef>
            </a:pPr>
            <a:r>
              <a:rPr lang="en-GB" sz="2200" dirty="0">
                <a:latin typeface="Arial"/>
                <a:ea typeface="Calibri"/>
                <a:cs typeface="Calibri"/>
              </a:rPr>
              <a:t>Use Summon to find a textbook- they have been written by experts specifically to teach you!</a:t>
            </a:r>
          </a:p>
          <a:p>
            <a:pPr marL="342900" indent="-342900">
              <a:lnSpc>
                <a:spcPct val="80000"/>
              </a:lnSpc>
              <a:spcBef>
                <a:spcPts val="20"/>
              </a:spcBef>
            </a:pPr>
            <a:endParaRPr lang="en-GB" sz="2200">
              <a:latin typeface="Arial"/>
              <a:ea typeface="Calibri"/>
              <a:cs typeface="Calibri"/>
            </a:endParaRPr>
          </a:p>
          <a:p>
            <a:pPr marL="0" indent="0">
              <a:lnSpc>
                <a:spcPct val="80000"/>
              </a:lnSpc>
              <a:spcBef>
                <a:spcPts val="20"/>
              </a:spcBef>
              <a:buNone/>
            </a:pPr>
            <a:r>
              <a:rPr lang="en-GB" sz="2200" dirty="0">
                <a:latin typeface="Arial"/>
                <a:ea typeface="Calibri"/>
                <a:cs typeface="Calibri"/>
              </a:rPr>
              <a:t>To find research on a subject:</a:t>
            </a:r>
          </a:p>
          <a:p>
            <a:pPr marL="342900" indent="-342900">
              <a:lnSpc>
                <a:spcPct val="80000"/>
              </a:lnSpc>
              <a:spcBef>
                <a:spcPts val="20"/>
              </a:spcBef>
            </a:pPr>
            <a:r>
              <a:rPr lang="en-GB" sz="2200" dirty="0">
                <a:latin typeface="Arial"/>
                <a:ea typeface="Calibri"/>
                <a:cs typeface="Calibri"/>
              </a:rPr>
              <a:t>Use Summon and relevant databases to search for journal articles</a:t>
            </a:r>
          </a:p>
          <a:p>
            <a:pPr marL="342900" indent="-342900">
              <a:lnSpc>
                <a:spcPct val="80000"/>
              </a:lnSpc>
              <a:spcBef>
                <a:spcPts val="20"/>
              </a:spcBef>
            </a:pPr>
            <a:r>
              <a:rPr lang="en-GB" sz="2200" dirty="0">
                <a:latin typeface="Arial"/>
                <a:ea typeface="Calibri"/>
                <a:cs typeface="Calibri"/>
              </a:rPr>
              <a:t>Ask your subject librarian to help you search more effectively</a:t>
            </a:r>
          </a:p>
          <a:p>
            <a:pPr marL="0" indent="0">
              <a:lnSpc>
                <a:spcPct val="80000"/>
              </a:lnSpc>
              <a:spcBef>
                <a:spcPts val="20"/>
              </a:spcBef>
              <a:buNone/>
            </a:pPr>
            <a:endParaRPr lang="en-GB" sz="2200">
              <a:latin typeface="Arial"/>
              <a:ea typeface="Calibri"/>
              <a:cs typeface="Calibri"/>
            </a:endParaRPr>
          </a:p>
          <a:p>
            <a:pPr marL="0" indent="0">
              <a:lnSpc>
                <a:spcPct val="80000"/>
              </a:lnSpc>
              <a:spcBef>
                <a:spcPts val="20"/>
              </a:spcBef>
              <a:buNone/>
            </a:pPr>
            <a:r>
              <a:rPr lang="en-GB" sz="2200" dirty="0">
                <a:latin typeface="Arial"/>
                <a:ea typeface="Calibri"/>
                <a:cs typeface="Calibri"/>
              </a:rPr>
              <a:t>To read and understand the research you find, and write the FYP: </a:t>
            </a:r>
          </a:p>
          <a:p>
            <a:pPr marL="342900" indent="-342900">
              <a:lnSpc>
                <a:spcPct val="80000"/>
              </a:lnSpc>
              <a:spcBef>
                <a:spcPts val="20"/>
              </a:spcBef>
            </a:pPr>
            <a:r>
              <a:rPr lang="en-GB" sz="2200" dirty="0">
                <a:latin typeface="Arial"/>
                <a:ea typeface="Calibri"/>
                <a:cs typeface="Calibri"/>
              </a:rPr>
              <a:t>Academic Skills have resources, workshops and one to one help with academic reading, critical analysis, notetaking, pulling information together, and writing </a:t>
            </a:r>
          </a:p>
          <a:p>
            <a:pPr marL="342900" indent="-342900">
              <a:lnSpc>
                <a:spcPct val="80000"/>
              </a:lnSpc>
              <a:spcBef>
                <a:spcPts val="20"/>
              </a:spcBef>
            </a:pPr>
            <a:r>
              <a:rPr lang="en-GB" sz="2200" dirty="0">
                <a:latin typeface="Arial"/>
                <a:ea typeface="Calibri"/>
                <a:cs typeface="Calibri"/>
              </a:rPr>
              <a:t>The Language Centre have resources and one to one help with English language skills</a:t>
            </a:r>
          </a:p>
          <a:p>
            <a:pPr marL="342900" indent="-342900">
              <a:lnSpc>
                <a:spcPct val="80000"/>
              </a:lnSpc>
              <a:spcBef>
                <a:spcPts val="20"/>
              </a:spcBef>
            </a:pPr>
            <a:r>
              <a:rPr lang="en-GB" sz="2200" dirty="0">
                <a:latin typeface="Arial"/>
                <a:ea typeface="Calibri"/>
                <a:cs typeface="Calibri"/>
              </a:rPr>
              <a:t>Your lecturers have office hours where you can ask about the subject area</a:t>
            </a:r>
            <a:endParaRPr lang="en-GB" sz="2200">
              <a:latin typeface="Arial"/>
              <a:cs typeface="Arial"/>
            </a:endParaRPr>
          </a:p>
        </p:txBody>
      </p:sp>
      <p:sp>
        <p:nvSpPr>
          <p:cNvPr id="2" name="Date Placeholder 1">
            <a:extLst>
              <a:ext uri="{FF2B5EF4-FFF2-40B4-BE49-F238E27FC236}">
                <a16:creationId xmlns:a16="http://schemas.microsoft.com/office/drawing/2014/main" id="{AC8C0DF9-159C-206A-6BA0-8F4C59DAE9D7}"/>
              </a:ext>
            </a:extLst>
          </p:cNvPr>
          <p:cNvSpPr>
            <a:spLocks noGrp="1"/>
          </p:cNvSpPr>
          <p:nvPr>
            <p:ph type="dt" sz="half" idx="10"/>
          </p:nvPr>
        </p:nvSpPr>
        <p:spPr/>
        <p:txBody>
          <a:bodyPr/>
          <a:lstStyle/>
          <a:p>
            <a:fld id="{239DC724-34A1-45E6-B8BF-3E41D8F8089E}" type="datetime1">
              <a:rPr lang="en-GB" smtClean="0"/>
              <a:pPr/>
              <a:t>26/09/2025</a:t>
            </a:fld>
            <a:endParaRPr lang="en-GB"/>
          </a:p>
        </p:txBody>
      </p:sp>
      <p:sp>
        <p:nvSpPr>
          <p:cNvPr id="4" name="Footer Placeholder 3">
            <a:extLst>
              <a:ext uri="{FF2B5EF4-FFF2-40B4-BE49-F238E27FC236}">
                <a16:creationId xmlns:a16="http://schemas.microsoft.com/office/drawing/2014/main" id="{6A7885C5-DB8E-2EA1-15D9-9117C7D4C3C9}"/>
              </a:ext>
            </a:extLst>
          </p:cNvPr>
          <p:cNvSpPr>
            <a:spLocks noGrp="1"/>
          </p:cNvSpPr>
          <p:nvPr>
            <p:ph type="ftr" sz="quarter" idx="11"/>
          </p:nvPr>
        </p:nvSpPr>
        <p:spPr/>
        <p:txBody>
          <a:bodyPr/>
          <a:lstStyle/>
          <a:p>
            <a:r>
              <a:rPr lang="en-GB"/>
              <a:t>bradford.ac.uk/library</a:t>
            </a:r>
            <a:endParaRPr lang="en-US"/>
          </a:p>
        </p:txBody>
      </p:sp>
      <p:sp>
        <p:nvSpPr>
          <p:cNvPr id="3" name="Slide Number Placeholder 2">
            <a:extLst>
              <a:ext uri="{FF2B5EF4-FFF2-40B4-BE49-F238E27FC236}">
                <a16:creationId xmlns:a16="http://schemas.microsoft.com/office/drawing/2014/main" id="{552221B5-F097-5F83-E82D-943E93DFDC9A}"/>
              </a:ext>
            </a:extLst>
          </p:cNvPr>
          <p:cNvSpPr>
            <a:spLocks noGrp="1"/>
          </p:cNvSpPr>
          <p:nvPr>
            <p:ph type="sldNum" sz="quarter" idx="12"/>
          </p:nvPr>
        </p:nvSpPr>
        <p:spPr/>
        <p:txBody>
          <a:bodyPr/>
          <a:lstStyle/>
          <a:p>
            <a:fld id="{E53A5BC0-BAEF-4B36-8137-0A1AD2059BA3}" type="slidenum">
              <a:rPr lang="en-GB" smtClean="0"/>
              <a:pPr/>
              <a:t>27</a:t>
            </a:fld>
            <a:endParaRPr lang="en-GB"/>
          </a:p>
        </p:txBody>
      </p:sp>
    </p:spTree>
    <p:extLst>
      <p:ext uri="{BB962C8B-B14F-4D97-AF65-F5344CB8AC3E}">
        <p14:creationId xmlns:p14="http://schemas.microsoft.com/office/powerpoint/2010/main" val="1083210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966C2-A9DD-C44E-838F-4BD1D7612B03}"/>
              </a:ext>
            </a:extLst>
          </p:cNvPr>
          <p:cNvSpPr>
            <a:spLocks noGrp="1"/>
          </p:cNvSpPr>
          <p:nvPr>
            <p:ph type="title"/>
          </p:nvPr>
        </p:nvSpPr>
        <p:spPr>
          <a:xfrm>
            <a:off x="838200" y="1267284"/>
            <a:ext cx="10515600" cy="1325563"/>
          </a:xfrm>
        </p:spPr>
        <p:txBody>
          <a:bodyPr/>
          <a:lstStyle/>
          <a:p>
            <a:r>
              <a:rPr lang="en-US" sz="4400">
                <a:latin typeface="Arial"/>
                <a:ea typeface="Calibri Light"/>
                <a:cs typeface="Calibri Light"/>
              </a:rPr>
              <a:t>Further information and help about using AI</a:t>
            </a:r>
            <a:endParaRPr lang="en-US">
              <a:latin typeface="Arial"/>
              <a:cs typeface="Arial"/>
            </a:endParaRPr>
          </a:p>
        </p:txBody>
      </p:sp>
      <p:sp>
        <p:nvSpPr>
          <p:cNvPr id="3" name="Content Placeholder 2">
            <a:extLst>
              <a:ext uri="{FF2B5EF4-FFF2-40B4-BE49-F238E27FC236}">
                <a16:creationId xmlns:a16="http://schemas.microsoft.com/office/drawing/2014/main" id="{BF74DBEB-BB14-EB9A-600C-3C1BB3859EEE}"/>
              </a:ext>
            </a:extLst>
          </p:cNvPr>
          <p:cNvSpPr>
            <a:spLocks noGrp="1"/>
          </p:cNvSpPr>
          <p:nvPr>
            <p:ph idx="1"/>
          </p:nvPr>
        </p:nvSpPr>
        <p:spPr>
          <a:xfrm>
            <a:off x="838200" y="2783182"/>
            <a:ext cx="10515600" cy="3767592"/>
          </a:xfrm>
        </p:spPr>
        <p:txBody>
          <a:bodyPr vert="horz" lIns="91440" tIns="45720" rIns="91440" bIns="45720" rtlCol="0" anchor="t">
            <a:normAutofit/>
          </a:bodyPr>
          <a:lstStyle/>
          <a:p>
            <a:r>
              <a:rPr lang="en-US" dirty="0">
                <a:latin typeface="Calibri"/>
                <a:ea typeface="Calibri"/>
                <a:cs typeface="Calibri"/>
              </a:rPr>
              <a:t>There is more overview information as part of the </a:t>
            </a:r>
            <a:r>
              <a:rPr lang="en-US" dirty="0">
                <a:latin typeface="Calibri"/>
                <a:ea typeface="Calibri"/>
                <a:cs typeface="Calibri"/>
                <a:hlinkClick r:id="rId2"/>
              </a:rPr>
              <a:t>Academic Integrity Induction</a:t>
            </a:r>
            <a:r>
              <a:rPr lang="en-US">
                <a:latin typeface="Calibri"/>
                <a:ea typeface="Calibri"/>
                <a:cs typeface="Calibri"/>
              </a:rPr>
              <a:t> (this is new since you did the </a:t>
            </a:r>
            <a:r>
              <a:rPr lang="en-US" err="1">
                <a:latin typeface="Calibri"/>
                <a:ea typeface="Calibri"/>
                <a:cs typeface="Calibri"/>
              </a:rPr>
              <a:t>Indiction</a:t>
            </a:r>
            <a:r>
              <a:rPr lang="en-US">
                <a:latin typeface="Calibri"/>
                <a:ea typeface="Calibri"/>
                <a:cs typeface="Calibri"/>
              </a:rPr>
              <a:t> in first year)</a:t>
            </a:r>
          </a:p>
          <a:p>
            <a:endParaRPr lang="en-US">
              <a:latin typeface="Calibri"/>
              <a:ea typeface="Calibri"/>
              <a:cs typeface="Calibri"/>
            </a:endParaRPr>
          </a:p>
          <a:p>
            <a:r>
              <a:rPr lang="en-US" dirty="0">
                <a:latin typeface="Calibri"/>
                <a:ea typeface="Calibri"/>
                <a:cs typeface="Calibri"/>
              </a:rPr>
              <a:t>Talk to your module leaders! They are the ones who can tell you about what is expected and allowed in particular modules.</a:t>
            </a:r>
            <a:endParaRPr lang="en-US" dirty="0"/>
          </a:p>
        </p:txBody>
      </p:sp>
      <p:sp>
        <p:nvSpPr>
          <p:cNvPr id="4" name="Date Placeholder 3">
            <a:extLst>
              <a:ext uri="{FF2B5EF4-FFF2-40B4-BE49-F238E27FC236}">
                <a16:creationId xmlns:a16="http://schemas.microsoft.com/office/drawing/2014/main" id="{B0E20398-A340-FF6B-ADD7-A7B3A4B04807}"/>
              </a:ext>
            </a:extLst>
          </p:cNvPr>
          <p:cNvSpPr>
            <a:spLocks noGrp="1"/>
          </p:cNvSpPr>
          <p:nvPr>
            <p:ph type="dt" sz="half" idx="10"/>
          </p:nvPr>
        </p:nvSpPr>
        <p:spPr/>
        <p:txBody>
          <a:bodyPr/>
          <a:lstStyle/>
          <a:p>
            <a:fld id="{0B5510DF-92D5-4546-890A-CE419FC699F2}" type="datetime1">
              <a:rPr lang="en-GB" smtClean="0"/>
              <a:t>26/09/2025</a:t>
            </a:fld>
            <a:endParaRPr lang="en-GB"/>
          </a:p>
        </p:txBody>
      </p:sp>
      <p:sp>
        <p:nvSpPr>
          <p:cNvPr id="5" name="Footer Placeholder 4">
            <a:extLst>
              <a:ext uri="{FF2B5EF4-FFF2-40B4-BE49-F238E27FC236}">
                <a16:creationId xmlns:a16="http://schemas.microsoft.com/office/drawing/2014/main" id="{53D7B34A-39C2-4FBB-4511-B18AF4C50AF8}"/>
              </a:ext>
            </a:extLst>
          </p:cNvPr>
          <p:cNvSpPr>
            <a:spLocks noGrp="1"/>
          </p:cNvSpPr>
          <p:nvPr>
            <p:ph type="ftr" sz="quarter" idx="11"/>
          </p:nvPr>
        </p:nvSpPr>
        <p:spPr/>
        <p:txBody>
          <a:bodyPr/>
          <a:lstStyle/>
          <a:p>
            <a:r>
              <a:rPr lang="en-GB">
                <a:cs typeface="Arial"/>
              </a:rPr>
              <a:t>bradford.ac.uk/library</a:t>
            </a:r>
          </a:p>
        </p:txBody>
      </p:sp>
      <p:sp>
        <p:nvSpPr>
          <p:cNvPr id="6" name="Slide Number Placeholder 5">
            <a:extLst>
              <a:ext uri="{FF2B5EF4-FFF2-40B4-BE49-F238E27FC236}">
                <a16:creationId xmlns:a16="http://schemas.microsoft.com/office/drawing/2014/main" id="{48E82CF2-C3C5-2978-AE63-3EE19BDA27B8}"/>
              </a:ext>
            </a:extLst>
          </p:cNvPr>
          <p:cNvSpPr>
            <a:spLocks noGrp="1"/>
          </p:cNvSpPr>
          <p:nvPr>
            <p:ph type="sldNum" sz="quarter" idx="12"/>
          </p:nvPr>
        </p:nvSpPr>
        <p:spPr/>
        <p:txBody>
          <a:bodyPr/>
          <a:lstStyle/>
          <a:p>
            <a:fld id="{E53A5BC0-BAEF-4B36-8137-0A1AD2059BA3}" type="slidenum">
              <a:rPr lang="en-GB" smtClean="0"/>
              <a:t>28</a:t>
            </a:fld>
            <a:endParaRPr lang="en-GB"/>
          </a:p>
        </p:txBody>
      </p:sp>
    </p:spTree>
    <p:extLst>
      <p:ext uri="{BB962C8B-B14F-4D97-AF65-F5344CB8AC3E}">
        <p14:creationId xmlns:p14="http://schemas.microsoft.com/office/powerpoint/2010/main" val="2251533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7408" y="174605"/>
            <a:ext cx="10515600" cy="1325563"/>
          </a:xfrm>
        </p:spPr>
        <p:txBody>
          <a:bodyPr/>
          <a:lstStyle/>
          <a:p>
            <a:r>
              <a:rPr lang="en-GB"/>
              <a:t>Session overview</a:t>
            </a:r>
          </a:p>
        </p:txBody>
      </p:sp>
      <p:sp>
        <p:nvSpPr>
          <p:cNvPr id="3" name="Content Placeholder 2"/>
          <p:cNvSpPr>
            <a:spLocks noGrp="1"/>
          </p:cNvSpPr>
          <p:nvPr>
            <p:ph idx="1"/>
          </p:nvPr>
        </p:nvSpPr>
        <p:spPr>
          <a:xfrm>
            <a:off x="1060252" y="1741066"/>
            <a:ext cx="9421812" cy="4640262"/>
          </a:xfrm>
        </p:spPr>
        <p:txBody>
          <a:bodyPr vert="horz" lIns="0" tIns="0" rIns="0" bIns="0" rtlCol="0" anchor="t">
            <a:normAutofit fontScale="92500" lnSpcReduction="10000"/>
          </a:bodyPr>
          <a:lstStyle/>
          <a:p>
            <a:r>
              <a:rPr lang="en-GB" dirty="0">
                <a:solidFill>
                  <a:schemeClr val="bg1">
                    <a:lumMod val="75000"/>
                  </a:schemeClr>
                </a:solidFill>
                <a:latin typeface="Lucida Sans"/>
              </a:rPr>
              <a:t>Finding reliable sources for your dissertation:</a:t>
            </a:r>
          </a:p>
          <a:p>
            <a:r>
              <a:rPr lang="en-GB" dirty="0">
                <a:solidFill>
                  <a:schemeClr val="bg1">
                    <a:lumMod val="75000"/>
                  </a:schemeClr>
                </a:solidFill>
                <a:latin typeface="Lucida Sans"/>
              </a:rPr>
              <a:t>Before you start- creating a search</a:t>
            </a:r>
          </a:p>
          <a:p>
            <a:r>
              <a:rPr lang="en-GB" dirty="0">
                <a:solidFill>
                  <a:schemeClr val="bg1">
                    <a:lumMod val="75000"/>
                  </a:schemeClr>
                </a:solidFill>
                <a:latin typeface="Lucida Sans"/>
              </a:rPr>
              <a:t>Where to search</a:t>
            </a:r>
            <a:endParaRPr lang="en-GB" dirty="0">
              <a:solidFill>
                <a:schemeClr val="bg1">
                  <a:lumMod val="75000"/>
                </a:schemeClr>
              </a:solidFill>
              <a:latin typeface="Lucida Sans"/>
              <a:hlinkClick r:id="rId2">
                <a:extLst>
                  <a:ext uri="{A12FA001-AC4F-418D-AE19-62706E023703}">
                    <ahyp:hlinkClr xmlns:ahyp="http://schemas.microsoft.com/office/drawing/2018/hyperlinkcolor" val="tx"/>
                  </a:ext>
                </a:extLst>
              </a:hlinkClick>
            </a:endParaRPr>
          </a:p>
          <a:p>
            <a:pPr lvl="1"/>
            <a:r>
              <a:rPr lang="en-GB" dirty="0">
                <a:solidFill>
                  <a:schemeClr val="bg1">
                    <a:lumMod val="75000"/>
                  </a:schemeClr>
                </a:solidFill>
                <a:latin typeface="Lucida Sans"/>
                <a:hlinkClick r:id="rId2">
                  <a:extLst>
                    <a:ext uri="{A12FA001-AC4F-418D-AE19-62706E023703}">
                      <ahyp:hlinkClr xmlns:ahyp="http://schemas.microsoft.com/office/drawing/2018/hyperlinkcolor" val="tx"/>
                    </a:ext>
                  </a:extLst>
                </a:hlinkClick>
              </a:rPr>
              <a:t>www.bradford.ac.uk/library</a:t>
            </a:r>
            <a:r>
              <a:rPr lang="en-GB" dirty="0">
                <a:solidFill>
                  <a:schemeClr val="bg1">
                    <a:lumMod val="75000"/>
                  </a:schemeClr>
                </a:solidFill>
                <a:latin typeface="Lucida Sans"/>
              </a:rPr>
              <a:t> (Summon)</a:t>
            </a:r>
          </a:p>
          <a:p>
            <a:pPr lvl="1"/>
            <a:r>
              <a:rPr lang="en-GB" dirty="0">
                <a:solidFill>
                  <a:schemeClr val="bg1">
                    <a:lumMod val="75000"/>
                  </a:schemeClr>
                </a:solidFill>
                <a:latin typeface="Lucida Sans"/>
              </a:rPr>
              <a:t>Scopus</a:t>
            </a:r>
          </a:p>
          <a:p>
            <a:pPr lvl="1"/>
            <a:r>
              <a:rPr lang="en-GB" dirty="0">
                <a:solidFill>
                  <a:schemeClr val="bg1">
                    <a:lumMod val="75000"/>
                  </a:schemeClr>
                </a:solidFill>
                <a:latin typeface="Lucida Sans"/>
              </a:rPr>
              <a:t>British Standards Online</a:t>
            </a:r>
          </a:p>
          <a:p>
            <a:r>
              <a:rPr lang="en-GB" dirty="0">
                <a:solidFill>
                  <a:schemeClr val="bg1">
                    <a:lumMod val="75000"/>
                  </a:schemeClr>
                </a:solidFill>
                <a:latin typeface="Lucida Sans"/>
              </a:rPr>
              <a:t>Search tips</a:t>
            </a:r>
          </a:p>
          <a:p>
            <a:endParaRPr lang="en-GB" dirty="0">
              <a:solidFill>
                <a:schemeClr val="bg1">
                  <a:lumMod val="75000"/>
                </a:schemeClr>
              </a:solidFill>
              <a:latin typeface="Lucida Sans"/>
            </a:endParaRPr>
          </a:p>
          <a:p>
            <a:r>
              <a:rPr lang="en-GB" dirty="0">
                <a:solidFill>
                  <a:schemeClr val="bg1">
                    <a:lumMod val="75000"/>
                  </a:schemeClr>
                </a:solidFill>
                <a:latin typeface="Lucida Sans"/>
              </a:rPr>
              <a:t>What is the FYP for?</a:t>
            </a:r>
            <a:endParaRPr lang="en-GB" dirty="0">
              <a:solidFill>
                <a:schemeClr val="bg1">
                  <a:lumMod val="75000"/>
                </a:schemeClr>
              </a:solidFill>
            </a:endParaRPr>
          </a:p>
          <a:p>
            <a:r>
              <a:rPr lang="en-GB" dirty="0">
                <a:latin typeface="Lucida Sans"/>
              </a:rPr>
              <a:t>Reminder about referencing</a:t>
            </a:r>
          </a:p>
          <a:p>
            <a:r>
              <a:rPr lang="en-GB" dirty="0">
                <a:latin typeface="Lucida Sans"/>
              </a:rPr>
              <a:t>Sources of help</a:t>
            </a:r>
          </a:p>
          <a:p>
            <a:endParaRPr lang="en-GB"/>
          </a:p>
        </p:txBody>
      </p:sp>
    </p:spTree>
    <p:extLst>
      <p:ext uri="{BB962C8B-B14F-4D97-AF65-F5344CB8AC3E}">
        <p14:creationId xmlns:p14="http://schemas.microsoft.com/office/powerpoint/2010/main" val="3910805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DCF6946-9820-1CBB-73FB-1ADE78CB135A}"/>
              </a:ext>
            </a:extLst>
          </p:cNvPr>
          <p:cNvSpPr>
            <a:spLocks noGrp="1"/>
          </p:cNvSpPr>
          <p:nvPr>
            <p:ph type="title"/>
          </p:nvPr>
        </p:nvSpPr>
        <p:spPr/>
        <p:txBody>
          <a:bodyPr/>
          <a:lstStyle/>
          <a:p>
            <a:r>
              <a:rPr lang="en-US">
                <a:cs typeface="Arial"/>
              </a:rPr>
              <a:t>Citation and referencing in academic work</a:t>
            </a:r>
            <a:endParaRPr lang="en-US"/>
          </a:p>
        </p:txBody>
      </p:sp>
      <p:sp>
        <p:nvSpPr>
          <p:cNvPr id="5" name="Content Placeholder 4">
            <a:extLst>
              <a:ext uri="{FF2B5EF4-FFF2-40B4-BE49-F238E27FC236}">
                <a16:creationId xmlns:a16="http://schemas.microsoft.com/office/drawing/2014/main" id="{94D99079-BC98-010B-7E72-4C06F0B11C2B}"/>
              </a:ext>
            </a:extLst>
          </p:cNvPr>
          <p:cNvSpPr>
            <a:spLocks noGrp="1"/>
          </p:cNvSpPr>
          <p:nvPr>
            <p:ph idx="1"/>
          </p:nvPr>
        </p:nvSpPr>
        <p:spPr>
          <a:xfrm>
            <a:off x="838200" y="2179334"/>
            <a:ext cx="10515600" cy="3997629"/>
          </a:xfrm>
        </p:spPr>
        <p:txBody>
          <a:bodyPr vert="horz" lIns="91440" tIns="45720" rIns="91440" bIns="45720" rtlCol="0" anchor="t">
            <a:normAutofit fontScale="92500" lnSpcReduction="10000"/>
          </a:bodyPr>
          <a:lstStyle/>
          <a:p>
            <a:r>
              <a:rPr lang="en-GB" dirty="0">
                <a:cs typeface="Arial"/>
              </a:rPr>
              <a:t>When you produce written work, you need to tell us about all the books, websites, journal articles (or anything else) where you learned things that went into your work.</a:t>
            </a:r>
          </a:p>
          <a:p>
            <a:r>
              <a:rPr lang="en-GB" dirty="0">
                <a:cs typeface="Arial"/>
              </a:rPr>
              <a:t>This is a core part of academic writing in the UK.</a:t>
            </a:r>
          </a:p>
          <a:p>
            <a:pPr>
              <a:lnSpc>
                <a:spcPct val="100000"/>
              </a:lnSpc>
              <a:spcBef>
                <a:spcPts val="0"/>
              </a:spcBef>
              <a:spcAft>
                <a:spcPts val="600"/>
              </a:spcAft>
            </a:pPr>
            <a:r>
              <a:rPr lang="en-GB" sz="2400" dirty="0">
                <a:latin typeface="Arial"/>
                <a:cs typeface="Arial"/>
              </a:rPr>
              <a:t>You should reference:</a:t>
            </a:r>
            <a:endParaRPr lang="en-US" sz="2400" dirty="0">
              <a:latin typeface="Arial"/>
              <a:cs typeface="Arial"/>
            </a:endParaRPr>
          </a:p>
          <a:p>
            <a:pPr lvl="1">
              <a:lnSpc>
                <a:spcPct val="100000"/>
              </a:lnSpc>
              <a:spcBef>
                <a:spcPts val="0"/>
              </a:spcBef>
              <a:spcAft>
                <a:spcPts val="600"/>
              </a:spcAft>
            </a:pPr>
            <a:r>
              <a:rPr lang="en-GB" sz="2000" dirty="0">
                <a:latin typeface="Arial"/>
                <a:cs typeface="Arial"/>
              </a:rPr>
              <a:t>Facts</a:t>
            </a:r>
            <a:endParaRPr lang="en-US" sz="2000" dirty="0">
              <a:latin typeface="Arial"/>
              <a:cs typeface="Arial"/>
            </a:endParaRPr>
          </a:p>
          <a:p>
            <a:pPr lvl="1">
              <a:lnSpc>
                <a:spcPct val="100000"/>
              </a:lnSpc>
              <a:spcBef>
                <a:spcPts val="0"/>
              </a:spcBef>
              <a:spcAft>
                <a:spcPts val="600"/>
              </a:spcAft>
            </a:pPr>
            <a:r>
              <a:rPr lang="en-GB" sz="2000" dirty="0">
                <a:latin typeface="Arial"/>
                <a:cs typeface="Arial"/>
              </a:rPr>
              <a:t>Ideas</a:t>
            </a:r>
            <a:endParaRPr lang="en-US" sz="2000" dirty="0">
              <a:latin typeface="Arial"/>
              <a:cs typeface="Arial"/>
            </a:endParaRPr>
          </a:p>
          <a:p>
            <a:pPr lvl="1">
              <a:lnSpc>
                <a:spcPct val="100000"/>
              </a:lnSpc>
              <a:spcBef>
                <a:spcPts val="0"/>
              </a:spcBef>
              <a:spcAft>
                <a:spcPts val="600"/>
              </a:spcAft>
            </a:pPr>
            <a:r>
              <a:rPr lang="en-GB" sz="2000" dirty="0">
                <a:latin typeface="Arial"/>
                <a:cs typeface="Arial"/>
              </a:rPr>
              <a:t>Quotations</a:t>
            </a:r>
            <a:endParaRPr lang="en-US" sz="2000" dirty="0">
              <a:latin typeface="Arial"/>
              <a:cs typeface="Arial"/>
            </a:endParaRPr>
          </a:p>
          <a:p>
            <a:pPr lvl="1">
              <a:lnSpc>
                <a:spcPct val="100000"/>
              </a:lnSpc>
              <a:spcBef>
                <a:spcPts val="0"/>
              </a:spcBef>
              <a:spcAft>
                <a:spcPts val="600"/>
              </a:spcAft>
            </a:pPr>
            <a:r>
              <a:rPr lang="en-GB" sz="2000" dirty="0">
                <a:latin typeface="Arial"/>
                <a:cs typeface="Arial"/>
              </a:rPr>
              <a:t>Statistics, images, charts, </a:t>
            </a:r>
            <a:endParaRPr lang="en-US" sz="2000" dirty="0">
              <a:latin typeface="Arial"/>
              <a:cs typeface="Arial"/>
            </a:endParaRPr>
          </a:p>
          <a:p>
            <a:pPr>
              <a:lnSpc>
                <a:spcPct val="100000"/>
              </a:lnSpc>
              <a:spcBef>
                <a:spcPts val="0"/>
              </a:spcBef>
              <a:spcAft>
                <a:spcPts val="600"/>
              </a:spcAft>
            </a:pPr>
            <a:r>
              <a:rPr lang="en-GB" sz="2400" dirty="0">
                <a:latin typeface="Arial"/>
                <a:cs typeface="Arial"/>
              </a:rPr>
              <a:t>Anything that you did not create.</a:t>
            </a:r>
          </a:p>
          <a:p>
            <a:pPr>
              <a:lnSpc>
                <a:spcPct val="100000"/>
              </a:lnSpc>
              <a:spcBef>
                <a:spcPts val="0"/>
              </a:spcBef>
              <a:spcAft>
                <a:spcPts val="600"/>
              </a:spcAft>
            </a:pPr>
            <a:r>
              <a:rPr lang="en-GB" sz="2400" dirty="0">
                <a:cs typeface="Arial"/>
              </a:rPr>
              <a:t>You need to take notes that include this information!</a:t>
            </a:r>
          </a:p>
          <a:p>
            <a:endParaRPr lang="en-GB">
              <a:cs typeface="Arial"/>
            </a:endParaRPr>
          </a:p>
        </p:txBody>
      </p:sp>
      <p:sp>
        <p:nvSpPr>
          <p:cNvPr id="2" name="Date Placeholder 1">
            <a:extLst>
              <a:ext uri="{FF2B5EF4-FFF2-40B4-BE49-F238E27FC236}">
                <a16:creationId xmlns:a16="http://schemas.microsoft.com/office/drawing/2014/main" id="{14F8962B-8D99-CEE1-EAD7-E9EBFAFC7806}"/>
              </a:ext>
            </a:extLst>
          </p:cNvPr>
          <p:cNvSpPr>
            <a:spLocks noGrp="1"/>
          </p:cNvSpPr>
          <p:nvPr>
            <p:ph type="dt" sz="half" idx="10"/>
          </p:nvPr>
        </p:nvSpPr>
        <p:spPr/>
        <p:txBody>
          <a:bodyPr/>
          <a:lstStyle/>
          <a:p>
            <a:fld id="{239DC724-34A1-45E6-B8BF-3E41D8F8089E}" type="datetime1">
              <a:rPr lang="en-GB" smtClean="0"/>
              <a:pPr/>
              <a:t>26/09/2025</a:t>
            </a:fld>
            <a:endParaRPr lang="en-GB"/>
          </a:p>
        </p:txBody>
      </p:sp>
      <p:sp>
        <p:nvSpPr>
          <p:cNvPr id="4" name="Footer Placeholder 3">
            <a:extLst>
              <a:ext uri="{FF2B5EF4-FFF2-40B4-BE49-F238E27FC236}">
                <a16:creationId xmlns:a16="http://schemas.microsoft.com/office/drawing/2014/main" id="{8C2E8B48-47C6-AB3A-DEF0-E170FBF63FB8}"/>
              </a:ext>
            </a:extLst>
          </p:cNvPr>
          <p:cNvSpPr>
            <a:spLocks noGrp="1"/>
          </p:cNvSpPr>
          <p:nvPr>
            <p:ph type="ftr" sz="quarter" idx="11"/>
          </p:nvPr>
        </p:nvSpPr>
        <p:spPr/>
        <p:txBody>
          <a:bodyPr/>
          <a:lstStyle/>
          <a:p>
            <a:r>
              <a:rPr lang="en-GB"/>
              <a:t>Brand</a:t>
            </a:r>
          </a:p>
        </p:txBody>
      </p:sp>
      <p:sp>
        <p:nvSpPr>
          <p:cNvPr id="3" name="Slide Number Placeholder 2">
            <a:extLst>
              <a:ext uri="{FF2B5EF4-FFF2-40B4-BE49-F238E27FC236}">
                <a16:creationId xmlns:a16="http://schemas.microsoft.com/office/drawing/2014/main" id="{0887E7F4-9ED4-998D-9AC6-F7DCDAE508F1}"/>
              </a:ext>
            </a:extLst>
          </p:cNvPr>
          <p:cNvSpPr>
            <a:spLocks noGrp="1"/>
          </p:cNvSpPr>
          <p:nvPr>
            <p:ph type="sldNum" sz="quarter" idx="12"/>
          </p:nvPr>
        </p:nvSpPr>
        <p:spPr/>
        <p:txBody>
          <a:bodyPr/>
          <a:lstStyle/>
          <a:p>
            <a:fld id="{E53A5BC0-BAEF-4B36-8137-0A1AD2059BA3}" type="slidenum">
              <a:rPr lang="en-GB" smtClean="0"/>
              <a:pPr/>
              <a:t>30</a:t>
            </a:fld>
            <a:endParaRPr lang="en-GB"/>
          </a:p>
        </p:txBody>
      </p:sp>
    </p:spTree>
    <p:extLst>
      <p:ext uri="{BB962C8B-B14F-4D97-AF65-F5344CB8AC3E}">
        <p14:creationId xmlns:p14="http://schemas.microsoft.com/office/powerpoint/2010/main" val="938779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Why Reference?</a:t>
            </a:r>
          </a:p>
        </p:txBody>
      </p:sp>
      <p:sp>
        <p:nvSpPr>
          <p:cNvPr id="3" name="Content Placeholder 2"/>
          <p:cNvSpPr>
            <a:spLocks noGrp="1"/>
          </p:cNvSpPr>
          <p:nvPr>
            <p:ph idx="1"/>
          </p:nvPr>
        </p:nvSpPr>
        <p:spPr/>
        <p:txBody>
          <a:bodyPr vert="horz" lIns="91440" tIns="45720" rIns="91440" bIns="45720" rtlCol="0" anchor="t">
            <a:normAutofit/>
          </a:bodyPr>
          <a:lstStyle/>
          <a:p>
            <a:pPr>
              <a:buFont typeface="Arial"/>
              <a:buChar char="•"/>
            </a:pPr>
            <a:r>
              <a:rPr lang="en-GB"/>
              <a:t>Prevents you being accused of plagiarism</a:t>
            </a:r>
            <a:endParaRPr lang="en-US"/>
          </a:p>
          <a:p>
            <a:pPr>
              <a:buFont typeface="Arial"/>
              <a:buChar char="•"/>
            </a:pPr>
            <a:r>
              <a:rPr lang="en-GB"/>
              <a:t>Acknowledges where you have used other people's work</a:t>
            </a:r>
            <a:endParaRPr lang="en-GB">
              <a:cs typeface="Arial"/>
            </a:endParaRPr>
          </a:p>
          <a:p>
            <a:pPr>
              <a:buFont typeface="Arial"/>
              <a:buChar char="•"/>
            </a:pPr>
            <a:r>
              <a:rPr lang="en-GB"/>
              <a:t>Allows others to check and build on your work</a:t>
            </a:r>
            <a:endParaRPr lang="en-GB">
              <a:cs typeface="Arial"/>
            </a:endParaRPr>
          </a:p>
          <a:p>
            <a:pPr>
              <a:buFont typeface="Arial"/>
              <a:buChar char="•"/>
            </a:pPr>
            <a:r>
              <a:rPr lang="en-GB"/>
              <a:t>To support your ideas, theories and add credibility.</a:t>
            </a:r>
            <a:endParaRPr lang="en-GB">
              <a:cs typeface="Arial"/>
            </a:endParaRPr>
          </a:p>
          <a:p>
            <a:pPr>
              <a:buFont typeface="Arial"/>
              <a:buChar char="•"/>
            </a:pPr>
            <a:r>
              <a:rPr lang="en-GB"/>
              <a:t>Gains you extra marks!</a:t>
            </a:r>
            <a:endParaRPr lang="en-GB">
              <a:cs typeface="Arial"/>
            </a:endParaRPr>
          </a:p>
          <a:p>
            <a:pPr>
              <a:buNone/>
            </a:pPr>
            <a:endParaRPr lang="en-GB"/>
          </a:p>
        </p:txBody>
      </p:sp>
    </p:spTree>
    <p:custDataLst>
      <p:tags r:id="rId1"/>
    </p:custDataLst>
    <p:extLst>
      <p:ext uri="{BB962C8B-B14F-4D97-AF65-F5344CB8AC3E}">
        <p14:creationId xmlns:p14="http://schemas.microsoft.com/office/powerpoint/2010/main" val="1316392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2940571" y="893980"/>
            <a:ext cx="8425308" cy="817453"/>
          </a:xfrm>
        </p:spPr>
        <p:txBody>
          <a:bodyPr/>
          <a:lstStyle/>
          <a:p>
            <a:r>
              <a:rPr lang="en-GB"/>
              <a:t>Rules about quoting</a:t>
            </a:r>
          </a:p>
        </p:txBody>
      </p:sp>
      <p:sp>
        <p:nvSpPr>
          <p:cNvPr id="20482" name="Rectangle 3"/>
          <p:cNvSpPr>
            <a:spLocks noGrp="1" noChangeArrowheads="1"/>
          </p:cNvSpPr>
          <p:nvPr>
            <p:ph type="body" idx="1"/>
          </p:nvPr>
        </p:nvSpPr>
        <p:spPr>
          <a:xfrm>
            <a:off x="1627637" y="1987871"/>
            <a:ext cx="8926192" cy="4250048"/>
          </a:xfrm>
        </p:spPr>
        <p:txBody>
          <a:bodyPr vert="horz" lIns="91440" tIns="45720" rIns="91440" bIns="45720" rtlCol="0" anchor="t">
            <a:normAutofit/>
          </a:bodyPr>
          <a:lstStyle/>
          <a:p>
            <a:r>
              <a:rPr lang="en-GB"/>
              <a:t>Always better to paraphrase: only use direct quotations when they are making a specific point (if they are giving exact numbers you may need to quote)</a:t>
            </a:r>
            <a:endParaRPr lang="en-GB">
              <a:cs typeface="Arial"/>
            </a:endParaRPr>
          </a:p>
          <a:p>
            <a:r>
              <a:rPr lang="en-GB"/>
              <a:t>Always use “quotation marks”</a:t>
            </a:r>
            <a:endParaRPr lang="en-GB">
              <a:cs typeface="Arial"/>
            </a:endParaRPr>
          </a:p>
          <a:p>
            <a:r>
              <a:rPr lang="en-GB"/>
              <a:t>You must acknowledge a quote whether or not you can identify the author</a:t>
            </a:r>
            <a:endParaRPr lang="en-GB">
              <a:cs typeface="Arial"/>
            </a:endParaRPr>
          </a:p>
          <a:p>
            <a:r>
              <a:rPr lang="en-GB"/>
              <a:t>Images, charts, tables etc are also someone’s work</a:t>
            </a:r>
            <a:endParaRPr lang="en-GB">
              <a:cs typeface="Arial"/>
            </a:endParaRPr>
          </a:p>
          <a:p>
            <a:r>
              <a:rPr lang="en-GB"/>
              <a:t>Every quotation needs a citation</a:t>
            </a:r>
            <a:endParaRPr lang="en-GB">
              <a:cs typeface="Arial"/>
            </a:endParaRPr>
          </a:p>
        </p:txBody>
      </p:sp>
    </p:spTree>
    <p:custDataLst>
      <p:tags r:id="rId1"/>
    </p:custDataLst>
    <p:extLst>
      <p:ext uri="{BB962C8B-B14F-4D97-AF65-F5344CB8AC3E}">
        <p14:creationId xmlns:p14="http://schemas.microsoft.com/office/powerpoint/2010/main" val="10668105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ADBB-AFA2-5874-68F9-96F5DDA17FBD}"/>
              </a:ext>
            </a:extLst>
          </p:cNvPr>
          <p:cNvSpPr>
            <a:spLocks noGrp="1"/>
          </p:cNvSpPr>
          <p:nvPr>
            <p:ph type="title"/>
          </p:nvPr>
        </p:nvSpPr>
        <p:spPr/>
        <p:txBody>
          <a:bodyPr/>
          <a:lstStyle/>
          <a:p>
            <a:r>
              <a:rPr lang="en-GB">
                <a:cs typeface="Arial"/>
              </a:rPr>
              <a:t>What is paraphrasing?</a:t>
            </a:r>
            <a:endParaRPr lang="en-US"/>
          </a:p>
        </p:txBody>
      </p:sp>
      <p:sp>
        <p:nvSpPr>
          <p:cNvPr id="3" name="Content Placeholder 2">
            <a:extLst>
              <a:ext uri="{FF2B5EF4-FFF2-40B4-BE49-F238E27FC236}">
                <a16:creationId xmlns:a16="http://schemas.microsoft.com/office/drawing/2014/main" id="{83063FFA-52DA-1E9B-2506-4ED58844C8FC}"/>
              </a:ext>
            </a:extLst>
          </p:cNvPr>
          <p:cNvSpPr>
            <a:spLocks noGrp="1"/>
          </p:cNvSpPr>
          <p:nvPr>
            <p:ph idx="1"/>
          </p:nvPr>
        </p:nvSpPr>
        <p:spPr>
          <a:xfrm>
            <a:off x="838200" y="2078692"/>
            <a:ext cx="10515600" cy="4098271"/>
          </a:xfrm>
        </p:spPr>
        <p:txBody>
          <a:bodyPr vert="horz" lIns="91440" tIns="45720" rIns="91440" bIns="45720" rtlCol="0" anchor="t">
            <a:normAutofit fontScale="85000" lnSpcReduction="20000"/>
          </a:bodyPr>
          <a:lstStyle/>
          <a:p>
            <a:r>
              <a:rPr lang="en-US">
                <a:cs typeface="Arial"/>
              </a:rPr>
              <a:t>Putting what you read into your own words- rewriting it completely.</a:t>
            </a:r>
          </a:p>
          <a:p>
            <a:endParaRPr lang="en-US">
              <a:cs typeface="Arial"/>
            </a:endParaRPr>
          </a:p>
          <a:p>
            <a:r>
              <a:rPr lang="en-US">
                <a:cs typeface="Arial"/>
              </a:rPr>
              <a:t>This shows you understand what you have read!</a:t>
            </a:r>
          </a:p>
          <a:p>
            <a:r>
              <a:rPr lang="en-US">
                <a:cs typeface="Arial"/>
              </a:rPr>
              <a:t>It also means that you can just pick out the key bits that are important to your work</a:t>
            </a:r>
          </a:p>
          <a:p>
            <a:endParaRPr lang="en-US">
              <a:cs typeface="Arial"/>
            </a:endParaRPr>
          </a:p>
          <a:p>
            <a:r>
              <a:rPr lang="en-US">
                <a:cs typeface="Arial"/>
              </a:rPr>
              <a:t>You still need to tell us where you learnt the information. </a:t>
            </a:r>
          </a:p>
          <a:p>
            <a:pPr lvl="1">
              <a:buFont typeface="Courier New" panose="020B0604020202020204" pitchFamily="34" charset="0"/>
              <a:buChar char="o"/>
            </a:pPr>
            <a:r>
              <a:rPr lang="en-US">
                <a:cs typeface="Arial"/>
              </a:rPr>
              <a:t>A paraphrase from a book is still information form that book, you don't "own" it. </a:t>
            </a:r>
          </a:p>
          <a:p>
            <a:endParaRPr lang="en-US">
              <a:cs typeface="Arial"/>
            </a:endParaRPr>
          </a:p>
          <a:p>
            <a:r>
              <a:rPr lang="en-US" sz="2600">
                <a:cs typeface="Arial"/>
              </a:rPr>
              <a:t>You may </a:t>
            </a:r>
            <a:r>
              <a:rPr lang="en-US" sz="2600" b="1">
                <a:cs typeface="Arial"/>
              </a:rPr>
              <a:t>not </a:t>
            </a:r>
            <a:r>
              <a:rPr lang="en-US" sz="2600">
                <a:cs typeface="Arial"/>
              </a:rPr>
              <a:t>use AI to paraphrase for you. Being able to rewrite is a skill that you need to learn.</a:t>
            </a:r>
            <a:endParaRPr lang="en-US"/>
          </a:p>
        </p:txBody>
      </p:sp>
      <p:sp>
        <p:nvSpPr>
          <p:cNvPr id="4" name="Date Placeholder 3">
            <a:extLst>
              <a:ext uri="{FF2B5EF4-FFF2-40B4-BE49-F238E27FC236}">
                <a16:creationId xmlns:a16="http://schemas.microsoft.com/office/drawing/2014/main" id="{2102EAFB-9DDE-712F-811C-C6CAAA74BA5A}"/>
              </a:ext>
            </a:extLst>
          </p:cNvPr>
          <p:cNvSpPr>
            <a:spLocks noGrp="1"/>
          </p:cNvSpPr>
          <p:nvPr>
            <p:ph type="dt" sz="half" idx="10"/>
          </p:nvPr>
        </p:nvSpPr>
        <p:spPr/>
        <p:txBody>
          <a:bodyPr/>
          <a:lstStyle/>
          <a:p>
            <a:fld id="{31C32423-D354-4B96-8903-942D5F62BE27}" type="datetime1">
              <a:rPr lang="en-GB" smtClean="0"/>
              <a:t>26/09/2025</a:t>
            </a:fld>
            <a:endParaRPr lang="en-GB"/>
          </a:p>
        </p:txBody>
      </p:sp>
      <p:sp>
        <p:nvSpPr>
          <p:cNvPr id="5" name="Footer Placeholder 4">
            <a:extLst>
              <a:ext uri="{FF2B5EF4-FFF2-40B4-BE49-F238E27FC236}">
                <a16:creationId xmlns:a16="http://schemas.microsoft.com/office/drawing/2014/main" id="{71EBEC47-8510-34E5-DD30-1803E774E4CA}"/>
              </a:ext>
            </a:extLst>
          </p:cNvPr>
          <p:cNvSpPr>
            <a:spLocks noGrp="1"/>
          </p:cNvSpPr>
          <p:nvPr>
            <p:ph type="ftr" sz="quarter" idx="11"/>
          </p:nvPr>
        </p:nvSpPr>
        <p:spPr/>
        <p:txBody>
          <a:bodyPr/>
          <a:lstStyle/>
          <a:p>
            <a:r>
              <a:rPr lang="en-GB"/>
              <a:t>Brand</a:t>
            </a:r>
          </a:p>
        </p:txBody>
      </p:sp>
      <p:sp>
        <p:nvSpPr>
          <p:cNvPr id="6" name="Slide Number Placeholder 5">
            <a:extLst>
              <a:ext uri="{FF2B5EF4-FFF2-40B4-BE49-F238E27FC236}">
                <a16:creationId xmlns:a16="http://schemas.microsoft.com/office/drawing/2014/main" id="{912227FE-D05E-ED07-6954-9E05B489614E}"/>
              </a:ext>
            </a:extLst>
          </p:cNvPr>
          <p:cNvSpPr>
            <a:spLocks noGrp="1"/>
          </p:cNvSpPr>
          <p:nvPr>
            <p:ph type="sldNum" sz="quarter" idx="12"/>
          </p:nvPr>
        </p:nvSpPr>
        <p:spPr/>
        <p:txBody>
          <a:bodyPr/>
          <a:lstStyle/>
          <a:p>
            <a:fld id="{E53A5BC0-BAEF-4B36-8137-0A1AD2059BA3}" type="slidenum">
              <a:rPr lang="en-GB" smtClean="0"/>
              <a:t>33</a:t>
            </a:fld>
            <a:endParaRPr lang="en-GB"/>
          </a:p>
        </p:txBody>
      </p:sp>
    </p:spTree>
    <p:extLst>
      <p:ext uri="{BB962C8B-B14F-4D97-AF65-F5344CB8AC3E}">
        <p14:creationId xmlns:p14="http://schemas.microsoft.com/office/powerpoint/2010/main" val="20973804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AE496D-1E87-E04E-866C-C744CBC42BB5}"/>
              </a:ext>
            </a:extLst>
          </p:cNvPr>
          <p:cNvSpPr>
            <a:spLocks noGrp="1"/>
          </p:cNvSpPr>
          <p:nvPr>
            <p:ph idx="1"/>
          </p:nvPr>
        </p:nvSpPr>
        <p:spPr/>
        <p:txBody>
          <a:bodyPr vert="horz" lIns="0" tIns="0" rIns="0" bIns="0" rtlCol="0" anchor="t">
            <a:normAutofit/>
          </a:bodyPr>
          <a:lstStyle/>
          <a:p>
            <a:pPr fontAlgn="base"/>
            <a:r>
              <a:rPr lang="en-GB"/>
              <a:t>You aren’t writing a summary sentence-by-sentence- you’re pulling out the basic meaning, and any details that support it.</a:t>
            </a:r>
            <a:r>
              <a:rPr lang="en-US"/>
              <a:t>​</a:t>
            </a:r>
          </a:p>
          <a:p>
            <a:pPr lvl="1" fontAlgn="base"/>
            <a:r>
              <a:rPr lang="en-GB">
                <a:latin typeface="Lucida Sans"/>
              </a:rPr>
              <a:t>Imagine you're explaining what you learned to a friend</a:t>
            </a:r>
          </a:p>
          <a:p>
            <a:pPr lvl="1"/>
            <a:r>
              <a:rPr lang="en-GB">
                <a:latin typeface="Lucida Sans"/>
              </a:rPr>
              <a:t>What is your source talking about?</a:t>
            </a:r>
            <a:r>
              <a:rPr lang="en-US">
                <a:latin typeface="Lucida Sans"/>
              </a:rPr>
              <a:t>​</a:t>
            </a:r>
          </a:p>
          <a:p>
            <a:pPr lvl="1" fontAlgn="base"/>
            <a:r>
              <a:rPr lang="en-GB"/>
              <a:t>Why have you decided to take this note- what do you care about in this source? Make sure that’s in your paraphrase. </a:t>
            </a:r>
            <a:r>
              <a:rPr lang="en-US"/>
              <a:t>​</a:t>
            </a:r>
          </a:p>
          <a:p>
            <a:pPr lvl="1" fontAlgn="base"/>
            <a:endParaRPr lang="en-US"/>
          </a:p>
          <a:p>
            <a:pPr fontAlgn="base"/>
            <a:r>
              <a:rPr lang="en-GB" b="1"/>
              <a:t>Don’t</a:t>
            </a:r>
            <a:r>
              <a:rPr lang="en-GB"/>
              <a:t> start by copying a sentence and changing it!</a:t>
            </a:r>
          </a:p>
          <a:p>
            <a:pPr fontAlgn="base"/>
            <a:endParaRPr lang="en-GB"/>
          </a:p>
          <a:p>
            <a:endParaRPr lang="en-US"/>
          </a:p>
        </p:txBody>
      </p:sp>
      <p:sp>
        <p:nvSpPr>
          <p:cNvPr id="4" name="Date Placeholder 3">
            <a:extLst>
              <a:ext uri="{FF2B5EF4-FFF2-40B4-BE49-F238E27FC236}">
                <a16:creationId xmlns:a16="http://schemas.microsoft.com/office/drawing/2014/main" id="{B30DC867-A42E-CD42-B166-07AB629ADFEC}"/>
              </a:ext>
            </a:extLst>
          </p:cNvPr>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5" name="Slide Number Placeholder 4">
            <a:extLst>
              <a:ext uri="{FF2B5EF4-FFF2-40B4-BE49-F238E27FC236}">
                <a16:creationId xmlns:a16="http://schemas.microsoft.com/office/drawing/2014/main" id="{7090A3E4-F31A-A442-9F4D-2EC396E67498}"/>
              </a:ext>
            </a:extLst>
          </p:cNvPr>
          <p:cNvSpPr>
            <a:spLocks noGrp="1"/>
          </p:cNvSpPr>
          <p:nvPr>
            <p:ph type="sldNum" sz="quarter" idx="12"/>
          </p:nvPr>
        </p:nvSpPr>
        <p:spPr/>
        <p:txBody>
          <a:bodyPr/>
          <a:lstStyle/>
          <a:p>
            <a:fld id="{653FF254-26D3-4E50-98DF-6C68BE574C8B}" type="slidenum">
              <a:rPr lang="en-GB" smtClean="0"/>
              <a:pPr/>
              <a:t>34</a:t>
            </a:fld>
            <a:endParaRPr lang="en-GB"/>
          </a:p>
        </p:txBody>
      </p:sp>
      <p:sp>
        <p:nvSpPr>
          <p:cNvPr id="6" name="Title 1">
            <a:extLst>
              <a:ext uri="{FF2B5EF4-FFF2-40B4-BE49-F238E27FC236}">
                <a16:creationId xmlns:a16="http://schemas.microsoft.com/office/drawing/2014/main" id="{58614A88-D8A7-1841-B5C3-E3E9E321ECD8}"/>
              </a:ext>
            </a:extLst>
          </p:cNvPr>
          <p:cNvSpPr>
            <a:spLocks noGrp="1"/>
          </p:cNvSpPr>
          <p:nvPr>
            <p:ph type="title"/>
          </p:nvPr>
        </p:nvSpPr>
        <p:spPr/>
        <p:txBody>
          <a:bodyPr/>
          <a:lstStyle/>
          <a:p>
            <a:r>
              <a:rPr lang="en-GB"/>
              <a:t> Hints for easy paraphrasing</a:t>
            </a:r>
          </a:p>
        </p:txBody>
      </p:sp>
    </p:spTree>
    <p:extLst>
      <p:ext uri="{BB962C8B-B14F-4D97-AF65-F5344CB8AC3E}">
        <p14:creationId xmlns:p14="http://schemas.microsoft.com/office/powerpoint/2010/main" val="41810742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AE496D-1E87-E04E-866C-C744CBC42BB5}"/>
              </a:ext>
            </a:extLst>
          </p:cNvPr>
          <p:cNvSpPr>
            <a:spLocks noGrp="1"/>
          </p:cNvSpPr>
          <p:nvPr>
            <p:ph idx="1"/>
          </p:nvPr>
        </p:nvSpPr>
        <p:spPr/>
        <p:txBody>
          <a:bodyPr vert="horz" lIns="0" tIns="0" rIns="0" bIns="0" rtlCol="0" anchor="t">
            <a:normAutofit/>
          </a:bodyPr>
          <a:lstStyle/>
          <a:p>
            <a:pPr marL="0" indent="0" fontAlgn="base">
              <a:buNone/>
            </a:pPr>
            <a:r>
              <a:rPr lang="en-GB"/>
              <a:t>You aren’t writing a summary sentence-by-sentence- you’re pulling out the basic meaning, and any details that support it.</a:t>
            </a:r>
            <a:r>
              <a:rPr lang="en-US"/>
              <a:t>​</a:t>
            </a:r>
            <a:endParaRPr lang="en-US">
              <a:cs typeface="Arial"/>
            </a:endParaRPr>
          </a:p>
          <a:p>
            <a:r>
              <a:rPr lang="en-GB">
                <a:latin typeface="Arial"/>
                <a:cs typeface="Arial"/>
              </a:rPr>
              <a:t>Imagine you're explaining what you learned to a friend</a:t>
            </a:r>
            <a:endParaRPr lang="en-US">
              <a:latin typeface="Arial"/>
              <a:cs typeface="Arial"/>
            </a:endParaRPr>
          </a:p>
          <a:p>
            <a:r>
              <a:rPr lang="en-GB">
                <a:latin typeface="Arial"/>
                <a:cs typeface="Arial"/>
              </a:rPr>
              <a:t>What is your source talking about?</a:t>
            </a:r>
            <a:r>
              <a:rPr lang="en-US">
                <a:latin typeface="Arial"/>
                <a:cs typeface="Arial"/>
              </a:rPr>
              <a:t>​</a:t>
            </a:r>
            <a:endParaRPr lang="en-US"/>
          </a:p>
          <a:p>
            <a:r>
              <a:rPr lang="en-GB"/>
              <a:t>Why have you decided to take this note- what do you care about in this source? Make sure that’s in your paraphrase. </a:t>
            </a:r>
            <a:r>
              <a:rPr lang="en-US"/>
              <a:t>​</a:t>
            </a:r>
            <a:endParaRPr lang="en-US">
              <a:cs typeface="Arial"/>
            </a:endParaRPr>
          </a:p>
          <a:p>
            <a:pPr lvl="1" fontAlgn="base"/>
            <a:endParaRPr lang="en-US">
              <a:cs typeface="Arial"/>
            </a:endParaRPr>
          </a:p>
          <a:p>
            <a:pPr fontAlgn="base"/>
            <a:r>
              <a:rPr lang="en-GB" b="1"/>
              <a:t>Don’t</a:t>
            </a:r>
            <a:r>
              <a:rPr lang="en-GB"/>
              <a:t> start by copying a sentence and changing it!</a:t>
            </a:r>
            <a:endParaRPr lang="en-GB">
              <a:cs typeface="Arial"/>
            </a:endParaRPr>
          </a:p>
          <a:p>
            <a:pPr fontAlgn="base"/>
            <a:endParaRPr lang="en-GB"/>
          </a:p>
          <a:p>
            <a:endParaRPr lang="en-US"/>
          </a:p>
        </p:txBody>
      </p:sp>
      <p:sp>
        <p:nvSpPr>
          <p:cNvPr id="4" name="Date Placeholder 3">
            <a:extLst>
              <a:ext uri="{FF2B5EF4-FFF2-40B4-BE49-F238E27FC236}">
                <a16:creationId xmlns:a16="http://schemas.microsoft.com/office/drawing/2014/main" id="{B30DC867-A42E-CD42-B166-07AB629ADFEC}"/>
              </a:ext>
            </a:extLst>
          </p:cNvPr>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5" name="Slide Number Placeholder 4">
            <a:extLst>
              <a:ext uri="{FF2B5EF4-FFF2-40B4-BE49-F238E27FC236}">
                <a16:creationId xmlns:a16="http://schemas.microsoft.com/office/drawing/2014/main" id="{7090A3E4-F31A-A442-9F4D-2EC396E67498}"/>
              </a:ext>
            </a:extLst>
          </p:cNvPr>
          <p:cNvSpPr>
            <a:spLocks noGrp="1"/>
          </p:cNvSpPr>
          <p:nvPr>
            <p:ph type="sldNum" sz="quarter" idx="12"/>
          </p:nvPr>
        </p:nvSpPr>
        <p:spPr/>
        <p:txBody>
          <a:bodyPr/>
          <a:lstStyle/>
          <a:p>
            <a:fld id="{653FF254-26D3-4E50-98DF-6C68BE574C8B}" type="slidenum">
              <a:rPr lang="en-GB" smtClean="0"/>
              <a:pPr/>
              <a:t>35</a:t>
            </a:fld>
            <a:endParaRPr lang="en-GB"/>
          </a:p>
        </p:txBody>
      </p:sp>
      <p:sp>
        <p:nvSpPr>
          <p:cNvPr id="6" name="Title 1">
            <a:extLst>
              <a:ext uri="{FF2B5EF4-FFF2-40B4-BE49-F238E27FC236}">
                <a16:creationId xmlns:a16="http://schemas.microsoft.com/office/drawing/2014/main" id="{58614A88-D8A7-1841-B5C3-E3E9E321ECD8}"/>
              </a:ext>
            </a:extLst>
          </p:cNvPr>
          <p:cNvSpPr>
            <a:spLocks noGrp="1"/>
          </p:cNvSpPr>
          <p:nvPr>
            <p:ph type="title"/>
          </p:nvPr>
        </p:nvSpPr>
        <p:spPr/>
        <p:txBody>
          <a:bodyPr/>
          <a:lstStyle/>
          <a:p>
            <a:r>
              <a:rPr lang="en-GB"/>
              <a:t>Hints for easy paraphrasing</a:t>
            </a:r>
          </a:p>
        </p:txBody>
      </p:sp>
    </p:spTree>
    <p:extLst>
      <p:ext uri="{BB962C8B-B14F-4D97-AF65-F5344CB8AC3E}">
        <p14:creationId xmlns:p14="http://schemas.microsoft.com/office/powerpoint/2010/main" val="3473293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AE496D-1E87-E04E-866C-C744CBC42BB5}"/>
              </a:ext>
            </a:extLst>
          </p:cNvPr>
          <p:cNvSpPr>
            <a:spLocks noGrp="1"/>
          </p:cNvSpPr>
          <p:nvPr>
            <p:ph idx="1"/>
          </p:nvPr>
        </p:nvSpPr>
        <p:spPr>
          <a:xfrm>
            <a:off x="954437" y="2112320"/>
            <a:ext cx="10515600" cy="3767592"/>
          </a:xfrm>
        </p:spPr>
        <p:txBody>
          <a:bodyPr vert="horz" lIns="0" tIns="0" rIns="0" bIns="0" rtlCol="0" anchor="t">
            <a:normAutofit/>
          </a:bodyPr>
          <a:lstStyle/>
          <a:p>
            <a:pPr marL="0" indent="0" fontAlgn="base">
              <a:buNone/>
            </a:pPr>
            <a:endParaRPr lang="en-GB"/>
          </a:p>
          <a:p>
            <a:pPr fontAlgn="base"/>
            <a:r>
              <a:rPr lang="en-GB">
                <a:latin typeface="Lucida Sans"/>
              </a:rPr>
              <a:t>Read the source, then look away from it and write an explanation of what it means in your notes from your memory.</a:t>
            </a:r>
            <a:r>
              <a:rPr lang="en-US">
                <a:latin typeface="Lucida Sans"/>
              </a:rPr>
              <a:t>​</a:t>
            </a:r>
          </a:p>
          <a:p>
            <a:pPr lvl="1" fontAlgn="base"/>
            <a:r>
              <a:rPr lang="en-GB"/>
              <a:t>Then look back at the source to make sure you haven’t misrepresented what it says</a:t>
            </a:r>
            <a:endParaRPr lang="en-US"/>
          </a:p>
          <a:p>
            <a:pPr fontAlgn="base"/>
            <a:endParaRPr lang="en-US"/>
          </a:p>
          <a:p>
            <a:pPr fontAlgn="base"/>
            <a:r>
              <a:rPr lang="en-GB"/>
              <a:t>Write your assignment from your notes that are already paraphrased. </a:t>
            </a:r>
            <a:endParaRPr lang="en-US"/>
          </a:p>
          <a:p>
            <a:endParaRPr lang="en-US"/>
          </a:p>
        </p:txBody>
      </p:sp>
      <p:sp>
        <p:nvSpPr>
          <p:cNvPr id="4" name="Date Placeholder 3">
            <a:extLst>
              <a:ext uri="{FF2B5EF4-FFF2-40B4-BE49-F238E27FC236}">
                <a16:creationId xmlns:a16="http://schemas.microsoft.com/office/drawing/2014/main" id="{B30DC867-A42E-CD42-B166-07AB629ADFEC}"/>
              </a:ext>
            </a:extLst>
          </p:cNvPr>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5" name="Slide Number Placeholder 4">
            <a:extLst>
              <a:ext uri="{FF2B5EF4-FFF2-40B4-BE49-F238E27FC236}">
                <a16:creationId xmlns:a16="http://schemas.microsoft.com/office/drawing/2014/main" id="{7090A3E4-F31A-A442-9F4D-2EC396E67498}"/>
              </a:ext>
            </a:extLst>
          </p:cNvPr>
          <p:cNvSpPr>
            <a:spLocks noGrp="1"/>
          </p:cNvSpPr>
          <p:nvPr>
            <p:ph type="sldNum" sz="quarter" idx="12"/>
          </p:nvPr>
        </p:nvSpPr>
        <p:spPr/>
        <p:txBody>
          <a:bodyPr/>
          <a:lstStyle/>
          <a:p>
            <a:fld id="{653FF254-26D3-4E50-98DF-6C68BE574C8B}" type="slidenum">
              <a:rPr lang="en-GB" smtClean="0"/>
              <a:pPr/>
              <a:t>36</a:t>
            </a:fld>
            <a:endParaRPr lang="en-GB"/>
          </a:p>
        </p:txBody>
      </p:sp>
      <p:sp>
        <p:nvSpPr>
          <p:cNvPr id="6" name="Title 1">
            <a:extLst>
              <a:ext uri="{FF2B5EF4-FFF2-40B4-BE49-F238E27FC236}">
                <a16:creationId xmlns:a16="http://schemas.microsoft.com/office/drawing/2014/main" id="{58614A88-D8A7-1841-B5C3-E3E9E321ECD8}"/>
              </a:ext>
            </a:extLst>
          </p:cNvPr>
          <p:cNvSpPr>
            <a:spLocks noGrp="1"/>
          </p:cNvSpPr>
          <p:nvPr>
            <p:ph type="title"/>
          </p:nvPr>
        </p:nvSpPr>
        <p:spPr/>
        <p:txBody>
          <a:bodyPr/>
          <a:lstStyle/>
          <a:p>
            <a:r>
              <a:rPr lang="en-GB"/>
              <a:t>Hints for easy paraphrasing</a:t>
            </a:r>
          </a:p>
        </p:txBody>
      </p:sp>
    </p:spTree>
    <p:extLst>
      <p:ext uri="{BB962C8B-B14F-4D97-AF65-F5344CB8AC3E}">
        <p14:creationId xmlns:p14="http://schemas.microsoft.com/office/powerpoint/2010/main" val="2347625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17259-2A66-14F4-C917-6CCAB7EEE3DD}"/>
              </a:ext>
            </a:extLst>
          </p:cNvPr>
          <p:cNvSpPr>
            <a:spLocks noGrp="1"/>
          </p:cNvSpPr>
          <p:nvPr>
            <p:ph type="title"/>
          </p:nvPr>
        </p:nvSpPr>
        <p:spPr/>
        <p:txBody>
          <a:bodyPr/>
          <a:lstStyle/>
          <a:p>
            <a:r>
              <a:rPr lang="en-US">
                <a:latin typeface="Lucida Sans"/>
              </a:rPr>
              <a:t>Have a look at some paraphrases and see if you think they are good or not</a:t>
            </a:r>
            <a:endParaRPr lang="en-US"/>
          </a:p>
        </p:txBody>
      </p:sp>
      <p:sp>
        <p:nvSpPr>
          <p:cNvPr id="3" name="Content Placeholder 2">
            <a:extLst>
              <a:ext uri="{FF2B5EF4-FFF2-40B4-BE49-F238E27FC236}">
                <a16:creationId xmlns:a16="http://schemas.microsoft.com/office/drawing/2014/main" id="{9B06D4DE-C374-0DE3-F9E9-C0F511EA5A41}"/>
              </a:ext>
            </a:extLst>
          </p:cNvPr>
          <p:cNvSpPr>
            <a:spLocks noGrp="1"/>
          </p:cNvSpPr>
          <p:nvPr>
            <p:ph idx="1"/>
          </p:nvPr>
        </p:nvSpPr>
        <p:spPr/>
        <p:txBody>
          <a:bodyPr vert="horz" lIns="0" tIns="0" rIns="0" bIns="0" rtlCol="0" anchor="t">
            <a:normAutofit/>
          </a:bodyPr>
          <a:lstStyle/>
          <a:p>
            <a:endParaRPr lang="en-US"/>
          </a:p>
          <a:p>
            <a:r>
              <a:rPr lang="en-US">
                <a:latin typeface="Lucida Sans"/>
              </a:rPr>
              <a:t>Click on </a:t>
            </a:r>
            <a:r>
              <a:rPr lang="en-US">
                <a:latin typeface="Lucida Sans"/>
                <a:hlinkClick r:id="rId2"/>
              </a:rPr>
              <a:t>the link in the chat to a Microsoft Form</a:t>
            </a:r>
          </a:p>
          <a:p>
            <a:endParaRPr lang="en-US"/>
          </a:p>
          <a:p>
            <a:r>
              <a:rPr lang="en-US">
                <a:latin typeface="Lucida Sans"/>
              </a:rPr>
              <a:t>Log in- you need this version of your username: </a:t>
            </a:r>
            <a:r>
              <a:rPr lang="en-US">
                <a:latin typeface="Lucida Sans"/>
                <a:hlinkClick r:id="rId3"/>
              </a:rPr>
              <a:t>jrblogg3@bradford.ac.uk</a:t>
            </a:r>
            <a:endParaRPr lang="en-US">
              <a:latin typeface="Lucida Sans"/>
            </a:endParaRPr>
          </a:p>
          <a:p>
            <a:endParaRPr lang="en-US"/>
          </a:p>
          <a:p>
            <a:r>
              <a:rPr lang="en-US">
                <a:latin typeface="Lucida Sans"/>
              </a:rPr>
              <a:t>Answer the questions.</a:t>
            </a:r>
          </a:p>
          <a:p>
            <a:endParaRPr lang="en-US"/>
          </a:p>
          <a:p>
            <a:endParaRPr lang="en-US"/>
          </a:p>
        </p:txBody>
      </p:sp>
      <p:sp>
        <p:nvSpPr>
          <p:cNvPr id="4" name="Date Placeholder 3">
            <a:extLst>
              <a:ext uri="{FF2B5EF4-FFF2-40B4-BE49-F238E27FC236}">
                <a16:creationId xmlns:a16="http://schemas.microsoft.com/office/drawing/2014/main" id="{95738CDE-AF3E-E918-AA4E-16DAEFC1C0A7}"/>
              </a:ext>
            </a:extLst>
          </p:cNvPr>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5" name="Slide Number Placeholder 4">
            <a:extLst>
              <a:ext uri="{FF2B5EF4-FFF2-40B4-BE49-F238E27FC236}">
                <a16:creationId xmlns:a16="http://schemas.microsoft.com/office/drawing/2014/main" id="{7AC7C737-80EB-D544-5DBC-C292147A6140}"/>
              </a:ext>
            </a:extLst>
          </p:cNvPr>
          <p:cNvSpPr>
            <a:spLocks noGrp="1"/>
          </p:cNvSpPr>
          <p:nvPr>
            <p:ph type="sldNum" sz="quarter" idx="12"/>
          </p:nvPr>
        </p:nvSpPr>
        <p:spPr/>
        <p:txBody>
          <a:bodyPr/>
          <a:lstStyle/>
          <a:p>
            <a:fld id="{653FF254-26D3-4E50-98DF-6C68BE574C8B}" type="slidenum">
              <a:rPr lang="en-GB" smtClean="0"/>
              <a:pPr/>
              <a:t>37</a:t>
            </a:fld>
            <a:endParaRPr lang="en-GB"/>
          </a:p>
        </p:txBody>
      </p:sp>
    </p:spTree>
    <p:extLst>
      <p:ext uri="{BB962C8B-B14F-4D97-AF65-F5344CB8AC3E}">
        <p14:creationId xmlns:p14="http://schemas.microsoft.com/office/powerpoint/2010/main" val="2526269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8E797-C75F-A2E4-804A-0F4A536C8443}"/>
              </a:ext>
            </a:extLst>
          </p:cNvPr>
          <p:cNvSpPr>
            <a:spLocks noGrp="1"/>
          </p:cNvSpPr>
          <p:nvPr>
            <p:ph type="title"/>
          </p:nvPr>
        </p:nvSpPr>
        <p:spPr>
          <a:xfrm>
            <a:off x="1718495" y="1023738"/>
            <a:ext cx="10136213" cy="1182374"/>
          </a:xfrm>
        </p:spPr>
        <p:txBody>
          <a:bodyPr>
            <a:normAutofit fontScale="90000"/>
          </a:bodyPr>
          <a:lstStyle/>
          <a:p>
            <a:r>
              <a:rPr lang="en-US">
                <a:latin typeface="Lucida Sans"/>
              </a:rPr>
              <a:t>The original quote from a textbook says this. How good are each of the four paraphrases in the form?</a:t>
            </a:r>
            <a:endParaRPr lang="en-US"/>
          </a:p>
        </p:txBody>
      </p:sp>
      <p:sp>
        <p:nvSpPr>
          <p:cNvPr id="3" name="Content Placeholder 2">
            <a:extLst>
              <a:ext uri="{FF2B5EF4-FFF2-40B4-BE49-F238E27FC236}">
                <a16:creationId xmlns:a16="http://schemas.microsoft.com/office/drawing/2014/main" id="{18B14C4C-541D-BD91-F7EB-7BEA0021CCED}"/>
              </a:ext>
            </a:extLst>
          </p:cNvPr>
          <p:cNvSpPr>
            <a:spLocks noGrp="1"/>
          </p:cNvSpPr>
          <p:nvPr>
            <p:ph idx="1"/>
          </p:nvPr>
        </p:nvSpPr>
        <p:spPr>
          <a:xfrm>
            <a:off x="913364" y="2379856"/>
            <a:ext cx="10618247" cy="4177061"/>
          </a:xfrm>
        </p:spPr>
        <p:txBody>
          <a:bodyPr vert="horz" lIns="0" tIns="0" rIns="0" bIns="0" rtlCol="0" anchor="t">
            <a:normAutofit lnSpcReduction="10000"/>
          </a:bodyPr>
          <a:lstStyle/>
          <a:p>
            <a:r>
              <a:rPr lang="en-US">
                <a:latin typeface="Lucida Sans"/>
              </a:rPr>
              <a:t>"Approximately 4000 chemical compounds have been identified in cigarette smoke, of which over 40 are known to cause cancer. There are three important components of cigarette smoke. Their differing actions will be discussed below.</a:t>
            </a:r>
            <a:br>
              <a:rPr lang="en-US"/>
            </a:br>
            <a:endParaRPr lang="en-US">
              <a:cs typeface="Arial"/>
            </a:endParaRPr>
          </a:p>
          <a:p>
            <a:pPr marL="0" indent="0">
              <a:buNone/>
            </a:pPr>
            <a:r>
              <a:rPr lang="en-US">
                <a:latin typeface="Lucida Sans"/>
              </a:rPr>
              <a:t>" Nicotine.</a:t>
            </a:r>
            <a:br>
              <a:rPr lang="en-US"/>
            </a:br>
            <a:r>
              <a:rPr lang="en-US">
                <a:latin typeface="Lucida Sans"/>
              </a:rPr>
              <a:t>" Tar.</a:t>
            </a:r>
            <a:br>
              <a:rPr lang="en-US"/>
            </a:br>
            <a:r>
              <a:rPr lang="en-US">
                <a:latin typeface="Lucida Sans"/>
              </a:rPr>
              <a:t>" Carbon monoxide."</a:t>
            </a:r>
            <a:br>
              <a:rPr lang="en-US"/>
            </a:br>
            <a:br>
              <a:rPr lang="en-US"/>
            </a:br>
            <a:r>
              <a:rPr lang="en-US" sz="2000">
                <a:latin typeface="Lucida Sans"/>
              </a:rPr>
              <a:t>(The textbook is Manual of smoking cessation by McEwan et al., 2006)</a:t>
            </a:r>
          </a:p>
        </p:txBody>
      </p:sp>
      <p:sp>
        <p:nvSpPr>
          <p:cNvPr id="4" name="Date Placeholder 3">
            <a:extLst>
              <a:ext uri="{FF2B5EF4-FFF2-40B4-BE49-F238E27FC236}">
                <a16:creationId xmlns:a16="http://schemas.microsoft.com/office/drawing/2014/main" id="{888344F9-4C54-2532-CA5F-DFFC0A3346CB}"/>
              </a:ext>
            </a:extLst>
          </p:cNvPr>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5" name="Slide Number Placeholder 4">
            <a:extLst>
              <a:ext uri="{FF2B5EF4-FFF2-40B4-BE49-F238E27FC236}">
                <a16:creationId xmlns:a16="http://schemas.microsoft.com/office/drawing/2014/main" id="{3A0F0A69-6524-0268-4F83-AE67CE33744A}"/>
              </a:ext>
            </a:extLst>
          </p:cNvPr>
          <p:cNvSpPr>
            <a:spLocks noGrp="1"/>
          </p:cNvSpPr>
          <p:nvPr>
            <p:ph type="sldNum" sz="quarter" idx="12"/>
          </p:nvPr>
        </p:nvSpPr>
        <p:spPr/>
        <p:txBody>
          <a:bodyPr/>
          <a:lstStyle/>
          <a:p>
            <a:fld id="{653FF254-26D3-4E50-98DF-6C68BE574C8B}" type="slidenum">
              <a:rPr lang="en-GB" smtClean="0"/>
              <a:pPr/>
              <a:t>38</a:t>
            </a:fld>
            <a:endParaRPr lang="en-GB"/>
          </a:p>
        </p:txBody>
      </p:sp>
    </p:spTree>
    <p:extLst>
      <p:ext uri="{BB962C8B-B14F-4D97-AF65-F5344CB8AC3E}">
        <p14:creationId xmlns:p14="http://schemas.microsoft.com/office/powerpoint/2010/main" val="729031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1799" y="316303"/>
            <a:ext cx="5383556" cy="817453"/>
          </a:xfrm>
        </p:spPr>
        <p:txBody>
          <a:bodyPr/>
          <a:lstStyle/>
          <a:p>
            <a:r>
              <a:rPr lang="en-GB"/>
              <a:t>How to reference</a:t>
            </a:r>
          </a:p>
        </p:txBody>
      </p:sp>
      <p:sp>
        <p:nvSpPr>
          <p:cNvPr id="3" name="Content Placeholder 2"/>
          <p:cNvSpPr>
            <a:spLocks noGrp="1"/>
          </p:cNvSpPr>
          <p:nvPr>
            <p:ph idx="1"/>
          </p:nvPr>
        </p:nvSpPr>
        <p:spPr>
          <a:xfrm>
            <a:off x="811995" y="1412777"/>
            <a:ext cx="10036533" cy="4819293"/>
          </a:xfrm>
        </p:spPr>
        <p:txBody>
          <a:bodyPr vert="horz" lIns="0" tIns="0" rIns="0" bIns="0" rtlCol="0" anchor="t">
            <a:normAutofit/>
          </a:bodyPr>
          <a:lstStyle/>
          <a:p>
            <a:r>
              <a:rPr lang="en-GB">
                <a:solidFill>
                  <a:srgbClr val="00383B"/>
                </a:solidFill>
                <a:latin typeface="Arial"/>
                <a:cs typeface="Arial"/>
              </a:rPr>
              <a:t>Place a citation in the text next to the work you need to acknowledge </a:t>
            </a:r>
          </a:p>
          <a:p>
            <a:pPr lvl="1"/>
            <a:r>
              <a:rPr lang="en-GB">
                <a:solidFill>
                  <a:srgbClr val="00383B"/>
                </a:solidFill>
              </a:rPr>
              <a:t>Remember, this can be ideas, facts etc not just words</a:t>
            </a:r>
            <a:endParaRPr lang="en-GB">
              <a:solidFill>
                <a:srgbClr val="00383B"/>
              </a:solidFill>
              <a:cs typeface="Arial"/>
            </a:endParaRPr>
          </a:p>
          <a:p>
            <a:pPr lvl="1"/>
            <a:r>
              <a:rPr lang="en-GB">
                <a:solidFill>
                  <a:srgbClr val="00383B"/>
                </a:solidFill>
              </a:rPr>
              <a:t>The citation is the family name of the author followed by the year of publication (</a:t>
            </a:r>
            <a:r>
              <a:rPr lang="en-GB" b="1">
                <a:solidFill>
                  <a:srgbClr val="00383B"/>
                </a:solidFill>
              </a:rPr>
              <a:t>Carruthers 2019</a:t>
            </a:r>
            <a:r>
              <a:rPr lang="en-GB">
                <a:solidFill>
                  <a:srgbClr val="00383B"/>
                </a:solidFill>
              </a:rPr>
              <a:t>)</a:t>
            </a:r>
            <a:endParaRPr lang="en-GB" baseline="30000">
              <a:solidFill>
                <a:srgbClr val="00383B"/>
              </a:solidFill>
            </a:endParaRPr>
          </a:p>
          <a:p>
            <a:r>
              <a:rPr lang="en-GB">
                <a:solidFill>
                  <a:srgbClr val="00383B"/>
                </a:solidFill>
                <a:latin typeface="Arial"/>
                <a:cs typeface="Arial"/>
              </a:rPr>
              <a:t>The citation points to the reference list at the end of your project. </a:t>
            </a:r>
          </a:p>
          <a:p>
            <a:r>
              <a:rPr lang="en-GB">
                <a:solidFill>
                  <a:srgbClr val="00383B"/>
                </a:solidFill>
                <a:latin typeface="Arial"/>
                <a:cs typeface="Arial"/>
              </a:rPr>
              <a:t>The reference contains the full details of the source</a:t>
            </a:r>
          </a:p>
          <a:p>
            <a:r>
              <a:rPr lang="en-GB">
                <a:solidFill>
                  <a:srgbClr val="00383B"/>
                </a:solidFill>
                <a:latin typeface="Arial"/>
                <a:cs typeface="Arial"/>
              </a:rPr>
              <a:t>The reference list is arranged in alphabetical order by the author’s family name</a:t>
            </a:r>
          </a:p>
          <a:p>
            <a:endParaRPr lang="en-GB">
              <a:solidFill>
                <a:srgbClr val="00383B"/>
              </a:solidFill>
              <a:latin typeface="Arial"/>
              <a:cs typeface="Arial"/>
            </a:endParaRPr>
          </a:p>
        </p:txBody>
      </p:sp>
      <p:sp>
        <p:nvSpPr>
          <p:cNvPr id="4" name="Date Placeholder 3"/>
          <p:cNvSpPr>
            <a:spLocks noGrp="1"/>
          </p:cNvSpPr>
          <p:nvPr>
            <p:ph type="dt" sz="half" idx="10"/>
          </p:nvPr>
        </p:nvSpPr>
        <p:spPr/>
        <p:txBody>
          <a:bodyPr/>
          <a:lstStyle/>
          <a:p>
            <a:fld id="{EA24C69A-CCAC-45AF-85CA-9C0F0FF3F3AF}" type="datetime4">
              <a:rPr lang="en-GB" smtClean="0"/>
              <a:pPr/>
              <a:t>26 September 2025</a:t>
            </a:fld>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39</a:t>
            </a:fld>
            <a:endParaRPr lang="en-GB"/>
          </a:p>
        </p:txBody>
      </p:sp>
    </p:spTree>
    <p:extLst>
      <p:ext uri="{BB962C8B-B14F-4D97-AF65-F5344CB8AC3E}">
        <p14:creationId xmlns:p14="http://schemas.microsoft.com/office/powerpoint/2010/main" val="3637654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166767" y="189611"/>
            <a:ext cx="6463158" cy="817453"/>
          </a:xfrm>
        </p:spPr>
        <p:txBody>
          <a:bodyPr/>
          <a:lstStyle/>
          <a:p>
            <a:r>
              <a:rPr lang="en-GB" altLang="en-US"/>
              <a:t>A book reference</a:t>
            </a:r>
          </a:p>
        </p:txBody>
      </p:sp>
      <p:sp>
        <p:nvSpPr>
          <p:cNvPr id="18435" name="Text Box 3"/>
          <p:cNvSpPr txBox="1">
            <a:spLocks noChangeArrowheads="1"/>
          </p:cNvSpPr>
          <p:nvPr/>
        </p:nvSpPr>
        <p:spPr bwMode="auto">
          <a:xfrm>
            <a:off x="1914166" y="2660156"/>
            <a:ext cx="836367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GB" altLang="en-US" sz="2400">
                <a:latin typeface="+mn-lt"/>
              </a:rPr>
              <a:t>Ashby, M. F.  (2013) </a:t>
            </a:r>
            <a:r>
              <a:rPr lang="en-GB" altLang="en-US" sz="2400" i="1">
                <a:latin typeface="+mn-lt"/>
              </a:rPr>
              <a:t>Materials and the environment: eco-informed material choice.</a:t>
            </a:r>
            <a:r>
              <a:rPr lang="en-GB" altLang="en-US" sz="2400">
                <a:latin typeface="+mn-lt"/>
              </a:rPr>
              <a:t> 2nd edition. Butterworth Heinemann.</a:t>
            </a:r>
          </a:p>
        </p:txBody>
      </p:sp>
      <p:sp>
        <p:nvSpPr>
          <p:cNvPr id="18436" name="Rectangle 4"/>
          <p:cNvSpPr>
            <a:spLocks noChangeArrowheads="1"/>
          </p:cNvSpPr>
          <p:nvPr/>
        </p:nvSpPr>
        <p:spPr bwMode="auto">
          <a:xfrm>
            <a:off x="2071688" y="1563688"/>
            <a:ext cx="1948525" cy="722312"/>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GB" altLang="en-US" sz="1800">
                <a:solidFill>
                  <a:schemeClr val="bg1"/>
                </a:solidFill>
              </a:rPr>
              <a:t>Author(s) - </a:t>
            </a:r>
          </a:p>
          <a:p>
            <a:pPr algn="ctr" eaLnBrk="1" hangingPunct="1">
              <a:spcBef>
                <a:spcPct val="0"/>
              </a:spcBef>
              <a:buFontTx/>
              <a:buNone/>
            </a:pPr>
            <a:r>
              <a:rPr lang="en-GB" altLang="en-US" sz="1800">
                <a:solidFill>
                  <a:schemeClr val="bg1"/>
                </a:solidFill>
              </a:rPr>
              <a:t>(family name first)</a:t>
            </a:r>
          </a:p>
        </p:txBody>
      </p:sp>
      <p:sp>
        <p:nvSpPr>
          <p:cNvPr id="18437" name="Rectangle 5"/>
          <p:cNvSpPr>
            <a:spLocks noChangeArrowheads="1"/>
          </p:cNvSpPr>
          <p:nvPr/>
        </p:nvSpPr>
        <p:spPr bwMode="auto">
          <a:xfrm>
            <a:off x="4632555" y="1481138"/>
            <a:ext cx="1461823" cy="804862"/>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GB" altLang="en-US" sz="1800">
                <a:solidFill>
                  <a:schemeClr val="bg1"/>
                </a:solidFill>
              </a:rPr>
              <a:t>(Year of </a:t>
            </a:r>
          </a:p>
          <a:p>
            <a:pPr algn="ctr" eaLnBrk="1" hangingPunct="1">
              <a:spcBef>
                <a:spcPct val="0"/>
              </a:spcBef>
              <a:buFontTx/>
              <a:buNone/>
            </a:pPr>
            <a:r>
              <a:rPr lang="en-GB" altLang="en-US" sz="1800">
                <a:solidFill>
                  <a:schemeClr val="bg1"/>
                </a:solidFill>
              </a:rPr>
              <a:t>Publication)</a:t>
            </a:r>
          </a:p>
        </p:txBody>
      </p:sp>
      <p:sp>
        <p:nvSpPr>
          <p:cNvPr id="18438" name="Line 6"/>
          <p:cNvSpPr>
            <a:spLocks noChangeShapeType="1"/>
          </p:cNvSpPr>
          <p:nvPr/>
        </p:nvSpPr>
        <p:spPr bwMode="auto">
          <a:xfrm flipH="1">
            <a:off x="4498537" y="2314755"/>
            <a:ext cx="201283" cy="429523"/>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sz="1800"/>
          </a:p>
        </p:txBody>
      </p:sp>
      <p:sp>
        <p:nvSpPr>
          <p:cNvPr id="18439" name="Line 7"/>
          <p:cNvSpPr>
            <a:spLocks noChangeShapeType="1"/>
          </p:cNvSpPr>
          <p:nvPr/>
        </p:nvSpPr>
        <p:spPr bwMode="auto">
          <a:xfrm>
            <a:off x="2927648" y="2286001"/>
            <a:ext cx="0" cy="371475"/>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sz="1800"/>
          </a:p>
        </p:txBody>
      </p:sp>
      <p:sp>
        <p:nvSpPr>
          <p:cNvPr id="18440" name="Rectangle 8"/>
          <p:cNvSpPr>
            <a:spLocks noChangeArrowheads="1"/>
          </p:cNvSpPr>
          <p:nvPr/>
        </p:nvSpPr>
        <p:spPr bwMode="auto">
          <a:xfrm>
            <a:off x="6762330" y="1568450"/>
            <a:ext cx="1511697" cy="630238"/>
          </a:xfrm>
          <a:prstGeom prst="rect">
            <a:avLst/>
          </a:prstGeom>
          <a:solidFill>
            <a:schemeClr val="accent1"/>
          </a:solidFill>
          <a:ln w="76200">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GB" altLang="en-US" sz="2000" b="1" i="1">
                <a:solidFill>
                  <a:schemeClr val="bg1"/>
                </a:solidFill>
              </a:rPr>
              <a:t>Book title</a:t>
            </a:r>
            <a:r>
              <a:rPr lang="en-GB" altLang="en-US" sz="1800">
                <a:solidFill>
                  <a:schemeClr val="bg1"/>
                </a:solidFill>
              </a:rPr>
              <a:t> </a:t>
            </a:r>
          </a:p>
        </p:txBody>
      </p:sp>
      <p:sp>
        <p:nvSpPr>
          <p:cNvPr id="18441" name="Line 9"/>
          <p:cNvSpPr>
            <a:spLocks noChangeShapeType="1"/>
          </p:cNvSpPr>
          <p:nvPr/>
        </p:nvSpPr>
        <p:spPr bwMode="auto">
          <a:xfrm>
            <a:off x="7471913" y="2143126"/>
            <a:ext cx="0" cy="428625"/>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sz="1800"/>
          </a:p>
        </p:txBody>
      </p:sp>
      <p:sp>
        <p:nvSpPr>
          <p:cNvPr id="18444" name="Rectangle 12"/>
          <p:cNvSpPr>
            <a:spLocks noChangeArrowheads="1"/>
          </p:cNvSpPr>
          <p:nvPr/>
        </p:nvSpPr>
        <p:spPr bwMode="auto">
          <a:xfrm>
            <a:off x="8544272" y="3735035"/>
            <a:ext cx="2292482" cy="7207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GB" altLang="en-US" sz="1800">
                <a:solidFill>
                  <a:schemeClr val="bg1"/>
                </a:solidFill>
              </a:rPr>
              <a:t>Name of publisher</a:t>
            </a:r>
          </a:p>
        </p:txBody>
      </p:sp>
      <p:sp>
        <p:nvSpPr>
          <p:cNvPr id="18445" name="Line 13"/>
          <p:cNvSpPr>
            <a:spLocks noChangeShapeType="1"/>
          </p:cNvSpPr>
          <p:nvPr/>
        </p:nvSpPr>
        <p:spPr bwMode="auto">
          <a:xfrm flipH="1" flipV="1">
            <a:off x="8646610" y="3317485"/>
            <a:ext cx="432048" cy="360040"/>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sz="1800"/>
          </a:p>
        </p:txBody>
      </p:sp>
      <p:sp>
        <p:nvSpPr>
          <p:cNvPr id="2" name="Rectangle 1"/>
          <p:cNvSpPr/>
          <p:nvPr/>
        </p:nvSpPr>
        <p:spPr>
          <a:xfrm>
            <a:off x="1575048" y="5589241"/>
            <a:ext cx="4953000" cy="646331"/>
          </a:xfrm>
          <a:prstGeom prst="rect">
            <a:avLst/>
          </a:prstGeom>
        </p:spPr>
        <p:txBody>
          <a:bodyPr wrap="square" lIns="91440" tIns="45720" rIns="91440" bIns="45720" anchor="t">
            <a:spAutoFit/>
          </a:bodyPr>
          <a:lstStyle/>
          <a:p>
            <a:r>
              <a:rPr lang="en-GB" sz="1800" b="1" dirty="0"/>
              <a:t>In-text citation </a:t>
            </a:r>
          </a:p>
          <a:p>
            <a:r>
              <a:rPr lang="en-GB" sz="1800" dirty="0"/>
              <a:t>Ashby (</a:t>
            </a:r>
            <a:r>
              <a:rPr lang="en-GB" dirty="0"/>
              <a:t>2013</a:t>
            </a:r>
            <a:r>
              <a:rPr lang="en-GB" sz="1800" dirty="0"/>
              <a:t>) explains that….</a:t>
            </a:r>
          </a:p>
        </p:txBody>
      </p:sp>
      <p:sp>
        <p:nvSpPr>
          <p:cNvPr id="16" name="Rectangle 12"/>
          <p:cNvSpPr>
            <a:spLocks noChangeArrowheads="1"/>
          </p:cNvSpPr>
          <p:nvPr/>
        </p:nvSpPr>
        <p:spPr bwMode="auto">
          <a:xfrm>
            <a:off x="5663952" y="3933057"/>
            <a:ext cx="2292482" cy="7207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GB" altLang="en-US" sz="1800">
                <a:solidFill>
                  <a:schemeClr val="bg1"/>
                </a:solidFill>
              </a:rPr>
              <a:t>Edition (if not first)</a:t>
            </a:r>
          </a:p>
        </p:txBody>
      </p:sp>
      <p:sp>
        <p:nvSpPr>
          <p:cNvPr id="17" name="Line 13"/>
          <p:cNvSpPr>
            <a:spLocks noChangeShapeType="1"/>
          </p:cNvSpPr>
          <p:nvPr/>
        </p:nvSpPr>
        <p:spPr bwMode="auto">
          <a:xfrm flipH="1" flipV="1">
            <a:off x="6370988" y="3465125"/>
            <a:ext cx="288032" cy="396044"/>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sz="1800"/>
          </a:p>
        </p:txBody>
      </p:sp>
      <p:sp>
        <p:nvSpPr>
          <p:cNvPr id="18" name="TextBox 17"/>
          <p:cNvSpPr txBox="1"/>
          <p:nvPr/>
        </p:nvSpPr>
        <p:spPr>
          <a:xfrm>
            <a:off x="7464152" y="4869160"/>
            <a:ext cx="3312368" cy="1477328"/>
          </a:xfrm>
          <a:prstGeom prst="rect">
            <a:avLst/>
          </a:prstGeom>
          <a:noFill/>
        </p:spPr>
        <p:txBody>
          <a:bodyPr wrap="square" rtlCol="0">
            <a:spAutoFit/>
          </a:bodyPr>
          <a:lstStyle/>
          <a:p>
            <a:r>
              <a:rPr lang="en-GB" sz="1800"/>
              <a:t>If a book does not mention which edition it is, that means it is a first edition and does not need the edition statement</a:t>
            </a:r>
          </a:p>
        </p:txBody>
      </p:sp>
    </p:spTree>
    <p:custDataLst>
      <p:tags r:id="rId1"/>
    </p:custDataLst>
    <p:extLst>
      <p:ext uri="{BB962C8B-B14F-4D97-AF65-F5344CB8AC3E}">
        <p14:creationId xmlns:p14="http://schemas.microsoft.com/office/powerpoint/2010/main" val="2575202868"/>
      </p:ext>
    </p:extLst>
  </p:cSld>
  <p:clrMapOvr>
    <a:masterClrMapping/>
  </p:clrMapOvr>
  <p:transition>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607312" y="1268760"/>
            <a:ext cx="8915400" cy="1008112"/>
          </a:xfrm>
        </p:spPr>
        <p:txBody>
          <a:bodyPr/>
          <a:lstStyle/>
          <a:p>
            <a:r>
              <a:rPr lang="en-GB" sz="2800" b="1" dirty="0"/>
              <a:t>Example of a journal article reference </a:t>
            </a:r>
            <a:br>
              <a:rPr lang="en-GB" sz="2600" dirty="0"/>
            </a:br>
            <a:r>
              <a:rPr lang="en-GB" sz="2600" dirty="0"/>
              <a:t>(Kara and Wrede 2022)</a:t>
            </a:r>
          </a:p>
        </p:txBody>
      </p:sp>
      <p:sp>
        <p:nvSpPr>
          <p:cNvPr id="25603" name="Text Box 3"/>
          <p:cNvSpPr txBox="1">
            <a:spLocks noChangeArrowheads="1"/>
          </p:cNvSpPr>
          <p:nvPr/>
        </p:nvSpPr>
        <p:spPr bwMode="auto">
          <a:xfrm>
            <a:off x="1471181" y="3643315"/>
            <a:ext cx="9362880" cy="1384995"/>
          </a:xfrm>
          <a:prstGeom prst="rect">
            <a:avLst/>
          </a:prstGeom>
          <a:noFill/>
          <a:ln w="9525">
            <a:noFill/>
            <a:miter lim="800000"/>
            <a:headEnd/>
            <a:tailEnd/>
          </a:ln>
        </p:spPr>
        <p:txBody>
          <a:bodyPr wrap="square">
            <a:spAutoFit/>
          </a:bodyPr>
          <a:lstStyle/>
          <a:p>
            <a:pPr>
              <a:spcBef>
                <a:spcPct val="50000"/>
              </a:spcBef>
            </a:pPr>
            <a:r>
              <a:rPr lang="en-GB" sz="2800" dirty="0">
                <a:cs typeface="Arial" charset="0"/>
              </a:rPr>
              <a:t>Kara, H. and Wrede, S. (2022) Love’s labour’s lost? Separation as a constraint on displays of transnational daughterhood. </a:t>
            </a:r>
            <a:r>
              <a:rPr lang="en-GB" sz="2800" i="1" dirty="0">
                <a:cs typeface="Arial" charset="0"/>
              </a:rPr>
              <a:t>Sociology </a:t>
            </a:r>
            <a:r>
              <a:rPr lang="en-GB" sz="2800" dirty="0">
                <a:cs typeface="Arial" charset="0"/>
              </a:rPr>
              <a:t>56(3), 522-537. </a:t>
            </a:r>
          </a:p>
        </p:txBody>
      </p:sp>
      <p:sp>
        <p:nvSpPr>
          <p:cNvPr id="175108" name="Rectangle 4"/>
          <p:cNvSpPr>
            <a:spLocks noChangeArrowheads="1"/>
          </p:cNvSpPr>
          <p:nvPr/>
        </p:nvSpPr>
        <p:spPr bwMode="auto">
          <a:xfrm>
            <a:off x="2071660" y="2643182"/>
            <a:ext cx="1950244" cy="71438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dirty="0">
                <a:cs typeface="Arial" charset="0"/>
              </a:rPr>
              <a:t>Author(s) -</a:t>
            </a:r>
          </a:p>
          <a:p>
            <a:pPr algn="ctr" eaLnBrk="1" hangingPunct="1"/>
            <a:r>
              <a:rPr lang="en-GB" sz="1800" dirty="0">
                <a:cs typeface="Arial" charset="0"/>
              </a:rPr>
              <a:t>(family name first)</a:t>
            </a:r>
          </a:p>
        </p:txBody>
      </p:sp>
      <p:sp>
        <p:nvSpPr>
          <p:cNvPr id="175110" name="Rectangle 6"/>
          <p:cNvSpPr>
            <a:spLocks noChangeArrowheads="1"/>
          </p:cNvSpPr>
          <p:nvPr/>
        </p:nvSpPr>
        <p:spPr bwMode="auto">
          <a:xfrm>
            <a:off x="5358178" y="2636992"/>
            <a:ext cx="1413669" cy="71438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dirty="0">
                <a:cs typeface="Arial" charset="0"/>
              </a:rPr>
              <a:t>(Year of </a:t>
            </a:r>
          </a:p>
          <a:p>
            <a:pPr algn="ctr" eaLnBrk="1" hangingPunct="1"/>
            <a:r>
              <a:rPr lang="en-GB" sz="1800" dirty="0">
                <a:cs typeface="Arial" charset="0"/>
              </a:rPr>
              <a:t>Publication)</a:t>
            </a:r>
          </a:p>
        </p:txBody>
      </p:sp>
      <p:sp>
        <p:nvSpPr>
          <p:cNvPr id="175111" name="Rectangle 7"/>
          <p:cNvSpPr>
            <a:spLocks noChangeArrowheads="1"/>
          </p:cNvSpPr>
          <p:nvPr/>
        </p:nvSpPr>
        <p:spPr bwMode="auto">
          <a:xfrm>
            <a:off x="7798607" y="2500306"/>
            <a:ext cx="1413669" cy="692150"/>
          </a:xfrm>
          <a:prstGeom prst="rect">
            <a:avLst/>
          </a:prstGeom>
          <a:solidFill>
            <a:schemeClr val="accent1"/>
          </a:solidFill>
          <a:ln w="76200">
            <a:solidFill>
              <a:schemeClr val="tx1"/>
            </a:solidFill>
            <a:miter lim="800000"/>
            <a:headEnd/>
            <a:tailEnd/>
          </a:ln>
        </p:spPr>
        <p:txBody>
          <a:bodyPr wrap="none" anchor="ctr"/>
          <a:lstStyle/>
          <a:p>
            <a:pPr algn="ctr" eaLnBrk="1" hangingPunct="1"/>
            <a:r>
              <a:rPr lang="en-GB" sz="1800" b="1" dirty="0">
                <a:cs typeface="Arial" charset="0"/>
              </a:rPr>
              <a:t>Article title</a:t>
            </a:r>
          </a:p>
        </p:txBody>
      </p:sp>
      <p:sp>
        <p:nvSpPr>
          <p:cNvPr id="175112" name="Line 8"/>
          <p:cNvSpPr>
            <a:spLocks noChangeShapeType="1"/>
          </p:cNvSpPr>
          <p:nvPr/>
        </p:nvSpPr>
        <p:spPr bwMode="auto">
          <a:xfrm>
            <a:off x="5907975" y="3351372"/>
            <a:ext cx="0" cy="288032"/>
          </a:xfrm>
          <a:prstGeom prst="line">
            <a:avLst/>
          </a:prstGeom>
          <a:noFill/>
          <a:ln w="9525">
            <a:solidFill>
              <a:schemeClr val="tx1"/>
            </a:solidFill>
            <a:round/>
            <a:headEnd/>
            <a:tailEnd type="triangle" w="med" len="med"/>
          </a:ln>
        </p:spPr>
        <p:txBody>
          <a:bodyPr/>
          <a:lstStyle/>
          <a:p>
            <a:endParaRPr lang="en-GB"/>
          </a:p>
        </p:txBody>
      </p:sp>
      <p:sp>
        <p:nvSpPr>
          <p:cNvPr id="175113" name="Line 9"/>
          <p:cNvSpPr>
            <a:spLocks noChangeShapeType="1"/>
          </p:cNvSpPr>
          <p:nvPr/>
        </p:nvSpPr>
        <p:spPr bwMode="auto">
          <a:xfrm>
            <a:off x="8417735" y="3214686"/>
            <a:ext cx="0" cy="500066"/>
          </a:xfrm>
          <a:prstGeom prst="line">
            <a:avLst/>
          </a:prstGeom>
          <a:noFill/>
          <a:ln w="76200">
            <a:solidFill>
              <a:schemeClr val="tx1"/>
            </a:solidFill>
            <a:round/>
            <a:headEnd/>
            <a:tailEnd type="triangle" w="med" len="med"/>
          </a:ln>
        </p:spPr>
        <p:txBody>
          <a:bodyPr/>
          <a:lstStyle/>
          <a:p>
            <a:endParaRPr lang="en-GB"/>
          </a:p>
        </p:txBody>
      </p:sp>
      <p:sp>
        <p:nvSpPr>
          <p:cNvPr id="175114" name="Rectangle 10"/>
          <p:cNvSpPr>
            <a:spLocks noChangeArrowheads="1"/>
          </p:cNvSpPr>
          <p:nvPr/>
        </p:nvSpPr>
        <p:spPr bwMode="auto">
          <a:xfrm>
            <a:off x="2273575" y="5733256"/>
            <a:ext cx="2786082" cy="539750"/>
          </a:xfrm>
          <a:prstGeom prst="rect">
            <a:avLst/>
          </a:prstGeom>
          <a:solidFill>
            <a:schemeClr val="accent1"/>
          </a:solidFill>
          <a:ln w="76200">
            <a:solidFill>
              <a:schemeClr val="tx1"/>
            </a:solidFill>
            <a:miter lim="800000"/>
            <a:headEnd/>
            <a:tailEnd/>
          </a:ln>
        </p:spPr>
        <p:txBody>
          <a:bodyPr wrap="none" anchor="ctr"/>
          <a:lstStyle/>
          <a:p>
            <a:pPr algn="ctr" eaLnBrk="1" hangingPunct="1"/>
            <a:r>
              <a:rPr lang="en-GB" sz="2000" b="1" i="1">
                <a:cs typeface="Arial" charset="0"/>
              </a:rPr>
              <a:t>Journal title</a:t>
            </a:r>
          </a:p>
        </p:txBody>
      </p:sp>
      <p:sp>
        <p:nvSpPr>
          <p:cNvPr id="175115" name="Line 11"/>
          <p:cNvSpPr>
            <a:spLocks noChangeShapeType="1"/>
          </p:cNvSpPr>
          <p:nvPr/>
        </p:nvSpPr>
        <p:spPr bwMode="auto">
          <a:xfrm flipH="1" flipV="1">
            <a:off x="4769853" y="4941168"/>
            <a:ext cx="0" cy="792088"/>
          </a:xfrm>
          <a:prstGeom prst="line">
            <a:avLst/>
          </a:prstGeom>
          <a:noFill/>
          <a:ln w="76200">
            <a:solidFill>
              <a:schemeClr val="tx1"/>
            </a:solidFill>
            <a:round/>
            <a:headEnd/>
            <a:tailEnd type="triangle" w="med" len="med"/>
          </a:ln>
        </p:spPr>
        <p:txBody>
          <a:bodyPr/>
          <a:lstStyle/>
          <a:p>
            <a:endParaRPr lang="en-GB"/>
          </a:p>
        </p:txBody>
      </p:sp>
      <p:sp>
        <p:nvSpPr>
          <p:cNvPr id="175116" name="Rectangle 12"/>
          <p:cNvSpPr>
            <a:spLocks noChangeArrowheads="1"/>
          </p:cNvSpPr>
          <p:nvPr/>
        </p:nvSpPr>
        <p:spPr bwMode="auto">
          <a:xfrm>
            <a:off x="5315914" y="5661248"/>
            <a:ext cx="1300163" cy="65405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dirty="0">
                <a:cs typeface="Arial" charset="0"/>
              </a:rPr>
              <a:t>Volume</a:t>
            </a:r>
          </a:p>
        </p:txBody>
      </p:sp>
      <p:sp>
        <p:nvSpPr>
          <p:cNvPr id="175117" name="Rectangle 13"/>
          <p:cNvSpPr>
            <a:spLocks noChangeArrowheads="1"/>
          </p:cNvSpPr>
          <p:nvPr/>
        </p:nvSpPr>
        <p:spPr bwMode="auto">
          <a:xfrm>
            <a:off x="6954096" y="5733258"/>
            <a:ext cx="1300163" cy="493713"/>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dirty="0">
                <a:cs typeface="Arial" charset="0"/>
              </a:rPr>
              <a:t>Issue</a:t>
            </a:r>
          </a:p>
        </p:txBody>
      </p:sp>
      <p:sp>
        <p:nvSpPr>
          <p:cNvPr id="175118" name="Rectangle 14"/>
          <p:cNvSpPr>
            <a:spLocks noChangeArrowheads="1"/>
          </p:cNvSpPr>
          <p:nvPr/>
        </p:nvSpPr>
        <p:spPr bwMode="auto">
          <a:xfrm>
            <a:off x="7798606" y="5145918"/>
            <a:ext cx="2089562" cy="382588"/>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a:cs typeface="Arial" charset="0"/>
              </a:rPr>
              <a:t>Page numbers</a:t>
            </a:r>
          </a:p>
        </p:txBody>
      </p:sp>
      <p:sp>
        <p:nvSpPr>
          <p:cNvPr id="175119" name="Line 15"/>
          <p:cNvSpPr>
            <a:spLocks noChangeShapeType="1"/>
          </p:cNvSpPr>
          <p:nvPr/>
        </p:nvSpPr>
        <p:spPr bwMode="auto">
          <a:xfrm flipV="1">
            <a:off x="5915393" y="5025542"/>
            <a:ext cx="0" cy="610977"/>
          </a:xfrm>
          <a:prstGeom prst="line">
            <a:avLst/>
          </a:prstGeom>
          <a:noFill/>
          <a:ln w="9525">
            <a:solidFill>
              <a:schemeClr val="tx1"/>
            </a:solidFill>
            <a:round/>
            <a:headEnd/>
            <a:tailEnd type="triangle" w="med" len="med"/>
          </a:ln>
        </p:spPr>
        <p:txBody>
          <a:bodyPr/>
          <a:lstStyle/>
          <a:p>
            <a:endParaRPr lang="en-GB"/>
          </a:p>
        </p:txBody>
      </p:sp>
      <p:sp>
        <p:nvSpPr>
          <p:cNvPr id="175120" name="Line 16"/>
          <p:cNvSpPr>
            <a:spLocks noChangeShapeType="1"/>
          </p:cNvSpPr>
          <p:nvPr/>
        </p:nvSpPr>
        <p:spPr bwMode="auto">
          <a:xfrm flipH="1" flipV="1">
            <a:off x="6312024" y="4971536"/>
            <a:ext cx="792088" cy="768275"/>
          </a:xfrm>
          <a:prstGeom prst="line">
            <a:avLst/>
          </a:prstGeom>
          <a:noFill/>
          <a:ln w="9525">
            <a:solidFill>
              <a:schemeClr val="tx1"/>
            </a:solidFill>
            <a:round/>
            <a:headEnd/>
            <a:tailEnd type="triangle" w="med" len="med"/>
          </a:ln>
        </p:spPr>
        <p:txBody>
          <a:bodyPr/>
          <a:lstStyle/>
          <a:p>
            <a:endParaRPr lang="en-GB"/>
          </a:p>
        </p:txBody>
      </p:sp>
      <p:sp>
        <p:nvSpPr>
          <p:cNvPr id="175121" name="Line 17"/>
          <p:cNvSpPr>
            <a:spLocks noChangeShapeType="1"/>
          </p:cNvSpPr>
          <p:nvPr/>
        </p:nvSpPr>
        <p:spPr bwMode="auto">
          <a:xfrm flipH="1" flipV="1">
            <a:off x="8155114" y="4854661"/>
            <a:ext cx="706092" cy="348766"/>
          </a:xfrm>
          <a:prstGeom prst="line">
            <a:avLst/>
          </a:prstGeom>
          <a:noFill/>
          <a:ln w="9525">
            <a:solidFill>
              <a:schemeClr val="tx1"/>
            </a:solidFill>
            <a:round/>
            <a:headEnd/>
            <a:tailEnd type="triangle" w="med" len="med"/>
          </a:ln>
        </p:spPr>
        <p:txBody>
          <a:bodyPr/>
          <a:lstStyle/>
          <a:p>
            <a:endParaRPr lang="en-GB"/>
          </a:p>
        </p:txBody>
      </p:sp>
      <p:sp>
        <p:nvSpPr>
          <p:cNvPr id="25617" name="Line 18"/>
          <p:cNvSpPr>
            <a:spLocks noChangeShapeType="1"/>
          </p:cNvSpPr>
          <p:nvPr/>
        </p:nvSpPr>
        <p:spPr bwMode="auto">
          <a:xfrm>
            <a:off x="2922962" y="3357562"/>
            <a:ext cx="2002908" cy="359470"/>
          </a:xfrm>
          <a:prstGeom prst="line">
            <a:avLst/>
          </a:prstGeom>
          <a:noFill/>
          <a:ln w="9525">
            <a:solidFill>
              <a:schemeClr val="tx1"/>
            </a:solidFill>
            <a:miter lim="800000"/>
            <a:headEnd/>
            <a:tailEnd type="triangle" w="med" len="med"/>
          </a:ln>
        </p:spPr>
        <p:txBody>
          <a:bodyPr wrap="none"/>
          <a:lstStyle/>
          <a:p>
            <a:endParaRPr lang="en-GB"/>
          </a:p>
        </p:txBody>
      </p:sp>
      <p:sp>
        <p:nvSpPr>
          <p:cNvPr id="25618" name="Line 19"/>
          <p:cNvSpPr>
            <a:spLocks noChangeShapeType="1"/>
          </p:cNvSpPr>
          <p:nvPr/>
        </p:nvSpPr>
        <p:spPr bwMode="auto">
          <a:xfrm flipH="1">
            <a:off x="2613398" y="3357564"/>
            <a:ext cx="309565" cy="339725"/>
          </a:xfrm>
          <a:prstGeom prst="line">
            <a:avLst/>
          </a:prstGeom>
          <a:noFill/>
          <a:ln w="9525">
            <a:solidFill>
              <a:schemeClr val="tx1"/>
            </a:solidFill>
            <a:miter lim="800000"/>
            <a:headEnd/>
            <a:tailEnd type="triangle" w="med" len="med"/>
          </a:ln>
        </p:spPr>
        <p:txBody>
          <a:bodyPr wrap="none"/>
          <a:lstStyle/>
          <a:p>
            <a:endParaRPr lang="en-GB"/>
          </a:p>
        </p:txBody>
      </p:sp>
    </p:spTree>
    <p:extLst>
      <p:ext uri="{BB962C8B-B14F-4D97-AF65-F5344CB8AC3E}">
        <p14:creationId xmlns:p14="http://schemas.microsoft.com/office/powerpoint/2010/main" val="3450475771"/>
      </p:ext>
    </p:extLst>
  </p:cSld>
  <p:clrMapOvr>
    <a:masterClrMapping/>
  </p:clrMapOvr>
  <p:transition spd="med">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GB" sz="2800" b="1" dirty="0"/>
              <a:t>Example of a website reference</a:t>
            </a:r>
            <a:br>
              <a:rPr lang="en-GB" sz="2600" dirty="0"/>
            </a:br>
            <a:r>
              <a:rPr lang="en-GB" sz="2600" dirty="0"/>
              <a:t>(Howard League for Penal Reform 2019)</a:t>
            </a:r>
          </a:p>
        </p:txBody>
      </p:sp>
      <p:sp>
        <p:nvSpPr>
          <p:cNvPr id="34819" name="Text Box 3"/>
          <p:cNvSpPr txBox="1">
            <a:spLocks noChangeArrowheads="1"/>
          </p:cNvSpPr>
          <p:nvPr/>
        </p:nvSpPr>
        <p:spPr bwMode="auto">
          <a:xfrm>
            <a:off x="1552853" y="3457877"/>
            <a:ext cx="8989641" cy="1384995"/>
          </a:xfrm>
          <a:prstGeom prst="rect">
            <a:avLst/>
          </a:prstGeom>
          <a:noFill/>
          <a:ln w="9525">
            <a:noFill/>
            <a:miter lim="800000"/>
            <a:headEnd/>
            <a:tailEnd/>
          </a:ln>
        </p:spPr>
        <p:txBody>
          <a:bodyPr wrap="square" lIns="91440" tIns="45720" rIns="91440" bIns="45720" anchor="t">
            <a:spAutoFit/>
          </a:bodyPr>
          <a:lstStyle/>
          <a:p>
            <a:r>
              <a:rPr lang="en-GB" sz="2800" dirty="0">
                <a:cs typeface="Arial" charset="0"/>
              </a:rPr>
              <a:t>Howard League for Penal Reform (2019) </a:t>
            </a:r>
            <a:r>
              <a:rPr lang="en-GB" sz="2800" i="1" dirty="0">
                <a:cs typeface="Arial" charset="0"/>
              </a:rPr>
              <a:t>Prison watch.  </a:t>
            </a:r>
            <a:endParaRPr lang="en-GB" sz="2800" dirty="0">
              <a:cs typeface="Arial" charset="0"/>
            </a:endParaRPr>
          </a:p>
          <a:p>
            <a:r>
              <a:rPr lang="en-GB" sz="2800" dirty="0">
                <a:latin typeface="Calibri"/>
                <a:ea typeface="ＭＳ Ｐゴシック"/>
                <a:hlinkClick r:id="rId2"/>
              </a:rPr>
              <a:t>https://howardleague.org/prisons-information/prison-watch/</a:t>
            </a:r>
            <a:r>
              <a:rPr lang="en-GB" sz="2800" dirty="0">
                <a:latin typeface="Calibri"/>
                <a:ea typeface="ＭＳ Ｐゴシック"/>
              </a:rPr>
              <a:t> </a:t>
            </a:r>
            <a:r>
              <a:rPr lang="en-GB" sz="2800" dirty="0">
                <a:latin typeface="Calibri"/>
                <a:ea typeface="ＭＳ Ｐゴシック"/>
                <a:cs typeface="Arial"/>
              </a:rPr>
              <a:t>Accessed 14 October 2022. </a:t>
            </a:r>
            <a:endParaRPr lang="en-GB" sz="2800" i="1" dirty="0">
              <a:cs typeface="Arial" charset="0"/>
            </a:endParaRPr>
          </a:p>
        </p:txBody>
      </p:sp>
      <p:sp>
        <p:nvSpPr>
          <p:cNvPr id="177156" name="Rectangle 4"/>
          <p:cNvSpPr>
            <a:spLocks noChangeArrowheads="1"/>
          </p:cNvSpPr>
          <p:nvPr/>
        </p:nvSpPr>
        <p:spPr bwMode="auto">
          <a:xfrm>
            <a:off x="1883533" y="2564904"/>
            <a:ext cx="1547823" cy="71438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dirty="0">
                <a:cs typeface="Arial" charset="0"/>
              </a:rPr>
              <a:t>Institutional </a:t>
            </a:r>
          </a:p>
          <a:p>
            <a:pPr algn="ctr" eaLnBrk="1" hangingPunct="1"/>
            <a:r>
              <a:rPr lang="en-GB" sz="1800" dirty="0">
                <a:cs typeface="Arial" charset="0"/>
              </a:rPr>
              <a:t>Author</a:t>
            </a:r>
          </a:p>
        </p:txBody>
      </p:sp>
      <p:sp>
        <p:nvSpPr>
          <p:cNvPr id="177157" name="Rectangle 5"/>
          <p:cNvSpPr>
            <a:spLocks noChangeArrowheads="1"/>
          </p:cNvSpPr>
          <p:nvPr/>
        </p:nvSpPr>
        <p:spPr bwMode="auto">
          <a:xfrm>
            <a:off x="6720070" y="2492896"/>
            <a:ext cx="1363794" cy="71438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dirty="0">
                <a:cs typeface="Arial" charset="0"/>
              </a:rPr>
              <a:t>(Year of</a:t>
            </a:r>
          </a:p>
          <a:p>
            <a:pPr algn="ctr" eaLnBrk="1" hangingPunct="1"/>
            <a:r>
              <a:rPr lang="en-GB" sz="1800" dirty="0">
                <a:cs typeface="Arial" charset="0"/>
              </a:rPr>
              <a:t>Publication)</a:t>
            </a:r>
          </a:p>
        </p:txBody>
      </p:sp>
      <p:sp>
        <p:nvSpPr>
          <p:cNvPr id="177158" name="Rectangle 6"/>
          <p:cNvSpPr>
            <a:spLocks noChangeArrowheads="1"/>
          </p:cNvSpPr>
          <p:nvPr/>
        </p:nvSpPr>
        <p:spPr bwMode="auto">
          <a:xfrm>
            <a:off x="8280243" y="2492896"/>
            <a:ext cx="1625215" cy="71438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i="1">
                <a:cs typeface="Arial" charset="0"/>
              </a:rPr>
              <a:t>Source title</a:t>
            </a:r>
          </a:p>
        </p:txBody>
      </p:sp>
      <p:sp>
        <p:nvSpPr>
          <p:cNvPr id="177161" name="Rectangle 9"/>
          <p:cNvSpPr>
            <a:spLocks noChangeArrowheads="1"/>
          </p:cNvSpPr>
          <p:nvPr/>
        </p:nvSpPr>
        <p:spPr bwMode="auto">
          <a:xfrm>
            <a:off x="9909152" y="4870396"/>
            <a:ext cx="1608005" cy="4953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dirty="0">
                <a:cs typeface="Arial" charset="0"/>
              </a:rPr>
              <a:t>Web address</a:t>
            </a:r>
          </a:p>
        </p:txBody>
      </p:sp>
      <p:sp>
        <p:nvSpPr>
          <p:cNvPr id="177162" name="Rectangle 10"/>
          <p:cNvSpPr>
            <a:spLocks noChangeArrowheads="1"/>
          </p:cNvSpPr>
          <p:nvPr/>
        </p:nvSpPr>
        <p:spPr bwMode="auto">
          <a:xfrm>
            <a:off x="2628689" y="5620468"/>
            <a:ext cx="2000117" cy="720725"/>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GB" sz="1800" dirty="0">
                <a:cs typeface="Arial" charset="0"/>
              </a:rPr>
              <a:t>Date accessed</a:t>
            </a:r>
          </a:p>
        </p:txBody>
      </p:sp>
      <p:sp>
        <p:nvSpPr>
          <p:cNvPr id="177163" name="Line 11"/>
          <p:cNvSpPr>
            <a:spLocks noChangeShapeType="1"/>
          </p:cNvSpPr>
          <p:nvPr/>
        </p:nvSpPr>
        <p:spPr bwMode="auto">
          <a:xfrm>
            <a:off x="2690788" y="3286124"/>
            <a:ext cx="232174" cy="357190"/>
          </a:xfrm>
          <a:prstGeom prst="line">
            <a:avLst/>
          </a:prstGeom>
          <a:noFill/>
          <a:ln w="9525">
            <a:solidFill>
              <a:schemeClr val="tx1"/>
            </a:solidFill>
            <a:round/>
            <a:headEnd/>
            <a:tailEnd type="triangle" w="med" len="med"/>
          </a:ln>
        </p:spPr>
        <p:txBody>
          <a:bodyPr/>
          <a:lstStyle/>
          <a:p>
            <a:endParaRPr lang="en-GB"/>
          </a:p>
        </p:txBody>
      </p:sp>
      <p:sp>
        <p:nvSpPr>
          <p:cNvPr id="177164" name="Line 12"/>
          <p:cNvSpPr>
            <a:spLocks noChangeShapeType="1"/>
          </p:cNvSpPr>
          <p:nvPr/>
        </p:nvSpPr>
        <p:spPr bwMode="auto">
          <a:xfrm flipH="1">
            <a:off x="7320136" y="3270485"/>
            <a:ext cx="258792" cy="242620"/>
          </a:xfrm>
          <a:prstGeom prst="line">
            <a:avLst/>
          </a:prstGeom>
          <a:noFill/>
          <a:ln w="9525">
            <a:solidFill>
              <a:schemeClr val="tx1"/>
            </a:solidFill>
            <a:round/>
            <a:headEnd/>
            <a:tailEnd type="triangle" w="med" len="med"/>
          </a:ln>
        </p:spPr>
        <p:txBody>
          <a:bodyPr/>
          <a:lstStyle/>
          <a:p>
            <a:endParaRPr lang="en-GB"/>
          </a:p>
        </p:txBody>
      </p:sp>
      <p:sp>
        <p:nvSpPr>
          <p:cNvPr id="177165" name="Line 13"/>
          <p:cNvSpPr>
            <a:spLocks noChangeShapeType="1"/>
          </p:cNvSpPr>
          <p:nvPr/>
        </p:nvSpPr>
        <p:spPr bwMode="auto">
          <a:xfrm flipH="1">
            <a:off x="8670286" y="3212976"/>
            <a:ext cx="0" cy="357190"/>
          </a:xfrm>
          <a:prstGeom prst="line">
            <a:avLst/>
          </a:prstGeom>
          <a:noFill/>
          <a:ln w="9525">
            <a:solidFill>
              <a:schemeClr val="tx1"/>
            </a:solidFill>
            <a:round/>
            <a:headEnd/>
            <a:tailEnd type="triangle" w="med" len="med"/>
          </a:ln>
        </p:spPr>
        <p:txBody>
          <a:bodyPr/>
          <a:lstStyle/>
          <a:p>
            <a:endParaRPr lang="en-GB"/>
          </a:p>
        </p:txBody>
      </p:sp>
      <p:sp>
        <p:nvSpPr>
          <p:cNvPr id="177168" name="Line 16"/>
          <p:cNvSpPr>
            <a:spLocks noChangeShapeType="1"/>
          </p:cNvSpPr>
          <p:nvPr/>
        </p:nvSpPr>
        <p:spPr bwMode="auto">
          <a:xfrm flipH="1" flipV="1">
            <a:off x="3503834" y="4888475"/>
            <a:ext cx="10806" cy="467567"/>
          </a:xfrm>
          <a:prstGeom prst="line">
            <a:avLst/>
          </a:prstGeom>
          <a:noFill/>
          <a:ln w="9525">
            <a:solidFill>
              <a:schemeClr val="tx1"/>
            </a:solidFill>
            <a:round/>
            <a:headEnd/>
            <a:tailEnd type="triangle" w="med" len="med"/>
          </a:ln>
        </p:spPr>
        <p:txBody>
          <a:bodyPr/>
          <a:lstStyle/>
          <a:p>
            <a:endParaRPr lang="en-GB"/>
          </a:p>
        </p:txBody>
      </p:sp>
      <p:sp>
        <p:nvSpPr>
          <p:cNvPr id="177169" name="Line 17"/>
          <p:cNvSpPr>
            <a:spLocks noChangeShapeType="1"/>
          </p:cNvSpPr>
          <p:nvPr/>
        </p:nvSpPr>
        <p:spPr bwMode="auto">
          <a:xfrm flipV="1">
            <a:off x="8774795" y="4509120"/>
            <a:ext cx="992037" cy="440847"/>
          </a:xfrm>
          <a:prstGeom prst="line">
            <a:avLst/>
          </a:prstGeom>
          <a:noFill/>
          <a:ln w="9525">
            <a:solidFill>
              <a:schemeClr val="tx1"/>
            </a:solidFill>
            <a:round/>
            <a:headEnd/>
            <a:tailEnd type="triangle" w="med" len="med"/>
          </a:ln>
        </p:spPr>
        <p:txBody>
          <a:bodyPr/>
          <a:lstStyle/>
          <a:p>
            <a:endParaRPr lang="en-GB"/>
          </a:p>
        </p:txBody>
      </p:sp>
    </p:spTree>
    <p:extLst>
      <p:ext uri="{BB962C8B-B14F-4D97-AF65-F5344CB8AC3E}">
        <p14:creationId xmlns:p14="http://schemas.microsoft.com/office/powerpoint/2010/main" val="263911856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1559496" y="1052736"/>
            <a:ext cx="8915400" cy="590550"/>
          </a:xfrm>
        </p:spPr>
        <p:txBody>
          <a:bodyPr>
            <a:normAutofit/>
          </a:bodyPr>
          <a:lstStyle/>
          <a:p>
            <a:r>
              <a:rPr lang="en-GB"/>
              <a:t>An example of part of a reference list</a:t>
            </a:r>
          </a:p>
        </p:txBody>
      </p:sp>
      <p:sp>
        <p:nvSpPr>
          <p:cNvPr id="49154" name="Rectangle 3"/>
          <p:cNvSpPr>
            <a:spLocks noGrp="1" noChangeArrowheads="1"/>
          </p:cNvSpPr>
          <p:nvPr>
            <p:ph type="body" idx="1"/>
          </p:nvPr>
        </p:nvSpPr>
        <p:spPr>
          <a:xfrm>
            <a:off x="1559496" y="1988841"/>
            <a:ext cx="8997950" cy="3732661"/>
          </a:xfrm>
        </p:spPr>
        <p:txBody>
          <a:bodyPr>
            <a:normAutofit/>
          </a:bodyPr>
          <a:lstStyle/>
          <a:p>
            <a:pPr>
              <a:buNone/>
            </a:pPr>
            <a:r>
              <a:rPr lang="en-GB" sz="2000"/>
              <a:t>British Computer Society (2014). </a:t>
            </a:r>
            <a:r>
              <a:rPr lang="en-GB" sz="2000" i="1"/>
              <a:t>IT user qualifications.</a:t>
            </a:r>
            <a:r>
              <a:rPr lang="en-GB" sz="2000"/>
              <a:t> </a:t>
            </a:r>
            <a:r>
              <a:rPr lang="en-GB" sz="2000" i="1">
                <a:hlinkClick r:id="rId2"/>
              </a:rPr>
              <a:t>http://www.bcs.org/category/14405</a:t>
            </a:r>
            <a:r>
              <a:rPr lang="en-GB" sz="2000"/>
              <a:t> (Accessed: 22 July 2014).</a:t>
            </a:r>
          </a:p>
          <a:p>
            <a:pPr>
              <a:buFontTx/>
              <a:buNone/>
            </a:pPr>
            <a:r>
              <a:rPr lang="en-GB" sz="2000"/>
              <a:t>OECD, The. (2003) </a:t>
            </a:r>
            <a:r>
              <a:rPr lang="en-GB" sz="2000" i="1"/>
              <a:t>Cities: not as bad as we all thought</a:t>
            </a:r>
            <a:r>
              <a:rPr lang="en-GB" sz="2000"/>
              <a:t>. OECD, New York.</a:t>
            </a:r>
          </a:p>
          <a:p>
            <a:pPr>
              <a:buFontTx/>
              <a:buNone/>
            </a:pPr>
            <a:r>
              <a:rPr lang="en-GB" sz="2000"/>
              <a:t>Ritchie, M. (2002) Be a local hero: strengthening our communities, health and environment by eating local. In </a:t>
            </a:r>
            <a:r>
              <a:rPr lang="en-GB" sz="2000" err="1"/>
              <a:t>Schor</a:t>
            </a:r>
            <a:r>
              <a:rPr lang="en-GB" sz="2000"/>
              <a:t>, J. and Taylor, B. (editors) </a:t>
            </a:r>
            <a:r>
              <a:rPr lang="en-GB" sz="2000" i="1"/>
              <a:t>Sustainable planet.</a:t>
            </a:r>
            <a:r>
              <a:rPr lang="en-GB" sz="2000"/>
              <a:t> Boston: Beacon Press.</a:t>
            </a:r>
          </a:p>
          <a:p>
            <a:pPr>
              <a:buFontTx/>
              <a:buNone/>
            </a:pPr>
            <a:r>
              <a:rPr lang="en-GB" sz="2000"/>
              <a:t>Smith, J. (2001) What can we do about Bradford? </a:t>
            </a:r>
            <a:r>
              <a:rPr lang="en-GB" sz="2000" i="1"/>
              <a:t>City regeneration</a:t>
            </a:r>
            <a:r>
              <a:rPr lang="en-GB" sz="2000"/>
              <a:t> 45(10), 999-1004.</a:t>
            </a:r>
          </a:p>
          <a:p>
            <a:pPr>
              <a:buNone/>
            </a:pPr>
            <a:r>
              <a:rPr lang="en-GB" sz="2000"/>
              <a:t>Xu, M., Khan, P. and Robinson, F. (2007) It takes a village to save a world. </a:t>
            </a:r>
            <a:r>
              <a:rPr lang="en-GB" sz="2000" i="1"/>
              <a:t>Sustainability quarterly</a:t>
            </a:r>
            <a:r>
              <a:rPr lang="en-GB" sz="2000"/>
              <a:t> 17(2) 156-79.</a:t>
            </a:r>
          </a:p>
          <a:p>
            <a:pPr>
              <a:buFontTx/>
              <a:buNone/>
            </a:pPr>
            <a:endParaRPr lang="en-GB" sz="2000"/>
          </a:p>
        </p:txBody>
      </p:sp>
      <p:sp>
        <p:nvSpPr>
          <p:cNvPr id="2" name="Date Placeholder 1"/>
          <p:cNvSpPr>
            <a:spLocks noGrp="1"/>
          </p:cNvSpPr>
          <p:nvPr>
            <p:ph type="dt" sz="half" idx="10"/>
          </p:nvPr>
        </p:nvSpPr>
        <p:spPr/>
        <p:txBody>
          <a:bodyPr/>
          <a:lstStyle/>
          <a:p>
            <a:fld id="{9AD33583-5C1E-4680-8E73-88031D4C992A}" type="datetime4">
              <a:rPr lang="en-GB" smtClean="0"/>
              <a:t>26 September 2025</a:t>
            </a:fld>
            <a:endParaRPr lang="en-GB"/>
          </a:p>
        </p:txBody>
      </p:sp>
      <p:sp>
        <p:nvSpPr>
          <p:cNvPr id="3" name="Slide Number Placeholder 2"/>
          <p:cNvSpPr>
            <a:spLocks noGrp="1"/>
          </p:cNvSpPr>
          <p:nvPr>
            <p:ph type="sldNum" sz="quarter" idx="12"/>
          </p:nvPr>
        </p:nvSpPr>
        <p:spPr/>
        <p:txBody>
          <a:bodyPr/>
          <a:lstStyle/>
          <a:p>
            <a:fld id="{653FF254-26D3-4E50-98DF-6C68BE574C8B}" type="slidenum">
              <a:rPr lang="en-GB" smtClean="0"/>
              <a:pPr/>
              <a:t>43</a:t>
            </a:fld>
            <a:endParaRPr lang="en-GB"/>
          </a:p>
        </p:txBody>
      </p:sp>
    </p:spTree>
    <p:extLst>
      <p:ext uri="{BB962C8B-B14F-4D97-AF65-F5344CB8AC3E}">
        <p14:creationId xmlns:p14="http://schemas.microsoft.com/office/powerpoint/2010/main" val="37873621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DCF6946-9820-1CBB-73FB-1ADE78CB135A}"/>
              </a:ext>
            </a:extLst>
          </p:cNvPr>
          <p:cNvSpPr>
            <a:spLocks noGrp="1"/>
          </p:cNvSpPr>
          <p:nvPr>
            <p:ph type="title"/>
          </p:nvPr>
        </p:nvSpPr>
        <p:spPr/>
        <p:txBody>
          <a:bodyPr/>
          <a:lstStyle/>
          <a:p>
            <a:r>
              <a:rPr lang="en-US">
                <a:cs typeface="Arial"/>
              </a:rPr>
              <a:t>Help with citing and referencing</a:t>
            </a:r>
            <a:endParaRPr lang="en-US"/>
          </a:p>
        </p:txBody>
      </p:sp>
      <p:sp>
        <p:nvSpPr>
          <p:cNvPr id="5" name="Content Placeholder 4">
            <a:extLst>
              <a:ext uri="{FF2B5EF4-FFF2-40B4-BE49-F238E27FC236}">
                <a16:creationId xmlns:a16="http://schemas.microsoft.com/office/drawing/2014/main" id="{94D99079-BC98-010B-7E72-4C06F0B11C2B}"/>
              </a:ext>
            </a:extLst>
          </p:cNvPr>
          <p:cNvSpPr>
            <a:spLocks noGrp="1"/>
          </p:cNvSpPr>
          <p:nvPr>
            <p:ph idx="1"/>
          </p:nvPr>
        </p:nvSpPr>
        <p:spPr/>
        <p:txBody>
          <a:bodyPr vert="horz" lIns="91440" tIns="45720" rIns="91440" bIns="45720" rtlCol="0" anchor="t">
            <a:normAutofit lnSpcReduction="10000"/>
          </a:bodyPr>
          <a:lstStyle/>
          <a:p>
            <a:r>
              <a:rPr lang="en-GB" sz="2600" dirty="0">
                <a:solidFill>
                  <a:srgbClr val="00383B"/>
                </a:solidFill>
                <a:ea typeface="+mn-lt"/>
                <a:cs typeface="+mn-lt"/>
                <a:hlinkClick r:id="rId2"/>
              </a:rPr>
              <a:t>https://www.bradford.ac.uk/library/help/referencing-and-plagiarism/</a:t>
            </a:r>
            <a:r>
              <a:rPr lang="en-GB" sz="2600" dirty="0">
                <a:solidFill>
                  <a:srgbClr val="00383B"/>
                </a:solidFill>
                <a:ea typeface="+mn-lt"/>
                <a:cs typeface="+mn-lt"/>
              </a:rPr>
              <a:t> </a:t>
            </a:r>
          </a:p>
          <a:p>
            <a:r>
              <a:rPr lang="en-GB" dirty="0">
                <a:solidFill>
                  <a:srgbClr val="00383B"/>
                </a:solidFill>
                <a:cs typeface="Arial"/>
                <a:hlinkClick r:id="rId3"/>
              </a:rPr>
              <a:t>https://bradford.instructure.com/courses/9626/pages/good-academic-pratice-for-final-year-projects?module_item_id=109497</a:t>
            </a:r>
            <a:r>
              <a:rPr lang="en-GB" dirty="0">
                <a:solidFill>
                  <a:srgbClr val="000000"/>
                </a:solidFill>
                <a:cs typeface="Arial"/>
              </a:rPr>
              <a:t> </a:t>
            </a:r>
            <a:endParaRPr lang="en-GB" sz="2600" dirty="0">
              <a:solidFill>
                <a:srgbClr val="00383B"/>
              </a:solidFill>
              <a:cs typeface="Arial"/>
            </a:endParaRPr>
          </a:p>
          <a:p>
            <a:endParaRPr lang="en-GB" sz="2600">
              <a:solidFill>
                <a:srgbClr val="00383B"/>
              </a:solidFill>
              <a:cs typeface="Arial"/>
            </a:endParaRPr>
          </a:p>
          <a:p>
            <a:r>
              <a:rPr lang="en-GB" sz="2600" dirty="0">
                <a:solidFill>
                  <a:srgbClr val="00383B"/>
                </a:solidFill>
                <a:cs typeface="Arial"/>
              </a:rPr>
              <a:t>There are online generators that can help you:</a:t>
            </a:r>
            <a:endParaRPr lang="en-US" sz="2600" dirty="0">
              <a:cs typeface="Arial"/>
            </a:endParaRPr>
          </a:p>
          <a:p>
            <a:pPr lvl="1"/>
            <a:r>
              <a:rPr lang="en-GB" sz="2600" dirty="0">
                <a:cs typeface="Arial"/>
                <a:hlinkClick r:id="rId4"/>
              </a:rPr>
              <a:t>Bibcitation</a:t>
            </a:r>
            <a:r>
              <a:rPr lang="en-GB" sz="2600" dirty="0">
                <a:solidFill>
                  <a:srgbClr val="00383B"/>
                </a:solidFill>
                <a:cs typeface="Arial"/>
              </a:rPr>
              <a:t>, </a:t>
            </a:r>
            <a:r>
              <a:rPr lang="en-GB" sz="2600" dirty="0">
                <a:cs typeface="Arial"/>
                <a:hlinkClick r:id="rId5"/>
              </a:rPr>
              <a:t>Mybib</a:t>
            </a:r>
            <a:r>
              <a:rPr lang="en-GB" sz="2600" dirty="0">
                <a:solidFill>
                  <a:srgbClr val="00383B"/>
                </a:solidFill>
                <a:cs typeface="Arial"/>
              </a:rPr>
              <a:t> or </a:t>
            </a:r>
            <a:r>
              <a:rPr lang="en-GB" sz="2600" dirty="0">
                <a:cs typeface="Arial"/>
                <a:hlinkClick r:id="rId6"/>
              </a:rPr>
              <a:t>Zoterobib</a:t>
            </a:r>
            <a:r>
              <a:rPr lang="en-GB" sz="2600" dirty="0">
                <a:solidFill>
                  <a:srgbClr val="00383B"/>
                </a:solidFill>
                <a:cs typeface="Arial"/>
              </a:rPr>
              <a:t>  have our style, University of Bradford Harvard. </a:t>
            </a:r>
            <a:endParaRPr lang="en-GB" dirty="0">
              <a:solidFill>
                <a:srgbClr val="000000"/>
              </a:solidFill>
              <a:cs typeface="Arial"/>
            </a:endParaRPr>
          </a:p>
          <a:p>
            <a:pPr lvl="1"/>
            <a:r>
              <a:rPr lang="en-GB" sz="2600" dirty="0">
                <a:solidFill>
                  <a:srgbClr val="00383B"/>
                </a:solidFill>
                <a:cs typeface="Arial"/>
              </a:rPr>
              <a:t>Don't use </a:t>
            </a:r>
            <a:r>
              <a:rPr lang="en-GB" sz="2600" dirty="0" err="1">
                <a:solidFill>
                  <a:srgbClr val="00383B"/>
                </a:solidFill>
                <a:cs typeface="Arial"/>
              </a:rPr>
              <a:t>citethisforme</a:t>
            </a:r>
            <a:r>
              <a:rPr lang="en-GB" sz="2600" dirty="0">
                <a:solidFill>
                  <a:srgbClr val="00383B"/>
                </a:solidFill>
                <a:cs typeface="Arial"/>
              </a:rPr>
              <a:t>!</a:t>
            </a:r>
            <a:endParaRPr lang="en-GB" dirty="0">
              <a:cs typeface="Arial"/>
            </a:endParaRPr>
          </a:p>
        </p:txBody>
      </p:sp>
      <p:sp>
        <p:nvSpPr>
          <p:cNvPr id="2" name="Date Placeholder 1">
            <a:extLst>
              <a:ext uri="{FF2B5EF4-FFF2-40B4-BE49-F238E27FC236}">
                <a16:creationId xmlns:a16="http://schemas.microsoft.com/office/drawing/2014/main" id="{14F8962B-8D99-CEE1-EAD7-E9EBFAFC7806}"/>
              </a:ext>
            </a:extLst>
          </p:cNvPr>
          <p:cNvSpPr>
            <a:spLocks noGrp="1"/>
          </p:cNvSpPr>
          <p:nvPr>
            <p:ph type="dt" sz="half" idx="10"/>
          </p:nvPr>
        </p:nvSpPr>
        <p:spPr/>
        <p:txBody>
          <a:bodyPr/>
          <a:lstStyle/>
          <a:p>
            <a:fld id="{239DC724-34A1-45E6-B8BF-3E41D8F8089E}" type="datetime1">
              <a:rPr lang="en-GB" smtClean="0"/>
              <a:pPr/>
              <a:t>26/09/2025</a:t>
            </a:fld>
            <a:endParaRPr lang="en-GB"/>
          </a:p>
        </p:txBody>
      </p:sp>
      <p:sp>
        <p:nvSpPr>
          <p:cNvPr id="4" name="Footer Placeholder 3">
            <a:extLst>
              <a:ext uri="{FF2B5EF4-FFF2-40B4-BE49-F238E27FC236}">
                <a16:creationId xmlns:a16="http://schemas.microsoft.com/office/drawing/2014/main" id="{8C2E8B48-47C6-AB3A-DEF0-E170FBF63FB8}"/>
              </a:ext>
            </a:extLst>
          </p:cNvPr>
          <p:cNvSpPr>
            <a:spLocks noGrp="1"/>
          </p:cNvSpPr>
          <p:nvPr>
            <p:ph type="ftr" sz="quarter" idx="11"/>
          </p:nvPr>
        </p:nvSpPr>
        <p:spPr/>
        <p:txBody>
          <a:bodyPr/>
          <a:lstStyle/>
          <a:p>
            <a:r>
              <a:rPr lang="en-GB"/>
              <a:t>Brand</a:t>
            </a:r>
          </a:p>
        </p:txBody>
      </p:sp>
      <p:sp>
        <p:nvSpPr>
          <p:cNvPr id="3" name="Slide Number Placeholder 2">
            <a:extLst>
              <a:ext uri="{FF2B5EF4-FFF2-40B4-BE49-F238E27FC236}">
                <a16:creationId xmlns:a16="http://schemas.microsoft.com/office/drawing/2014/main" id="{0887E7F4-9ED4-998D-9AC6-F7DCDAE508F1}"/>
              </a:ext>
            </a:extLst>
          </p:cNvPr>
          <p:cNvSpPr>
            <a:spLocks noGrp="1"/>
          </p:cNvSpPr>
          <p:nvPr>
            <p:ph type="sldNum" sz="quarter" idx="12"/>
          </p:nvPr>
        </p:nvSpPr>
        <p:spPr/>
        <p:txBody>
          <a:bodyPr/>
          <a:lstStyle/>
          <a:p>
            <a:fld id="{E53A5BC0-BAEF-4B36-8137-0A1AD2059BA3}" type="slidenum">
              <a:rPr lang="en-GB" smtClean="0"/>
              <a:pPr/>
              <a:t>44</a:t>
            </a:fld>
            <a:endParaRPr lang="en-GB"/>
          </a:p>
        </p:txBody>
      </p:sp>
    </p:spTree>
    <p:extLst>
      <p:ext uri="{BB962C8B-B14F-4D97-AF65-F5344CB8AC3E}">
        <p14:creationId xmlns:p14="http://schemas.microsoft.com/office/powerpoint/2010/main" val="26831507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0" y="143214"/>
            <a:ext cx="10515600" cy="1325563"/>
          </a:xfrm>
        </p:spPr>
        <p:txBody>
          <a:bodyPr/>
          <a:lstStyle/>
          <a:p>
            <a:r>
              <a:rPr lang="en-GB"/>
              <a:t>Session overview</a:t>
            </a:r>
          </a:p>
        </p:txBody>
      </p:sp>
      <p:sp>
        <p:nvSpPr>
          <p:cNvPr id="3" name="Content Placeholder 2"/>
          <p:cNvSpPr>
            <a:spLocks noGrp="1"/>
          </p:cNvSpPr>
          <p:nvPr>
            <p:ph idx="1"/>
          </p:nvPr>
        </p:nvSpPr>
        <p:spPr>
          <a:xfrm>
            <a:off x="1149152" y="1741066"/>
            <a:ext cx="9332912" cy="4640262"/>
          </a:xfrm>
        </p:spPr>
        <p:txBody>
          <a:bodyPr vert="horz" lIns="0" tIns="0" rIns="0" bIns="0" rtlCol="0" anchor="t">
            <a:normAutofit lnSpcReduction="10000"/>
          </a:bodyPr>
          <a:lstStyle/>
          <a:p>
            <a:r>
              <a:rPr lang="en-GB" dirty="0">
                <a:solidFill>
                  <a:schemeClr val="bg1">
                    <a:lumMod val="75000"/>
                  </a:schemeClr>
                </a:solidFill>
                <a:latin typeface="Lucida Sans"/>
              </a:rPr>
              <a:t>Finding reliable sources for your dissertation:</a:t>
            </a:r>
          </a:p>
          <a:p>
            <a:r>
              <a:rPr lang="en-GB" dirty="0">
                <a:solidFill>
                  <a:schemeClr val="bg1">
                    <a:lumMod val="75000"/>
                  </a:schemeClr>
                </a:solidFill>
                <a:latin typeface="Lucida Sans"/>
              </a:rPr>
              <a:t>Before you start- creating a search</a:t>
            </a:r>
          </a:p>
          <a:p>
            <a:r>
              <a:rPr lang="en-GB" dirty="0">
                <a:solidFill>
                  <a:schemeClr val="bg1">
                    <a:lumMod val="75000"/>
                  </a:schemeClr>
                </a:solidFill>
                <a:latin typeface="Lucida Sans"/>
              </a:rPr>
              <a:t>Where to search</a:t>
            </a:r>
            <a:endParaRPr lang="en-GB" dirty="0">
              <a:solidFill>
                <a:schemeClr val="bg1">
                  <a:lumMod val="75000"/>
                </a:schemeClr>
              </a:solidFill>
              <a:latin typeface="Lucida Sans"/>
              <a:hlinkClick r:id="rId2">
                <a:extLst>
                  <a:ext uri="{A12FA001-AC4F-418D-AE19-62706E023703}">
                    <ahyp:hlinkClr xmlns:ahyp="http://schemas.microsoft.com/office/drawing/2018/hyperlinkcolor" val="tx"/>
                  </a:ext>
                </a:extLst>
              </a:hlinkClick>
            </a:endParaRPr>
          </a:p>
          <a:p>
            <a:pPr lvl="1"/>
            <a:r>
              <a:rPr lang="en-GB" dirty="0">
                <a:solidFill>
                  <a:schemeClr val="bg1">
                    <a:lumMod val="75000"/>
                  </a:schemeClr>
                </a:solidFill>
                <a:latin typeface="Lucida Sans"/>
                <a:hlinkClick r:id="rId2">
                  <a:extLst>
                    <a:ext uri="{A12FA001-AC4F-418D-AE19-62706E023703}">
                      <ahyp:hlinkClr xmlns:ahyp="http://schemas.microsoft.com/office/drawing/2018/hyperlinkcolor" val="tx"/>
                    </a:ext>
                  </a:extLst>
                </a:hlinkClick>
              </a:rPr>
              <a:t>www.bradford.ac.uk/library</a:t>
            </a:r>
            <a:r>
              <a:rPr lang="en-GB" dirty="0">
                <a:solidFill>
                  <a:schemeClr val="bg1">
                    <a:lumMod val="75000"/>
                  </a:schemeClr>
                </a:solidFill>
                <a:latin typeface="Lucida Sans"/>
              </a:rPr>
              <a:t> (Summon)</a:t>
            </a:r>
          </a:p>
          <a:p>
            <a:pPr lvl="1"/>
            <a:r>
              <a:rPr lang="en-GB" dirty="0">
                <a:solidFill>
                  <a:schemeClr val="bg1">
                    <a:lumMod val="75000"/>
                  </a:schemeClr>
                </a:solidFill>
                <a:latin typeface="Lucida Sans"/>
              </a:rPr>
              <a:t>British Standards Online</a:t>
            </a:r>
          </a:p>
          <a:p>
            <a:r>
              <a:rPr lang="en-GB" dirty="0">
                <a:solidFill>
                  <a:schemeClr val="bg1">
                    <a:lumMod val="75000"/>
                  </a:schemeClr>
                </a:solidFill>
                <a:latin typeface="Lucida Sans"/>
              </a:rPr>
              <a:t>Search tips</a:t>
            </a:r>
          </a:p>
          <a:p>
            <a:endParaRPr lang="en-GB" dirty="0">
              <a:solidFill>
                <a:schemeClr val="bg1">
                  <a:lumMod val="75000"/>
                </a:schemeClr>
              </a:solidFill>
              <a:latin typeface="Lucida Sans"/>
            </a:endParaRPr>
          </a:p>
          <a:p>
            <a:r>
              <a:rPr lang="en-GB" dirty="0">
                <a:solidFill>
                  <a:schemeClr val="bg2">
                    <a:lumMod val="90000"/>
                  </a:schemeClr>
                </a:solidFill>
                <a:latin typeface="Lucida Sans"/>
              </a:rPr>
              <a:t>What is written coursework for?</a:t>
            </a:r>
            <a:endParaRPr lang="en-GB" dirty="0">
              <a:solidFill>
                <a:schemeClr val="bg2">
                  <a:lumMod val="90000"/>
                </a:schemeClr>
              </a:solidFill>
            </a:endParaRPr>
          </a:p>
          <a:p>
            <a:r>
              <a:rPr lang="en-GB" dirty="0">
                <a:solidFill>
                  <a:schemeClr val="bg1">
                    <a:lumMod val="75000"/>
                  </a:schemeClr>
                </a:solidFill>
                <a:latin typeface="Lucida Sans"/>
              </a:rPr>
              <a:t>Reminder about referencing</a:t>
            </a:r>
          </a:p>
          <a:p>
            <a:r>
              <a:rPr lang="en-GB" dirty="0">
                <a:latin typeface="Lucida Sans"/>
              </a:rPr>
              <a:t>Sources of help</a:t>
            </a:r>
          </a:p>
          <a:p>
            <a:endParaRPr lang="en-GB"/>
          </a:p>
        </p:txBody>
      </p:sp>
    </p:spTree>
    <p:extLst>
      <p:ext uri="{BB962C8B-B14F-4D97-AF65-F5344CB8AC3E}">
        <p14:creationId xmlns:p14="http://schemas.microsoft.com/office/powerpoint/2010/main" val="32406546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1606" y="359024"/>
            <a:ext cx="7120916" cy="817453"/>
          </a:xfrm>
        </p:spPr>
        <p:txBody>
          <a:bodyPr/>
          <a:lstStyle/>
          <a:p>
            <a:r>
              <a:rPr lang="en-GB"/>
              <a:t>Can we help?</a:t>
            </a:r>
          </a:p>
        </p:txBody>
      </p:sp>
      <p:sp>
        <p:nvSpPr>
          <p:cNvPr id="3" name="Content Placeholder 2"/>
          <p:cNvSpPr>
            <a:spLocks noGrp="1"/>
          </p:cNvSpPr>
          <p:nvPr>
            <p:ph idx="1"/>
          </p:nvPr>
        </p:nvSpPr>
        <p:spPr>
          <a:xfrm>
            <a:off x="1490529" y="1312121"/>
            <a:ext cx="9223643" cy="4574325"/>
          </a:xfrm>
        </p:spPr>
        <p:txBody>
          <a:bodyPr vert="horz" lIns="0" tIns="0" rIns="0" bIns="0" rtlCol="0" anchor="t">
            <a:noAutofit/>
          </a:bodyPr>
          <a:lstStyle/>
          <a:p>
            <a:pPr>
              <a:lnSpc>
                <a:spcPct val="150000"/>
              </a:lnSpc>
            </a:pPr>
            <a:r>
              <a:rPr lang="en-GB" sz="2000" dirty="0"/>
              <a:t>Email me </a:t>
            </a:r>
            <a:r>
              <a:rPr lang="en-GB" sz="2000" dirty="0">
                <a:hlinkClick r:id="rId2"/>
              </a:rPr>
              <a:t>j.rowland2@bradford.ac.uk</a:t>
            </a:r>
            <a:r>
              <a:rPr lang="en-GB" sz="2000" dirty="0"/>
              <a:t> (or </a:t>
            </a:r>
            <a:r>
              <a:rPr lang="en-GB" sz="2000" dirty="0">
                <a:hlinkClick r:id="rId3"/>
              </a:rPr>
              <a:t>englib@lists.bradford.ac.uk</a:t>
            </a:r>
            <a:r>
              <a:rPr lang="en-GB" sz="2000" dirty="0"/>
              <a:t>)</a:t>
            </a:r>
            <a:endParaRPr lang="en-GB" sz="2000">
              <a:cs typeface="Arial"/>
            </a:endParaRPr>
          </a:p>
          <a:p>
            <a:pPr>
              <a:lnSpc>
                <a:spcPct val="150000"/>
              </a:lnSpc>
            </a:pPr>
            <a:r>
              <a:rPr lang="en-GB" sz="2000" dirty="0"/>
              <a:t>Book an appointment </a:t>
            </a:r>
            <a:endParaRPr lang="en-GB" sz="2000">
              <a:cs typeface="Arial"/>
            </a:endParaRPr>
          </a:p>
          <a:p>
            <a:pPr lvl="1">
              <a:lnSpc>
                <a:spcPct val="150000"/>
              </a:lnSpc>
            </a:pPr>
            <a:r>
              <a:rPr lang="en-GB" sz="2000" dirty="0">
                <a:hlinkClick r:id="rId4"/>
              </a:rPr>
              <a:t>https://bradford.libcal.com/appointments</a:t>
            </a:r>
            <a:endParaRPr lang="en-GB" sz="2000">
              <a:cs typeface="Arial"/>
            </a:endParaRPr>
          </a:p>
          <a:p>
            <a:pPr>
              <a:lnSpc>
                <a:spcPct val="150000"/>
              </a:lnSpc>
            </a:pPr>
            <a:r>
              <a:rPr lang="en-GB" sz="2000" dirty="0">
                <a:latin typeface="Arial"/>
                <a:cs typeface="Arial"/>
              </a:rPr>
              <a:t>“Need help” chat service and FAQs on the library page </a:t>
            </a:r>
            <a:r>
              <a:rPr lang="en-GB" sz="2000" dirty="0">
                <a:latin typeface="Arial"/>
                <a:cs typeface="Arial"/>
                <a:hlinkClick r:id="rId5"/>
              </a:rPr>
              <a:t>www.bradford.ac.uk/library</a:t>
            </a:r>
            <a:r>
              <a:rPr lang="en-GB" sz="2000" dirty="0">
                <a:latin typeface="Arial"/>
                <a:cs typeface="Arial"/>
              </a:rPr>
              <a:t> </a:t>
            </a:r>
          </a:p>
          <a:p>
            <a:pPr>
              <a:lnSpc>
                <a:spcPct val="150000"/>
              </a:lnSpc>
            </a:pPr>
            <a:r>
              <a:rPr lang="en-GB" sz="2000" dirty="0">
                <a:latin typeface="Arial"/>
                <a:cs typeface="Arial"/>
              </a:rPr>
              <a:t>We have books about general study skills, study skills for students with particular needs like dyslexia or ESL, making sense of the research you read, academic writing, and more.</a:t>
            </a:r>
          </a:p>
          <a:p>
            <a:pPr>
              <a:lnSpc>
                <a:spcPct val="150000"/>
              </a:lnSpc>
            </a:pPr>
            <a:r>
              <a:rPr lang="en-GB" sz="2000" dirty="0">
                <a:latin typeface="Arial"/>
                <a:cs typeface="Arial"/>
              </a:rPr>
              <a:t>Study skills support:</a:t>
            </a:r>
          </a:p>
          <a:p>
            <a:pPr lvl="2"/>
            <a:r>
              <a:rPr lang="en-GB" sz="2000" dirty="0">
                <a:latin typeface="Arial"/>
                <a:cs typeface="Arial"/>
                <a:hlinkClick r:id="rId6"/>
              </a:rPr>
              <a:t>Academic Skills Advice</a:t>
            </a:r>
            <a:endParaRPr lang="en-GB" sz="2000" dirty="0">
              <a:latin typeface="Arial"/>
              <a:cs typeface="Arial"/>
            </a:endParaRPr>
          </a:p>
          <a:p>
            <a:pPr lvl="2"/>
            <a:r>
              <a:rPr lang="en-GB" sz="2000" dirty="0">
                <a:latin typeface="Arial"/>
                <a:cs typeface="Arial"/>
                <a:hlinkClick r:id="rId7"/>
              </a:rPr>
              <a:t>Language Centre</a:t>
            </a:r>
            <a:endParaRPr lang="en-GB" sz="2000">
              <a:latin typeface="Arial"/>
            </a:endParaRPr>
          </a:p>
        </p:txBody>
      </p:sp>
    </p:spTree>
    <p:extLst>
      <p:ext uri="{BB962C8B-B14F-4D97-AF65-F5344CB8AC3E}">
        <p14:creationId xmlns:p14="http://schemas.microsoft.com/office/powerpoint/2010/main" val="10178478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INTS" val="1"/>
  <p:tag name="TIME" val="15"/>
  <p:tag name="QUESTION" val="1"/>
</p:tagLst>
</file>

<file path=ppt/tags/tag2.xml><?xml version="1.0" encoding="utf-8"?>
<p:tagLst xmlns:a="http://schemas.openxmlformats.org/drawingml/2006/main" xmlns:r="http://schemas.openxmlformats.org/officeDocument/2006/relationships" xmlns:p="http://schemas.openxmlformats.org/presentationml/2006/main">
  <p:tag name="TYPE" val="0"/>
  <p:tag name="POINTS" val="1"/>
  <p:tag name="TIME" val="15"/>
  <p:tag name="QUESTION" val="1"/>
</p:tagLst>
</file>

<file path=ppt/tags/tag3.xml><?xml version="1.0" encoding="utf-8"?>
<p:tagLst xmlns:a="http://schemas.openxmlformats.org/drawingml/2006/main" xmlns:r="http://schemas.openxmlformats.org/officeDocument/2006/relationships" xmlns:p="http://schemas.openxmlformats.org/presentationml/2006/main">
  <p:tag name="POINTS" val="1"/>
  <p:tag name="TIME" val="15"/>
  <p:tag name="QUESTION" val="1"/>
  <p:tag name="TYPE"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u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a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Bradford ppt colour option a (1)">
  <a:themeElements>
    <a:clrScheme name="Custom 1">
      <a:dk1>
        <a:srgbClr val="294518"/>
      </a:dk1>
      <a:lt1>
        <a:sysClr val="window" lastClr="FFFFFF"/>
      </a:lt1>
      <a:dk2>
        <a:srgbClr val="294518"/>
      </a:dk2>
      <a:lt2>
        <a:srgbClr val="D8D8D8"/>
      </a:lt2>
      <a:accent1>
        <a:srgbClr val="6D8D23"/>
      </a:accent1>
      <a:accent2>
        <a:srgbClr val="294518"/>
      </a:accent2>
      <a:accent3>
        <a:srgbClr val="008591"/>
      </a:accent3>
      <a:accent4>
        <a:srgbClr val="395E14"/>
      </a:accent4>
      <a:accent5>
        <a:srgbClr val="294518"/>
      </a:accent5>
      <a:accent6>
        <a:srgbClr val="D8D8D8"/>
      </a:accent6>
      <a:hlink>
        <a:srgbClr val="294518"/>
      </a:hlink>
      <a:folHlink>
        <a:srgbClr val="294518"/>
      </a:folHlink>
    </a:clrScheme>
    <a:fontScheme name="Custom 1">
      <a:majorFont>
        <a:latin typeface="Georgia"/>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212F"/>
        </a:solidFill>
        <a:ln>
          <a:solidFill>
            <a:srgbClr val="00212F"/>
          </a:solidFill>
        </a:ln>
      </a:spPr>
      <a:bodyPr lIns="0" tIns="0" rIns="0" bIns="0" rtlCol="0" anchor="ctr">
        <a:normAutofit/>
      </a:bodyPr>
      <a:lstStyle>
        <a:defPPr algn="ctr">
          <a:defRPr b="1" i="1" dirty="0">
            <a:solidFill>
              <a:schemeClr val="bg1"/>
            </a:solidFill>
            <a:latin typeface="Georgia" panose="02040502050405020303" pitchFamily="18"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3495</Words>
  <Application>Microsoft Office PowerPoint</Application>
  <PresentationFormat>Widescreen</PresentationFormat>
  <Paragraphs>427</Paragraphs>
  <Slides>46</Slides>
  <Notes>4</Notes>
  <HiddenSlides>0</HiddenSlides>
  <MMClips>1</MMClips>
  <ScaleCrop>false</ScaleCrop>
  <HeadingPairs>
    <vt:vector size="4" baseType="variant">
      <vt:variant>
        <vt:lpstr>Theme</vt:lpstr>
      </vt:variant>
      <vt:variant>
        <vt:i4>4</vt:i4>
      </vt:variant>
      <vt:variant>
        <vt:lpstr>Slide Titles</vt:lpstr>
      </vt:variant>
      <vt:variant>
        <vt:i4>46</vt:i4>
      </vt:variant>
    </vt:vector>
  </HeadingPairs>
  <TitlesOfParts>
    <vt:vector size="50" baseType="lpstr">
      <vt:lpstr>Office Theme</vt:lpstr>
      <vt:lpstr>Blue</vt:lpstr>
      <vt:lpstr>Tan</vt:lpstr>
      <vt:lpstr>Bradford ppt colour option a (1)</vt:lpstr>
      <vt:lpstr>PowerPoint Presentation</vt:lpstr>
      <vt:lpstr>Session overview</vt:lpstr>
      <vt:lpstr>Books to help with your studies and dissertation</vt:lpstr>
      <vt:lpstr>Using reliable sources</vt:lpstr>
      <vt:lpstr>Using reliable sources</vt:lpstr>
      <vt:lpstr>Before you start</vt:lpstr>
      <vt:lpstr>A user-friendly front end for a relational database </vt:lpstr>
      <vt:lpstr>Session overview</vt:lpstr>
      <vt:lpstr>Go to the library homepage bradford.ac.uk/library  -Click on the “Library resources” tab  -Click through to Databases and subject specific resources, then on “Computer Science”</vt:lpstr>
      <vt:lpstr>Search reminders and tips</vt:lpstr>
      <vt:lpstr>Search reminders and tips</vt:lpstr>
      <vt:lpstr>Off Campus?</vt:lpstr>
      <vt:lpstr>Session overview</vt:lpstr>
      <vt:lpstr>The point of doing coursework</vt:lpstr>
      <vt:lpstr>Plagiarism and ethics</vt:lpstr>
      <vt:lpstr>What does "your own work" mean? </vt:lpstr>
      <vt:lpstr>Being investigated for plagiarism</vt:lpstr>
      <vt:lpstr>You must write your own project</vt:lpstr>
      <vt:lpstr>Am I allowed to use AI: The academic context</vt:lpstr>
      <vt:lpstr>Unethical uses of AI in writing</vt:lpstr>
      <vt:lpstr>Other issues with AI</vt:lpstr>
      <vt:lpstr>An AI cannot give you just the true facts about a topic</vt:lpstr>
      <vt:lpstr>Critical skills</vt:lpstr>
      <vt:lpstr>PowerPoint Presentation</vt:lpstr>
      <vt:lpstr>PowerPoint Presentation</vt:lpstr>
      <vt:lpstr>More examples of AI getting things wrong</vt:lpstr>
      <vt:lpstr>How to do your project without AI</vt:lpstr>
      <vt:lpstr>Further information and help about using AI</vt:lpstr>
      <vt:lpstr>Session overview</vt:lpstr>
      <vt:lpstr>Citation and referencing in academic work</vt:lpstr>
      <vt:lpstr>Why Reference?</vt:lpstr>
      <vt:lpstr>Rules about quoting</vt:lpstr>
      <vt:lpstr>What is paraphrasing?</vt:lpstr>
      <vt:lpstr> Hints for easy paraphrasing</vt:lpstr>
      <vt:lpstr>Hints for easy paraphrasing</vt:lpstr>
      <vt:lpstr>Hints for easy paraphrasing</vt:lpstr>
      <vt:lpstr>Have a look at some paraphrases and see if you think they are good or not</vt:lpstr>
      <vt:lpstr>The original quote from a textbook says this. How good are each of the four paraphrases in the form?</vt:lpstr>
      <vt:lpstr>How to reference</vt:lpstr>
      <vt:lpstr>A book reference</vt:lpstr>
      <vt:lpstr>Example of a journal article reference  (Kara and Wrede 2022)</vt:lpstr>
      <vt:lpstr>Example of a website reference (Howard League for Penal Reform 2019)</vt:lpstr>
      <vt:lpstr>An example of part of a reference list</vt:lpstr>
      <vt:lpstr>Help with citing and referencing</vt:lpstr>
      <vt:lpstr>Session overview</vt:lpstr>
      <vt:lpstr>Can we help?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workshop draft</dc:title>
  <dc:creator>Jennifer Rowland</dc:creator>
  <cp:lastModifiedBy>Jennifer Rowland</cp:lastModifiedBy>
  <cp:revision>105</cp:revision>
  <dcterms:created xsi:type="dcterms:W3CDTF">2024-08-16T11:56:14Z</dcterms:created>
  <dcterms:modified xsi:type="dcterms:W3CDTF">2025-09-26T11:10:19Z</dcterms:modified>
</cp:coreProperties>
</file>